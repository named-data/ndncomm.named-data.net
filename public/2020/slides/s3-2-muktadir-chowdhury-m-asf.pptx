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0" r:id="rId7"/>
    <p:sldId id="265" r:id="rId8"/>
    <p:sldId id="266" r:id="rId9"/>
    <p:sldId id="268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14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48"/>
    <p:restoredTop sz="89794"/>
  </p:normalViewPr>
  <p:slideViewPr>
    <p:cSldViewPr snapToGrid="0" snapToObjects="1" showGuides="1">
      <p:cViewPr varScale="1">
        <p:scale>
          <a:sx n="97" d="100"/>
          <a:sy n="97" d="100"/>
        </p:scale>
        <p:origin x="888" y="192"/>
      </p:cViewPr>
      <p:guideLst>
        <p:guide orient="horz" pos="816"/>
        <p:guide pos="14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BF717-D3EF-0240-85A5-8CE761C1D63F}" type="datetimeFigureOut">
              <a:rPr lang="en-US" smtClean="0"/>
              <a:t>9/9/20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44E5A-3D44-1A4D-851F-FB78C5735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6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Formally published in 2016, Adaptive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sRTT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-based Routing (or ASF) was a new forwarding strategy introduced as part of the paper “An Experimental Investigation of Hyperbolic Routing with a Smart Forwarding Plane in NDN” (Lehman et al).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Formally published in 2016, Adaptive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sRTT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-based Routing (or ASF) was a new forwarding strategy introduced as part of the paper “An Experimental Investigation of Hyperbolic Routing with a Smart Forwarding Plane in NDN” (Lehman et al).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Unlike Best Route, ASF uses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sRTT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based metrics to rank faces which are maintained by periodic probing- this helps with both adaptiveness to network changes and finding the shortest route despite potentially deceptive link costs.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Timeouts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nacks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handled through special ranking values.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44E5A-3D44-1A4D-851F-FB78C57354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97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ASF as originally implemented relies on several assumptions that are only particularly applicable to wired networks:</a:t>
            </a:r>
          </a:p>
          <a:p>
            <a:pPr lvl="1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Networks conditions are generally stable and immutable</a:t>
            </a:r>
          </a:p>
          <a:p>
            <a:pPr lvl="1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failure of all faces to fulfill a prefix has a negligible chance of occurring</a:t>
            </a:r>
          </a:p>
          <a:p>
            <a:pPr lvl="1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not a strong difference in kinds of link failure, and all can be treated as essentially equal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Ensuring efficient mobile NDN is a key part of ensuring that NDN continues to provide a reasonable alternative to host-centric networking.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44E5A-3D44-1A4D-851F-FB78C57354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70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mobile scenario, link issues over wireless channels have a larger variety of failure causes compared to wired networks.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amount of change over time in these networks is dramatically higher, which means that treating all timed out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nacked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faces the same can lead to subpar performance.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44E5A-3D44-1A4D-851F-FB78C57354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71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8A405-6B8D-2C4B-AFBB-2E8F772FE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18A37-BEE0-6C41-94E7-28223DA96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BFBF3-6751-AD40-805E-F198088A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84F2A-F7C7-2B4D-A646-2C7F2641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625AB-FE61-294C-BCAC-ABE38A4E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5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4D56-E9B6-384C-A133-8F9D14F9B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C317F-02A8-4841-B5AD-89006A574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0410C-7BD1-714B-95C9-E2B5485A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8D285-D27D-F848-AFE7-D9DA65D9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A8EDE-B4BA-E442-9A8C-8419A077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0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5EA3-5964-F348-96E2-B8E54312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10688-92D6-DC4D-AFEB-AAE72D4C8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1799D-30C8-A64A-8A22-F64E9D61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5A2A5-5399-BE4D-B8A1-9C0EC23DB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60595-48AC-0B42-8A88-757F8624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A28B-4AD9-7740-B5BB-0DE41EAE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CA09F-DBD7-BA4B-BDB8-ECD7B1BE6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C9674-C542-5D4C-A096-64F55D2F0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874BC-2E16-974F-8272-A1D6F2D18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BEF8F-0C4B-BD4D-A604-CB85A3C9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634B7-0EB2-9145-A2CD-51AFB61F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1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B345-56F8-884C-B0C9-196F75A3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2A11D-1F5B-484B-BAA4-2A44C130D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26286-E5C3-4C48-B384-005D8E52A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A50F9-068B-C14C-908D-B45B68C6C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06A7B-85F0-1B41-B562-C29C362AA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6CA284-1DB3-1C44-A826-16C7607E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47DC8F-4741-8043-9685-5168D5E6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D92E23-9755-EC4B-8C3A-A192B6E7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58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5C68-A6B3-FA40-B33B-973E27E2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8D4C4-29EB-F24D-9408-89220D7C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BB507-9210-C840-B7E5-FD9A987EF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20D82-D7F8-9449-9239-68D53F6B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93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7D9C0-03E6-E74F-A1E0-D5A0CD8A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9F146-9451-664E-82CB-8F231854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4FDE5-11C8-AA4C-9C84-6F2AF06F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2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FEFE7-CD02-1944-BCCE-391BBA536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7AA1E-6881-094E-A3A6-1AC9EE4E0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8CA46-7A64-0F48-92AE-BFD200155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7C606-2FB3-A545-99B8-888C4A5B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79337-540A-EC4C-8DB5-9DEE8C40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69EA6-C5AF-0F41-A5CF-8B0810A8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93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8889-9F3A-6B47-A7A1-7BB6C0AB8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679DC-D2EF-1542-8A68-B7298A9D6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82484-7C87-4A47-9594-71BE85B54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E57BA-5668-E14B-B9C0-73DAD5BDC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BF053-90B5-3D4A-80EE-EEF8CF1F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95389-BA8C-FF49-A680-6FCE2012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46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E183-3CD0-EA42-A32E-27F31518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EC1CE-E8D0-E049-8F42-307E8560D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1087A-F22A-6141-9005-5FC08136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240F8-019A-F749-BCEF-ECB8B60D8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64E65-D108-1442-A717-8F665220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57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705CC-A9DA-1145-B7C1-A3738448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BC4D0-923A-EA44-AB62-8DED95051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AC96F-3550-2343-8863-62C04858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09326-99FD-6147-A129-43CC4850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36F72-B231-BC47-A137-BC82BEBD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0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7A802-DDE6-484D-8B10-44C6B2D4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EBFE1-20E7-EE47-8C62-310BE21E8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7C257-70D5-DA48-87EA-303B9EDA4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53D03-B851-0F4E-A301-ACE6F0F93796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E1AEA-27DC-D74C-BF12-9B9C58801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08AF5-BD69-6740-ABAA-400EDE797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5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E5691-5DB8-B147-8A35-8AF7A9654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2521" y="1736001"/>
            <a:ext cx="12324522" cy="2387600"/>
          </a:xfrm>
        </p:spPr>
        <p:txBody>
          <a:bodyPr>
            <a:normAutofit/>
          </a:bodyPr>
          <a:lstStyle/>
          <a:p>
            <a:r>
              <a:rPr lang="en-US" sz="5000" dirty="0"/>
              <a:t>m-ASF - An Adaptive SRTT-based Forwarding Strategy for Mobile Environments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AF9F26-20AE-0241-8F13-365190E89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2782" y="4564202"/>
            <a:ext cx="9144000" cy="1655762"/>
          </a:xfrm>
        </p:spPr>
        <p:txBody>
          <a:bodyPr/>
          <a:lstStyle/>
          <a:p>
            <a:r>
              <a:rPr lang="en-US" dirty="0" err="1"/>
              <a:t>Muktadir</a:t>
            </a:r>
            <a:r>
              <a:rPr lang="en-US" dirty="0"/>
              <a:t> Chowdhury, Alex Lane, Lan Wang</a:t>
            </a:r>
          </a:p>
          <a:p>
            <a:r>
              <a:rPr lang="en-US" dirty="0"/>
              <a:t>University of Memphis</a:t>
            </a:r>
          </a:p>
        </p:txBody>
      </p:sp>
    </p:spTree>
    <p:extLst>
      <p:ext uri="{BB962C8B-B14F-4D97-AF65-F5344CB8AC3E}">
        <p14:creationId xmlns:p14="http://schemas.microsoft.com/office/powerpoint/2010/main" val="37869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E9A6ED-B880-44EA-8D60-C9D3C82CC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B78E0C-0094-3A4C-B491-280CA38D8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582" y="363233"/>
            <a:ext cx="5170852" cy="1671564"/>
          </a:xfrm>
        </p:spPr>
        <p:txBody>
          <a:bodyPr>
            <a:normAutofit/>
          </a:bodyPr>
          <a:lstStyle/>
          <a:p>
            <a:r>
              <a:rPr lang="en-US" sz="3700" dirty="0"/>
              <a:t>Background: ASF Strategy</a:t>
            </a:r>
            <a:br>
              <a:rPr lang="en-US" sz="3700" dirty="0"/>
            </a:br>
            <a:br>
              <a:rPr lang="en-US" sz="3700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B8279-4BDF-5741-B540-608D6BE7E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707" y="2211171"/>
            <a:ext cx="5180245" cy="3731058"/>
          </a:xfrm>
        </p:spPr>
        <p:txBody>
          <a:bodyPr>
            <a:normAutofit lnSpcReduction="10000"/>
          </a:bodyPr>
          <a:lstStyle/>
          <a:p>
            <a:pPr fontAlgn="base">
              <a:lnSpc>
                <a:spcPct val="100000"/>
              </a:lnSpc>
              <a:spcAft>
                <a:spcPts val="600"/>
              </a:spcAft>
            </a:pPr>
            <a:r>
              <a:rPr lang="en-US" sz="2200" dirty="0"/>
              <a:t>Adaptive Smoothed Round-Trip Time (SRTT) based Forwarding. </a:t>
            </a:r>
          </a:p>
          <a:p>
            <a:pPr lvl="1" fontAlgn="base">
              <a:lnSpc>
                <a:spcPct val="100000"/>
              </a:lnSpc>
              <a:spcAft>
                <a:spcPts val="600"/>
              </a:spcAft>
            </a:pPr>
            <a:r>
              <a:rPr lang="en-US" sz="2000" dirty="0"/>
              <a:t>Periodically probe interfaces.</a:t>
            </a:r>
          </a:p>
          <a:p>
            <a:pPr lvl="1" fontAlgn="base">
              <a:lnSpc>
                <a:spcPct val="100000"/>
              </a:lnSpc>
              <a:spcAft>
                <a:spcPts val="600"/>
              </a:spcAft>
            </a:pPr>
            <a:r>
              <a:rPr lang="en-US" sz="2000" dirty="0"/>
              <a:t>Uses </a:t>
            </a:r>
            <a:r>
              <a:rPr lang="en-US" sz="2000" dirty="0" err="1"/>
              <a:t>sRTT</a:t>
            </a:r>
            <a:r>
              <a:rPr lang="en-US" sz="2000" dirty="0"/>
              <a:t> based metrics to rank faces.</a:t>
            </a:r>
          </a:p>
          <a:p>
            <a:pPr fontAlgn="base">
              <a:lnSpc>
                <a:spcPct val="100000"/>
              </a:lnSpc>
              <a:spcAft>
                <a:spcPts val="600"/>
              </a:spcAft>
            </a:pPr>
            <a:r>
              <a:rPr lang="en-US" sz="2200" dirty="0"/>
              <a:t>Originally developed to aid Hyperbolic Routing [2] which could create persistent suboptimal paths.</a:t>
            </a:r>
          </a:p>
          <a:p>
            <a:pPr fontAlgn="base">
              <a:lnSpc>
                <a:spcPct val="100000"/>
              </a:lnSpc>
              <a:spcAft>
                <a:spcPts val="600"/>
              </a:spcAft>
            </a:pPr>
            <a:r>
              <a:rPr lang="en-US" sz="2200" dirty="0"/>
              <a:t>Interfaces are ranked based on SRTT, Route cost, and Timeout or </a:t>
            </a:r>
            <a:r>
              <a:rPr lang="en-US" sz="2200" dirty="0" err="1"/>
              <a:t>Nacks</a:t>
            </a:r>
            <a:r>
              <a:rPr lang="en-US" sz="2200" dirty="0"/>
              <a:t>.</a:t>
            </a:r>
          </a:p>
          <a:p>
            <a:pPr fontAlgn="base">
              <a:lnSpc>
                <a:spcPct val="100000"/>
              </a:lnSpc>
            </a:pPr>
            <a:endParaRPr lang="en-US" sz="2000" dirty="0"/>
          </a:p>
          <a:p>
            <a:pPr fontAlgn="base"/>
            <a:endParaRPr lang="en-US" sz="2000" dirty="0"/>
          </a:p>
          <a:p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76F07E-29B7-8C40-A3E8-D4A7DB09AB66}"/>
              </a:ext>
            </a:extLst>
          </p:cNvPr>
          <p:cNvSpPr txBox="1"/>
          <p:nvPr/>
        </p:nvSpPr>
        <p:spPr>
          <a:xfrm>
            <a:off x="5829175" y="5053707"/>
            <a:ext cx="2494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Face ranking for forwarding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A130A-9070-4142-B2F0-7410172C38C3}"/>
              </a:ext>
            </a:extLst>
          </p:cNvPr>
          <p:cNvSpPr txBox="1"/>
          <p:nvPr/>
        </p:nvSpPr>
        <p:spPr>
          <a:xfrm>
            <a:off x="9033061" y="5041590"/>
            <a:ext cx="2494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Face ranking for probing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5EE5C2A-98C6-A74C-B122-3C112FC1726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150" y="1965704"/>
            <a:ext cx="2713355" cy="2857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7DEF2A-B513-C346-ACD6-E89F4ACE4F2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834" y="1927277"/>
            <a:ext cx="276987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550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499BB-89CC-DF4E-BC0B-995FD3B33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013" y="234949"/>
            <a:ext cx="4099036" cy="1060451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FC431-14AF-9343-9ECC-08336FE38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4228" y="1636439"/>
            <a:ext cx="9188669" cy="4351338"/>
          </a:xfrm>
        </p:spPr>
        <p:txBody>
          <a:bodyPr/>
          <a:lstStyle/>
          <a:p>
            <a:pPr fontAlgn="base">
              <a:lnSpc>
                <a:spcPct val="100000"/>
              </a:lnSpc>
              <a:spcAft>
                <a:spcPts val="600"/>
              </a:spcAft>
            </a:pPr>
            <a:r>
              <a:rPr lang="en-US" sz="2200" dirty="0"/>
              <a:t>ASF designed for stable network.</a:t>
            </a:r>
          </a:p>
          <a:p>
            <a:pPr marL="685800" lvl="2" fontAlgn="base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dirty="0"/>
              <a:t>Does not perform well in mobile environments.</a:t>
            </a:r>
          </a:p>
          <a:p>
            <a:pPr marL="685800" lvl="2" fontAlgn="base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dirty="0"/>
              <a:t>Does not differentiate among faces with different kinds of failure.</a:t>
            </a:r>
          </a:p>
          <a:p>
            <a:pPr marL="228600" lvl="1" fontAlgn="base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200" dirty="0"/>
              <a:t>Relies solely on periodic probing to discover new path</a:t>
            </a:r>
          </a:p>
          <a:p>
            <a:pPr fontAlgn="base">
              <a:lnSpc>
                <a:spcPct val="100000"/>
              </a:lnSpc>
              <a:spcAft>
                <a:spcPts val="600"/>
              </a:spcAft>
            </a:pPr>
            <a:r>
              <a:rPr lang="en-US" sz="2200" dirty="0"/>
              <a:t>End nodes are mostly mobile and wireless devices.</a:t>
            </a:r>
          </a:p>
          <a:p>
            <a:pPr fontAlgn="base">
              <a:lnSpc>
                <a:spcPct val="100000"/>
              </a:lnSpc>
              <a:spcAft>
                <a:spcPts val="600"/>
              </a:spcAft>
            </a:pPr>
            <a:r>
              <a:rPr lang="en-US" sz="2200" dirty="0"/>
              <a:t>NDN’s lack of support for mobile environments.</a:t>
            </a:r>
          </a:p>
          <a:p>
            <a:pPr lvl="1" fontAlgn="base">
              <a:lnSpc>
                <a:spcPct val="100000"/>
              </a:lnSpc>
              <a:spcAft>
                <a:spcPts val="600"/>
              </a:spcAft>
            </a:pPr>
            <a:r>
              <a:rPr lang="en-US" sz="2000" dirty="0"/>
              <a:t>Routing protocols are not desirable in mobile environments.</a:t>
            </a:r>
          </a:p>
          <a:p>
            <a:pPr lvl="1" fontAlgn="base">
              <a:lnSpc>
                <a:spcPct val="100000"/>
              </a:lnSpc>
              <a:spcAft>
                <a:spcPts val="600"/>
              </a:spcAft>
            </a:pPr>
            <a:r>
              <a:rPr lang="en-US" sz="2000" dirty="0"/>
              <a:t>Currently no forwarding strategies specially for mobile networks.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553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1B10-0266-6C4F-90EE-CCEA3FA4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420" y="167591"/>
            <a:ext cx="9732580" cy="1325563"/>
          </a:xfrm>
        </p:spPr>
        <p:txBody>
          <a:bodyPr/>
          <a:lstStyle/>
          <a:p>
            <a:r>
              <a:rPr lang="en-US" dirty="0"/>
              <a:t>Design: Ranking of Face in m-ASF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E811D-7876-5F47-909F-74FADD585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827" y="1825625"/>
            <a:ext cx="5010807" cy="4351338"/>
          </a:xfrm>
        </p:spPr>
        <p:txBody>
          <a:bodyPr/>
          <a:lstStyle/>
          <a:p>
            <a:pPr fontAlgn="base">
              <a:lnSpc>
                <a:spcPct val="100000"/>
              </a:lnSpc>
              <a:spcAft>
                <a:spcPts val="600"/>
              </a:spcAft>
            </a:pPr>
            <a:r>
              <a:rPr lang="en-US" sz="2200" dirty="0"/>
              <a:t>In mobile scenario a face can fail due to various causes.</a:t>
            </a:r>
          </a:p>
          <a:p>
            <a:pPr lvl="1" fontAlgn="base">
              <a:lnSpc>
                <a:spcPct val="100000"/>
              </a:lnSpc>
              <a:spcAft>
                <a:spcPts val="600"/>
              </a:spcAft>
            </a:pPr>
            <a:r>
              <a:rPr lang="en-US" sz="2000" dirty="0"/>
              <a:t>Fine-grained ranking of faces according to their statuses.</a:t>
            </a:r>
          </a:p>
          <a:p>
            <a:pPr lvl="1" fontAlgn="base">
              <a:lnSpc>
                <a:spcPct val="100000"/>
              </a:lnSpc>
              <a:spcAft>
                <a:spcPts val="600"/>
              </a:spcAft>
            </a:pPr>
            <a:r>
              <a:rPr lang="en-US" sz="2000" dirty="0"/>
              <a:t>Treat various timed-out and </a:t>
            </a:r>
            <a:r>
              <a:rPr lang="en-US" sz="2000" dirty="0" err="1"/>
              <a:t>nack’d</a:t>
            </a:r>
            <a:r>
              <a:rPr lang="en-US" sz="2000" dirty="0"/>
              <a:t> faces differently.</a:t>
            </a:r>
          </a:p>
          <a:p>
            <a:r>
              <a:rPr lang="en-US" sz="2200" dirty="0"/>
              <a:t>Break tie using Face Id.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20C6FC-863B-124F-880D-7F5C02E05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634" y="1493154"/>
            <a:ext cx="6448977" cy="468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54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6D157-37CA-F041-A1A7-BC3C46A7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832" y="126586"/>
            <a:ext cx="6010090" cy="1325563"/>
          </a:xfrm>
        </p:spPr>
        <p:txBody>
          <a:bodyPr/>
          <a:lstStyle/>
          <a:p>
            <a:r>
              <a:rPr lang="en-US" dirty="0"/>
              <a:t>Design: Forwarding Behavior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674D92-7B76-F443-9634-762496EDF40E}"/>
              </a:ext>
            </a:extLst>
          </p:cNvPr>
          <p:cNvSpPr txBox="1">
            <a:spLocks/>
          </p:cNvSpPr>
          <p:nvPr/>
        </p:nvSpPr>
        <p:spPr>
          <a:xfrm>
            <a:off x="459827" y="1825625"/>
            <a:ext cx="65770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  <a:spcAft>
                <a:spcPts val="600"/>
              </a:spcAft>
            </a:pPr>
            <a:r>
              <a:rPr lang="en-US" sz="2200" dirty="0" err="1"/>
              <a:t>Retx</a:t>
            </a:r>
            <a:r>
              <a:rPr lang="en-US" sz="2200" dirty="0"/>
              <a:t> Suppression Algorithm helps m-ASF decides what to do with the interest.</a:t>
            </a:r>
          </a:p>
          <a:p>
            <a:pPr lvl="1" fontAlgn="base">
              <a:lnSpc>
                <a:spcPct val="100000"/>
              </a:lnSpc>
              <a:spcAft>
                <a:spcPts val="600"/>
              </a:spcAft>
            </a:pPr>
            <a:r>
              <a:rPr lang="en-US" sz="1800" dirty="0"/>
              <a:t>Exponential </a:t>
            </a:r>
            <a:r>
              <a:rPr lang="en-US" sz="1800" dirty="0" err="1"/>
              <a:t>Retx</a:t>
            </a:r>
            <a:r>
              <a:rPr lang="en-US" sz="1800" dirty="0"/>
              <a:t> Suppression.</a:t>
            </a:r>
          </a:p>
          <a:p>
            <a:pPr fontAlgn="base">
              <a:lnSpc>
                <a:spcPct val="100000"/>
              </a:lnSpc>
              <a:spcAft>
                <a:spcPts val="600"/>
              </a:spcAft>
            </a:pPr>
            <a:r>
              <a:rPr lang="en-US" sz="2200" dirty="0"/>
              <a:t>Strategy keeps tracks of the face it has been using so far: Primary Face.</a:t>
            </a:r>
          </a:p>
          <a:p>
            <a:pPr fontAlgn="base">
              <a:lnSpc>
                <a:spcPct val="100000"/>
              </a:lnSpc>
              <a:spcAft>
                <a:spcPts val="600"/>
              </a:spcAft>
            </a:pPr>
            <a:r>
              <a:rPr lang="en-US" sz="2200" dirty="0"/>
              <a:t>Best Face is current highest ranked face for forwarding.</a:t>
            </a:r>
          </a:p>
          <a:p>
            <a:pPr lvl="1" fontAlgn="base">
              <a:lnSpc>
                <a:spcPct val="100000"/>
              </a:lnSpc>
              <a:spcAft>
                <a:spcPts val="600"/>
              </a:spcAft>
            </a:pPr>
            <a:r>
              <a:rPr lang="en-US" sz="1800" dirty="0"/>
              <a:t>Can be different from primary face if network changes.</a:t>
            </a:r>
          </a:p>
          <a:p>
            <a:pPr fontAlgn="base">
              <a:lnSpc>
                <a:spcPct val="100000"/>
              </a:lnSpc>
              <a:spcAft>
                <a:spcPts val="600"/>
              </a:spcAft>
            </a:pPr>
            <a:endParaRPr lang="en-US" sz="2200" dirty="0"/>
          </a:p>
          <a:p>
            <a:pPr fontAlgn="base">
              <a:lnSpc>
                <a:spcPct val="100000"/>
              </a:lnSpc>
              <a:spcAft>
                <a:spcPts val="600"/>
              </a:spcAft>
            </a:pPr>
            <a:endParaRPr lang="en-US" sz="2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A02575-16D4-FF44-B361-CE8C20CE9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418" y="126586"/>
            <a:ext cx="4381500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14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6D157-37CA-F041-A1A7-BC3C46A7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311" y="92628"/>
            <a:ext cx="9574924" cy="1325563"/>
          </a:xfrm>
        </p:spPr>
        <p:txBody>
          <a:bodyPr/>
          <a:lstStyle/>
          <a:p>
            <a:r>
              <a:rPr lang="en-US"/>
              <a:t>Design: Probing and Oscillation Prevention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00FA06-30D7-E04C-A0D5-B5C479400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1033" y="1568174"/>
            <a:ext cx="1371600" cy="2115930"/>
          </a:xfr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00B15E-9090-AC47-BB81-622F86732531}"/>
              </a:ext>
            </a:extLst>
          </p:cNvPr>
          <p:cNvSpPr txBox="1">
            <a:spLocks/>
          </p:cNvSpPr>
          <p:nvPr/>
        </p:nvSpPr>
        <p:spPr>
          <a:xfrm>
            <a:off x="357931" y="1534046"/>
            <a:ext cx="6577077" cy="2984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  <a:spcAft>
                <a:spcPts val="600"/>
              </a:spcAft>
            </a:pPr>
            <a:r>
              <a:rPr lang="en-US" sz="2200" dirty="0"/>
              <a:t>Periodically schedule probing timepoint.</a:t>
            </a:r>
          </a:p>
          <a:p>
            <a:pPr lvl="1" fontAlgn="base">
              <a:lnSpc>
                <a:spcPct val="100000"/>
              </a:lnSpc>
              <a:spcAft>
                <a:spcPts val="600"/>
              </a:spcAft>
            </a:pPr>
            <a:r>
              <a:rPr lang="en-US" sz="1800" dirty="0"/>
              <a:t>Only probe if probing is due at a particular time.</a:t>
            </a:r>
          </a:p>
          <a:p>
            <a:pPr fontAlgn="base">
              <a:lnSpc>
                <a:spcPct val="100000"/>
              </a:lnSpc>
              <a:spcAft>
                <a:spcPts val="600"/>
              </a:spcAft>
            </a:pPr>
            <a:r>
              <a:rPr lang="en-US" sz="2200" dirty="0"/>
              <a:t>Probing is triggered by incoming interest.</a:t>
            </a:r>
            <a:endParaRPr lang="en-US" sz="1800" dirty="0"/>
          </a:p>
          <a:p>
            <a:pPr fontAlgn="base">
              <a:lnSpc>
                <a:spcPct val="100000"/>
              </a:lnSpc>
              <a:spcAft>
                <a:spcPts val="600"/>
              </a:spcAft>
            </a:pPr>
            <a:r>
              <a:rPr lang="en-US" sz="1800" dirty="0"/>
              <a:t>While probing m-</a:t>
            </a:r>
            <a:r>
              <a:rPr lang="en-US" sz="1800" dirty="0" err="1"/>
              <a:t>asf</a:t>
            </a:r>
            <a:r>
              <a:rPr lang="en-US" sz="1800" dirty="0"/>
              <a:t> probes a list of faces.</a:t>
            </a:r>
          </a:p>
          <a:p>
            <a:pPr lvl="1" fontAlgn="base">
              <a:lnSpc>
                <a:spcPct val="100000"/>
              </a:lnSpc>
              <a:spcAft>
                <a:spcPts val="600"/>
              </a:spcAft>
            </a:pPr>
            <a:r>
              <a:rPr lang="en-US" sz="1800" dirty="0"/>
              <a:t>Faces it has not measured yet.</a:t>
            </a:r>
          </a:p>
          <a:p>
            <a:pPr lvl="1" fontAlgn="base">
              <a:lnSpc>
                <a:spcPct val="100000"/>
              </a:lnSpc>
              <a:spcAft>
                <a:spcPts val="600"/>
              </a:spcAft>
            </a:pPr>
            <a:r>
              <a:rPr lang="en-US" sz="1800" dirty="0"/>
              <a:t>And highest ranked face according to the probing ranking.</a:t>
            </a:r>
          </a:p>
          <a:p>
            <a:pPr fontAlgn="base">
              <a:lnSpc>
                <a:spcPct val="100000"/>
              </a:lnSpc>
              <a:spcAft>
                <a:spcPts val="600"/>
              </a:spcAft>
            </a:pPr>
            <a:endParaRPr lang="en-US" sz="2200" dirty="0"/>
          </a:p>
          <a:p>
            <a:pPr lvl="1" fontAlgn="base">
              <a:lnSpc>
                <a:spcPct val="100000"/>
              </a:lnSpc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68E45D-BC6D-4646-A1F7-FD23CDC390D9}"/>
              </a:ext>
            </a:extLst>
          </p:cNvPr>
          <p:cNvSpPr txBox="1"/>
          <p:nvPr/>
        </p:nvSpPr>
        <p:spPr>
          <a:xfrm>
            <a:off x="6985438" y="3634375"/>
            <a:ext cx="1788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Probing Behavior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BF0FA0-E5CB-EF4A-B12E-198DEB4AE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765" y="4255523"/>
            <a:ext cx="1840112" cy="2244585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3EE0BD-73F5-024F-99AA-55660D2CD915}"/>
              </a:ext>
            </a:extLst>
          </p:cNvPr>
          <p:cNvSpPr txBox="1">
            <a:spLocks/>
          </p:cNvSpPr>
          <p:nvPr/>
        </p:nvSpPr>
        <p:spPr>
          <a:xfrm>
            <a:off x="4879427" y="3268870"/>
            <a:ext cx="6577077" cy="2984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  <a:spcAft>
                <a:spcPts val="600"/>
              </a:spcAft>
            </a:pPr>
            <a:endParaRPr lang="en-US" sz="2200" dirty="0"/>
          </a:p>
          <a:p>
            <a:pPr lvl="1" fontAlgn="base">
              <a:lnSpc>
                <a:spcPct val="100000"/>
              </a:lnSpc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5FA6FF-CE45-6243-8398-CCD340715E8C}"/>
              </a:ext>
            </a:extLst>
          </p:cNvPr>
          <p:cNvSpPr txBox="1">
            <a:spLocks/>
          </p:cNvSpPr>
          <p:nvPr/>
        </p:nvSpPr>
        <p:spPr>
          <a:xfrm>
            <a:off x="4871058" y="4639196"/>
            <a:ext cx="5543667" cy="1808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base">
              <a:lnSpc>
                <a:spcPct val="100000"/>
              </a:lnSpc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A2BA8B-D199-9B46-8C43-99B2CDB88E3A}"/>
              </a:ext>
            </a:extLst>
          </p:cNvPr>
          <p:cNvSpPr txBox="1"/>
          <p:nvPr/>
        </p:nvSpPr>
        <p:spPr>
          <a:xfrm>
            <a:off x="1681506" y="6381926"/>
            <a:ext cx="2238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Oscillation Prevention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44C3E7-7A07-1E49-8824-AC62046F386A}"/>
              </a:ext>
            </a:extLst>
          </p:cNvPr>
          <p:cNvSpPr txBox="1"/>
          <p:nvPr/>
        </p:nvSpPr>
        <p:spPr>
          <a:xfrm>
            <a:off x="5378645" y="5083833"/>
            <a:ext cx="6296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2286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Topology of mobile network changes frequently.</a:t>
            </a:r>
          </a:p>
          <a:p>
            <a:pPr marL="400050" indent="-2286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We integrated oscillation prevention mechanism to prevent premature face switching.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8439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6D157-37CA-F041-A1A7-BC3C46A7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7076" y="365125"/>
            <a:ext cx="8736724" cy="1325563"/>
          </a:xfrm>
        </p:spPr>
        <p:txBody>
          <a:bodyPr/>
          <a:lstStyle/>
          <a:p>
            <a:r>
              <a:rPr lang="en-US" dirty="0"/>
              <a:t>Preliminary Experiment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692C8-3A56-2446-B5C1-2B7B2D098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98704" cy="3528253"/>
          </a:xfrm>
        </p:spPr>
        <p:txBody>
          <a:bodyPr>
            <a:normAutofit/>
          </a:bodyPr>
          <a:lstStyle/>
          <a:p>
            <a:pPr fontAlgn="base"/>
            <a:r>
              <a:rPr lang="en-US" sz="2200" dirty="0"/>
              <a:t>Link Cost = 1, no routing.</a:t>
            </a:r>
          </a:p>
          <a:p>
            <a:pPr lvl="1" fontAlgn="base"/>
            <a:r>
              <a:rPr lang="en-US" sz="1800" dirty="0"/>
              <a:t>All the faces are registered to all the prefixes.</a:t>
            </a:r>
          </a:p>
          <a:p>
            <a:pPr fontAlgn="base"/>
            <a:r>
              <a:rPr lang="en-US" sz="2200" dirty="0"/>
              <a:t>One Consumer (node 6)</a:t>
            </a:r>
          </a:p>
          <a:p>
            <a:pPr lvl="1" fontAlgn="base"/>
            <a:r>
              <a:rPr lang="en-US" sz="2200" dirty="0"/>
              <a:t> </a:t>
            </a:r>
            <a:r>
              <a:rPr lang="en-US" sz="2000" dirty="0"/>
              <a:t>Sends one interest per second.</a:t>
            </a:r>
          </a:p>
          <a:p>
            <a:pPr fontAlgn="base"/>
            <a:r>
              <a:rPr lang="en-US" sz="2200" dirty="0"/>
              <a:t>Two producers can serve the data. (node 4 and 7)</a:t>
            </a:r>
          </a:p>
          <a:p>
            <a:pPr lvl="1" fontAlgn="base"/>
            <a:r>
              <a:rPr lang="en-US" sz="2000" dirty="0"/>
              <a:t>Node 4 has shorter RTT to Node 6,  Node 7 is further.</a:t>
            </a:r>
          </a:p>
          <a:p>
            <a:pPr lvl="1" fontAlgn="base"/>
            <a:r>
              <a:rPr lang="en-US" sz="2000" dirty="0"/>
              <a:t>Initially both are online, then from 12th seconds they will change status (Down and Up)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027CA2-5718-654C-A44D-617FA1CC8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756" y="2244657"/>
            <a:ext cx="4585251" cy="160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5614F5A-C21D-664F-933B-3D81C976C88C}"/>
              </a:ext>
            </a:extLst>
          </p:cNvPr>
          <p:cNvSpPr/>
          <p:nvPr/>
        </p:nvSpPr>
        <p:spPr>
          <a:xfrm>
            <a:off x="728870" y="5353878"/>
            <a:ext cx="1038970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Experiment timeline: </a:t>
            </a:r>
          </a:p>
          <a:p>
            <a:pPr marL="457200"/>
            <a:r>
              <a:rPr lang="en-US" sz="2000" dirty="0"/>
              <a:t>12s (#4 D)→  21s (#4 U) →  22s (#7 D) → 32s (#7 U)→ 33s (#4 D) → 43s (#4 U) → 44s (#7 D)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832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1F6043C-9BB8-AC4D-9A48-EA9348AA81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6750635"/>
              </p:ext>
            </p:extLst>
          </p:nvPr>
        </p:nvGraphicFramePr>
        <p:xfrm>
          <a:off x="5777946" y="4054303"/>
          <a:ext cx="6414054" cy="1828800"/>
        </p:xfrm>
        <a:graphic>
          <a:graphicData uri="http://schemas.openxmlformats.org/drawingml/2006/table">
            <a:tbl>
              <a:tblPr/>
              <a:tblGrid>
                <a:gridCol w="1069009">
                  <a:extLst>
                    <a:ext uri="{9D8B030D-6E8A-4147-A177-3AD203B41FA5}">
                      <a16:colId xmlns:a16="http://schemas.microsoft.com/office/drawing/2014/main" val="301613234"/>
                    </a:ext>
                  </a:extLst>
                </a:gridCol>
                <a:gridCol w="965811">
                  <a:extLst>
                    <a:ext uri="{9D8B030D-6E8A-4147-A177-3AD203B41FA5}">
                      <a16:colId xmlns:a16="http://schemas.microsoft.com/office/drawing/2014/main" val="401769594"/>
                    </a:ext>
                  </a:extLst>
                </a:gridCol>
                <a:gridCol w="1172207">
                  <a:extLst>
                    <a:ext uri="{9D8B030D-6E8A-4147-A177-3AD203B41FA5}">
                      <a16:colId xmlns:a16="http://schemas.microsoft.com/office/drawing/2014/main" val="88402215"/>
                    </a:ext>
                  </a:extLst>
                </a:gridCol>
                <a:gridCol w="1069009">
                  <a:extLst>
                    <a:ext uri="{9D8B030D-6E8A-4147-A177-3AD203B41FA5}">
                      <a16:colId xmlns:a16="http://schemas.microsoft.com/office/drawing/2014/main" val="2453146937"/>
                    </a:ext>
                  </a:extLst>
                </a:gridCol>
                <a:gridCol w="1069009">
                  <a:extLst>
                    <a:ext uri="{9D8B030D-6E8A-4147-A177-3AD203B41FA5}">
                      <a16:colId xmlns:a16="http://schemas.microsoft.com/office/drawing/2014/main" val="2816519198"/>
                    </a:ext>
                  </a:extLst>
                </a:gridCol>
                <a:gridCol w="1069009">
                  <a:extLst>
                    <a:ext uri="{9D8B030D-6E8A-4147-A177-3AD203B41FA5}">
                      <a16:colId xmlns:a16="http://schemas.microsoft.com/office/drawing/2014/main" val="218579906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Interest Count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 Count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Protocol Overhead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Satisfaction Ratio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Timeout Interest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81782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ASF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184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134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317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37676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m-ASF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203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165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368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0.96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81179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Flooding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193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553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906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3C233BA8-8015-CD4F-9CD4-B9BF93675BE2}"/>
              </a:ext>
            </a:extLst>
          </p:cNvPr>
          <p:cNvSpPr txBox="1">
            <a:spLocks/>
          </p:cNvSpPr>
          <p:nvPr/>
        </p:nvSpPr>
        <p:spPr>
          <a:xfrm>
            <a:off x="3836275" y="116522"/>
            <a:ext cx="54137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Preliminary Results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54A6BF-9711-4243-8007-AF0B2B61D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600188"/>
              </p:ext>
            </p:extLst>
          </p:nvPr>
        </p:nvGraphicFramePr>
        <p:xfrm>
          <a:off x="5777947" y="1442085"/>
          <a:ext cx="6361042" cy="1840230"/>
        </p:xfrm>
        <a:graphic>
          <a:graphicData uri="http://schemas.openxmlformats.org/drawingml/2006/table">
            <a:tbl>
              <a:tblPr/>
              <a:tblGrid>
                <a:gridCol w="1075233">
                  <a:extLst>
                    <a:ext uri="{9D8B030D-6E8A-4147-A177-3AD203B41FA5}">
                      <a16:colId xmlns:a16="http://schemas.microsoft.com/office/drawing/2014/main" val="628662285"/>
                    </a:ext>
                  </a:extLst>
                </a:gridCol>
                <a:gridCol w="1075233">
                  <a:extLst>
                    <a:ext uri="{9D8B030D-6E8A-4147-A177-3AD203B41FA5}">
                      <a16:colId xmlns:a16="http://schemas.microsoft.com/office/drawing/2014/main" val="3513937124"/>
                    </a:ext>
                  </a:extLst>
                </a:gridCol>
                <a:gridCol w="1075233">
                  <a:extLst>
                    <a:ext uri="{9D8B030D-6E8A-4147-A177-3AD203B41FA5}">
                      <a16:colId xmlns:a16="http://schemas.microsoft.com/office/drawing/2014/main" val="1128800153"/>
                    </a:ext>
                  </a:extLst>
                </a:gridCol>
                <a:gridCol w="1075233">
                  <a:extLst>
                    <a:ext uri="{9D8B030D-6E8A-4147-A177-3AD203B41FA5}">
                      <a16:colId xmlns:a16="http://schemas.microsoft.com/office/drawing/2014/main" val="304333155"/>
                    </a:ext>
                  </a:extLst>
                </a:gridCol>
                <a:gridCol w="1075233">
                  <a:extLst>
                    <a:ext uri="{9D8B030D-6E8A-4147-A177-3AD203B41FA5}">
                      <a16:colId xmlns:a16="http://schemas.microsoft.com/office/drawing/2014/main" val="641461520"/>
                    </a:ext>
                  </a:extLst>
                </a:gridCol>
                <a:gridCol w="984877">
                  <a:extLst>
                    <a:ext uri="{9D8B030D-6E8A-4147-A177-3AD203B41FA5}">
                      <a16:colId xmlns:a16="http://schemas.microsoft.com/office/drawing/2014/main" val="623180580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Strategy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Interest Count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 Count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Protocol Overhead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Satisfaction Ratio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Timeout Interest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14606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ASF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296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0.63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06979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m-ASF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183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338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0.93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5245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Flooding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193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553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662095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FC6987A9-5186-5549-938C-E9C305DD9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339" y="-149240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Median Protocol Overhead and Satisfaction Ratio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Probing Interval = 2s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Probing Interval = 4s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E55299-2BE7-2E4F-B6D5-FD39ACCFA99C}"/>
              </a:ext>
            </a:extLst>
          </p:cNvPr>
          <p:cNvSpPr/>
          <p:nvPr/>
        </p:nvSpPr>
        <p:spPr>
          <a:xfrm>
            <a:off x="159027" y="1680149"/>
            <a:ext cx="535387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2286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NDNSim</a:t>
            </a:r>
            <a:r>
              <a:rPr lang="en-US" sz="2200" dirty="0"/>
              <a:t> is used for simulation.</a:t>
            </a:r>
          </a:p>
          <a:p>
            <a:pPr marL="457200" indent="-2286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The strategy for all the Access Points is set to ASF, m-ASF,  and Flooding.</a:t>
            </a:r>
          </a:p>
          <a:p>
            <a:pPr marL="914400" lvl="1" indent="-2286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Other nodes’ strategy is set to </a:t>
            </a:r>
            <a:r>
              <a:rPr lang="en-US" sz="2000" dirty="0" err="1"/>
              <a:t>BestRoute</a:t>
            </a:r>
            <a:r>
              <a:rPr lang="en-US" sz="2000" dirty="0"/>
              <a:t>.</a:t>
            </a:r>
            <a:endParaRPr lang="en-US" sz="2200" dirty="0"/>
          </a:p>
          <a:p>
            <a:pPr marL="457200" indent="-2286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Probing Interval is 2 and 4 seconds.</a:t>
            </a:r>
          </a:p>
          <a:p>
            <a:pPr marL="457200" indent="-2286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Max Silent Timeout is 0.</a:t>
            </a:r>
          </a:p>
          <a:p>
            <a:pPr marL="914400" lvl="1" indent="-2286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 mobile scenario, we quickly want to switch faces.</a:t>
            </a:r>
          </a:p>
          <a:p>
            <a:pPr marL="457200" indent="-2286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Duration: 60 seconds. Ran 10 times.</a:t>
            </a:r>
          </a:p>
        </p:txBody>
      </p:sp>
    </p:spTree>
    <p:extLst>
      <p:ext uri="{BB962C8B-B14F-4D97-AF65-F5344CB8AC3E}">
        <p14:creationId xmlns:p14="http://schemas.microsoft.com/office/powerpoint/2010/main" val="2755449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FAF7D-68DA-8847-AE1B-8EBB5FF8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374" y="365125"/>
            <a:ext cx="7550426" cy="1325563"/>
          </a:xfrm>
        </p:spPr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555AB-1E7B-AD48-A524-7479B751E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ASF is not suitable for unstable, short-lived links.</a:t>
            </a:r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Once a working face is down, it takes a long time to find another working face.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M-ASF is showing promising results in such scenario. 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M-ASF’s performance can be attributed to:</a:t>
            </a:r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Measuring all the unmeasured faces at the same time.</a:t>
            </a:r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Finely grained ranking of faces for forwarding.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Some of these changes may improve performance in wired scenarios as well.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450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3ED7-45FD-1343-8ED1-EFCB03CF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156" y="365125"/>
            <a:ext cx="8875643" cy="1325563"/>
          </a:xfrm>
        </p:spPr>
        <p:txBody>
          <a:bodyPr/>
          <a:lstStyle/>
          <a:p>
            <a:r>
              <a:rPr lang="en-US" dirty="0"/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8F222-BDAE-474D-B06E-30BF119CF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14183" cy="4351338"/>
          </a:xfrm>
        </p:spPr>
        <p:txBody>
          <a:bodyPr>
            <a:normAutofit/>
          </a:bodyPr>
          <a:lstStyle/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ASF is not suitable for unstable, short-lived links.</a:t>
            </a:r>
          </a:p>
          <a:p>
            <a:pPr lvl="1"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Once a working face is down, it takes a long time to find another working face.</a:t>
            </a:r>
          </a:p>
          <a:p>
            <a:pPr lvl="1"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M-ASF is showing promising results in such scenario. </a:t>
            </a:r>
          </a:p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Run experiments for the scenario where new faces are created dynamically.</a:t>
            </a:r>
          </a:p>
          <a:p>
            <a:pPr lvl="1"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M-ASF’s probing of unprobed faces will come in handy.</a:t>
            </a:r>
          </a:p>
          <a:p>
            <a:pPr lvl="1"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We are fixing </a:t>
            </a:r>
            <a:r>
              <a:rPr lang="en-US" sz="2000" dirty="0" err="1"/>
              <a:t>minindn-wifi</a:t>
            </a:r>
            <a:r>
              <a:rPr lang="en-US" sz="2000" dirty="0"/>
              <a:t> to support this feature.</a:t>
            </a:r>
          </a:p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Run experiments to test oscillation prevention mechanism.</a:t>
            </a:r>
          </a:p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Merge the code with ASF codebase.</a:t>
            </a:r>
          </a:p>
        </p:txBody>
      </p:sp>
    </p:spTree>
    <p:extLst>
      <p:ext uri="{BB962C8B-B14F-4D97-AF65-F5344CB8AC3E}">
        <p14:creationId xmlns:p14="http://schemas.microsoft.com/office/powerpoint/2010/main" val="3282131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1038</Words>
  <Application>Microsoft Macintosh PowerPoint</Application>
  <PresentationFormat>Widescreen</PresentationFormat>
  <Paragraphs>152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m-ASF - An Adaptive SRTT-based Forwarding Strategy for Mobile Environments</vt:lpstr>
      <vt:lpstr>Background: ASF Strategy  </vt:lpstr>
      <vt:lpstr>Motivation</vt:lpstr>
      <vt:lpstr>Design: Ranking of Face in m-ASF</vt:lpstr>
      <vt:lpstr>Design: Forwarding Behavior</vt:lpstr>
      <vt:lpstr>Design: Probing and Oscillation Prevention</vt:lpstr>
      <vt:lpstr>Preliminary Experiment Scenario</vt:lpstr>
      <vt:lpstr>PowerPoint Presentation</vt:lpstr>
      <vt:lpstr>Observation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Enhancements for ASF - mASF</dc:title>
  <dc:creator>Fariha Sultana (fsultana)</dc:creator>
  <cp:lastModifiedBy>Fariha Sultana (fsultana)</cp:lastModifiedBy>
  <cp:revision>30</cp:revision>
  <dcterms:created xsi:type="dcterms:W3CDTF">2020-09-09T04:50:28Z</dcterms:created>
  <dcterms:modified xsi:type="dcterms:W3CDTF">2020-09-09T21:52:12Z</dcterms:modified>
</cp:coreProperties>
</file>