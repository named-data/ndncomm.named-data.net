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69" r:id="rId3"/>
    <p:sldId id="257" r:id="rId4"/>
    <p:sldId id="266" r:id="rId5"/>
    <p:sldId id="267" r:id="rId6"/>
    <p:sldId id="258" r:id="rId7"/>
    <p:sldId id="268" r:id="rId8"/>
    <p:sldId id="259" r:id="rId9"/>
    <p:sldId id="260" r:id="rId10"/>
    <p:sldId id="263" r:id="rId11"/>
    <p:sldId id="270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4"/>
  </p:normalViewPr>
  <p:slideViewPr>
    <p:cSldViewPr snapToGrid="0" snapToObjects="1" showGuides="1">
      <p:cViewPr>
        <p:scale>
          <a:sx n="81" d="100"/>
          <a:sy n="81" d="100"/>
        </p:scale>
        <p:origin x="31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5058A-C556-B049-A84D-AB88FDE7418B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2FDD6-683F-274A-980B-85F02E786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29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amed-data.net/publications/on_broadcast-based_self-learning_nd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whether got right or wrong thing (Can verify)</a:t>
            </a:r>
          </a:p>
          <a:p>
            <a:r>
              <a:rPr lang="en-US" dirty="0"/>
              <a:t>Plugging in is the aforementioned, the ‘play’ notion includes the reachability analysis in slide 8 </a:t>
            </a:r>
          </a:p>
          <a:p>
            <a:r>
              <a:rPr lang="en-US" dirty="0"/>
              <a:t>Mobility mention here (play around with)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2FDD6-683F-274A-980B-85F02E78608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36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2FDD6-683F-274A-980B-85F02E78608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54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https://named-data.net/publications/on_broadcast-based_self-learning_ndn/</a:t>
            </a:r>
            <a:endParaRPr lang="en-US" dirty="0"/>
          </a:p>
          <a:p>
            <a:endParaRPr lang="en-US" dirty="0"/>
          </a:p>
          <a:p>
            <a:r>
              <a:rPr lang="en-US" dirty="0"/>
              <a:t>Separate out edge vs core – NLSR additional set up doesn’t need to have its additional set up mentioned, not our business (config doesn’t belong here).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62FDD6-683F-274A-980B-85F02E7860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26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here? Do video clip instead.</a:t>
            </a:r>
            <a:r>
              <a:rPr lang="en-US" baseline="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62FDD6-683F-274A-980B-85F02E78608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27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I have 2 </a:t>
            </a:r>
            <a:r>
              <a:rPr lang="en-US" b="0" i="0" dirty="0" err="1">
                <a:solidFill>
                  <a:srgbClr val="1D1C1D"/>
                </a:solidFill>
                <a:effectLst/>
                <a:latin typeface="Slack-Lato"/>
              </a:rPr>
              <a:t>Pis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 and one Mac. Mac’s NFD was up and running, while the two </a:t>
            </a:r>
            <a:r>
              <a:rPr lang="en-US" b="0" i="0" dirty="0" err="1">
                <a:solidFill>
                  <a:srgbClr val="1D1C1D"/>
                </a:solidFill>
                <a:effectLst/>
                <a:latin typeface="Slack-Lato"/>
              </a:rPr>
              <a:t>Pis’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 were not. Three devices were connected through Ethernet. On Mac I started a tiny little server to generate {trust anchor, certificate, schema} for devices and listen requests to distribute them. Initially, two </a:t>
            </a:r>
            <a:r>
              <a:rPr lang="en-US" b="0" i="0" dirty="0" err="1">
                <a:solidFill>
                  <a:srgbClr val="1D1C1D"/>
                </a:solidFill>
                <a:effectLst/>
                <a:latin typeface="Slack-Lato"/>
              </a:rPr>
              <a:t>Pis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 only have the default identity /localhost/operator . After their NFDs started, they fetched individual’s {trust anchor, certificate, schema} from the network (actually from Mac) by sending Interests /</a:t>
            </a:r>
            <a:r>
              <a:rPr lang="en-US" b="0" i="0" dirty="0" err="1">
                <a:solidFill>
                  <a:srgbClr val="1D1C1D"/>
                </a:solidFill>
                <a:effectLst/>
                <a:latin typeface="Slack-Lato"/>
              </a:rPr>
              <a:t>ndn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/config/&lt;required-info&gt;/&lt;nonce&gt; . Then you can see the identity been installed. Trust anchor and trust schema were saved in hard-coded path /</a:t>
            </a:r>
            <a:r>
              <a:rPr lang="en-US" b="0" i="0" dirty="0" err="1">
                <a:solidFill>
                  <a:srgbClr val="1D1C1D"/>
                </a:solidFill>
                <a:effectLst/>
                <a:latin typeface="Slack-Lato"/>
              </a:rPr>
              <a:t>usr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/local/</a:t>
            </a:r>
            <a:r>
              <a:rPr lang="en-US" b="0" i="0" dirty="0" err="1">
                <a:solidFill>
                  <a:srgbClr val="1D1C1D"/>
                </a:solidFill>
                <a:effectLst/>
                <a:latin typeface="Slack-Lato"/>
              </a:rPr>
              <a:t>etc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/</a:t>
            </a:r>
            <a:r>
              <a:rPr lang="en-US" b="0" i="0" dirty="0" err="1">
                <a:solidFill>
                  <a:srgbClr val="1D1C1D"/>
                </a:solidFill>
                <a:effectLst/>
                <a:latin typeface="Slack-Lato"/>
              </a:rPr>
              <a:t>ndn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 (edited) </a:t>
            </a:r>
          </a:p>
          <a:p>
            <a:b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2FDD6-683F-274A-980B-85F02E78608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9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2FDD6-683F-274A-980B-85F02E78608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76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bullet, with identity and security configured, reachability automatable </a:t>
            </a:r>
          </a:p>
          <a:p>
            <a:r>
              <a:rPr lang="en-US" dirty="0"/>
              <a:t>Third bullet is plug, once you have configuration, reachability is no-brainer as it were. Just optimization away from flooding, which still works.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2FDD6-683F-274A-980B-85F02E78608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60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3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48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04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40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96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1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2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96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0640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98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35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12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28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3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65129-131B-3D4D-ADA0-00D046590390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7D7DE-4006-E545-9ECC-B35DA6C92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607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ile:Gnome-computer.sv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id/komputer-jaringan-router-server-159828/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File:Anchor_pictogram.svg" TargetMode="External"/><Relationship Id="rId5" Type="http://schemas.openxmlformats.org/officeDocument/2006/relationships/image" Target="../media/image5.png"/><Relationship Id="rId4" Type="http://schemas.openxmlformats.org/officeDocument/2006/relationships/hyperlink" Target="https://en.wikipedia.org/wiki/File:Gnome-computer.svg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ianyuan129/ndn-plugnpla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NDN: Plug and Play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eric</a:t>
            </a:r>
            <a:r>
              <a:rPr lang="en-US" dirty="0"/>
              <a:t> </a:t>
            </a:r>
            <a:r>
              <a:rPr lang="en-US" dirty="0" err="1"/>
              <a:t>newberry</a:t>
            </a:r>
            <a:r>
              <a:rPr lang="en-US" dirty="0"/>
              <a:t>, </a:t>
            </a:r>
            <a:r>
              <a:rPr lang="en-US" dirty="0" err="1"/>
              <a:t>Tianyuan</a:t>
            </a:r>
            <a:r>
              <a:rPr lang="en-US" dirty="0"/>
              <a:t> </a:t>
            </a:r>
            <a:r>
              <a:rPr lang="en-US" dirty="0" err="1"/>
              <a:t>yu</a:t>
            </a:r>
            <a:r>
              <a:rPr lang="en-US" dirty="0"/>
              <a:t>, </a:t>
            </a:r>
            <a:r>
              <a:rPr lang="en-US" dirty="0" err="1"/>
              <a:t>Zhiyi</a:t>
            </a:r>
            <a:r>
              <a:rPr lang="en-US" dirty="0"/>
              <a:t> </a:t>
            </a:r>
            <a:r>
              <a:rPr lang="en-US" dirty="0" err="1"/>
              <a:t>zhang</a:t>
            </a:r>
            <a:r>
              <a:rPr lang="en-US" dirty="0"/>
              <a:t>, john Dellaverson, </a:t>
            </a:r>
            <a:r>
              <a:rPr lang="en-US" dirty="0" err="1"/>
              <a:t>lixia</a:t>
            </a:r>
            <a:r>
              <a:rPr lang="en-US" dirty="0"/>
              <a:t> </a:t>
            </a:r>
            <a:r>
              <a:rPr lang="en-US" dirty="0" err="1"/>
              <a:t>zhang</a:t>
            </a:r>
            <a:endParaRPr lang="en-US" dirty="0"/>
          </a:p>
          <a:p>
            <a:r>
              <a:rPr lang="en-US" dirty="0"/>
              <a:t>UCLA</a:t>
            </a:r>
          </a:p>
          <a:p>
            <a:r>
              <a:rPr lang="en-US" dirty="0"/>
              <a:t>September 10, 2020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027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AB522-6867-49DF-A114-793B971FA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Plug And 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C2390-8F8D-4AE1-AC69-22BC2D4D8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Configuration</a:t>
            </a:r>
          </a:p>
          <a:p>
            <a:pPr lvl="1"/>
            <a:r>
              <a:rPr lang="en-US" dirty="0"/>
              <a:t>The setup required to talk to other nodes on the network</a:t>
            </a:r>
          </a:p>
          <a:p>
            <a:r>
              <a:rPr lang="en-US" dirty="0"/>
              <a:t>Reachability	</a:t>
            </a:r>
          </a:p>
          <a:p>
            <a:pPr lvl="1"/>
            <a:r>
              <a:rPr lang="en-US" dirty="0"/>
              <a:t>Finding the other nodes</a:t>
            </a:r>
          </a:p>
          <a:p>
            <a:pPr lvl="1"/>
            <a:endParaRPr lang="en-US" dirty="0"/>
          </a:p>
          <a:p>
            <a:r>
              <a:rPr lang="en-US" dirty="0"/>
              <a:t>How do these goals differ between IP and NDN?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83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IP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goal of IP configuration? In a word, connectivity to the global internet</a:t>
            </a:r>
          </a:p>
          <a:p>
            <a:pPr lvl="1"/>
            <a:r>
              <a:rPr lang="en-US" dirty="0"/>
              <a:t>IP config is to plug a node into an existing connected IP infrastructure.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154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1554F3CF-5FED-4A0E-A1D0-92640D77B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1729819" y="4890947"/>
            <a:ext cx="537721" cy="53772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199422A-7275-4805-981C-9B5599B7EF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253009" y="3739051"/>
            <a:ext cx="890637" cy="80560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CB12692-32C7-4563-9F63-A3DE63826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2574746" y="4890947"/>
            <a:ext cx="537721" cy="53772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E7FB643-42CD-4284-BA57-35C5C8EC0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3419673" y="4890946"/>
            <a:ext cx="537721" cy="53772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23E98EE-6718-41EB-BC1F-4C44181E4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4276234" y="4890945"/>
            <a:ext cx="537721" cy="53772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07EB7DF-5166-4CF2-B8AB-3A0007666A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140699" y="2769663"/>
            <a:ext cx="890637" cy="80560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836D235-1575-494F-9E0A-8721D3B818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829428" y="3739051"/>
            <a:ext cx="890637" cy="80560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97338CD-8C4F-41E5-8182-8071C6C9C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5748925" y="4873467"/>
            <a:ext cx="537721" cy="53772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4795DAD-0107-4AE3-9A7C-104B40F3A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6593852" y="4873467"/>
            <a:ext cx="537721" cy="53772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58E2930-4045-4D58-B51D-0CA59C132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7438779" y="4873466"/>
            <a:ext cx="537721" cy="53772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C75DA3E-340D-4F6C-B2D8-DD050926E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8295340" y="4873465"/>
            <a:ext cx="537721" cy="537721"/>
          </a:xfrm>
          <a:prstGeom prst="rect">
            <a:avLst/>
          </a:prstGeom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310ED7C-67F5-44C0-A8E7-3F070B9D2BFF}"/>
              </a:ext>
            </a:extLst>
          </p:cNvPr>
          <p:cNvCxnSpPr>
            <a:stCxn id="38" idx="0"/>
            <a:endCxn id="41" idx="2"/>
          </p:cNvCxnSpPr>
          <p:nvPr/>
        </p:nvCxnSpPr>
        <p:spPr>
          <a:xfrm flipV="1">
            <a:off x="1998679" y="4544652"/>
            <a:ext cx="699649" cy="346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7E411DC-5897-47F7-AEE6-B3A24B489BF5}"/>
              </a:ext>
            </a:extLst>
          </p:cNvPr>
          <p:cNvCxnSpPr>
            <a:stCxn id="43" idx="0"/>
            <a:endCxn id="41" idx="2"/>
          </p:cNvCxnSpPr>
          <p:nvPr/>
        </p:nvCxnSpPr>
        <p:spPr>
          <a:xfrm flipH="1" flipV="1">
            <a:off x="2698328" y="4544652"/>
            <a:ext cx="145278" cy="346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3529574-3473-43B3-B961-2BBF6A959EB5}"/>
              </a:ext>
            </a:extLst>
          </p:cNvPr>
          <p:cNvCxnSpPr>
            <a:stCxn id="47" idx="0"/>
            <a:endCxn id="41" idx="2"/>
          </p:cNvCxnSpPr>
          <p:nvPr/>
        </p:nvCxnSpPr>
        <p:spPr>
          <a:xfrm flipH="1" flipV="1">
            <a:off x="2698328" y="4544652"/>
            <a:ext cx="990205" cy="346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E360973-EBD7-46D6-B559-CE68FE540BA7}"/>
              </a:ext>
            </a:extLst>
          </p:cNvPr>
          <p:cNvCxnSpPr>
            <a:stCxn id="49" idx="0"/>
            <a:endCxn id="41" idx="2"/>
          </p:cNvCxnSpPr>
          <p:nvPr/>
        </p:nvCxnSpPr>
        <p:spPr>
          <a:xfrm flipH="1" flipV="1">
            <a:off x="2698328" y="4544652"/>
            <a:ext cx="1846766" cy="346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1E7311D-8454-493F-B9A1-E81BD634A980}"/>
              </a:ext>
            </a:extLst>
          </p:cNvPr>
          <p:cNvCxnSpPr>
            <a:stCxn id="55" idx="0"/>
            <a:endCxn id="53" idx="2"/>
          </p:cNvCxnSpPr>
          <p:nvPr/>
        </p:nvCxnSpPr>
        <p:spPr>
          <a:xfrm flipV="1">
            <a:off x="6017785" y="4544652"/>
            <a:ext cx="1256962" cy="328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7F64D40-22FD-4697-8FDA-DD773DED9766}"/>
              </a:ext>
            </a:extLst>
          </p:cNvPr>
          <p:cNvCxnSpPr>
            <a:stCxn id="57" idx="0"/>
            <a:endCxn id="53" idx="2"/>
          </p:cNvCxnSpPr>
          <p:nvPr/>
        </p:nvCxnSpPr>
        <p:spPr>
          <a:xfrm flipV="1">
            <a:off x="6862712" y="4544652"/>
            <a:ext cx="412035" cy="328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81A1C05-B50C-47D9-9BED-64E43131423E}"/>
              </a:ext>
            </a:extLst>
          </p:cNvPr>
          <p:cNvCxnSpPr>
            <a:stCxn id="59" idx="0"/>
            <a:endCxn id="53" idx="2"/>
          </p:cNvCxnSpPr>
          <p:nvPr/>
        </p:nvCxnSpPr>
        <p:spPr>
          <a:xfrm flipH="1" flipV="1">
            <a:off x="7274747" y="4544652"/>
            <a:ext cx="432892" cy="328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4D9251C-5429-44AD-B4E4-193E03CFE68C}"/>
              </a:ext>
            </a:extLst>
          </p:cNvPr>
          <p:cNvCxnSpPr>
            <a:stCxn id="61" idx="0"/>
            <a:endCxn id="53" idx="2"/>
          </p:cNvCxnSpPr>
          <p:nvPr/>
        </p:nvCxnSpPr>
        <p:spPr>
          <a:xfrm flipH="1" flipV="1">
            <a:off x="7274747" y="4544652"/>
            <a:ext cx="1289453" cy="328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Picture 92">
            <a:extLst>
              <a:ext uri="{FF2B5EF4-FFF2-40B4-BE49-F238E27FC236}">
                <a16:creationId xmlns:a16="http://schemas.microsoft.com/office/drawing/2014/main" id="{63CFC781-8E4B-4D56-A700-EA44313765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756005" y="2353765"/>
            <a:ext cx="890637" cy="805601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5945E5FB-19FE-4B08-A5AE-2E3130FDED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829427" y="2353764"/>
            <a:ext cx="890637" cy="805601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12407860-4965-4371-A98C-0FF381C884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118597" y="1426341"/>
            <a:ext cx="890637" cy="805601"/>
          </a:xfrm>
          <a:prstGeom prst="rect">
            <a:avLst/>
          </a:prstGeom>
        </p:spPr>
      </p:pic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BA85FDC-F2E4-4EDF-944B-415180EA9CAA}"/>
              </a:ext>
            </a:extLst>
          </p:cNvPr>
          <p:cNvCxnSpPr>
            <a:stCxn id="51" idx="0"/>
            <a:endCxn id="97" idx="2"/>
          </p:cNvCxnSpPr>
          <p:nvPr/>
        </p:nvCxnSpPr>
        <p:spPr>
          <a:xfrm flipH="1" flipV="1">
            <a:off x="3563916" y="2231942"/>
            <a:ext cx="22102" cy="537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3070C47-DBA7-4FD1-9607-2FE0F4EAEC8D}"/>
              </a:ext>
            </a:extLst>
          </p:cNvPr>
          <p:cNvCxnSpPr>
            <a:stCxn id="51" idx="3"/>
            <a:endCxn id="93" idx="1"/>
          </p:cNvCxnSpPr>
          <p:nvPr/>
        </p:nvCxnSpPr>
        <p:spPr>
          <a:xfrm flipV="1">
            <a:off x="4031336" y="2756566"/>
            <a:ext cx="724669" cy="4158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BF7322E-5CBE-44C0-8A8A-F10EC8EC0E8F}"/>
              </a:ext>
            </a:extLst>
          </p:cNvPr>
          <p:cNvCxnSpPr>
            <a:stCxn id="93" idx="2"/>
            <a:endCxn id="53" idx="1"/>
          </p:cNvCxnSpPr>
          <p:nvPr/>
        </p:nvCxnSpPr>
        <p:spPr>
          <a:xfrm>
            <a:off x="5201324" y="3159366"/>
            <a:ext cx="1628104" cy="9824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B4834F1-1531-438B-A18A-58F893F68E9B}"/>
              </a:ext>
            </a:extLst>
          </p:cNvPr>
          <p:cNvCxnSpPr>
            <a:stCxn id="93" idx="3"/>
            <a:endCxn id="95" idx="1"/>
          </p:cNvCxnSpPr>
          <p:nvPr/>
        </p:nvCxnSpPr>
        <p:spPr>
          <a:xfrm flipV="1">
            <a:off x="5646642" y="2756565"/>
            <a:ext cx="118278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A7F5E63-7999-4FE3-B1BF-B759D34255D5}"/>
              </a:ext>
            </a:extLst>
          </p:cNvPr>
          <p:cNvCxnSpPr>
            <a:stCxn id="95" idx="2"/>
            <a:endCxn id="53" idx="0"/>
          </p:cNvCxnSpPr>
          <p:nvPr/>
        </p:nvCxnSpPr>
        <p:spPr>
          <a:xfrm>
            <a:off x="7274746" y="3159365"/>
            <a:ext cx="1" cy="579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849A93F8-0725-482C-A40D-D7A0400A7C5B}"/>
              </a:ext>
            </a:extLst>
          </p:cNvPr>
          <p:cNvSpPr txBox="1"/>
          <p:nvPr/>
        </p:nvSpPr>
        <p:spPr>
          <a:xfrm>
            <a:off x="1659121" y="5561432"/>
            <a:ext cx="3695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.1              .2            .3          .4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235DFDA-A2AB-478C-B92B-3AF5C22F3A22}"/>
              </a:ext>
            </a:extLst>
          </p:cNvPr>
          <p:cNvSpPr txBox="1"/>
          <p:nvPr/>
        </p:nvSpPr>
        <p:spPr>
          <a:xfrm>
            <a:off x="5822625" y="5555333"/>
            <a:ext cx="3524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.5             .6          .7           .8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6913BC0D-C624-4C7A-8B94-3C42EC6D4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9401270" y="4072007"/>
            <a:ext cx="537721" cy="537721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8FEE5431-035C-4C47-B9D8-F8F38DC88A59}"/>
              </a:ext>
            </a:extLst>
          </p:cNvPr>
          <p:cNvSpPr txBox="1"/>
          <p:nvPr/>
        </p:nvSpPr>
        <p:spPr>
          <a:xfrm>
            <a:off x="8468788" y="884120"/>
            <a:ext cx="21257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order to join the network, a new node must connect to a DHCP server and retrieve an IP address,  subnet mask, the default gateway, maybe a DNS server. Once connected, config is complete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4A47BBE-8ADA-4E50-B783-FF18394EA61E}"/>
              </a:ext>
            </a:extLst>
          </p:cNvPr>
          <p:cNvCxnSpPr>
            <a:cxnSpLocks/>
            <a:stCxn id="97" idx="3"/>
            <a:endCxn id="130" idx="2"/>
          </p:cNvCxnSpPr>
          <p:nvPr/>
        </p:nvCxnSpPr>
        <p:spPr>
          <a:xfrm flipV="1">
            <a:off x="4009234" y="1330761"/>
            <a:ext cx="898318" cy="498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862887AD-026D-4B0E-A932-1B259F63B079}"/>
              </a:ext>
            </a:extLst>
          </p:cNvPr>
          <p:cNvCxnSpPr>
            <a:cxnSpLocks/>
            <a:stCxn id="93" idx="0"/>
            <a:endCxn id="130" idx="1"/>
          </p:cNvCxnSpPr>
          <p:nvPr/>
        </p:nvCxnSpPr>
        <p:spPr>
          <a:xfrm flipV="1">
            <a:off x="5201324" y="1816838"/>
            <a:ext cx="490450" cy="536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E115BA0-67B5-4ADD-A4BD-86E8EC35D8A3}"/>
              </a:ext>
            </a:extLst>
          </p:cNvPr>
          <p:cNvCxnSpPr>
            <a:cxnSpLocks/>
            <a:stCxn id="95" idx="0"/>
            <a:endCxn id="130" idx="0"/>
          </p:cNvCxnSpPr>
          <p:nvPr/>
        </p:nvCxnSpPr>
        <p:spPr>
          <a:xfrm flipH="1" flipV="1">
            <a:off x="6479575" y="1330761"/>
            <a:ext cx="795171" cy="1023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E1A9223-B689-4BB3-81D8-DE02C7E870F2}"/>
              </a:ext>
            </a:extLst>
          </p:cNvPr>
          <p:cNvCxnSpPr>
            <a:stCxn id="41" idx="0"/>
            <a:endCxn id="51" idx="2"/>
          </p:cNvCxnSpPr>
          <p:nvPr/>
        </p:nvCxnSpPr>
        <p:spPr>
          <a:xfrm flipV="1">
            <a:off x="2698328" y="3575264"/>
            <a:ext cx="887690" cy="1637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Cloud 129">
            <a:extLst>
              <a:ext uri="{FF2B5EF4-FFF2-40B4-BE49-F238E27FC236}">
                <a16:creationId xmlns:a16="http://schemas.microsoft.com/office/drawing/2014/main" id="{344707C8-E7CF-4BFB-A91D-2B1994C8C9C7}"/>
              </a:ext>
            </a:extLst>
          </p:cNvPr>
          <p:cNvSpPr/>
          <p:nvPr/>
        </p:nvSpPr>
        <p:spPr>
          <a:xfrm>
            <a:off x="4902657" y="843646"/>
            <a:ext cx="1578233" cy="974229"/>
          </a:xfrm>
          <a:prstGeom prst="clou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Cloud 131">
            <a:extLst>
              <a:ext uri="{FF2B5EF4-FFF2-40B4-BE49-F238E27FC236}">
                <a16:creationId xmlns:a16="http://schemas.microsoft.com/office/drawing/2014/main" id="{80870770-92CA-40A8-9F78-41C7B3ED85FA}"/>
              </a:ext>
            </a:extLst>
          </p:cNvPr>
          <p:cNvSpPr/>
          <p:nvPr/>
        </p:nvSpPr>
        <p:spPr>
          <a:xfrm>
            <a:off x="655163" y="480769"/>
            <a:ext cx="11340445" cy="6212262"/>
          </a:xfrm>
          <a:prstGeom prst="clou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7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D53CC-E72F-490C-930F-93ACB92FD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IP Configuration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B4904-EE06-4E99-BE5C-0C5ED32AA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IP is just about connectivity, everything involving trust happens on a higher layer</a:t>
            </a:r>
          </a:p>
          <a:p>
            <a:r>
              <a:rPr lang="en-US" dirty="0"/>
              <a:t>Can’t know if talking to the right party over just IP</a:t>
            </a:r>
          </a:p>
          <a:p>
            <a:r>
              <a:rPr lang="en-US" dirty="0"/>
              <a:t>Thus vulnerable on its own</a:t>
            </a:r>
          </a:p>
        </p:txBody>
      </p:sp>
    </p:spTree>
    <p:extLst>
      <p:ext uri="{BB962C8B-B14F-4D97-AF65-F5344CB8AC3E}">
        <p14:creationId xmlns:p14="http://schemas.microsoft.com/office/powerpoint/2010/main" val="2835702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NDN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NDN Configuration?</a:t>
            </a:r>
          </a:p>
          <a:p>
            <a:pPr lvl="1"/>
            <a:r>
              <a:rPr lang="en-US" dirty="0"/>
              <a:t>Plug a new entity into an application namespace. Because trust relations exist within this space, also inherit the trust relations of that namespace with other names.</a:t>
            </a:r>
          </a:p>
          <a:p>
            <a:pPr lvl="2"/>
            <a:r>
              <a:rPr lang="en-US" dirty="0"/>
              <a:t>Because asserting trust dynamics here, authenticity is critical. </a:t>
            </a:r>
          </a:p>
          <a:p>
            <a:pPr lvl="1"/>
            <a:r>
              <a:rPr lang="en-US" dirty="0"/>
              <a:t>All about Names and Security</a:t>
            </a:r>
          </a:p>
          <a:p>
            <a:pPr lvl="1"/>
            <a:r>
              <a:rPr lang="en-US" dirty="0"/>
              <a:t>All configuration can be encapsulated in getting a Name from a relevant application and Certificate from a trust anchor.</a:t>
            </a:r>
          </a:p>
          <a:p>
            <a:pPr lvl="1"/>
            <a:r>
              <a:rPr lang="en-US" dirty="0"/>
              <a:t>From there, can retrieve a Trust Schema, can automatically discover namespaces. </a:t>
            </a:r>
          </a:p>
        </p:txBody>
      </p:sp>
    </p:spTree>
    <p:extLst>
      <p:ext uri="{BB962C8B-B14F-4D97-AF65-F5344CB8AC3E}">
        <p14:creationId xmlns:p14="http://schemas.microsoft.com/office/powerpoint/2010/main" val="370994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EDEEB-15C0-45B7-B8EA-AF97DEE0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NDN Config Visualized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0947A72-3C74-41BA-AD70-51419AC70B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flipH="1">
            <a:off x="3437641" y="5418838"/>
            <a:ext cx="537721" cy="537721"/>
          </a:xfrm>
          <a:prstGeom prst="rect">
            <a:avLst/>
          </a:prstGeom>
        </p:spPr>
      </p:pic>
      <p:graphicFrame>
        <p:nvGraphicFramePr>
          <p:cNvPr id="32" name="Table 32">
            <a:extLst>
              <a:ext uri="{FF2B5EF4-FFF2-40B4-BE49-F238E27FC236}">
                <a16:creationId xmlns:a16="http://schemas.microsoft.com/office/drawing/2014/main" id="{2E56B5F2-561D-45CB-B61A-6B2CA49BC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767129"/>
              </p:ext>
            </p:extLst>
          </p:nvPr>
        </p:nvGraphicFramePr>
        <p:xfrm>
          <a:off x="1518241" y="6014301"/>
          <a:ext cx="4316952" cy="680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984">
                  <a:extLst>
                    <a:ext uri="{9D8B030D-6E8A-4147-A177-3AD203B41FA5}">
                      <a16:colId xmlns:a16="http://schemas.microsoft.com/office/drawing/2014/main" val="2835018151"/>
                    </a:ext>
                  </a:extLst>
                </a:gridCol>
                <a:gridCol w="1438984">
                  <a:extLst>
                    <a:ext uri="{9D8B030D-6E8A-4147-A177-3AD203B41FA5}">
                      <a16:colId xmlns:a16="http://schemas.microsoft.com/office/drawing/2014/main" val="3634957169"/>
                    </a:ext>
                  </a:extLst>
                </a:gridCol>
                <a:gridCol w="1438984">
                  <a:extLst>
                    <a:ext uri="{9D8B030D-6E8A-4147-A177-3AD203B41FA5}">
                      <a16:colId xmlns:a16="http://schemas.microsoft.com/office/drawing/2014/main" val="1750183499"/>
                    </a:ext>
                  </a:extLst>
                </a:gridCol>
              </a:tblGrid>
              <a:tr h="293184">
                <a:tc>
                  <a:txBody>
                    <a:bodyPr/>
                    <a:lstStyle/>
                    <a:p>
                      <a:r>
                        <a:rPr lang="en-US" dirty="0"/>
                        <a:t>Data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Anchor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94282"/>
                  </a:ext>
                </a:extLst>
              </a:tr>
              <a:tr h="314845">
                <a:tc>
                  <a:txBody>
                    <a:bodyPr/>
                    <a:lstStyle/>
                    <a:p>
                      <a:r>
                        <a:rPr lang="en-US" sz="1200" dirty="0"/>
                        <a:t>Must prefix /</a:t>
                      </a:r>
                      <a:r>
                        <a:rPr lang="en-US" sz="1200" dirty="0" err="1"/>
                        <a:t>ndn</a:t>
                      </a:r>
                      <a:r>
                        <a:rPr lang="en-US" sz="1200" dirty="0"/>
                        <a:t>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Must prefix /</a:t>
                      </a:r>
                      <a:r>
                        <a:rPr lang="en-US" sz="1200" dirty="0" err="1"/>
                        <a:t>ndn</a:t>
                      </a:r>
                      <a:r>
                        <a:rPr lang="en-US" sz="1200" dirty="0"/>
                        <a:t>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/</a:t>
                      </a:r>
                      <a:r>
                        <a:rPr lang="en-US" sz="1200" dirty="0" err="1"/>
                        <a:t>ndn</a:t>
                      </a:r>
                      <a:r>
                        <a:rPr lang="en-US" sz="1200" dirty="0"/>
                        <a:t>/KEY/a/key01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500393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B755EFC3-E0AE-4171-9AD4-62ED32AC16CA}"/>
              </a:ext>
            </a:extLst>
          </p:cNvPr>
          <p:cNvSpPr txBox="1"/>
          <p:nvPr/>
        </p:nvSpPr>
        <p:spPr>
          <a:xfrm>
            <a:off x="4062953" y="5458120"/>
            <a:ext cx="166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Signs as /</a:t>
            </a:r>
            <a:r>
              <a:rPr lang="en-US" dirty="0" err="1"/>
              <a:t>ndn</a:t>
            </a:r>
            <a:r>
              <a:rPr lang="en-US" dirty="0"/>
              <a:t>/a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0EAE50D-D114-4352-B4F2-734498D21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flipH="1">
            <a:off x="8242168" y="5418838"/>
            <a:ext cx="537721" cy="537721"/>
          </a:xfrm>
          <a:prstGeom prst="rect">
            <a:avLst/>
          </a:prstGeom>
        </p:spPr>
      </p:pic>
      <p:graphicFrame>
        <p:nvGraphicFramePr>
          <p:cNvPr id="37" name="Table 32">
            <a:extLst>
              <a:ext uri="{FF2B5EF4-FFF2-40B4-BE49-F238E27FC236}">
                <a16:creationId xmlns:a16="http://schemas.microsoft.com/office/drawing/2014/main" id="{E1403EA8-8150-4690-B861-26B554C41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105787"/>
              </p:ext>
            </p:extLst>
          </p:nvPr>
        </p:nvGraphicFramePr>
        <p:xfrm>
          <a:off x="6322767" y="6014301"/>
          <a:ext cx="5253348" cy="680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116">
                  <a:extLst>
                    <a:ext uri="{9D8B030D-6E8A-4147-A177-3AD203B41FA5}">
                      <a16:colId xmlns:a16="http://schemas.microsoft.com/office/drawing/2014/main" val="2835018151"/>
                    </a:ext>
                  </a:extLst>
                </a:gridCol>
                <a:gridCol w="1751116">
                  <a:extLst>
                    <a:ext uri="{9D8B030D-6E8A-4147-A177-3AD203B41FA5}">
                      <a16:colId xmlns:a16="http://schemas.microsoft.com/office/drawing/2014/main" val="3634957169"/>
                    </a:ext>
                  </a:extLst>
                </a:gridCol>
                <a:gridCol w="1751116">
                  <a:extLst>
                    <a:ext uri="{9D8B030D-6E8A-4147-A177-3AD203B41FA5}">
                      <a16:colId xmlns:a16="http://schemas.microsoft.com/office/drawing/2014/main" val="1750183499"/>
                    </a:ext>
                  </a:extLst>
                </a:gridCol>
              </a:tblGrid>
              <a:tr h="293184">
                <a:tc>
                  <a:txBody>
                    <a:bodyPr/>
                    <a:lstStyle/>
                    <a:p>
                      <a:r>
                        <a:rPr lang="en-US" dirty="0"/>
                        <a:t>Data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Anchor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94282"/>
                  </a:ext>
                </a:extLst>
              </a:tr>
              <a:tr h="314845">
                <a:tc>
                  <a:txBody>
                    <a:bodyPr/>
                    <a:lstStyle/>
                    <a:p>
                      <a:r>
                        <a:rPr lang="en-US" sz="1200" dirty="0"/>
                        <a:t>Must prefix /</a:t>
                      </a:r>
                      <a:r>
                        <a:rPr lang="en-US" sz="1200" dirty="0" err="1"/>
                        <a:t>ndn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Must prefix /</a:t>
                      </a:r>
                      <a:r>
                        <a:rPr lang="en-US" sz="1200" dirty="0" err="1"/>
                        <a:t>ndn</a:t>
                      </a:r>
                      <a:r>
                        <a:rPr lang="en-US" sz="1200" dirty="0"/>
                        <a:t>/…/KEY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/</a:t>
                      </a:r>
                      <a:r>
                        <a:rPr lang="en-US" sz="1200" dirty="0" err="1"/>
                        <a:t>ndn</a:t>
                      </a:r>
                      <a:r>
                        <a:rPr lang="en-US" sz="1200" dirty="0"/>
                        <a:t>/KEY/c/key05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500393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3B7A8FFF-3378-44C9-93A1-037AFEA7ADDB}"/>
              </a:ext>
            </a:extLst>
          </p:cNvPr>
          <p:cNvSpPr txBox="1"/>
          <p:nvPr/>
        </p:nvSpPr>
        <p:spPr>
          <a:xfrm>
            <a:off x="8867480" y="5458120"/>
            <a:ext cx="1930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Signs as /</a:t>
            </a:r>
            <a:r>
              <a:rPr lang="en-US" dirty="0" err="1"/>
              <a:t>ndn</a:t>
            </a:r>
            <a:r>
              <a:rPr lang="en-US" dirty="0"/>
              <a:t>/b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537EDC3-9572-46B9-A944-2B12A8C61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flipH="1">
            <a:off x="2218439" y="4518832"/>
            <a:ext cx="537721" cy="53772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25400FE-5071-4482-AD7F-BB55885D5D7B}"/>
              </a:ext>
            </a:extLst>
          </p:cNvPr>
          <p:cNvSpPr txBox="1"/>
          <p:nvPr/>
        </p:nvSpPr>
        <p:spPr>
          <a:xfrm>
            <a:off x="2756161" y="4537711"/>
            <a:ext cx="1930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Signs as /</a:t>
            </a:r>
            <a:r>
              <a:rPr lang="en-US" dirty="0" err="1"/>
              <a:t>ndn</a:t>
            </a:r>
            <a:r>
              <a:rPr lang="en-US" dirty="0"/>
              <a:t>/c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FD27F497-971E-4288-9F40-1975937422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141413" y="2374982"/>
            <a:ext cx="1388062" cy="168071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C6464A3-2FAB-45C8-BF1A-FB7C3EEA8F7C}"/>
              </a:ext>
            </a:extLst>
          </p:cNvPr>
          <p:cNvSpPr txBox="1"/>
          <p:nvPr/>
        </p:nvSpPr>
        <p:spPr>
          <a:xfrm>
            <a:off x="1068705" y="1842542"/>
            <a:ext cx="1533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Trust anchor 1 runs /</a:t>
            </a:r>
            <a:r>
              <a:rPr lang="en-US" dirty="0" err="1"/>
              <a:t>ndn</a:t>
            </a:r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3CB6D5E-EF1D-4BCB-9563-33DBFAF8EB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928765" y="2097088"/>
            <a:ext cx="1388062" cy="168071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9399652-D33C-4591-AC4C-4A284F08FA7C}"/>
              </a:ext>
            </a:extLst>
          </p:cNvPr>
          <p:cNvSpPr txBox="1"/>
          <p:nvPr/>
        </p:nvSpPr>
        <p:spPr>
          <a:xfrm>
            <a:off x="9856057" y="1564648"/>
            <a:ext cx="1533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Trust anchor 2. Runs /home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EAD8798F-6DF8-42E0-8B28-08A13B45B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flipH="1">
            <a:off x="8055588" y="3662554"/>
            <a:ext cx="537721" cy="53772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1514E2C1-A9A3-4EC6-A316-D94E5C06D331}"/>
              </a:ext>
            </a:extLst>
          </p:cNvPr>
          <p:cNvSpPr txBox="1"/>
          <p:nvPr/>
        </p:nvSpPr>
        <p:spPr>
          <a:xfrm>
            <a:off x="8680900" y="3701836"/>
            <a:ext cx="1930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Signs as /home/a</a:t>
            </a:r>
          </a:p>
        </p:txBody>
      </p:sp>
      <p:graphicFrame>
        <p:nvGraphicFramePr>
          <p:cNvPr id="63" name="Table 63">
            <a:extLst>
              <a:ext uri="{FF2B5EF4-FFF2-40B4-BE49-F238E27FC236}">
                <a16:creationId xmlns:a16="http://schemas.microsoft.com/office/drawing/2014/main" id="{B77FD6CA-4FBB-40E5-88F7-91421DD73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442026"/>
              </p:ext>
            </p:extLst>
          </p:nvPr>
        </p:nvGraphicFramePr>
        <p:xfrm>
          <a:off x="5957216" y="4385614"/>
          <a:ext cx="582052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176">
                  <a:extLst>
                    <a:ext uri="{9D8B030D-6E8A-4147-A177-3AD203B41FA5}">
                      <a16:colId xmlns:a16="http://schemas.microsoft.com/office/drawing/2014/main" val="3713313978"/>
                    </a:ext>
                  </a:extLst>
                </a:gridCol>
                <a:gridCol w="1940176">
                  <a:extLst>
                    <a:ext uri="{9D8B030D-6E8A-4147-A177-3AD203B41FA5}">
                      <a16:colId xmlns:a16="http://schemas.microsoft.com/office/drawing/2014/main" val="982694000"/>
                    </a:ext>
                  </a:extLst>
                </a:gridCol>
                <a:gridCol w="1940176">
                  <a:extLst>
                    <a:ext uri="{9D8B030D-6E8A-4147-A177-3AD203B41FA5}">
                      <a16:colId xmlns:a16="http://schemas.microsoft.com/office/drawing/2014/main" val="205212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Data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Key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Anchor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398036"/>
                  </a:ext>
                </a:extLst>
              </a:tr>
              <a:tr h="188154">
                <a:tc>
                  <a:txBody>
                    <a:bodyPr/>
                    <a:lstStyle/>
                    <a:p>
                      <a:r>
                        <a:rPr lang="en-US" sz="1200" dirty="0"/>
                        <a:t>Must prefix /</a:t>
                      </a:r>
                      <a:r>
                        <a:rPr lang="en-US" sz="1200" dirty="0" err="1"/>
                        <a:t>ndn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Must prefix /</a:t>
                      </a:r>
                      <a:r>
                        <a:rPr lang="en-US" sz="1200" dirty="0" err="1"/>
                        <a:t>ndn</a:t>
                      </a:r>
                      <a:r>
                        <a:rPr lang="en-US" sz="1200" dirty="0"/>
                        <a:t>/…/key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/</a:t>
                      </a:r>
                      <a:r>
                        <a:rPr lang="en-US" sz="1200" dirty="0" err="1"/>
                        <a:t>ndn</a:t>
                      </a:r>
                      <a:r>
                        <a:rPr lang="en-US" sz="1200" dirty="0"/>
                        <a:t>/KEY/C/key05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18398"/>
                  </a:ext>
                </a:extLst>
              </a:tr>
              <a:tr h="188154">
                <a:tc>
                  <a:txBody>
                    <a:bodyPr/>
                    <a:lstStyle/>
                    <a:p>
                      <a:r>
                        <a:rPr lang="en-US" sz="1200" dirty="0"/>
                        <a:t>Must prefix /home/a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Must prefix /home/a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/home/KEY/a/key01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33392"/>
                  </a:ext>
                </a:extLst>
              </a:tr>
            </a:tbl>
          </a:graphicData>
        </a:graphic>
      </p:graphicFrame>
      <p:pic>
        <p:nvPicPr>
          <p:cNvPr id="65" name="Picture 64">
            <a:extLst>
              <a:ext uri="{FF2B5EF4-FFF2-40B4-BE49-F238E27FC236}">
                <a16:creationId xmlns:a16="http://schemas.microsoft.com/office/drawing/2014/main" id="{7B4FE1FE-ADF0-4491-9B23-C85B08E90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flipH="1">
            <a:off x="4062953" y="2434769"/>
            <a:ext cx="537721" cy="537721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1FF0823E-A3C3-4F85-A822-193C92C3DC65}"/>
              </a:ext>
            </a:extLst>
          </p:cNvPr>
          <p:cNvSpPr txBox="1"/>
          <p:nvPr/>
        </p:nvSpPr>
        <p:spPr>
          <a:xfrm>
            <a:off x="4762890" y="1932259"/>
            <a:ext cx="26249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 new entity wants to join the network, it must get a name (e.g. /home/b) from a relevant application, and a certificate from the trust anchor (from anchor 2) </a:t>
            </a:r>
          </a:p>
        </p:txBody>
      </p:sp>
    </p:spTree>
    <p:extLst>
      <p:ext uri="{BB962C8B-B14F-4D97-AF65-F5344CB8AC3E}">
        <p14:creationId xmlns:p14="http://schemas.microsoft.com/office/powerpoint/2010/main" val="4240502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9370" y="365125"/>
            <a:ext cx="8944429" cy="1325563"/>
          </a:xfrm>
        </p:spPr>
        <p:txBody>
          <a:bodyPr/>
          <a:lstStyle/>
          <a:p>
            <a:r>
              <a:rPr lang="en-US" dirty="0"/>
              <a:t>Multiple Ways to get reachability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an entity has the aforementioned essential components (Name, Certificate </a:t>
            </a:r>
            <a:r>
              <a:rPr lang="en-US" dirty="0">
                <a:sym typeface="Wingdings"/>
              </a:rPr>
              <a:t> Trust Schema), can get reachability in multiple ways:</a:t>
            </a:r>
          </a:p>
          <a:p>
            <a:r>
              <a:rPr lang="en-US" dirty="0">
                <a:sym typeface="Wingdings"/>
              </a:rPr>
              <a:t>Different ways of getting reachability</a:t>
            </a:r>
          </a:p>
          <a:p>
            <a:pPr lvl="1"/>
            <a:r>
              <a:rPr lang="en-US" dirty="0">
                <a:sym typeface="Wingdings"/>
              </a:rPr>
              <a:t>NDN broadcast self-learning</a:t>
            </a:r>
          </a:p>
          <a:p>
            <a:pPr lvl="1"/>
            <a:r>
              <a:rPr lang="en-US" dirty="0">
                <a:sym typeface="Wingdings"/>
              </a:rPr>
              <a:t>NDND</a:t>
            </a:r>
          </a:p>
          <a:p>
            <a:pPr lvl="1"/>
            <a:r>
              <a:rPr lang="en-US" dirty="0" err="1"/>
              <a:t>Ndn-autoconfig</a:t>
            </a:r>
            <a:r>
              <a:rPr lang="en-US" dirty="0"/>
              <a:t> (not actually an auto-configuration system)</a:t>
            </a:r>
          </a:p>
          <a:p>
            <a:pPr lvl="1"/>
            <a:r>
              <a:rPr lang="en-US" dirty="0"/>
              <a:t>NLSR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785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Ways to implement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easy ways to safely input the Trust Anchor + Certificate + Name. </a:t>
            </a:r>
          </a:p>
          <a:p>
            <a:r>
              <a:rPr lang="en-US" dirty="0"/>
              <a:t>Automate all reachability beyond that. </a:t>
            </a:r>
          </a:p>
          <a:p>
            <a:r>
              <a:rPr lang="en-US" dirty="0"/>
              <a:t>Ensure that the application itself (or the developer) doesn’t need to be concerned with anything beyond the first step. </a:t>
            </a:r>
          </a:p>
        </p:txBody>
      </p:sp>
    </p:spTree>
    <p:extLst>
      <p:ext uri="{BB962C8B-B14F-4D97-AF65-F5344CB8AC3E}">
        <p14:creationId xmlns:p14="http://schemas.microsoft.com/office/powerpoint/2010/main" val="53676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Existing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https://github.com/tianyuan129/ndn-plugnplay</a:t>
            </a:r>
            <a:endParaRPr lang="en-US" dirty="0"/>
          </a:p>
          <a:p>
            <a:r>
              <a:rPr lang="en-US" dirty="0"/>
              <a:t>Works relatively simply</a:t>
            </a:r>
          </a:p>
          <a:p>
            <a:r>
              <a:rPr lang="en-US" dirty="0"/>
              <a:t>Connects to other machines in one-hop </a:t>
            </a:r>
            <a:r>
              <a:rPr lang="en-US" dirty="0" err="1"/>
              <a:t>WiFi</a:t>
            </a:r>
            <a:r>
              <a:rPr lang="en-US" dirty="0"/>
              <a:t> or Ethernet range</a:t>
            </a:r>
          </a:p>
        </p:txBody>
      </p:sp>
    </p:spTree>
    <p:extLst>
      <p:ext uri="{BB962C8B-B14F-4D97-AF65-F5344CB8AC3E}">
        <p14:creationId xmlns:p14="http://schemas.microsoft.com/office/powerpoint/2010/main" val="61529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np-demo">
            <a:hlinkClick r:id="" action="ppaction://media"/>
            <a:extLst>
              <a:ext uri="{FF2B5EF4-FFF2-40B4-BE49-F238E27FC236}">
                <a16:creationId xmlns:a16="http://schemas.microsoft.com/office/drawing/2014/main" id="{C71FC995-48C7-4804-B701-39EC7C0C98B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3775" y="850072"/>
            <a:ext cx="10004450" cy="444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8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48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Further clarify the difference between IP and NDN Configuration.</a:t>
            </a:r>
          </a:p>
          <a:p>
            <a:r>
              <a:rPr lang="en-US" dirty="0"/>
              <a:t>Develop the automation tools for reachability. </a:t>
            </a:r>
          </a:p>
        </p:txBody>
      </p:sp>
    </p:spTree>
    <p:extLst>
      <p:ext uri="{BB962C8B-B14F-4D97-AF65-F5344CB8AC3E}">
        <p14:creationId xmlns:p14="http://schemas.microsoft.com/office/powerpoint/2010/main" val="409795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 Configuration is concerned solely with connectivity, so the host can send and receive IP packets.</a:t>
            </a:r>
          </a:p>
          <a:p>
            <a:pPr lvl="1"/>
            <a:r>
              <a:rPr lang="en-US" dirty="0"/>
              <a:t>Application itself must configure security</a:t>
            </a:r>
          </a:p>
          <a:p>
            <a:r>
              <a:rPr lang="en-US" dirty="0"/>
              <a:t>NDN entities take their Name from the application, and configure their security </a:t>
            </a:r>
          </a:p>
          <a:p>
            <a:pPr lvl="1"/>
            <a:r>
              <a:rPr lang="en-US" dirty="0"/>
              <a:t>Model requires authenticity to be established in this stage</a:t>
            </a:r>
          </a:p>
          <a:p>
            <a:r>
              <a:rPr lang="en-US" dirty="0"/>
              <a:t>Once configured, can do reachability in any number of ways </a:t>
            </a:r>
          </a:p>
        </p:txBody>
      </p:sp>
    </p:spTree>
    <p:extLst>
      <p:ext uri="{BB962C8B-B14F-4D97-AF65-F5344CB8AC3E}">
        <p14:creationId xmlns:p14="http://schemas.microsoft.com/office/powerpoint/2010/main" val="7631590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903</Words>
  <Application>Microsoft Office PowerPoint</Application>
  <PresentationFormat>Widescreen</PresentationFormat>
  <Paragraphs>99</Paragraphs>
  <Slides>13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Slack-Lato</vt:lpstr>
      <vt:lpstr>Tw Cen MT</vt:lpstr>
      <vt:lpstr>Circuit</vt:lpstr>
      <vt:lpstr>NDN: Plug and Play</vt:lpstr>
      <vt:lpstr>What is Plug And play</vt:lpstr>
      <vt:lpstr>IP Configuration</vt:lpstr>
      <vt:lpstr>PowerPoint Presentation</vt:lpstr>
      <vt:lpstr>IP Configuration II</vt:lpstr>
      <vt:lpstr>NDN Configuration</vt:lpstr>
      <vt:lpstr>NDN Config Visualized</vt:lpstr>
      <vt:lpstr>Multiple Ways to get reachability</vt:lpstr>
      <vt:lpstr>Ways to implement</vt:lpstr>
      <vt:lpstr>Existing Code</vt:lpstr>
      <vt:lpstr>PowerPoint Presentation</vt:lpstr>
      <vt:lpstr>Future Directions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Plug and Play</dc:title>
  <dc:creator>Microsoft Office User</dc:creator>
  <cp:lastModifiedBy>John Dellaverson</cp:lastModifiedBy>
  <cp:revision>39</cp:revision>
  <dcterms:created xsi:type="dcterms:W3CDTF">2020-09-04T19:34:18Z</dcterms:created>
  <dcterms:modified xsi:type="dcterms:W3CDTF">2020-09-11T17:35:28Z</dcterms:modified>
</cp:coreProperties>
</file>