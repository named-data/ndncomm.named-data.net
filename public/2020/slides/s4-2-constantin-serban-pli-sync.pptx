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16" userDrawn="1">
          <p15:clr>
            <a:srgbClr val="A4A3A4"/>
          </p15:clr>
        </p15:guide>
        <p15:guide id="2" pos="14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60"/>
    <p:restoredTop sz="96327"/>
  </p:normalViewPr>
  <p:slideViewPr>
    <p:cSldViewPr snapToGrid="0" snapToObjects="1" showGuides="1">
      <p:cViewPr varScale="1">
        <p:scale>
          <a:sx n="98" d="100"/>
          <a:sy n="98" d="100"/>
        </p:scale>
        <p:origin x="606" y="96"/>
      </p:cViewPr>
      <p:guideLst>
        <p:guide orient="horz" pos="816"/>
        <p:guide pos="146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8A405-6B8D-2C4B-AFBB-2E8F772FE9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2218A37-BEE0-6C41-94E7-28223DA96A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BBFBF3-6751-AD40-805E-F198088A759F}"/>
              </a:ext>
            </a:extLst>
          </p:cNvPr>
          <p:cNvSpPr>
            <a:spLocks noGrp="1"/>
          </p:cNvSpPr>
          <p:nvPr>
            <p:ph type="dt" sz="half" idx="10"/>
          </p:nvPr>
        </p:nvSpPr>
        <p:spPr/>
        <p:txBody>
          <a:bodyPr/>
          <a:lstStyle>
            <a:lvl1pPr>
              <a:defRPr/>
            </a:lvl1pPr>
          </a:lstStyle>
          <a:p>
            <a:r>
              <a:rPr lang="en-US" dirty="0"/>
              <a:t>9/11/2020</a:t>
            </a:r>
          </a:p>
        </p:txBody>
      </p:sp>
      <p:sp>
        <p:nvSpPr>
          <p:cNvPr id="5" name="Footer Placeholder 4">
            <a:extLst>
              <a:ext uri="{FF2B5EF4-FFF2-40B4-BE49-F238E27FC236}">
                <a16:creationId xmlns:a16="http://schemas.microsoft.com/office/drawing/2014/main" id="{A5584F2A-F7C7-2B4D-A646-2C7F26419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C625AB-FE61-294C-BCAC-ABE38A4E4CF5}"/>
              </a:ext>
            </a:extLst>
          </p:cNvPr>
          <p:cNvSpPr>
            <a:spLocks noGrp="1"/>
          </p:cNvSpPr>
          <p:nvPr>
            <p:ph type="sldNum" sz="quarter" idx="12"/>
          </p:nvPr>
        </p:nvSpPr>
        <p:spPr/>
        <p:txBody>
          <a:bodyPr/>
          <a:lstStyle/>
          <a:p>
            <a:fld id="{48876459-B699-454A-B8F8-A19AA10ED837}" type="slidenum">
              <a:rPr lang="en-US" smtClean="0"/>
              <a:t>‹#›</a:t>
            </a:fld>
            <a:endParaRPr lang="en-US"/>
          </a:p>
        </p:txBody>
      </p:sp>
      <p:pic>
        <p:nvPicPr>
          <p:cNvPr id="7" name="Picture 6">
            <a:extLst>
              <a:ext uri="{FF2B5EF4-FFF2-40B4-BE49-F238E27FC236}">
                <a16:creationId xmlns:a16="http://schemas.microsoft.com/office/drawing/2014/main" id="{4BD7448A-3E83-4AAE-808A-9355DA86F26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610" y="5987752"/>
            <a:ext cx="1669182" cy="385099"/>
          </a:xfrm>
          <a:prstGeom prst="rect">
            <a:avLst/>
          </a:prstGeom>
        </p:spPr>
      </p:pic>
    </p:spTree>
    <p:extLst>
      <p:ext uri="{BB962C8B-B14F-4D97-AF65-F5344CB8AC3E}">
        <p14:creationId xmlns:p14="http://schemas.microsoft.com/office/powerpoint/2010/main" val="3124756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F4D56-E9B6-384C-A133-8F9D14F9BB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7C317F-02A8-4841-B5AD-89006A5746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A0410C-7BD1-714B-95C9-E2B5485AE889}"/>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5" name="Footer Placeholder 4">
            <a:extLst>
              <a:ext uri="{FF2B5EF4-FFF2-40B4-BE49-F238E27FC236}">
                <a16:creationId xmlns:a16="http://schemas.microsoft.com/office/drawing/2014/main" id="{6E58D285-D27D-F848-AFE7-D9DA65D95E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8A8EDE-B4BA-E442-9A8C-8419A077A6CE}"/>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4281102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95EA3-5964-F348-96E2-B8E543121E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110688-92D6-DC4D-AFEB-AAE72D4C8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E1799D-30C8-A64A-8A22-F64E9D6143C6}"/>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5" name="Footer Placeholder 4">
            <a:extLst>
              <a:ext uri="{FF2B5EF4-FFF2-40B4-BE49-F238E27FC236}">
                <a16:creationId xmlns:a16="http://schemas.microsoft.com/office/drawing/2014/main" id="{ED55A2A5-5399-BE4D-B8A1-9C0EC23DB6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1360595-48AC-0B42-8A88-757F8624CB14}"/>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7406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3A28B-4AD9-7740-B5BB-0DE41EAEA4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ACA09F-DBD7-BA4B-BDB8-ECD7B1BE6B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EC9674-C542-5D4C-A096-64F55D2F05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C874BC-2E16-974F-8272-A1D6F2D182AB}"/>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6" name="Footer Placeholder 5">
            <a:extLst>
              <a:ext uri="{FF2B5EF4-FFF2-40B4-BE49-F238E27FC236}">
                <a16:creationId xmlns:a16="http://schemas.microsoft.com/office/drawing/2014/main" id="{AACBEF8F-0C4B-BD4D-A604-CB85A3C91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E634B7-0EB2-9145-A2CD-51AFB61FADEE}"/>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112031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4B345-56F8-884C-B0C9-196F75A3277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6E2A11D-1F5B-484B-BAA4-2A44C130DF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726286-E5C3-4C48-B384-005D8E52A9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AA50F9-068B-C14C-908D-B45B68C6C7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706A7B-85F0-1B41-B562-C29C362AA6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6CA284-1DB3-1C44-A826-16C7607E03FF}"/>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8" name="Footer Placeholder 7">
            <a:extLst>
              <a:ext uri="{FF2B5EF4-FFF2-40B4-BE49-F238E27FC236}">
                <a16:creationId xmlns:a16="http://schemas.microsoft.com/office/drawing/2014/main" id="{2C47DC8F-4741-8043-9685-5168D5E699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8D92E23-9755-EC4B-8C3A-A192B6E7014A}"/>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161758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05C68-A6B3-FA40-B33B-973E27E29E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58D4C4-29EB-F24D-9408-89220D7C8EE2}"/>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4" name="Footer Placeholder 3">
            <a:extLst>
              <a:ext uri="{FF2B5EF4-FFF2-40B4-BE49-F238E27FC236}">
                <a16:creationId xmlns:a16="http://schemas.microsoft.com/office/drawing/2014/main" id="{C95BB507-9210-C840-B7E5-FD9A987EFE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920D82-D7F8-9449-9239-68D53F6B6D2B}"/>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1945493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D7D9C0-03E6-E74F-A1E0-D5A0CD8AA3A4}"/>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3" name="Footer Placeholder 2">
            <a:extLst>
              <a:ext uri="{FF2B5EF4-FFF2-40B4-BE49-F238E27FC236}">
                <a16:creationId xmlns:a16="http://schemas.microsoft.com/office/drawing/2014/main" id="{0909F146-9451-664E-82CB-8F231854A1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24FDE5-11C8-AA4C-9C84-6F2AF06F021D}"/>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880222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FEFE7-CD02-1944-BCCE-391BBA5364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97AA1E-6881-094E-A3A6-1AC9EE4E0E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538CA46-7A64-0F48-92AE-BFD200155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37C606-2FB3-A545-99B8-888C4A5B2F86}"/>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6" name="Footer Placeholder 5">
            <a:extLst>
              <a:ext uri="{FF2B5EF4-FFF2-40B4-BE49-F238E27FC236}">
                <a16:creationId xmlns:a16="http://schemas.microsoft.com/office/drawing/2014/main" id="{5D579337-540A-EC4C-8DB5-9DEE8C405C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069EA6-C5AF-0F41-A5CF-8B0810A86A77}"/>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480193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A8889-9F3A-6B47-A7A1-7BB6C0AB8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C2679DC-D2EF-1542-8A68-B7298A9D69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E82484-7C87-4A47-9594-71BE85B548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E57BA-5668-E14B-B9C0-73DAD5BDCAC0}"/>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6" name="Footer Placeholder 5">
            <a:extLst>
              <a:ext uri="{FF2B5EF4-FFF2-40B4-BE49-F238E27FC236}">
                <a16:creationId xmlns:a16="http://schemas.microsoft.com/office/drawing/2014/main" id="{A56BF053-90B5-3D4A-80EE-EEF8CF1F47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595389-BA8C-FF49-A680-6FCE20122558}"/>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3320946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9E183-3CD0-EA42-A32E-27F31518FF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3BEC1CE-E8D0-E049-8F42-307E8560D7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61087A-F22A-6141-9005-5FC081368C60}"/>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5" name="Footer Placeholder 4">
            <a:extLst>
              <a:ext uri="{FF2B5EF4-FFF2-40B4-BE49-F238E27FC236}">
                <a16:creationId xmlns:a16="http://schemas.microsoft.com/office/drawing/2014/main" id="{7D2240F8-019A-F749-BCEF-ECB8B60D8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64E65-D108-1442-A717-8F665220C60A}"/>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169057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4705CC-A9DA-1145-B7C1-A3738448DF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3CBC4D0-923A-EA44-AB62-8DED95051A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AC96F-3550-2343-8863-62C04858EF97}"/>
              </a:ext>
            </a:extLst>
          </p:cNvPr>
          <p:cNvSpPr>
            <a:spLocks noGrp="1"/>
          </p:cNvSpPr>
          <p:nvPr>
            <p:ph type="dt" sz="half" idx="10"/>
          </p:nvPr>
        </p:nvSpPr>
        <p:spPr/>
        <p:txBody>
          <a:bodyPr/>
          <a:lstStyle/>
          <a:p>
            <a:fld id="{A0B53D03-B851-0F4E-A301-ACE6F0F93796}" type="datetimeFigureOut">
              <a:rPr lang="en-US" smtClean="0"/>
              <a:t>9/9/2020</a:t>
            </a:fld>
            <a:endParaRPr lang="en-US"/>
          </a:p>
        </p:txBody>
      </p:sp>
      <p:sp>
        <p:nvSpPr>
          <p:cNvPr id="5" name="Footer Placeholder 4">
            <a:extLst>
              <a:ext uri="{FF2B5EF4-FFF2-40B4-BE49-F238E27FC236}">
                <a16:creationId xmlns:a16="http://schemas.microsoft.com/office/drawing/2014/main" id="{DB809326-99FD-6147-A129-43CC48503B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36F72-B231-BC47-A137-BC82BEBDCF8E}"/>
              </a:ext>
            </a:extLst>
          </p:cNvPr>
          <p:cNvSpPr>
            <a:spLocks noGrp="1"/>
          </p:cNvSpPr>
          <p:nvPr>
            <p:ph type="sldNum" sz="quarter" idx="12"/>
          </p:nvPr>
        </p:nvSpPr>
        <p:spPr/>
        <p:txBody>
          <a:bodyPr/>
          <a:lstStyle/>
          <a:p>
            <a:fld id="{48876459-B699-454A-B8F8-A19AA10ED837}" type="slidenum">
              <a:rPr lang="en-US" smtClean="0"/>
              <a:t>‹#›</a:t>
            </a:fld>
            <a:endParaRPr lang="en-US"/>
          </a:p>
        </p:txBody>
      </p:sp>
    </p:spTree>
    <p:extLst>
      <p:ext uri="{BB962C8B-B14F-4D97-AF65-F5344CB8AC3E}">
        <p14:creationId xmlns:p14="http://schemas.microsoft.com/office/powerpoint/2010/main" val="2225604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7A802-DDE6-484D-8B10-44C6B2D44C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6EBFE1-20E7-EE47-8C62-310BE21E84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C7C257-70D5-DA48-87EA-303B9EDA451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B53D03-B851-0F4E-A301-ACE6F0F93796}" type="datetimeFigureOut">
              <a:rPr lang="en-US" smtClean="0"/>
              <a:t>9/9/2020</a:t>
            </a:fld>
            <a:endParaRPr lang="en-US"/>
          </a:p>
        </p:txBody>
      </p:sp>
      <p:sp>
        <p:nvSpPr>
          <p:cNvPr id="5" name="Footer Placeholder 4">
            <a:extLst>
              <a:ext uri="{FF2B5EF4-FFF2-40B4-BE49-F238E27FC236}">
                <a16:creationId xmlns:a16="http://schemas.microsoft.com/office/drawing/2014/main" id="{50DE1AEA-27DC-D74C-BF12-9B9C58801C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108AF5-BD69-6740-ABAA-400EDE7977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876459-B699-454A-B8F8-A19AA10ED837}" type="slidenum">
              <a:rPr lang="en-US" smtClean="0"/>
              <a:t>‹#›</a:t>
            </a:fld>
            <a:endParaRPr lang="en-US"/>
          </a:p>
        </p:txBody>
      </p:sp>
    </p:spTree>
    <p:extLst>
      <p:ext uri="{BB962C8B-B14F-4D97-AF65-F5344CB8AC3E}">
        <p14:creationId xmlns:p14="http://schemas.microsoft.com/office/powerpoint/2010/main" val="3303252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E5691-5DB8-B147-8A35-8AF7A9654669}"/>
              </a:ext>
            </a:extLst>
          </p:cNvPr>
          <p:cNvSpPr>
            <a:spLocks noGrp="1"/>
          </p:cNvSpPr>
          <p:nvPr>
            <p:ph type="ctrTitle"/>
          </p:nvPr>
        </p:nvSpPr>
        <p:spPr>
          <a:xfrm>
            <a:off x="1524000" y="1650683"/>
            <a:ext cx="9144000" cy="2387600"/>
          </a:xfrm>
        </p:spPr>
        <p:txBody>
          <a:bodyPr>
            <a:normAutofit fontScale="90000"/>
          </a:bodyPr>
          <a:lstStyle/>
          <a:p>
            <a:r>
              <a:rPr lang="en-US" dirty="0"/>
              <a:t>PLI-Sync: Prefetch Loss-Insensitive Sync for NDN</a:t>
            </a:r>
            <a:br>
              <a:rPr lang="en-US" dirty="0"/>
            </a:br>
            <a:r>
              <a:rPr lang="en-US" dirty="0"/>
              <a:t>Group Streaming</a:t>
            </a:r>
          </a:p>
        </p:txBody>
      </p:sp>
      <p:sp>
        <p:nvSpPr>
          <p:cNvPr id="3" name="Subtitle 2">
            <a:extLst>
              <a:ext uri="{FF2B5EF4-FFF2-40B4-BE49-F238E27FC236}">
                <a16:creationId xmlns:a16="http://schemas.microsoft.com/office/drawing/2014/main" id="{20AF9F26-20AE-0241-8F13-365190E891AE}"/>
              </a:ext>
            </a:extLst>
          </p:cNvPr>
          <p:cNvSpPr>
            <a:spLocks noGrp="1"/>
          </p:cNvSpPr>
          <p:nvPr>
            <p:ph type="subTitle" idx="1"/>
          </p:nvPr>
        </p:nvSpPr>
        <p:spPr>
          <a:xfrm>
            <a:off x="1524000" y="4563573"/>
            <a:ext cx="9144000" cy="643744"/>
          </a:xfrm>
        </p:spPr>
        <p:txBody>
          <a:bodyPr>
            <a:normAutofit/>
          </a:bodyPr>
          <a:lstStyle/>
          <a:p>
            <a:r>
              <a:rPr lang="en-US" dirty="0"/>
              <a:t>Yi Hu, Constantin Serban, Lan Wang, Alex </a:t>
            </a:r>
            <a:r>
              <a:rPr lang="en-US" dirty="0" err="1"/>
              <a:t>Afanasyev</a:t>
            </a:r>
            <a:r>
              <a:rPr lang="en-US" dirty="0"/>
              <a:t>, </a:t>
            </a:r>
            <a:r>
              <a:rPr lang="en-US" dirty="0" err="1"/>
              <a:t>Lixia</a:t>
            </a:r>
            <a:r>
              <a:rPr lang="en-US" dirty="0"/>
              <a:t> Zhang</a:t>
            </a:r>
          </a:p>
        </p:txBody>
      </p:sp>
      <p:sp>
        <p:nvSpPr>
          <p:cNvPr id="6" name="Rectangle 5">
            <a:extLst>
              <a:ext uri="{FF2B5EF4-FFF2-40B4-BE49-F238E27FC236}">
                <a16:creationId xmlns:a16="http://schemas.microsoft.com/office/drawing/2014/main" id="{0F933CDF-C0CE-4B57-9CF8-5FD3777FB8E9}"/>
              </a:ext>
            </a:extLst>
          </p:cNvPr>
          <p:cNvSpPr/>
          <p:nvPr/>
        </p:nvSpPr>
        <p:spPr>
          <a:xfrm>
            <a:off x="802640" y="6427113"/>
            <a:ext cx="11145520" cy="430887"/>
          </a:xfrm>
          <a:prstGeom prst="rect">
            <a:avLst/>
          </a:prstGeom>
        </p:spPr>
        <p:txBody>
          <a:bodyPr wrap="square">
            <a:spAutoFit/>
          </a:bodyPr>
          <a:lstStyle/>
          <a:p>
            <a:pPr algn="ctr"/>
            <a:r>
              <a:rPr lang="en-US" sz="1100" dirty="0"/>
              <a:t>This work was supported in part by DARPA under contract HR0011-17-C-0113. The views, opinions and/or findings expressed are those of the authors and should not be interpreted as representing the official views or policies of the Department of Defense or the U.S. Government. Distribution Statement "A" (Approved for Public Release, Distribution Unlimited.</a:t>
            </a:r>
          </a:p>
        </p:txBody>
      </p:sp>
    </p:spTree>
    <p:extLst>
      <p:ext uri="{BB962C8B-B14F-4D97-AF65-F5344CB8AC3E}">
        <p14:creationId xmlns:p14="http://schemas.microsoft.com/office/powerpoint/2010/main" val="378692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E4047-D23D-4F2A-9F89-E51223DF01AF}"/>
              </a:ext>
            </a:extLst>
          </p:cNvPr>
          <p:cNvSpPr>
            <a:spLocks noGrp="1"/>
          </p:cNvSpPr>
          <p:nvPr>
            <p:ph type="title"/>
          </p:nvPr>
        </p:nvSpPr>
        <p:spPr>
          <a:xfrm>
            <a:off x="2492712" y="365126"/>
            <a:ext cx="8861087" cy="627096"/>
          </a:xfrm>
        </p:spPr>
        <p:txBody>
          <a:bodyPr>
            <a:normAutofit fontScale="90000"/>
          </a:bodyPr>
          <a:lstStyle/>
          <a:p>
            <a:r>
              <a:rPr lang="en-US" dirty="0"/>
              <a:t>The Problem</a:t>
            </a:r>
          </a:p>
        </p:txBody>
      </p:sp>
      <p:sp>
        <p:nvSpPr>
          <p:cNvPr id="3" name="Content Placeholder 2">
            <a:extLst>
              <a:ext uri="{FF2B5EF4-FFF2-40B4-BE49-F238E27FC236}">
                <a16:creationId xmlns:a16="http://schemas.microsoft.com/office/drawing/2014/main" id="{5EDE0CB6-B1A2-41EF-A1C7-913AAB48681D}"/>
              </a:ext>
            </a:extLst>
          </p:cNvPr>
          <p:cNvSpPr>
            <a:spLocks noGrp="1"/>
          </p:cNvSpPr>
          <p:nvPr>
            <p:ph idx="1"/>
          </p:nvPr>
        </p:nvSpPr>
        <p:spPr>
          <a:xfrm>
            <a:off x="817733" y="1390097"/>
            <a:ext cx="7357849" cy="4999916"/>
          </a:xfrm>
          <a:ln>
            <a:solidFill>
              <a:schemeClr val="accent1"/>
            </a:solidFill>
          </a:ln>
        </p:spPr>
        <p:txBody>
          <a:bodyPr>
            <a:normAutofit/>
          </a:bodyPr>
          <a:lstStyle/>
          <a:p>
            <a:pPr marL="0" indent="0">
              <a:buNone/>
            </a:pPr>
            <a:r>
              <a:rPr lang="en-US" dirty="0"/>
              <a:t>Group multi-party stream data transfer</a:t>
            </a:r>
          </a:p>
          <a:p>
            <a:r>
              <a:rPr lang="en-US" dirty="0"/>
              <a:t>Dynamic content production</a:t>
            </a:r>
          </a:p>
          <a:p>
            <a:r>
              <a:rPr lang="en-US" dirty="0"/>
              <a:t>Stochastic data production interval</a:t>
            </a:r>
          </a:p>
          <a:p>
            <a:pPr marL="0" indent="0">
              <a:buNone/>
            </a:pPr>
            <a:r>
              <a:rPr lang="en-US" dirty="0"/>
              <a:t>Goals:</a:t>
            </a:r>
          </a:p>
          <a:p>
            <a:r>
              <a:rPr lang="en-US" dirty="0"/>
              <a:t>Operate in reduced bandwidth environments: </a:t>
            </a:r>
            <a:r>
              <a:rPr lang="en-US" i="1" dirty="0"/>
              <a:t>low overhead </a:t>
            </a:r>
          </a:p>
          <a:p>
            <a:r>
              <a:rPr lang="en-US" dirty="0"/>
              <a:t>Low latency</a:t>
            </a:r>
          </a:p>
          <a:p>
            <a:r>
              <a:rPr lang="en-US" dirty="0"/>
              <a:t>Disconnected Intermittent Links (DIL),lossy links, frequent/permanently partitioned networks</a:t>
            </a:r>
          </a:p>
          <a:p>
            <a:endParaRPr lang="en-US" dirty="0"/>
          </a:p>
          <a:p>
            <a:pPr marL="0" indent="0">
              <a:buNone/>
            </a:pPr>
            <a:endParaRPr lang="en-US" dirty="0"/>
          </a:p>
        </p:txBody>
      </p:sp>
      <p:grpSp>
        <p:nvGrpSpPr>
          <p:cNvPr id="4" name="Group 3">
            <a:extLst>
              <a:ext uri="{FF2B5EF4-FFF2-40B4-BE49-F238E27FC236}">
                <a16:creationId xmlns:a16="http://schemas.microsoft.com/office/drawing/2014/main" id="{CFCE122E-3E6F-4337-8CFE-6E9147949288}"/>
              </a:ext>
            </a:extLst>
          </p:cNvPr>
          <p:cNvGrpSpPr/>
          <p:nvPr/>
        </p:nvGrpSpPr>
        <p:grpSpPr>
          <a:xfrm>
            <a:off x="8424442" y="3174289"/>
            <a:ext cx="3604664" cy="2838449"/>
            <a:chOff x="646257" y="710171"/>
            <a:chExt cx="4632996" cy="3720617"/>
          </a:xfrm>
        </p:grpSpPr>
        <p:grpSp>
          <p:nvGrpSpPr>
            <p:cNvPr id="5" name="Group 4">
              <a:extLst>
                <a:ext uri="{FF2B5EF4-FFF2-40B4-BE49-F238E27FC236}">
                  <a16:creationId xmlns:a16="http://schemas.microsoft.com/office/drawing/2014/main" id="{F0112A3F-01ED-4928-A8DC-B2CEE4E5A05F}"/>
                </a:ext>
              </a:extLst>
            </p:cNvPr>
            <p:cNvGrpSpPr/>
            <p:nvPr/>
          </p:nvGrpSpPr>
          <p:grpSpPr>
            <a:xfrm>
              <a:off x="983761" y="2794691"/>
              <a:ext cx="1224227" cy="978956"/>
              <a:chOff x="721752" y="1288250"/>
              <a:chExt cx="1224227" cy="978956"/>
            </a:xfrm>
          </p:grpSpPr>
          <p:sp>
            <p:nvSpPr>
              <p:cNvPr id="99" name="Rounded Rectangle 34">
                <a:extLst>
                  <a:ext uri="{FF2B5EF4-FFF2-40B4-BE49-F238E27FC236}">
                    <a16:creationId xmlns:a16="http://schemas.microsoft.com/office/drawing/2014/main" id="{0F122200-8718-4782-9918-3604AC69D70B}"/>
                  </a:ext>
                </a:extLst>
              </p:cNvPr>
              <p:cNvSpPr/>
              <p:nvPr/>
            </p:nvSpPr>
            <p:spPr>
              <a:xfrm>
                <a:off x="721752" y="1292845"/>
                <a:ext cx="636599" cy="974361"/>
              </a:xfrm>
              <a:prstGeom prst="roundRect">
                <a:avLst/>
              </a:prstGeom>
              <a:noFill/>
              <a:ln w="15875">
                <a:solidFill>
                  <a:schemeClr val="tx1">
                    <a:lumMod val="50000"/>
                    <a:lumOff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00" name="TextBox 99">
                <a:extLst>
                  <a:ext uri="{FF2B5EF4-FFF2-40B4-BE49-F238E27FC236}">
                    <a16:creationId xmlns:a16="http://schemas.microsoft.com/office/drawing/2014/main" id="{058DE230-0E22-482B-A253-2CB1486AA33D}"/>
                  </a:ext>
                </a:extLst>
              </p:cNvPr>
              <p:cNvSpPr txBox="1"/>
              <p:nvPr/>
            </p:nvSpPr>
            <p:spPr>
              <a:xfrm>
                <a:off x="822182" y="199084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sp>
            <p:nvSpPr>
              <p:cNvPr id="101" name="Rounded Rectangle 34">
                <a:extLst>
                  <a:ext uri="{FF2B5EF4-FFF2-40B4-BE49-F238E27FC236}">
                    <a16:creationId xmlns:a16="http://schemas.microsoft.com/office/drawing/2014/main" id="{15F46E20-D5E9-4B84-BAFE-98206F190A2A}"/>
                  </a:ext>
                </a:extLst>
              </p:cNvPr>
              <p:cNvSpPr/>
              <p:nvPr/>
            </p:nvSpPr>
            <p:spPr>
              <a:xfrm>
                <a:off x="767953" y="195786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02" name="TextBox 101">
                <a:extLst>
                  <a:ext uri="{FF2B5EF4-FFF2-40B4-BE49-F238E27FC236}">
                    <a16:creationId xmlns:a16="http://schemas.microsoft.com/office/drawing/2014/main" id="{640BCB53-4BC4-42D2-8221-3CB9E795AE42}"/>
                  </a:ext>
                </a:extLst>
              </p:cNvPr>
              <p:cNvSpPr txBox="1"/>
              <p:nvPr/>
            </p:nvSpPr>
            <p:spPr>
              <a:xfrm>
                <a:off x="776830" y="1538815"/>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sp>
            <p:nvSpPr>
              <p:cNvPr id="103" name="Rounded Rectangle 34">
                <a:extLst>
                  <a:ext uri="{FF2B5EF4-FFF2-40B4-BE49-F238E27FC236}">
                    <a16:creationId xmlns:a16="http://schemas.microsoft.com/office/drawing/2014/main" id="{32EB1745-7F1B-48BB-8389-825479B4433E}"/>
                  </a:ext>
                </a:extLst>
              </p:cNvPr>
              <p:cNvSpPr/>
              <p:nvPr/>
            </p:nvSpPr>
            <p:spPr>
              <a:xfrm>
                <a:off x="740078" y="149683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104" name="Straight Connector 103">
                <a:extLst>
                  <a:ext uri="{FF2B5EF4-FFF2-40B4-BE49-F238E27FC236}">
                    <a16:creationId xmlns:a16="http://schemas.microsoft.com/office/drawing/2014/main" id="{DFBEF71E-23BB-49D8-A774-4A5394DEEEA0}"/>
                  </a:ext>
                </a:extLst>
              </p:cNvPr>
              <p:cNvCxnSpPr>
                <a:cxnSpLocks/>
              </p:cNvCxnSpPr>
              <p:nvPr/>
            </p:nvCxnSpPr>
            <p:spPr>
              <a:xfrm>
                <a:off x="1298318" y="2179953"/>
                <a:ext cx="625652"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cxnSp>
            <p:nvCxnSpPr>
              <p:cNvPr id="105" name="Straight Arrow Connector 104">
                <a:extLst>
                  <a:ext uri="{FF2B5EF4-FFF2-40B4-BE49-F238E27FC236}">
                    <a16:creationId xmlns:a16="http://schemas.microsoft.com/office/drawing/2014/main" id="{86822F90-3149-4ADE-9F25-5C67A39311EF}"/>
                  </a:ext>
                </a:extLst>
              </p:cNvPr>
              <p:cNvCxnSpPr>
                <a:cxnSpLocks/>
              </p:cNvCxnSpPr>
              <p:nvPr/>
            </p:nvCxnSpPr>
            <p:spPr>
              <a:xfrm flipV="1">
                <a:off x="13255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06" name="Straight Arrow Connector 105">
                <a:extLst>
                  <a:ext uri="{FF2B5EF4-FFF2-40B4-BE49-F238E27FC236}">
                    <a16:creationId xmlns:a16="http://schemas.microsoft.com/office/drawing/2014/main" id="{8AF87BA5-9ECA-449E-BC31-C7612F2C146E}"/>
                  </a:ext>
                </a:extLst>
              </p:cNvPr>
              <p:cNvCxnSpPr>
                <a:cxnSpLocks/>
              </p:cNvCxnSpPr>
              <p:nvPr/>
            </p:nvCxnSpPr>
            <p:spPr>
              <a:xfrm flipV="1">
                <a:off x="14611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07" name="Straight Arrow Connector 106">
                <a:extLst>
                  <a:ext uri="{FF2B5EF4-FFF2-40B4-BE49-F238E27FC236}">
                    <a16:creationId xmlns:a16="http://schemas.microsoft.com/office/drawing/2014/main" id="{23A0D89A-7C54-4BFE-A5BD-2BF2DB4AE2F4}"/>
                  </a:ext>
                </a:extLst>
              </p:cNvPr>
              <p:cNvCxnSpPr>
                <a:cxnSpLocks/>
              </p:cNvCxnSpPr>
              <p:nvPr/>
            </p:nvCxnSpPr>
            <p:spPr>
              <a:xfrm flipV="1">
                <a:off x="1530225"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08" name="Straight Arrow Connector 107">
                <a:extLst>
                  <a:ext uri="{FF2B5EF4-FFF2-40B4-BE49-F238E27FC236}">
                    <a16:creationId xmlns:a16="http://schemas.microsoft.com/office/drawing/2014/main" id="{0B3957D7-3815-4B3E-8421-6D9A44254A29}"/>
                  </a:ext>
                </a:extLst>
              </p:cNvPr>
              <p:cNvCxnSpPr>
                <a:cxnSpLocks/>
              </p:cNvCxnSpPr>
              <p:nvPr/>
            </p:nvCxnSpPr>
            <p:spPr>
              <a:xfrm flipV="1">
                <a:off x="1721192"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09" name="Straight Arrow Connector 108">
                <a:extLst>
                  <a:ext uri="{FF2B5EF4-FFF2-40B4-BE49-F238E27FC236}">
                    <a16:creationId xmlns:a16="http://schemas.microsoft.com/office/drawing/2014/main" id="{44B8C706-DDF1-4470-B2FF-C586FA971379}"/>
                  </a:ext>
                </a:extLst>
              </p:cNvPr>
              <p:cNvCxnSpPr>
                <a:cxnSpLocks/>
              </p:cNvCxnSpPr>
              <p:nvPr/>
            </p:nvCxnSpPr>
            <p:spPr>
              <a:xfrm flipV="1">
                <a:off x="1856794" y="2044241"/>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110" name="Oval 109">
                <a:extLst>
                  <a:ext uri="{FF2B5EF4-FFF2-40B4-BE49-F238E27FC236}">
                    <a16:creationId xmlns:a16="http://schemas.microsoft.com/office/drawing/2014/main" id="{048AAF73-50ED-4711-9CCF-0CD057686ABC}"/>
                  </a:ext>
                </a:extLst>
              </p:cNvPr>
              <p:cNvSpPr/>
              <p:nvPr/>
            </p:nvSpPr>
            <p:spPr>
              <a:xfrm>
                <a:off x="1247116" y="2082512"/>
                <a:ext cx="152399" cy="149045"/>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solidFill>
                      <a:schemeClr val="tx1"/>
                    </a:solidFill>
                  </a:rPr>
                  <a:t>2</a:t>
                </a:r>
              </a:p>
            </p:txBody>
          </p:sp>
          <p:cxnSp>
            <p:nvCxnSpPr>
              <p:cNvPr id="111" name="Straight Connector 110">
                <a:extLst>
                  <a:ext uri="{FF2B5EF4-FFF2-40B4-BE49-F238E27FC236}">
                    <a16:creationId xmlns:a16="http://schemas.microsoft.com/office/drawing/2014/main" id="{4BF9A962-987A-47A3-9D9B-8D286A079C7F}"/>
                  </a:ext>
                </a:extLst>
              </p:cNvPr>
              <p:cNvCxnSpPr>
                <a:cxnSpLocks/>
              </p:cNvCxnSpPr>
              <p:nvPr/>
            </p:nvCxnSpPr>
            <p:spPr>
              <a:xfrm flipH="1">
                <a:off x="1412580" y="136946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12" name="Oval 111">
                <a:extLst>
                  <a:ext uri="{FF2B5EF4-FFF2-40B4-BE49-F238E27FC236}">
                    <a16:creationId xmlns:a16="http://schemas.microsoft.com/office/drawing/2014/main" id="{38192510-2C53-449C-904B-3C2FACE12683}"/>
                  </a:ext>
                </a:extLst>
              </p:cNvPr>
              <p:cNvSpPr/>
              <p:nvPr/>
            </p:nvSpPr>
            <p:spPr>
              <a:xfrm>
                <a:off x="1793580" y="128825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1</a:t>
                </a:r>
                <a:endParaRPr lang="en-US" sz="1200" dirty="0">
                  <a:solidFill>
                    <a:schemeClr val="tx1"/>
                  </a:solidFill>
                </a:endParaRPr>
              </a:p>
            </p:txBody>
          </p:sp>
          <p:cxnSp>
            <p:nvCxnSpPr>
              <p:cNvPr id="113" name="Straight Connector 112">
                <a:extLst>
                  <a:ext uri="{FF2B5EF4-FFF2-40B4-BE49-F238E27FC236}">
                    <a16:creationId xmlns:a16="http://schemas.microsoft.com/office/drawing/2014/main" id="{3B6AFC2D-B3A4-4689-BC89-5207CA114FDD}"/>
                  </a:ext>
                </a:extLst>
              </p:cNvPr>
              <p:cNvCxnSpPr>
                <a:cxnSpLocks/>
              </p:cNvCxnSpPr>
              <p:nvPr/>
            </p:nvCxnSpPr>
            <p:spPr>
              <a:xfrm flipH="1">
                <a:off x="1412580" y="153154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14" name="Oval 113">
                <a:extLst>
                  <a:ext uri="{FF2B5EF4-FFF2-40B4-BE49-F238E27FC236}">
                    <a16:creationId xmlns:a16="http://schemas.microsoft.com/office/drawing/2014/main" id="{6E59406F-72ED-4F7E-9BFB-A47B7BFF0775}"/>
                  </a:ext>
                </a:extLst>
              </p:cNvPr>
              <p:cNvSpPr/>
              <p:nvPr/>
            </p:nvSpPr>
            <p:spPr>
              <a:xfrm>
                <a:off x="1793580" y="145032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3</a:t>
                </a:r>
                <a:endParaRPr lang="en-US" sz="1200" dirty="0">
                  <a:solidFill>
                    <a:schemeClr val="tx1"/>
                  </a:solidFill>
                </a:endParaRPr>
              </a:p>
            </p:txBody>
          </p:sp>
          <p:cxnSp>
            <p:nvCxnSpPr>
              <p:cNvPr id="115" name="Straight Connector 114">
                <a:extLst>
                  <a:ext uri="{FF2B5EF4-FFF2-40B4-BE49-F238E27FC236}">
                    <a16:creationId xmlns:a16="http://schemas.microsoft.com/office/drawing/2014/main" id="{0C9920D9-E423-44F2-BD48-B22A93E800C2}"/>
                  </a:ext>
                </a:extLst>
              </p:cNvPr>
              <p:cNvCxnSpPr>
                <a:cxnSpLocks/>
              </p:cNvCxnSpPr>
              <p:nvPr/>
            </p:nvCxnSpPr>
            <p:spPr>
              <a:xfrm flipH="1">
                <a:off x="1412580" y="170440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16" name="Oval 115">
                <a:extLst>
                  <a:ext uri="{FF2B5EF4-FFF2-40B4-BE49-F238E27FC236}">
                    <a16:creationId xmlns:a16="http://schemas.microsoft.com/office/drawing/2014/main" id="{DEA5F0E2-874F-48B2-95F2-7A2D9065F2B9}"/>
                  </a:ext>
                </a:extLst>
              </p:cNvPr>
              <p:cNvSpPr/>
              <p:nvPr/>
            </p:nvSpPr>
            <p:spPr>
              <a:xfrm>
                <a:off x="1793580" y="162319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4</a:t>
                </a:r>
                <a:endParaRPr lang="en-US" sz="1200" dirty="0">
                  <a:solidFill>
                    <a:schemeClr val="tx1"/>
                  </a:solidFill>
                </a:endParaRPr>
              </a:p>
            </p:txBody>
          </p:sp>
          <p:cxnSp>
            <p:nvCxnSpPr>
              <p:cNvPr id="117" name="Straight Connector 116">
                <a:extLst>
                  <a:ext uri="{FF2B5EF4-FFF2-40B4-BE49-F238E27FC236}">
                    <a16:creationId xmlns:a16="http://schemas.microsoft.com/office/drawing/2014/main" id="{2340AE50-87B6-4793-B7D1-2E58774AB7E2}"/>
                  </a:ext>
                </a:extLst>
              </p:cNvPr>
              <p:cNvCxnSpPr>
                <a:cxnSpLocks/>
              </p:cNvCxnSpPr>
              <p:nvPr/>
            </p:nvCxnSpPr>
            <p:spPr>
              <a:xfrm flipH="1">
                <a:off x="1412580" y="186648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18" name="Oval 117">
                <a:extLst>
                  <a:ext uri="{FF2B5EF4-FFF2-40B4-BE49-F238E27FC236}">
                    <a16:creationId xmlns:a16="http://schemas.microsoft.com/office/drawing/2014/main" id="{AECBD83E-4C28-4039-BB5A-4BF4BAC11A4A}"/>
                  </a:ext>
                </a:extLst>
              </p:cNvPr>
              <p:cNvSpPr/>
              <p:nvPr/>
            </p:nvSpPr>
            <p:spPr>
              <a:xfrm>
                <a:off x="1793580" y="178526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5</a:t>
                </a:r>
                <a:endParaRPr lang="en-US" sz="1200" dirty="0">
                  <a:solidFill>
                    <a:schemeClr val="tx1"/>
                  </a:solidFill>
                </a:endParaRPr>
              </a:p>
            </p:txBody>
          </p:sp>
        </p:grpSp>
        <p:grpSp>
          <p:nvGrpSpPr>
            <p:cNvPr id="6" name="Group 5">
              <a:extLst>
                <a:ext uri="{FF2B5EF4-FFF2-40B4-BE49-F238E27FC236}">
                  <a16:creationId xmlns:a16="http://schemas.microsoft.com/office/drawing/2014/main" id="{D51DC3C6-8BEB-49BE-A11F-75433DF6074D}"/>
                </a:ext>
              </a:extLst>
            </p:cNvPr>
            <p:cNvGrpSpPr/>
            <p:nvPr/>
          </p:nvGrpSpPr>
          <p:grpSpPr>
            <a:xfrm>
              <a:off x="646257" y="1232238"/>
              <a:ext cx="1224227" cy="978956"/>
              <a:chOff x="721752" y="1288250"/>
              <a:chExt cx="1224227" cy="978956"/>
            </a:xfrm>
          </p:grpSpPr>
          <p:sp>
            <p:nvSpPr>
              <p:cNvPr id="79" name="Rounded Rectangle 34">
                <a:extLst>
                  <a:ext uri="{FF2B5EF4-FFF2-40B4-BE49-F238E27FC236}">
                    <a16:creationId xmlns:a16="http://schemas.microsoft.com/office/drawing/2014/main" id="{D24348ED-B496-469C-A5E2-2CCD3A0E6BEF}"/>
                  </a:ext>
                </a:extLst>
              </p:cNvPr>
              <p:cNvSpPr/>
              <p:nvPr/>
            </p:nvSpPr>
            <p:spPr>
              <a:xfrm>
                <a:off x="721752" y="1292845"/>
                <a:ext cx="636599" cy="974361"/>
              </a:xfrm>
              <a:prstGeom prst="roundRect">
                <a:avLst/>
              </a:prstGeom>
              <a:noFill/>
              <a:ln w="15875">
                <a:solidFill>
                  <a:schemeClr val="tx1">
                    <a:lumMod val="50000"/>
                    <a:lumOff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80" name="TextBox 79">
                <a:extLst>
                  <a:ext uri="{FF2B5EF4-FFF2-40B4-BE49-F238E27FC236}">
                    <a16:creationId xmlns:a16="http://schemas.microsoft.com/office/drawing/2014/main" id="{EDCB83CD-BF3E-4B26-BEAB-D2C76D8FA38D}"/>
                  </a:ext>
                </a:extLst>
              </p:cNvPr>
              <p:cNvSpPr txBox="1"/>
              <p:nvPr/>
            </p:nvSpPr>
            <p:spPr>
              <a:xfrm>
                <a:off x="822182" y="199084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sp>
            <p:nvSpPr>
              <p:cNvPr id="81" name="Rounded Rectangle 34">
                <a:extLst>
                  <a:ext uri="{FF2B5EF4-FFF2-40B4-BE49-F238E27FC236}">
                    <a16:creationId xmlns:a16="http://schemas.microsoft.com/office/drawing/2014/main" id="{117BAED0-2962-4CF6-8749-E506A9C5667D}"/>
                  </a:ext>
                </a:extLst>
              </p:cNvPr>
              <p:cNvSpPr/>
              <p:nvPr/>
            </p:nvSpPr>
            <p:spPr>
              <a:xfrm>
                <a:off x="767953" y="195786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82" name="TextBox 81">
                <a:extLst>
                  <a:ext uri="{FF2B5EF4-FFF2-40B4-BE49-F238E27FC236}">
                    <a16:creationId xmlns:a16="http://schemas.microsoft.com/office/drawing/2014/main" id="{D12B92DD-A350-4189-AFA2-4529C18F1CF6}"/>
                  </a:ext>
                </a:extLst>
              </p:cNvPr>
              <p:cNvSpPr txBox="1"/>
              <p:nvPr/>
            </p:nvSpPr>
            <p:spPr>
              <a:xfrm>
                <a:off x="769274" y="1538815"/>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sp>
            <p:nvSpPr>
              <p:cNvPr id="83" name="Rounded Rectangle 34">
                <a:extLst>
                  <a:ext uri="{FF2B5EF4-FFF2-40B4-BE49-F238E27FC236}">
                    <a16:creationId xmlns:a16="http://schemas.microsoft.com/office/drawing/2014/main" id="{60D6A259-D1F2-4325-9758-A1CCE46F3D7B}"/>
                  </a:ext>
                </a:extLst>
              </p:cNvPr>
              <p:cNvSpPr/>
              <p:nvPr/>
            </p:nvSpPr>
            <p:spPr>
              <a:xfrm>
                <a:off x="740078" y="149683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84" name="Straight Connector 83">
                <a:extLst>
                  <a:ext uri="{FF2B5EF4-FFF2-40B4-BE49-F238E27FC236}">
                    <a16:creationId xmlns:a16="http://schemas.microsoft.com/office/drawing/2014/main" id="{6F70383C-1F4A-461D-82F0-CC9E6D3E5CB5}"/>
                  </a:ext>
                </a:extLst>
              </p:cNvPr>
              <p:cNvCxnSpPr>
                <a:cxnSpLocks/>
              </p:cNvCxnSpPr>
              <p:nvPr/>
            </p:nvCxnSpPr>
            <p:spPr>
              <a:xfrm>
                <a:off x="1298318" y="2179953"/>
                <a:ext cx="625652"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cxnSp>
            <p:nvCxnSpPr>
              <p:cNvPr id="85" name="Straight Arrow Connector 84">
                <a:extLst>
                  <a:ext uri="{FF2B5EF4-FFF2-40B4-BE49-F238E27FC236}">
                    <a16:creationId xmlns:a16="http://schemas.microsoft.com/office/drawing/2014/main" id="{9967E575-54D4-4418-8D13-5EED73115EF2}"/>
                  </a:ext>
                </a:extLst>
              </p:cNvPr>
              <p:cNvCxnSpPr>
                <a:cxnSpLocks/>
              </p:cNvCxnSpPr>
              <p:nvPr/>
            </p:nvCxnSpPr>
            <p:spPr>
              <a:xfrm flipV="1">
                <a:off x="13255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86" name="Straight Arrow Connector 85">
                <a:extLst>
                  <a:ext uri="{FF2B5EF4-FFF2-40B4-BE49-F238E27FC236}">
                    <a16:creationId xmlns:a16="http://schemas.microsoft.com/office/drawing/2014/main" id="{8EEE8D7E-3D72-46D6-8332-6C1A66748235}"/>
                  </a:ext>
                </a:extLst>
              </p:cNvPr>
              <p:cNvCxnSpPr>
                <a:cxnSpLocks/>
              </p:cNvCxnSpPr>
              <p:nvPr/>
            </p:nvCxnSpPr>
            <p:spPr>
              <a:xfrm flipV="1">
                <a:off x="14611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87" name="Straight Arrow Connector 86">
                <a:extLst>
                  <a:ext uri="{FF2B5EF4-FFF2-40B4-BE49-F238E27FC236}">
                    <a16:creationId xmlns:a16="http://schemas.microsoft.com/office/drawing/2014/main" id="{55FB4299-B109-4B89-9735-443805DFD4E1}"/>
                  </a:ext>
                </a:extLst>
              </p:cNvPr>
              <p:cNvCxnSpPr>
                <a:cxnSpLocks/>
              </p:cNvCxnSpPr>
              <p:nvPr/>
            </p:nvCxnSpPr>
            <p:spPr>
              <a:xfrm flipV="1">
                <a:off x="1530225"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88" name="Straight Arrow Connector 87">
                <a:extLst>
                  <a:ext uri="{FF2B5EF4-FFF2-40B4-BE49-F238E27FC236}">
                    <a16:creationId xmlns:a16="http://schemas.microsoft.com/office/drawing/2014/main" id="{1B373F12-8C14-4128-B9A1-005A931C5AAE}"/>
                  </a:ext>
                </a:extLst>
              </p:cNvPr>
              <p:cNvCxnSpPr>
                <a:cxnSpLocks/>
              </p:cNvCxnSpPr>
              <p:nvPr/>
            </p:nvCxnSpPr>
            <p:spPr>
              <a:xfrm flipV="1">
                <a:off x="1721192"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89" name="Straight Arrow Connector 88">
                <a:extLst>
                  <a:ext uri="{FF2B5EF4-FFF2-40B4-BE49-F238E27FC236}">
                    <a16:creationId xmlns:a16="http://schemas.microsoft.com/office/drawing/2014/main" id="{7E166CEF-1214-4520-82EA-84F0F98FB00A}"/>
                  </a:ext>
                </a:extLst>
              </p:cNvPr>
              <p:cNvCxnSpPr>
                <a:cxnSpLocks/>
              </p:cNvCxnSpPr>
              <p:nvPr/>
            </p:nvCxnSpPr>
            <p:spPr>
              <a:xfrm flipV="1">
                <a:off x="1856794" y="2044241"/>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90" name="Oval 89">
                <a:extLst>
                  <a:ext uri="{FF2B5EF4-FFF2-40B4-BE49-F238E27FC236}">
                    <a16:creationId xmlns:a16="http://schemas.microsoft.com/office/drawing/2014/main" id="{50C2B2F2-E8A7-4347-BF48-E554525043AA}"/>
                  </a:ext>
                </a:extLst>
              </p:cNvPr>
              <p:cNvSpPr/>
              <p:nvPr/>
            </p:nvSpPr>
            <p:spPr>
              <a:xfrm>
                <a:off x="1247116" y="2082512"/>
                <a:ext cx="152399" cy="149045"/>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solidFill>
                      <a:schemeClr val="tx1"/>
                    </a:solidFill>
                  </a:rPr>
                  <a:t>1</a:t>
                </a:r>
              </a:p>
            </p:txBody>
          </p:sp>
          <p:cxnSp>
            <p:nvCxnSpPr>
              <p:cNvPr id="91" name="Straight Connector 90">
                <a:extLst>
                  <a:ext uri="{FF2B5EF4-FFF2-40B4-BE49-F238E27FC236}">
                    <a16:creationId xmlns:a16="http://schemas.microsoft.com/office/drawing/2014/main" id="{2A2F473C-297F-4A0E-93BC-F2932400B72E}"/>
                  </a:ext>
                </a:extLst>
              </p:cNvPr>
              <p:cNvCxnSpPr>
                <a:cxnSpLocks/>
              </p:cNvCxnSpPr>
              <p:nvPr/>
            </p:nvCxnSpPr>
            <p:spPr>
              <a:xfrm flipH="1">
                <a:off x="1412580" y="136946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92" name="Oval 91">
                <a:extLst>
                  <a:ext uri="{FF2B5EF4-FFF2-40B4-BE49-F238E27FC236}">
                    <a16:creationId xmlns:a16="http://schemas.microsoft.com/office/drawing/2014/main" id="{CEA1198F-FFD6-4659-B3D7-CD44318D1280}"/>
                  </a:ext>
                </a:extLst>
              </p:cNvPr>
              <p:cNvSpPr/>
              <p:nvPr/>
            </p:nvSpPr>
            <p:spPr>
              <a:xfrm>
                <a:off x="1793580" y="128825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2</a:t>
                </a:r>
                <a:endParaRPr lang="en-US" sz="1200" dirty="0">
                  <a:solidFill>
                    <a:schemeClr val="tx1"/>
                  </a:solidFill>
                </a:endParaRPr>
              </a:p>
            </p:txBody>
          </p:sp>
          <p:cxnSp>
            <p:nvCxnSpPr>
              <p:cNvPr id="93" name="Straight Connector 92">
                <a:extLst>
                  <a:ext uri="{FF2B5EF4-FFF2-40B4-BE49-F238E27FC236}">
                    <a16:creationId xmlns:a16="http://schemas.microsoft.com/office/drawing/2014/main" id="{98EAFCAE-5397-4F08-8EE6-AF7E9B8FCD80}"/>
                  </a:ext>
                </a:extLst>
              </p:cNvPr>
              <p:cNvCxnSpPr>
                <a:cxnSpLocks/>
              </p:cNvCxnSpPr>
              <p:nvPr/>
            </p:nvCxnSpPr>
            <p:spPr>
              <a:xfrm flipH="1">
                <a:off x="1412580" y="153154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94" name="Oval 93">
                <a:extLst>
                  <a:ext uri="{FF2B5EF4-FFF2-40B4-BE49-F238E27FC236}">
                    <a16:creationId xmlns:a16="http://schemas.microsoft.com/office/drawing/2014/main" id="{0712FF5A-7686-4A03-BAF3-3DDDA3B76EAD}"/>
                  </a:ext>
                </a:extLst>
              </p:cNvPr>
              <p:cNvSpPr/>
              <p:nvPr/>
            </p:nvSpPr>
            <p:spPr>
              <a:xfrm>
                <a:off x="1793580" y="145032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3</a:t>
                </a:r>
                <a:endParaRPr lang="en-US" sz="1200" dirty="0">
                  <a:solidFill>
                    <a:schemeClr val="tx1"/>
                  </a:solidFill>
                </a:endParaRPr>
              </a:p>
            </p:txBody>
          </p:sp>
          <p:cxnSp>
            <p:nvCxnSpPr>
              <p:cNvPr id="95" name="Straight Connector 94">
                <a:extLst>
                  <a:ext uri="{FF2B5EF4-FFF2-40B4-BE49-F238E27FC236}">
                    <a16:creationId xmlns:a16="http://schemas.microsoft.com/office/drawing/2014/main" id="{37355CF7-64BB-47C8-8C78-17512FBDB9BD}"/>
                  </a:ext>
                </a:extLst>
              </p:cNvPr>
              <p:cNvCxnSpPr>
                <a:cxnSpLocks/>
              </p:cNvCxnSpPr>
              <p:nvPr/>
            </p:nvCxnSpPr>
            <p:spPr>
              <a:xfrm flipH="1">
                <a:off x="1412580" y="170440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96" name="Oval 95">
                <a:extLst>
                  <a:ext uri="{FF2B5EF4-FFF2-40B4-BE49-F238E27FC236}">
                    <a16:creationId xmlns:a16="http://schemas.microsoft.com/office/drawing/2014/main" id="{1E5112A0-FB21-46BF-90B4-32A643C204F1}"/>
                  </a:ext>
                </a:extLst>
              </p:cNvPr>
              <p:cNvSpPr/>
              <p:nvPr/>
            </p:nvSpPr>
            <p:spPr>
              <a:xfrm>
                <a:off x="1793580" y="162319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4</a:t>
                </a:r>
                <a:endParaRPr lang="en-US" sz="1200" dirty="0">
                  <a:solidFill>
                    <a:schemeClr val="tx1"/>
                  </a:solidFill>
                </a:endParaRPr>
              </a:p>
            </p:txBody>
          </p:sp>
          <p:cxnSp>
            <p:nvCxnSpPr>
              <p:cNvPr id="97" name="Straight Connector 96">
                <a:extLst>
                  <a:ext uri="{FF2B5EF4-FFF2-40B4-BE49-F238E27FC236}">
                    <a16:creationId xmlns:a16="http://schemas.microsoft.com/office/drawing/2014/main" id="{08997786-D960-4D93-9A62-CF896C5813B6}"/>
                  </a:ext>
                </a:extLst>
              </p:cNvPr>
              <p:cNvCxnSpPr>
                <a:cxnSpLocks/>
              </p:cNvCxnSpPr>
              <p:nvPr/>
            </p:nvCxnSpPr>
            <p:spPr>
              <a:xfrm flipH="1">
                <a:off x="1412580" y="186648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98" name="Oval 97">
                <a:extLst>
                  <a:ext uri="{FF2B5EF4-FFF2-40B4-BE49-F238E27FC236}">
                    <a16:creationId xmlns:a16="http://schemas.microsoft.com/office/drawing/2014/main" id="{2A8BC585-6675-4728-8F56-AC7CE43EFC74}"/>
                  </a:ext>
                </a:extLst>
              </p:cNvPr>
              <p:cNvSpPr/>
              <p:nvPr/>
            </p:nvSpPr>
            <p:spPr>
              <a:xfrm>
                <a:off x="1793580" y="178526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5</a:t>
                </a:r>
                <a:endParaRPr lang="en-US" sz="1200" dirty="0">
                  <a:solidFill>
                    <a:schemeClr val="tx1"/>
                  </a:solidFill>
                </a:endParaRPr>
              </a:p>
            </p:txBody>
          </p:sp>
        </p:grpSp>
        <p:grpSp>
          <p:nvGrpSpPr>
            <p:cNvPr id="7" name="Group 6">
              <a:extLst>
                <a:ext uri="{FF2B5EF4-FFF2-40B4-BE49-F238E27FC236}">
                  <a16:creationId xmlns:a16="http://schemas.microsoft.com/office/drawing/2014/main" id="{68445A51-18D2-4283-90AE-634DC42E86F6}"/>
                </a:ext>
              </a:extLst>
            </p:cNvPr>
            <p:cNvGrpSpPr/>
            <p:nvPr/>
          </p:nvGrpSpPr>
          <p:grpSpPr>
            <a:xfrm flipH="1">
              <a:off x="3127362" y="3451832"/>
              <a:ext cx="1224227" cy="978956"/>
              <a:chOff x="721752" y="1288250"/>
              <a:chExt cx="1224227" cy="978956"/>
            </a:xfrm>
          </p:grpSpPr>
          <p:sp>
            <p:nvSpPr>
              <p:cNvPr id="59" name="Rounded Rectangle 34">
                <a:extLst>
                  <a:ext uri="{FF2B5EF4-FFF2-40B4-BE49-F238E27FC236}">
                    <a16:creationId xmlns:a16="http://schemas.microsoft.com/office/drawing/2014/main" id="{EBA4C691-823A-48A0-8CAC-84888B25D443}"/>
                  </a:ext>
                </a:extLst>
              </p:cNvPr>
              <p:cNvSpPr/>
              <p:nvPr/>
            </p:nvSpPr>
            <p:spPr>
              <a:xfrm>
                <a:off x="721752" y="1292845"/>
                <a:ext cx="636599" cy="974361"/>
              </a:xfrm>
              <a:prstGeom prst="roundRect">
                <a:avLst/>
              </a:prstGeom>
              <a:noFill/>
              <a:ln w="15875">
                <a:solidFill>
                  <a:schemeClr val="tx1">
                    <a:lumMod val="50000"/>
                    <a:lumOff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60" name="TextBox 59">
                <a:extLst>
                  <a:ext uri="{FF2B5EF4-FFF2-40B4-BE49-F238E27FC236}">
                    <a16:creationId xmlns:a16="http://schemas.microsoft.com/office/drawing/2014/main" id="{0B9D5778-E2F6-4474-A093-BABBF94E765F}"/>
                  </a:ext>
                </a:extLst>
              </p:cNvPr>
              <p:cNvSpPr txBox="1"/>
              <p:nvPr/>
            </p:nvSpPr>
            <p:spPr>
              <a:xfrm>
                <a:off x="822182" y="199084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sp>
            <p:nvSpPr>
              <p:cNvPr id="61" name="Rounded Rectangle 34">
                <a:extLst>
                  <a:ext uri="{FF2B5EF4-FFF2-40B4-BE49-F238E27FC236}">
                    <a16:creationId xmlns:a16="http://schemas.microsoft.com/office/drawing/2014/main" id="{A259FDBD-6973-4B1F-8899-FDD962317830}"/>
                  </a:ext>
                </a:extLst>
              </p:cNvPr>
              <p:cNvSpPr/>
              <p:nvPr/>
            </p:nvSpPr>
            <p:spPr>
              <a:xfrm>
                <a:off x="767953" y="195786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62" name="TextBox 61">
                <a:extLst>
                  <a:ext uri="{FF2B5EF4-FFF2-40B4-BE49-F238E27FC236}">
                    <a16:creationId xmlns:a16="http://schemas.microsoft.com/office/drawing/2014/main" id="{5750F6B3-F707-4020-B712-09DDB4BF356F}"/>
                  </a:ext>
                </a:extLst>
              </p:cNvPr>
              <p:cNvSpPr txBox="1"/>
              <p:nvPr/>
            </p:nvSpPr>
            <p:spPr>
              <a:xfrm>
                <a:off x="762670" y="152981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sp>
            <p:nvSpPr>
              <p:cNvPr id="63" name="Rounded Rectangle 34">
                <a:extLst>
                  <a:ext uri="{FF2B5EF4-FFF2-40B4-BE49-F238E27FC236}">
                    <a16:creationId xmlns:a16="http://schemas.microsoft.com/office/drawing/2014/main" id="{6EA69C57-183E-4FEA-A5E5-89B05D79AF11}"/>
                  </a:ext>
                </a:extLst>
              </p:cNvPr>
              <p:cNvSpPr/>
              <p:nvPr/>
            </p:nvSpPr>
            <p:spPr>
              <a:xfrm>
                <a:off x="740078" y="149683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64" name="Straight Connector 63">
                <a:extLst>
                  <a:ext uri="{FF2B5EF4-FFF2-40B4-BE49-F238E27FC236}">
                    <a16:creationId xmlns:a16="http://schemas.microsoft.com/office/drawing/2014/main" id="{93D58F39-4092-4D5A-88F9-AEE038FF63C5}"/>
                  </a:ext>
                </a:extLst>
              </p:cNvPr>
              <p:cNvCxnSpPr>
                <a:cxnSpLocks/>
              </p:cNvCxnSpPr>
              <p:nvPr/>
            </p:nvCxnSpPr>
            <p:spPr>
              <a:xfrm>
                <a:off x="1298318" y="2179953"/>
                <a:ext cx="625652"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cxnSp>
            <p:nvCxnSpPr>
              <p:cNvPr id="65" name="Straight Arrow Connector 64">
                <a:extLst>
                  <a:ext uri="{FF2B5EF4-FFF2-40B4-BE49-F238E27FC236}">
                    <a16:creationId xmlns:a16="http://schemas.microsoft.com/office/drawing/2014/main" id="{2F1DF963-E966-42C5-916F-A1168D3B29BC}"/>
                  </a:ext>
                </a:extLst>
              </p:cNvPr>
              <p:cNvCxnSpPr>
                <a:cxnSpLocks/>
              </p:cNvCxnSpPr>
              <p:nvPr/>
            </p:nvCxnSpPr>
            <p:spPr>
              <a:xfrm flipV="1">
                <a:off x="13255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66" name="Straight Arrow Connector 65">
                <a:extLst>
                  <a:ext uri="{FF2B5EF4-FFF2-40B4-BE49-F238E27FC236}">
                    <a16:creationId xmlns:a16="http://schemas.microsoft.com/office/drawing/2014/main" id="{9212A95C-DA0A-44B2-8273-6948CC24974B}"/>
                  </a:ext>
                </a:extLst>
              </p:cNvPr>
              <p:cNvCxnSpPr>
                <a:cxnSpLocks/>
              </p:cNvCxnSpPr>
              <p:nvPr/>
            </p:nvCxnSpPr>
            <p:spPr>
              <a:xfrm flipV="1">
                <a:off x="14611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67" name="Straight Arrow Connector 66">
                <a:extLst>
                  <a:ext uri="{FF2B5EF4-FFF2-40B4-BE49-F238E27FC236}">
                    <a16:creationId xmlns:a16="http://schemas.microsoft.com/office/drawing/2014/main" id="{063CBAEE-CA57-452C-AF8F-32AD3DC9B456}"/>
                  </a:ext>
                </a:extLst>
              </p:cNvPr>
              <p:cNvCxnSpPr>
                <a:cxnSpLocks/>
              </p:cNvCxnSpPr>
              <p:nvPr/>
            </p:nvCxnSpPr>
            <p:spPr>
              <a:xfrm flipV="1">
                <a:off x="1530225"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68" name="Straight Arrow Connector 67">
                <a:extLst>
                  <a:ext uri="{FF2B5EF4-FFF2-40B4-BE49-F238E27FC236}">
                    <a16:creationId xmlns:a16="http://schemas.microsoft.com/office/drawing/2014/main" id="{A6933503-5186-4B15-8B0D-220F0C2AC7D3}"/>
                  </a:ext>
                </a:extLst>
              </p:cNvPr>
              <p:cNvCxnSpPr>
                <a:cxnSpLocks/>
              </p:cNvCxnSpPr>
              <p:nvPr/>
            </p:nvCxnSpPr>
            <p:spPr>
              <a:xfrm flipV="1">
                <a:off x="1721192"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69" name="Straight Arrow Connector 68">
                <a:extLst>
                  <a:ext uri="{FF2B5EF4-FFF2-40B4-BE49-F238E27FC236}">
                    <a16:creationId xmlns:a16="http://schemas.microsoft.com/office/drawing/2014/main" id="{0FB473E6-F175-4DA8-BB88-115F12586669}"/>
                  </a:ext>
                </a:extLst>
              </p:cNvPr>
              <p:cNvCxnSpPr>
                <a:cxnSpLocks/>
              </p:cNvCxnSpPr>
              <p:nvPr/>
            </p:nvCxnSpPr>
            <p:spPr>
              <a:xfrm flipV="1">
                <a:off x="1856794" y="2044241"/>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70" name="Oval 69">
                <a:extLst>
                  <a:ext uri="{FF2B5EF4-FFF2-40B4-BE49-F238E27FC236}">
                    <a16:creationId xmlns:a16="http://schemas.microsoft.com/office/drawing/2014/main" id="{A9DD79E7-AE65-49FC-B990-200BD2DCD0E2}"/>
                  </a:ext>
                </a:extLst>
              </p:cNvPr>
              <p:cNvSpPr/>
              <p:nvPr/>
            </p:nvSpPr>
            <p:spPr>
              <a:xfrm>
                <a:off x="1247116" y="2082512"/>
                <a:ext cx="152399" cy="149045"/>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solidFill>
                      <a:schemeClr val="tx1"/>
                    </a:solidFill>
                  </a:rPr>
                  <a:t>3</a:t>
                </a:r>
              </a:p>
            </p:txBody>
          </p:sp>
          <p:cxnSp>
            <p:nvCxnSpPr>
              <p:cNvPr id="71" name="Straight Connector 70">
                <a:extLst>
                  <a:ext uri="{FF2B5EF4-FFF2-40B4-BE49-F238E27FC236}">
                    <a16:creationId xmlns:a16="http://schemas.microsoft.com/office/drawing/2014/main" id="{0D68606F-833D-4B9A-AFEB-34ED3C39A232}"/>
                  </a:ext>
                </a:extLst>
              </p:cNvPr>
              <p:cNvCxnSpPr>
                <a:cxnSpLocks/>
              </p:cNvCxnSpPr>
              <p:nvPr/>
            </p:nvCxnSpPr>
            <p:spPr>
              <a:xfrm flipH="1">
                <a:off x="1412580" y="136946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72" name="Oval 71">
                <a:extLst>
                  <a:ext uri="{FF2B5EF4-FFF2-40B4-BE49-F238E27FC236}">
                    <a16:creationId xmlns:a16="http://schemas.microsoft.com/office/drawing/2014/main" id="{C7325D0D-F28C-4843-9543-D0FBF49BA366}"/>
                  </a:ext>
                </a:extLst>
              </p:cNvPr>
              <p:cNvSpPr/>
              <p:nvPr/>
            </p:nvSpPr>
            <p:spPr>
              <a:xfrm>
                <a:off x="1793580" y="128825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1</a:t>
                </a:r>
                <a:endParaRPr lang="en-US" sz="1200" dirty="0">
                  <a:solidFill>
                    <a:schemeClr val="tx1"/>
                  </a:solidFill>
                </a:endParaRPr>
              </a:p>
            </p:txBody>
          </p:sp>
          <p:cxnSp>
            <p:nvCxnSpPr>
              <p:cNvPr id="73" name="Straight Connector 72">
                <a:extLst>
                  <a:ext uri="{FF2B5EF4-FFF2-40B4-BE49-F238E27FC236}">
                    <a16:creationId xmlns:a16="http://schemas.microsoft.com/office/drawing/2014/main" id="{0669E678-19C1-4CC4-94B4-A3309B97FD25}"/>
                  </a:ext>
                </a:extLst>
              </p:cNvPr>
              <p:cNvCxnSpPr>
                <a:cxnSpLocks/>
              </p:cNvCxnSpPr>
              <p:nvPr/>
            </p:nvCxnSpPr>
            <p:spPr>
              <a:xfrm flipH="1">
                <a:off x="1412580" y="153154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74" name="Oval 73">
                <a:extLst>
                  <a:ext uri="{FF2B5EF4-FFF2-40B4-BE49-F238E27FC236}">
                    <a16:creationId xmlns:a16="http://schemas.microsoft.com/office/drawing/2014/main" id="{5E60CCFE-C44D-4252-A707-64602919BC04}"/>
                  </a:ext>
                </a:extLst>
              </p:cNvPr>
              <p:cNvSpPr/>
              <p:nvPr/>
            </p:nvSpPr>
            <p:spPr>
              <a:xfrm>
                <a:off x="1793580" y="145032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2</a:t>
                </a:r>
                <a:endParaRPr lang="en-US" sz="1200" dirty="0">
                  <a:solidFill>
                    <a:schemeClr val="tx1"/>
                  </a:solidFill>
                </a:endParaRPr>
              </a:p>
            </p:txBody>
          </p:sp>
          <p:cxnSp>
            <p:nvCxnSpPr>
              <p:cNvPr id="75" name="Straight Connector 74">
                <a:extLst>
                  <a:ext uri="{FF2B5EF4-FFF2-40B4-BE49-F238E27FC236}">
                    <a16:creationId xmlns:a16="http://schemas.microsoft.com/office/drawing/2014/main" id="{FBF2EB1B-ECE0-432A-9273-E69C67377E42}"/>
                  </a:ext>
                </a:extLst>
              </p:cNvPr>
              <p:cNvCxnSpPr>
                <a:cxnSpLocks/>
              </p:cNvCxnSpPr>
              <p:nvPr/>
            </p:nvCxnSpPr>
            <p:spPr>
              <a:xfrm flipH="1">
                <a:off x="1412580" y="170440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76" name="Oval 75">
                <a:extLst>
                  <a:ext uri="{FF2B5EF4-FFF2-40B4-BE49-F238E27FC236}">
                    <a16:creationId xmlns:a16="http://schemas.microsoft.com/office/drawing/2014/main" id="{086FBA84-A0B4-4735-A3AE-DB4CB9E4D301}"/>
                  </a:ext>
                </a:extLst>
              </p:cNvPr>
              <p:cNvSpPr/>
              <p:nvPr/>
            </p:nvSpPr>
            <p:spPr>
              <a:xfrm>
                <a:off x="1793580" y="162319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4</a:t>
                </a:r>
                <a:endParaRPr lang="en-US" sz="1200" dirty="0">
                  <a:solidFill>
                    <a:schemeClr val="tx1"/>
                  </a:solidFill>
                </a:endParaRPr>
              </a:p>
            </p:txBody>
          </p:sp>
          <p:cxnSp>
            <p:nvCxnSpPr>
              <p:cNvPr id="77" name="Straight Connector 76">
                <a:extLst>
                  <a:ext uri="{FF2B5EF4-FFF2-40B4-BE49-F238E27FC236}">
                    <a16:creationId xmlns:a16="http://schemas.microsoft.com/office/drawing/2014/main" id="{9FEC66A9-4376-4A13-9732-B64A006F1849}"/>
                  </a:ext>
                </a:extLst>
              </p:cNvPr>
              <p:cNvCxnSpPr>
                <a:cxnSpLocks/>
              </p:cNvCxnSpPr>
              <p:nvPr/>
            </p:nvCxnSpPr>
            <p:spPr>
              <a:xfrm flipH="1">
                <a:off x="1412580" y="186648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78" name="Oval 77">
                <a:extLst>
                  <a:ext uri="{FF2B5EF4-FFF2-40B4-BE49-F238E27FC236}">
                    <a16:creationId xmlns:a16="http://schemas.microsoft.com/office/drawing/2014/main" id="{EFF29BD8-498E-470B-9083-DDC2B37B696B}"/>
                  </a:ext>
                </a:extLst>
              </p:cNvPr>
              <p:cNvSpPr/>
              <p:nvPr/>
            </p:nvSpPr>
            <p:spPr>
              <a:xfrm>
                <a:off x="1793580" y="178526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5</a:t>
                </a:r>
                <a:endParaRPr lang="en-US" sz="1200" dirty="0">
                  <a:solidFill>
                    <a:schemeClr val="tx1"/>
                  </a:solidFill>
                </a:endParaRPr>
              </a:p>
            </p:txBody>
          </p:sp>
        </p:grpSp>
        <p:grpSp>
          <p:nvGrpSpPr>
            <p:cNvPr id="8" name="Group 7">
              <a:extLst>
                <a:ext uri="{FF2B5EF4-FFF2-40B4-BE49-F238E27FC236}">
                  <a16:creationId xmlns:a16="http://schemas.microsoft.com/office/drawing/2014/main" id="{BFF1C502-9E99-4F0F-9041-270906B720A7}"/>
                </a:ext>
              </a:extLst>
            </p:cNvPr>
            <p:cNvGrpSpPr/>
            <p:nvPr/>
          </p:nvGrpSpPr>
          <p:grpSpPr>
            <a:xfrm flipH="1">
              <a:off x="4055026" y="2117890"/>
              <a:ext cx="1224227" cy="978956"/>
              <a:chOff x="721752" y="1288250"/>
              <a:chExt cx="1224227" cy="978956"/>
            </a:xfrm>
          </p:grpSpPr>
          <p:sp>
            <p:nvSpPr>
              <p:cNvPr id="39" name="Rounded Rectangle 34">
                <a:extLst>
                  <a:ext uri="{FF2B5EF4-FFF2-40B4-BE49-F238E27FC236}">
                    <a16:creationId xmlns:a16="http://schemas.microsoft.com/office/drawing/2014/main" id="{1033FE40-9E63-4CCE-B31A-E886D6329770}"/>
                  </a:ext>
                </a:extLst>
              </p:cNvPr>
              <p:cNvSpPr/>
              <p:nvPr/>
            </p:nvSpPr>
            <p:spPr>
              <a:xfrm>
                <a:off x="721752" y="1292845"/>
                <a:ext cx="636599" cy="974361"/>
              </a:xfrm>
              <a:prstGeom prst="roundRect">
                <a:avLst/>
              </a:prstGeom>
              <a:noFill/>
              <a:ln w="15875">
                <a:solidFill>
                  <a:schemeClr val="tx1">
                    <a:lumMod val="50000"/>
                    <a:lumOff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40" name="TextBox 39">
                <a:extLst>
                  <a:ext uri="{FF2B5EF4-FFF2-40B4-BE49-F238E27FC236}">
                    <a16:creationId xmlns:a16="http://schemas.microsoft.com/office/drawing/2014/main" id="{AC9BD07E-C26A-4523-9D71-5E66343CFD18}"/>
                  </a:ext>
                </a:extLst>
              </p:cNvPr>
              <p:cNvSpPr txBox="1"/>
              <p:nvPr/>
            </p:nvSpPr>
            <p:spPr>
              <a:xfrm>
                <a:off x="822182" y="199084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sp>
            <p:nvSpPr>
              <p:cNvPr id="41" name="Rounded Rectangle 34">
                <a:extLst>
                  <a:ext uri="{FF2B5EF4-FFF2-40B4-BE49-F238E27FC236}">
                    <a16:creationId xmlns:a16="http://schemas.microsoft.com/office/drawing/2014/main" id="{C2E57BFD-BEF2-442C-8C4C-D0F0A3B96E67}"/>
                  </a:ext>
                </a:extLst>
              </p:cNvPr>
              <p:cNvSpPr/>
              <p:nvPr/>
            </p:nvSpPr>
            <p:spPr>
              <a:xfrm>
                <a:off x="767953" y="195786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42" name="TextBox 41">
                <a:extLst>
                  <a:ext uri="{FF2B5EF4-FFF2-40B4-BE49-F238E27FC236}">
                    <a16:creationId xmlns:a16="http://schemas.microsoft.com/office/drawing/2014/main" id="{C8D28C45-C8FA-48D2-85F0-0F6446B0E847}"/>
                  </a:ext>
                </a:extLst>
              </p:cNvPr>
              <p:cNvSpPr txBox="1"/>
              <p:nvPr/>
            </p:nvSpPr>
            <p:spPr>
              <a:xfrm>
                <a:off x="767953" y="152981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sp>
            <p:nvSpPr>
              <p:cNvPr id="43" name="Rounded Rectangle 34">
                <a:extLst>
                  <a:ext uri="{FF2B5EF4-FFF2-40B4-BE49-F238E27FC236}">
                    <a16:creationId xmlns:a16="http://schemas.microsoft.com/office/drawing/2014/main" id="{11A8B5B1-B597-4FDF-94CA-5E883D05BAE8}"/>
                  </a:ext>
                </a:extLst>
              </p:cNvPr>
              <p:cNvSpPr/>
              <p:nvPr/>
            </p:nvSpPr>
            <p:spPr>
              <a:xfrm>
                <a:off x="740078" y="149683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44" name="Straight Connector 43">
                <a:extLst>
                  <a:ext uri="{FF2B5EF4-FFF2-40B4-BE49-F238E27FC236}">
                    <a16:creationId xmlns:a16="http://schemas.microsoft.com/office/drawing/2014/main" id="{863C0C56-328F-473B-8DD5-C93DC830E97B}"/>
                  </a:ext>
                </a:extLst>
              </p:cNvPr>
              <p:cNvCxnSpPr>
                <a:cxnSpLocks/>
              </p:cNvCxnSpPr>
              <p:nvPr/>
            </p:nvCxnSpPr>
            <p:spPr>
              <a:xfrm>
                <a:off x="1298318" y="2179953"/>
                <a:ext cx="625652"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cxnSp>
            <p:nvCxnSpPr>
              <p:cNvPr id="45" name="Straight Arrow Connector 44">
                <a:extLst>
                  <a:ext uri="{FF2B5EF4-FFF2-40B4-BE49-F238E27FC236}">
                    <a16:creationId xmlns:a16="http://schemas.microsoft.com/office/drawing/2014/main" id="{9B114538-920A-448A-9EDF-78B6722BF662}"/>
                  </a:ext>
                </a:extLst>
              </p:cNvPr>
              <p:cNvCxnSpPr>
                <a:cxnSpLocks/>
              </p:cNvCxnSpPr>
              <p:nvPr/>
            </p:nvCxnSpPr>
            <p:spPr>
              <a:xfrm flipV="1">
                <a:off x="13255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46" name="Straight Arrow Connector 45">
                <a:extLst>
                  <a:ext uri="{FF2B5EF4-FFF2-40B4-BE49-F238E27FC236}">
                    <a16:creationId xmlns:a16="http://schemas.microsoft.com/office/drawing/2014/main" id="{69BE45CF-EA6E-4724-8058-9655F7028961}"/>
                  </a:ext>
                </a:extLst>
              </p:cNvPr>
              <p:cNvCxnSpPr>
                <a:cxnSpLocks/>
              </p:cNvCxnSpPr>
              <p:nvPr/>
            </p:nvCxnSpPr>
            <p:spPr>
              <a:xfrm flipV="1">
                <a:off x="14611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47" name="Straight Arrow Connector 46">
                <a:extLst>
                  <a:ext uri="{FF2B5EF4-FFF2-40B4-BE49-F238E27FC236}">
                    <a16:creationId xmlns:a16="http://schemas.microsoft.com/office/drawing/2014/main" id="{EEEC8D7A-30AA-48B6-97A5-8C600057D877}"/>
                  </a:ext>
                </a:extLst>
              </p:cNvPr>
              <p:cNvCxnSpPr>
                <a:cxnSpLocks/>
              </p:cNvCxnSpPr>
              <p:nvPr/>
            </p:nvCxnSpPr>
            <p:spPr>
              <a:xfrm flipV="1">
                <a:off x="1530225"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48" name="Straight Arrow Connector 47">
                <a:extLst>
                  <a:ext uri="{FF2B5EF4-FFF2-40B4-BE49-F238E27FC236}">
                    <a16:creationId xmlns:a16="http://schemas.microsoft.com/office/drawing/2014/main" id="{750096E7-9B87-4CF8-BA49-0629139041D3}"/>
                  </a:ext>
                </a:extLst>
              </p:cNvPr>
              <p:cNvCxnSpPr>
                <a:cxnSpLocks/>
              </p:cNvCxnSpPr>
              <p:nvPr/>
            </p:nvCxnSpPr>
            <p:spPr>
              <a:xfrm flipV="1">
                <a:off x="1721192"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49" name="Straight Arrow Connector 48">
                <a:extLst>
                  <a:ext uri="{FF2B5EF4-FFF2-40B4-BE49-F238E27FC236}">
                    <a16:creationId xmlns:a16="http://schemas.microsoft.com/office/drawing/2014/main" id="{A0A3412C-13E1-4FD2-8487-1FB59B437AA8}"/>
                  </a:ext>
                </a:extLst>
              </p:cNvPr>
              <p:cNvCxnSpPr>
                <a:cxnSpLocks/>
              </p:cNvCxnSpPr>
              <p:nvPr/>
            </p:nvCxnSpPr>
            <p:spPr>
              <a:xfrm flipV="1">
                <a:off x="1856794" y="2044241"/>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50" name="Oval 49">
                <a:extLst>
                  <a:ext uri="{FF2B5EF4-FFF2-40B4-BE49-F238E27FC236}">
                    <a16:creationId xmlns:a16="http://schemas.microsoft.com/office/drawing/2014/main" id="{7F57504C-D0FE-456D-83C3-B1DDFB4FDC88}"/>
                  </a:ext>
                </a:extLst>
              </p:cNvPr>
              <p:cNvSpPr/>
              <p:nvPr/>
            </p:nvSpPr>
            <p:spPr>
              <a:xfrm>
                <a:off x="1247116" y="2082512"/>
                <a:ext cx="152399" cy="149045"/>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solidFill>
                      <a:schemeClr val="tx1"/>
                    </a:solidFill>
                  </a:rPr>
                  <a:t>4</a:t>
                </a:r>
              </a:p>
            </p:txBody>
          </p:sp>
          <p:cxnSp>
            <p:nvCxnSpPr>
              <p:cNvPr id="51" name="Straight Connector 50">
                <a:extLst>
                  <a:ext uri="{FF2B5EF4-FFF2-40B4-BE49-F238E27FC236}">
                    <a16:creationId xmlns:a16="http://schemas.microsoft.com/office/drawing/2014/main" id="{53BF2A76-0046-4F53-AF10-373C38978ECC}"/>
                  </a:ext>
                </a:extLst>
              </p:cNvPr>
              <p:cNvCxnSpPr>
                <a:cxnSpLocks/>
              </p:cNvCxnSpPr>
              <p:nvPr/>
            </p:nvCxnSpPr>
            <p:spPr>
              <a:xfrm flipH="1">
                <a:off x="1412580" y="136946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52" name="Oval 51">
                <a:extLst>
                  <a:ext uri="{FF2B5EF4-FFF2-40B4-BE49-F238E27FC236}">
                    <a16:creationId xmlns:a16="http://schemas.microsoft.com/office/drawing/2014/main" id="{0D7FC3EB-B39F-4A72-9816-8DFFBE144E3F}"/>
                  </a:ext>
                </a:extLst>
              </p:cNvPr>
              <p:cNvSpPr/>
              <p:nvPr/>
            </p:nvSpPr>
            <p:spPr>
              <a:xfrm>
                <a:off x="1793580" y="128825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1</a:t>
                </a:r>
                <a:endParaRPr lang="en-US" sz="1200" dirty="0">
                  <a:solidFill>
                    <a:schemeClr val="tx1"/>
                  </a:solidFill>
                </a:endParaRPr>
              </a:p>
            </p:txBody>
          </p:sp>
          <p:cxnSp>
            <p:nvCxnSpPr>
              <p:cNvPr id="53" name="Straight Connector 52">
                <a:extLst>
                  <a:ext uri="{FF2B5EF4-FFF2-40B4-BE49-F238E27FC236}">
                    <a16:creationId xmlns:a16="http://schemas.microsoft.com/office/drawing/2014/main" id="{EF6FC140-97C2-4199-817A-69D4298FECCC}"/>
                  </a:ext>
                </a:extLst>
              </p:cNvPr>
              <p:cNvCxnSpPr>
                <a:cxnSpLocks/>
              </p:cNvCxnSpPr>
              <p:nvPr/>
            </p:nvCxnSpPr>
            <p:spPr>
              <a:xfrm flipH="1">
                <a:off x="1412580" y="153154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54" name="Oval 53">
                <a:extLst>
                  <a:ext uri="{FF2B5EF4-FFF2-40B4-BE49-F238E27FC236}">
                    <a16:creationId xmlns:a16="http://schemas.microsoft.com/office/drawing/2014/main" id="{0128DB86-4772-49FB-9417-E5E184570888}"/>
                  </a:ext>
                </a:extLst>
              </p:cNvPr>
              <p:cNvSpPr/>
              <p:nvPr/>
            </p:nvSpPr>
            <p:spPr>
              <a:xfrm>
                <a:off x="1793580" y="145032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2</a:t>
                </a:r>
                <a:endParaRPr lang="en-US" sz="1200" dirty="0">
                  <a:solidFill>
                    <a:schemeClr val="tx1"/>
                  </a:solidFill>
                </a:endParaRPr>
              </a:p>
            </p:txBody>
          </p:sp>
          <p:cxnSp>
            <p:nvCxnSpPr>
              <p:cNvPr id="55" name="Straight Connector 54">
                <a:extLst>
                  <a:ext uri="{FF2B5EF4-FFF2-40B4-BE49-F238E27FC236}">
                    <a16:creationId xmlns:a16="http://schemas.microsoft.com/office/drawing/2014/main" id="{0FA34FD8-1930-442F-BDE5-33CFF4723C97}"/>
                  </a:ext>
                </a:extLst>
              </p:cNvPr>
              <p:cNvCxnSpPr>
                <a:cxnSpLocks/>
              </p:cNvCxnSpPr>
              <p:nvPr/>
            </p:nvCxnSpPr>
            <p:spPr>
              <a:xfrm flipH="1">
                <a:off x="1412580" y="170440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56" name="Oval 55">
                <a:extLst>
                  <a:ext uri="{FF2B5EF4-FFF2-40B4-BE49-F238E27FC236}">
                    <a16:creationId xmlns:a16="http://schemas.microsoft.com/office/drawing/2014/main" id="{5FBC77A9-FAF8-41B6-9946-5602A1BA0272}"/>
                  </a:ext>
                </a:extLst>
              </p:cNvPr>
              <p:cNvSpPr/>
              <p:nvPr/>
            </p:nvSpPr>
            <p:spPr>
              <a:xfrm>
                <a:off x="1793580" y="162319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3</a:t>
                </a:r>
                <a:endParaRPr lang="en-US" sz="1200" dirty="0">
                  <a:solidFill>
                    <a:schemeClr val="tx1"/>
                  </a:solidFill>
                </a:endParaRPr>
              </a:p>
            </p:txBody>
          </p:sp>
          <p:cxnSp>
            <p:nvCxnSpPr>
              <p:cNvPr id="57" name="Straight Connector 56">
                <a:extLst>
                  <a:ext uri="{FF2B5EF4-FFF2-40B4-BE49-F238E27FC236}">
                    <a16:creationId xmlns:a16="http://schemas.microsoft.com/office/drawing/2014/main" id="{C0C74009-51E3-4546-9265-4687FD24A9D0}"/>
                  </a:ext>
                </a:extLst>
              </p:cNvPr>
              <p:cNvCxnSpPr>
                <a:cxnSpLocks/>
              </p:cNvCxnSpPr>
              <p:nvPr/>
            </p:nvCxnSpPr>
            <p:spPr>
              <a:xfrm flipH="1">
                <a:off x="1412580" y="186648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58" name="Oval 57">
                <a:extLst>
                  <a:ext uri="{FF2B5EF4-FFF2-40B4-BE49-F238E27FC236}">
                    <a16:creationId xmlns:a16="http://schemas.microsoft.com/office/drawing/2014/main" id="{587BE287-DA34-4435-9893-913BCEAB1AEF}"/>
                  </a:ext>
                </a:extLst>
              </p:cNvPr>
              <p:cNvSpPr/>
              <p:nvPr/>
            </p:nvSpPr>
            <p:spPr>
              <a:xfrm>
                <a:off x="1793580" y="178526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5</a:t>
                </a:r>
                <a:endParaRPr lang="en-US" sz="1200" dirty="0">
                  <a:solidFill>
                    <a:schemeClr val="tx1"/>
                  </a:solidFill>
                </a:endParaRPr>
              </a:p>
            </p:txBody>
          </p:sp>
        </p:grpSp>
        <p:grpSp>
          <p:nvGrpSpPr>
            <p:cNvPr id="9" name="Group 8">
              <a:extLst>
                <a:ext uri="{FF2B5EF4-FFF2-40B4-BE49-F238E27FC236}">
                  <a16:creationId xmlns:a16="http://schemas.microsoft.com/office/drawing/2014/main" id="{F5A6283D-B3C3-4A3C-9F68-9E1B057C2810}"/>
                </a:ext>
              </a:extLst>
            </p:cNvPr>
            <p:cNvGrpSpPr/>
            <p:nvPr/>
          </p:nvGrpSpPr>
          <p:grpSpPr>
            <a:xfrm flipH="1">
              <a:off x="3060989" y="735578"/>
              <a:ext cx="1224227" cy="978956"/>
              <a:chOff x="721752" y="1288250"/>
              <a:chExt cx="1224227" cy="978956"/>
            </a:xfrm>
          </p:grpSpPr>
          <p:sp>
            <p:nvSpPr>
              <p:cNvPr id="19" name="Rounded Rectangle 34">
                <a:extLst>
                  <a:ext uri="{FF2B5EF4-FFF2-40B4-BE49-F238E27FC236}">
                    <a16:creationId xmlns:a16="http://schemas.microsoft.com/office/drawing/2014/main" id="{82F35B2D-D8C0-45EF-AA05-B6EF1FD032FC}"/>
                  </a:ext>
                </a:extLst>
              </p:cNvPr>
              <p:cNvSpPr/>
              <p:nvPr/>
            </p:nvSpPr>
            <p:spPr>
              <a:xfrm>
                <a:off x="721752" y="1292845"/>
                <a:ext cx="636599" cy="974361"/>
              </a:xfrm>
              <a:prstGeom prst="roundRect">
                <a:avLst/>
              </a:prstGeom>
              <a:noFill/>
              <a:ln w="15875">
                <a:solidFill>
                  <a:schemeClr val="tx1">
                    <a:lumMod val="50000"/>
                    <a:lumOff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20" name="TextBox 19">
                <a:extLst>
                  <a:ext uri="{FF2B5EF4-FFF2-40B4-BE49-F238E27FC236}">
                    <a16:creationId xmlns:a16="http://schemas.microsoft.com/office/drawing/2014/main" id="{BD50E845-1622-4A06-A4CD-417982D37D4A}"/>
                  </a:ext>
                </a:extLst>
              </p:cNvPr>
              <p:cNvSpPr txBox="1"/>
              <p:nvPr/>
            </p:nvSpPr>
            <p:spPr>
              <a:xfrm>
                <a:off x="822182" y="199084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sp>
            <p:nvSpPr>
              <p:cNvPr id="21" name="Rounded Rectangle 34">
                <a:extLst>
                  <a:ext uri="{FF2B5EF4-FFF2-40B4-BE49-F238E27FC236}">
                    <a16:creationId xmlns:a16="http://schemas.microsoft.com/office/drawing/2014/main" id="{BD102F89-A639-4CAD-9C78-B2835F6A36D1}"/>
                  </a:ext>
                </a:extLst>
              </p:cNvPr>
              <p:cNvSpPr/>
              <p:nvPr/>
            </p:nvSpPr>
            <p:spPr>
              <a:xfrm>
                <a:off x="767953" y="195786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22" name="TextBox 21">
                <a:extLst>
                  <a:ext uri="{FF2B5EF4-FFF2-40B4-BE49-F238E27FC236}">
                    <a16:creationId xmlns:a16="http://schemas.microsoft.com/office/drawing/2014/main" id="{4FB0155A-E0BF-416A-954C-B1C36DF5BB28}"/>
                  </a:ext>
                </a:extLst>
              </p:cNvPr>
              <p:cNvSpPr txBox="1"/>
              <p:nvPr/>
            </p:nvSpPr>
            <p:spPr>
              <a:xfrm>
                <a:off x="767953" y="1529811"/>
                <a:ext cx="504011"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sp>
            <p:nvSpPr>
              <p:cNvPr id="23" name="Rounded Rectangle 34">
                <a:extLst>
                  <a:ext uri="{FF2B5EF4-FFF2-40B4-BE49-F238E27FC236}">
                    <a16:creationId xmlns:a16="http://schemas.microsoft.com/office/drawing/2014/main" id="{AE973C80-11B1-4DA8-A36C-B30E51868BED}"/>
                  </a:ext>
                </a:extLst>
              </p:cNvPr>
              <p:cNvSpPr/>
              <p:nvPr/>
            </p:nvSpPr>
            <p:spPr>
              <a:xfrm>
                <a:off x="740078" y="1496837"/>
                <a:ext cx="544348" cy="187144"/>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24" name="Straight Connector 23">
                <a:extLst>
                  <a:ext uri="{FF2B5EF4-FFF2-40B4-BE49-F238E27FC236}">
                    <a16:creationId xmlns:a16="http://schemas.microsoft.com/office/drawing/2014/main" id="{5818118B-DF47-4D9A-B0B0-3E48C000658E}"/>
                  </a:ext>
                </a:extLst>
              </p:cNvPr>
              <p:cNvCxnSpPr>
                <a:cxnSpLocks/>
              </p:cNvCxnSpPr>
              <p:nvPr/>
            </p:nvCxnSpPr>
            <p:spPr>
              <a:xfrm>
                <a:off x="1298318" y="2179953"/>
                <a:ext cx="625652"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cxnSp>
            <p:nvCxnSpPr>
              <p:cNvPr id="25" name="Straight Arrow Connector 24">
                <a:extLst>
                  <a:ext uri="{FF2B5EF4-FFF2-40B4-BE49-F238E27FC236}">
                    <a16:creationId xmlns:a16="http://schemas.microsoft.com/office/drawing/2014/main" id="{9D9D86C9-C1F0-45AB-BCB4-FD559A218D41}"/>
                  </a:ext>
                </a:extLst>
              </p:cNvPr>
              <p:cNvCxnSpPr>
                <a:cxnSpLocks/>
              </p:cNvCxnSpPr>
              <p:nvPr/>
            </p:nvCxnSpPr>
            <p:spPr>
              <a:xfrm flipV="1">
                <a:off x="13255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26" name="Straight Arrow Connector 25">
                <a:extLst>
                  <a:ext uri="{FF2B5EF4-FFF2-40B4-BE49-F238E27FC236}">
                    <a16:creationId xmlns:a16="http://schemas.microsoft.com/office/drawing/2014/main" id="{A15E35D0-9EAC-43EC-9430-879CC81B2692}"/>
                  </a:ext>
                </a:extLst>
              </p:cNvPr>
              <p:cNvCxnSpPr>
                <a:cxnSpLocks/>
              </p:cNvCxnSpPr>
              <p:nvPr/>
            </p:nvCxnSpPr>
            <p:spPr>
              <a:xfrm flipV="1">
                <a:off x="1461113"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27" name="Straight Arrow Connector 26">
                <a:extLst>
                  <a:ext uri="{FF2B5EF4-FFF2-40B4-BE49-F238E27FC236}">
                    <a16:creationId xmlns:a16="http://schemas.microsoft.com/office/drawing/2014/main" id="{F8BADD6D-FFD7-4007-B3CF-BDF3F36884DA}"/>
                  </a:ext>
                </a:extLst>
              </p:cNvPr>
              <p:cNvCxnSpPr>
                <a:cxnSpLocks/>
              </p:cNvCxnSpPr>
              <p:nvPr/>
            </p:nvCxnSpPr>
            <p:spPr>
              <a:xfrm flipV="1">
                <a:off x="1530225"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28" name="Straight Arrow Connector 27">
                <a:extLst>
                  <a:ext uri="{FF2B5EF4-FFF2-40B4-BE49-F238E27FC236}">
                    <a16:creationId xmlns:a16="http://schemas.microsoft.com/office/drawing/2014/main" id="{390447D3-05C1-4EF1-AEDF-2D2BC9E6FCDA}"/>
                  </a:ext>
                </a:extLst>
              </p:cNvPr>
              <p:cNvCxnSpPr>
                <a:cxnSpLocks/>
              </p:cNvCxnSpPr>
              <p:nvPr/>
            </p:nvCxnSpPr>
            <p:spPr>
              <a:xfrm flipV="1">
                <a:off x="1721192" y="2041095"/>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29" name="Straight Arrow Connector 28">
                <a:extLst>
                  <a:ext uri="{FF2B5EF4-FFF2-40B4-BE49-F238E27FC236}">
                    <a16:creationId xmlns:a16="http://schemas.microsoft.com/office/drawing/2014/main" id="{643EDCD9-20BC-4335-899A-1E60DAA43C2A}"/>
                  </a:ext>
                </a:extLst>
              </p:cNvPr>
              <p:cNvCxnSpPr>
                <a:cxnSpLocks/>
              </p:cNvCxnSpPr>
              <p:nvPr/>
            </p:nvCxnSpPr>
            <p:spPr>
              <a:xfrm flipV="1">
                <a:off x="1856794" y="2044241"/>
                <a:ext cx="1" cy="135712"/>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30" name="Oval 29">
                <a:extLst>
                  <a:ext uri="{FF2B5EF4-FFF2-40B4-BE49-F238E27FC236}">
                    <a16:creationId xmlns:a16="http://schemas.microsoft.com/office/drawing/2014/main" id="{294E5BF5-3E88-439D-9E70-FF00F5B284C5}"/>
                  </a:ext>
                </a:extLst>
              </p:cNvPr>
              <p:cNvSpPr/>
              <p:nvPr/>
            </p:nvSpPr>
            <p:spPr>
              <a:xfrm>
                <a:off x="1247116" y="2082512"/>
                <a:ext cx="152399" cy="149045"/>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solidFill>
                      <a:schemeClr val="tx1"/>
                    </a:solidFill>
                  </a:rPr>
                  <a:t>5</a:t>
                </a:r>
              </a:p>
            </p:txBody>
          </p:sp>
          <p:cxnSp>
            <p:nvCxnSpPr>
              <p:cNvPr id="31" name="Straight Connector 30">
                <a:extLst>
                  <a:ext uri="{FF2B5EF4-FFF2-40B4-BE49-F238E27FC236}">
                    <a16:creationId xmlns:a16="http://schemas.microsoft.com/office/drawing/2014/main" id="{6AFD15AF-544F-48BE-9E6D-0321B18CF910}"/>
                  </a:ext>
                </a:extLst>
              </p:cNvPr>
              <p:cNvCxnSpPr>
                <a:cxnSpLocks/>
              </p:cNvCxnSpPr>
              <p:nvPr/>
            </p:nvCxnSpPr>
            <p:spPr>
              <a:xfrm flipH="1">
                <a:off x="1412580" y="136946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32" name="Oval 31">
                <a:extLst>
                  <a:ext uri="{FF2B5EF4-FFF2-40B4-BE49-F238E27FC236}">
                    <a16:creationId xmlns:a16="http://schemas.microsoft.com/office/drawing/2014/main" id="{BFDDA0BB-7D28-4277-A6C3-6C065E4FEAE9}"/>
                  </a:ext>
                </a:extLst>
              </p:cNvPr>
              <p:cNvSpPr/>
              <p:nvPr/>
            </p:nvSpPr>
            <p:spPr>
              <a:xfrm>
                <a:off x="1793580" y="128825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1</a:t>
                </a:r>
                <a:endParaRPr lang="en-US" sz="1200" dirty="0">
                  <a:solidFill>
                    <a:schemeClr val="tx1"/>
                  </a:solidFill>
                </a:endParaRPr>
              </a:p>
            </p:txBody>
          </p:sp>
          <p:cxnSp>
            <p:nvCxnSpPr>
              <p:cNvPr id="33" name="Straight Connector 32">
                <a:extLst>
                  <a:ext uri="{FF2B5EF4-FFF2-40B4-BE49-F238E27FC236}">
                    <a16:creationId xmlns:a16="http://schemas.microsoft.com/office/drawing/2014/main" id="{B03C17F8-08D1-417B-897B-7A56450CF15E}"/>
                  </a:ext>
                </a:extLst>
              </p:cNvPr>
              <p:cNvCxnSpPr>
                <a:cxnSpLocks/>
              </p:cNvCxnSpPr>
              <p:nvPr/>
            </p:nvCxnSpPr>
            <p:spPr>
              <a:xfrm flipH="1">
                <a:off x="1412580" y="153154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34" name="Oval 33">
                <a:extLst>
                  <a:ext uri="{FF2B5EF4-FFF2-40B4-BE49-F238E27FC236}">
                    <a16:creationId xmlns:a16="http://schemas.microsoft.com/office/drawing/2014/main" id="{D2B8E478-3D00-415D-9A9A-CE2C627EECA2}"/>
                  </a:ext>
                </a:extLst>
              </p:cNvPr>
              <p:cNvSpPr/>
              <p:nvPr/>
            </p:nvSpPr>
            <p:spPr>
              <a:xfrm>
                <a:off x="1793580" y="145032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2</a:t>
                </a:r>
                <a:endParaRPr lang="en-US" sz="1200" dirty="0">
                  <a:solidFill>
                    <a:schemeClr val="tx1"/>
                  </a:solidFill>
                </a:endParaRPr>
              </a:p>
            </p:txBody>
          </p:sp>
          <p:cxnSp>
            <p:nvCxnSpPr>
              <p:cNvPr id="35" name="Straight Connector 34">
                <a:extLst>
                  <a:ext uri="{FF2B5EF4-FFF2-40B4-BE49-F238E27FC236}">
                    <a16:creationId xmlns:a16="http://schemas.microsoft.com/office/drawing/2014/main" id="{F0489413-8786-414D-8F98-F84B655F7E68}"/>
                  </a:ext>
                </a:extLst>
              </p:cNvPr>
              <p:cNvCxnSpPr>
                <a:cxnSpLocks/>
              </p:cNvCxnSpPr>
              <p:nvPr/>
            </p:nvCxnSpPr>
            <p:spPr>
              <a:xfrm flipH="1">
                <a:off x="1412580" y="1704403"/>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36" name="Oval 35">
                <a:extLst>
                  <a:ext uri="{FF2B5EF4-FFF2-40B4-BE49-F238E27FC236}">
                    <a16:creationId xmlns:a16="http://schemas.microsoft.com/office/drawing/2014/main" id="{D151E5D1-0DA7-4E75-AD34-07B3E4A430BA}"/>
                  </a:ext>
                </a:extLst>
              </p:cNvPr>
              <p:cNvSpPr/>
              <p:nvPr/>
            </p:nvSpPr>
            <p:spPr>
              <a:xfrm>
                <a:off x="1793580" y="1623190"/>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3</a:t>
                </a:r>
                <a:endParaRPr lang="en-US" sz="1200" dirty="0">
                  <a:solidFill>
                    <a:schemeClr val="tx1"/>
                  </a:solidFill>
                </a:endParaRPr>
              </a:p>
            </p:txBody>
          </p:sp>
          <p:cxnSp>
            <p:nvCxnSpPr>
              <p:cNvPr id="37" name="Straight Connector 36">
                <a:extLst>
                  <a:ext uri="{FF2B5EF4-FFF2-40B4-BE49-F238E27FC236}">
                    <a16:creationId xmlns:a16="http://schemas.microsoft.com/office/drawing/2014/main" id="{40EC613D-EAF9-4FE1-A2DE-ECAB5D799772}"/>
                  </a:ext>
                </a:extLst>
              </p:cNvPr>
              <p:cNvCxnSpPr>
                <a:cxnSpLocks/>
              </p:cNvCxnSpPr>
              <p:nvPr/>
            </p:nvCxnSpPr>
            <p:spPr>
              <a:xfrm flipH="1">
                <a:off x="1412580" y="1866482"/>
                <a:ext cx="381000"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38" name="Oval 37">
                <a:extLst>
                  <a:ext uri="{FF2B5EF4-FFF2-40B4-BE49-F238E27FC236}">
                    <a16:creationId xmlns:a16="http://schemas.microsoft.com/office/drawing/2014/main" id="{A7B752EF-642F-41B3-86ED-E24E3E56FB52}"/>
                  </a:ext>
                </a:extLst>
              </p:cNvPr>
              <p:cNvSpPr/>
              <p:nvPr/>
            </p:nvSpPr>
            <p:spPr>
              <a:xfrm>
                <a:off x="1793580" y="1785269"/>
                <a:ext cx="152399" cy="149044"/>
              </a:xfrm>
              <a:prstGeom prst="ellipse">
                <a:avLst/>
              </a:prstGeom>
              <a:solidFill>
                <a:schemeClr val="bg1"/>
              </a:solidFill>
              <a:ln>
                <a:solidFill>
                  <a:schemeClr val="accent4"/>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050" dirty="0">
                    <a:solidFill>
                      <a:schemeClr val="tx1"/>
                    </a:solidFill>
                  </a:rPr>
                  <a:t>4</a:t>
                </a:r>
                <a:endParaRPr lang="en-US" sz="1200" dirty="0">
                  <a:solidFill>
                    <a:schemeClr val="tx1"/>
                  </a:solidFill>
                </a:endParaRPr>
              </a:p>
            </p:txBody>
          </p:sp>
        </p:grpSp>
        <p:sp>
          <p:nvSpPr>
            <p:cNvPr id="10" name="TextBox 9">
              <a:extLst>
                <a:ext uri="{FF2B5EF4-FFF2-40B4-BE49-F238E27FC236}">
                  <a16:creationId xmlns:a16="http://schemas.microsoft.com/office/drawing/2014/main" id="{A3261C8C-9BD3-4DC3-BF6D-3FACAE77B5EB}"/>
                </a:ext>
              </a:extLst>
            </p:cNvPr>
            <p:cNvSpPr txBox="1"/>
            <p:nvPr/>
          </p:nvSpPr>
          <p:spPr>
            <a:xfrm>
              <a:off x="886439" y="1219562"/>
              <a:ext cx="152400" cy="207566"/>
            </a:xfrm>
            <a:prstGeom prst="rect">
              <a:avLst/>
            </a:prstGeom>
            <a:noFill/>
          </p:spPr>
          <p:txBody>
            <a:bodyPr wrap="square" lIns="0" tIns="0" rIns="0" bIns="0" rtlCol="0">
              <a:noAutofit/>
            </a:bodyPr>
            <a:lstStyle/>
            <a:p>
              <a:pPr algn="ctr">
                <a:lnSpc>
                  <a:spcPct val="100000"/>
                </a:lnSpc>
                <a:spcBef>
                  <a:spcPts val="900"/>
                </a:spcBef>
                <a:buClr>
                  <a:schemeClr val="tx1"/>
                </a:buClr>
                <a:buSzPct val="100000"/>
              </a:pPr>
              <a:r>
                <a:rPr lang="en-US" sz="1400" dirty="0"/>
                <a:t>1</a:t>
              </a:r>
              <a:endParaRPr lang="en-US" sz="1200" dirty="0"/>
            </a:p>
          </p:txBody>
        </p:sp>
        <p:sp>
          <p:nvSpPr>
            <p:cNvPr id="11" name="TextBox 10">
              <a:extLst>
                <a:ext uri="{FF2B5EF4-FFF2-40B4-BE49-F238E27FC236}">
                  <a16:creationId xmlns:a16="http://schemas.microsoft.com/office/drawing/2014/main" id="{0071DFFF-EC6F-473C-B158-326BBD38C3A8}"/>
                </a:ext>
              </a:extLst>
            </p:cNvPr>
            <p:cNvSpPr txBox="1"/>
            <p:nvPr/>
          </p:nvSpPr>
          <p:spPr>
            <a:xfrm>
              <a:off x="1217310" y="2781012"/>
              <a:ext cx="152400" cy="207566"/>
            </a:xfrm>
            <a:prstGeom prst="rect">
              <a:avLst/>
            </a:prstGeom>
            <a:noFill/>
          </p:spPr>
          <p:txBody>
            <a:bodyPr wrap="square" lIns="0" tIns="0" rIns="0" bIns="0" rtlCol="0">
              <a:noAutofit/>
            </a:bodyPr>
            <a:lstStyle/>
            <a:p>
              <a:pPr algn="ctr">
                <a:lnSpc>
                  <a:spcPct val="100000"/>
                </a:lnSpc>
                <a:spcBef>
                  <a:spcPts val="900"/>
                </a:spcBef>
                <a:buClr>
                  <a:schemeClr val="tx1"/>
                </a:buClr>
                <a:buSzPct val="100000"/>
              </a:pPr>
              <a:r>
                <a:rPr lang="en-US" sz="1400" dirty="0"/>
                <a:t>2</a:t>
              </a:r>
              <a:endParaRPr lang="en-US" sz="1200" dirty="0"/>
            </a:p>
          </p:txBody>
        </p:sp>
        <p:sp>
          <p:nvSpPr>
            <p:cNvPr id="12" name="TextBox 11">
              <a:extLst>
                <a:ext uri="{FF2B5EF4-FFF2-40B4-BE49-F238E27FC236}">
                  <a16:creationId xmlns:a16="http://schemas.microsoft.com/office/drawing/2014/main" id="{238D5259-F098-49FB-A046-7E16FA4BA461}"/>
                </a:ext>
              </a:extLst>
            </p:cNvPr>
            <p:cNvSpPr txBox="1"/>
            <p:nvPr/>
          </p:nvSpPr>
          <p:spPr>
            <a:xfrm>
              <a:off x="3924635" y="3426425"/>
              <a:ext cx="152400" cy="207566"/>
            </a:xfrm>
            <a:prstGeom prst="rect">
              <a:avLst/>
            </a:prstGeom>
            <a:noFill/>
          </p:spPr>
          <p:txBody>
            <a:bodyPr wrap="square" lIns="0" tIns="0" rIns="0" bIns="0" rtlCol="0">
              <a:noAutofit/>
            </a:bodyPr>
            <a:lstStyle/>
            <a:p>
              <a:pPr algn="ctr">
                <a:lnSpc>
                  <a:spcPct val="100000"/>
                </a:lnSpc>
                <a:spcBef>
                  <a:spcPts val="900"/>
                </a:spcBef>
                <a:buClr>
                  <a:schemeClr val="tx1"/>
                </a:buClr>
                <a:buSzPct val="100000"/>
              </a:pPr>
              <a:r>
                <a:rPr lang="en-US" sz="1400" dirty="0"/>
                <a:t>3</a:t>
              </a:r>
              <a:endParaRPr lang="en-US" sz="1200" dirty="0"/>
            </a:p>
          </p:txBody>
        </p:sp>
        <p:sp>
          <p:nvSpPr>
            <p:cNvPr id="13" name="TextBox 12">
              <a:extLst>
                <a:ext uri="{FF2B5EF4-FFF2-40B4-BE49-F238E27FC236}">
                  <a16:creationId xmlns:a16="http://schemas.microsoft.com/office/drawing/2014/main" id="{26BD96BD-45EB-4EAA-85F7-4D2DDCC8420A}"/>
                </a:ext>
              </a:extLst>
            </p:cNvPr>
            <p:cNvSpPr txBox="1"/>
            <p:nvPr/>
          </p:nvSpPr>
          <p:spPr>
            <a:xfrm>
              <a:off x="4884678" y="2085602"/>
              <a:ext cx="152400" cy="207566"/>
            </a:xfrm>
            <a:prstGeom prst="rect">
              <a:avLst/>
            </a:prstGeom>
            <a:noFill/>
          </p:spPr>
          <p:txBody>
            <a:bodyPr wrap="square" lIns="0" tIns="0" rIns="0" bIns="0" rtlCol="0">
              <a:noAutofit/>
            </a:bodyPr>
            <a:lstStyle/>
            <a:p>
              <a:pPr algn="ctr">
                <a:lnSpc>
                  <a:spcPct val="100000"/>
                </a:lnSpc>
                <a:spcBef>
                  <a:spcPts val="900"/>
                </a:spcBef>
                <a:buClr>
                  <a:schemeClr val="tx1"/>
                </a:buClr>
                <a:buSzPct val="100000"/>
              </a:pPr>
              <a:r>
                <a:rPr lang="en-US" sz="1400" dirty="0"/>
                <a:t>4</a:t>
              </a:r>
              <a:endParaRPr lang="en-US" sz="1200" dirty="0"/>
            </a:p>
          </p:txBody>
        </p:sp>
        <p:sp>
          <p:nvSpPr>
            <p:cNvPr id="14" name="TextBox 13">
              <a:extLst>
                <a:ext uri="{FF2B5EF4-FFF2-40B4-BE49-F238E27FC236}">
                  <a16:creationId xmlns:a16="http://schemas.microsoft.com/office/drawing/2014/main" id="{01EEF76D-D9FE-4BA2-8F30-B7CEFB52234E}"/>
                </a:ext>
              </a:extLst>
            </p:cNvPr>
            <p:cNvSpPr txBox="1"/>
            <p:nvPr/>
          </p:nvSpPr>
          <p:spPr>
            <a:xfrm>
              <a:off x="3881029" y="710171"/>
              <a:ext cx="152400" cy="207566"/>
            </a:xfrm>
            <a:prstGeom prst="rect">
              <a:avLst/>
            </a:prstGeom>
            <a:noFill/>
          </p:spPr>
          <p:txBody>
            <a:bodyPr wrap="square" lIns="0" tIns="0" rIns="0" bIns="0" rtlCol="0">
              <a:noAutofit/>
            </a:bodyPr>
            <a:lstStyle/>
            <a:p>
              <a:pPr algn="ctr">
                <a:lnSpc>
                  <a:spcPct val="100000"/>
                </a:lnSpc>
                <a:spcBef>
                  <a:spcPts val="900"/>
                </a:spcBef>
                <a:buClr>
                  <a:schemeClr val="tx1"/>
                </a:buClr>
                <a:buSzPct val="100000"/>
              </a:pPr>
              <a:r>
                <a:rPr lang="en-US" sz="1400" dirty="0"/>
                <a:t>5</a:t>
              </a:r>
              <a:endParaRPr lang="en-US" sz="1200" dirty="0"/>
            </a:p>
          </p:txBody>
        </p:sp>
        <p:sp>
          <p:nvSpPr>
            <p:cNvPr id="15" name="Oval 14">
              <a:extLst>
                <a:ext uri="{FF2B5EF4-FFF2-40B4-BE49-F238E27FC236}">
                  <a16:creationId xmlns:a16="http://schemas.microsoft.com/office/drawing/2014/main" id="{A625B8BD-7161-47C1-B497-3AE5878435FF}"/>
                </a:ext>
              </a:extLst>
            </p:cNvPr>
            <p:cNvSpPr/>
            <p:nvPr/>
          </p:nvSpPr>
          <p:spPr>
            <a:xfrm>
              <a:off x="1949956" y="1522250"/>
              <a:ext cx="1183478" cy="908466"/>
            </a:xfrm>
            <a:prstGeom prst="ellipse">
              <a:avLst/>
            </a:prstGeom>
            <a:solidFill>
              <a:schemeClr val="bg1">
                <a:lumMod val="8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6" name="Oval 15">
              <a:extLst>
                <a:ext uri="{FF2B5EF4-FFF2-40B4-BE49-F238E27FC236}">
                  <a16:creationId xmlns:a16="http://schemas.microsoft.com/office/drawing/2014/main" id="{BE70A7C7-CD72-4AB1-8AE9-AE1BFF02D3C1}"/>
                </a:ext>
              </a:extLst>
            </p:cNvPr>
            <p:cNvSpPr/>
            <p:nvPr/>
          </p:nvSpPr>
          <p:spPr>
            <a:xfrm rot="20697248">
              <a:off x="1746798" y="1760207"/>
              <a:ext cx="2031653" cy="978768"/>
            </a:xfrm>
            <a:prstGeom prst="ellipse">
              <a:avLst/>
            </a:prstGeom>
            <a:solidFill>
              <a:schemeClr val="bg1">
                <a:lumMod val="8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7" name="Oval 16">
              <a:extLst>
                <a:ext uri="{FF2B5EF4-FFF2-40B4-BE49-F238E27FC236}">
                  <a16:creationId xmlns:a16="http://schemas.microsoft.com/office/drawing/2014/main" id="{B74BAD82-51B3-40A1-AF1F-B8E0B25DF517}"/>
                </a:ext>
              </a:extLst>
            </p:cNvPr>
            <p:cNvSpPr/>
            <p:nvPr/>
          </p:nvSpPr>
          <p:spPr>
            <a:xfrm rot="20699664">
              <a:off x="2141716" y="1467656"/>
              <a:ext cx="1258837" cy="2036265"/>
            </a:xfrm>
            <a:prstGeom prst="ellipse">
              <a:avLst/>
            </a:prstGeom>
            <a:solidFill>
              <a:schemeClr val="bg1">
                <a:lumMod val="8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8" name="Oval 17">
              <a:extLst>
                <a:ext uri="{FF2B5EF4-FFF2-40B4-BE49-F238E27FC236}">
                  <a16:creationId xmlns:a16="http://schemas.microsoft.com/office/drawing/2014/main" id="{AAC175E6-D630-4C7C-B97D-94B45C630483}"/>
                </a:ext>
              </a:extLst>
            </p:cNvPr>
            <p:cNvSpPr/>
            <p:nvPr/>
          </p:nvSpPr>
          <p:spPr>
            <a:xfrm>
              <a:off x="2228791" y="2266934"/>
              <a:ext cx="1663628" cy="1229324"/>
            </a:xfrm>
            <a:prstGeom prst="ellipse">
              <a:avLst/>
            </a:prstGeom>
            <a:solidFill>
              <a:schemeClr val="bg1">
                <a:lumMod val="85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grpSp>
      <p:grpSp>
        <p:nvGrpSpPr>
          <p:cNvPr id="119" name="Group 118">
            <a:extLst>
              <a:ext uri="{FF2B5EF4-FFF2-40B4-BE49-F238E27FC236}">
                <a16:creationId xmlns:a16="http://schemas.microsoft.com/office/drawing/2014/main" id="{590D0FE4-F49A-4668-AA70-79805F6CC4AA}"/>
              </a:ext>
            </a:extLst>
          </p:cNvPr>
          <p:cNvGrpSpPr/>
          <p:nvPr/>
        </p:nvGrpSpPr>
        <p:grpSpPr>
          <a:xfrm>
            <a:off x="8348525" y="1339852"/>
            <a:ext cx="3644635" cy="496443"/>
            <a:chOff x="762000" y="2213765"/>
            <a:chExt cx="5309153" cy="496443"/>
          </a:xfrm>
        </p:grpSpPr>
        <p:sp>
          <p:nvSpPr>
            <p:cNvPr id="120" name="Rounded Rectangle 34">
              <a:extLst>
                <a:ext uri="{FF2B5EF4-FFF2-40B4-BE49-F238E27FC236}">
                  <a16:creationId xmlns:a16="http://schemas.microsoft.com/office/drawing/2014/main" id="{3E7A0038-A702-4275-A0D4-61CB6E4732A6}"/>
                </a:ext>
              </a:extLst>
            </p:cNvPr>
            <p:cNvSpPr/>
            <p:nvPr/>
          </p:nvSpPr>
          <p:spPr>
            <a:xfrm>
              <a:off x="762000" y="2273692"/>
              <a:ext cx="580211" cy="436516"/>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21" name="TextBox 120">
              <a:extLst>
                <a:ext uri="{FF2B5EF4-FFF2-40B4-BE49-F238E27FC236}">
                  <a16:creationId xmlns:a16="http://schemas.microsoft.com/office/drawing/2014/main" id="{8F0770B1-0F47-4347-B3D8-4E5F282E6C98}"/>
                </a:ext>
              </a:extLst>
            </p:cNvPr>
            <p:cNvSpPr txBox="1"/>
            <p:nvPr/>
          </p:nvSpPr>
          <p:spPr>
            <a:xfrm>
              <a:off x="777823" y="2412170"/>
              <a:ext cx="547292" cy="1730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Producer</a:t>
              </a:r>
            </a:p>
          </p:txBody>
        </p:sp>
        <p:grpSp>
          <p:nvGrpSpPr>
            <p:cNvPr id="122" name="Group 121">
              <a:extLst>
                <a:ext uri="{FF2B5EF4-FFF2-40B4-BE49-F238E27FC236}">
                  <a16:creationId xmlns:a16="http://schemas.microsoft.com/office/drawing/2014/main" id="{3FD5344F-A8DF-4532-9ED1-2449C88E0837}"/>
                </a:ext>
              </a:extLst>
            </p:cNvPr>
            <p:cNvGrpSpPr/>
            <p:nvPr/>
          </p:nvGrpSpPr>
          <p:grpSpPr>
            <a:xfrm>
              <a:off x="1296161" y="2493216"/>
              <a:ext cx="2199176" cy="157067"/>
              <a:chOff x="620224" y="971550"/>
              <a:chExt cx="2046776" cy="157067"/>
            </a:xfrm>
          </p:grpSpPr>
          <p:cxnSp>
            <p:nvCxnSpPr>
              <p:cNvPr id="143" name="Straight Connector 142">
                <a:extLst>
                  <a:ext uri="{FF2B5EF4-FFF2-40B4-BE49-F238E27FC236}">
                    <a16:creationId xmlns:a16="http://schemas.microsoft.com/office/drawing/2014/main" id="{EC518021-4C0B-42E5-8461-783E7ABE2EA0}"/>
                  </a:ext>
                </a:extLst>
              </p:cNvPr>
              <p:cNvCxnSpPr/>
              <p:nvPr/>
            </p:nvCxnSpPr>
            <p:spPr>
              <a:xfrm>
                <a:off x="620224" y="971550"/>
                <a:ext cx="2046776"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44" name="TextBox 143">
                <a:extLst>
                  <a:ext uri="{FF2B5EF4-FFF2-40B4-BE49-F238E27FC236}">
                    <a16:creationId xmlns:a16="http://schemas.microsoft.com/office/drawing/2014/main" id="{B2573162-C4E1-4B60-AC1F-5DC688642751}"/>
                  </a:ext>
                </a:extLst>
              </p:cNvPr>
              <p:cNvSpPr txBox="1"/>
              <p:nvPr/>
            </p:nvSpPr>
            <p:spPr>
              <a:xfrm>
                <a:off x="2590800" y="1028061"/>
                <a:ext cx="76200" cy="100556"/>
              </a:xfrm>
              <a:prstGeom prst="rect">
                <a:avLst/>
              </a:prstGeom>
              <a:noFill/>
            </p:spPr>
            <p:txBody>
              <a:bodyPr wrap="none" lIns="0" tIns="0" rIns="0" bIns="0" rtlCol="0">
                <a:noAutofit/>
              </a:bodyPr>
              <a:lstStyle/>
              <a:p>
                <a:pPr>
                  <a:lnSpc>
                    <a:spcPct val="100000"/>
                  </a:lnSpc>
                  <a:spcBef>
                    <a:spcPts val="900"/>
                  </a:spcBef>
                  <a:buClr>
                    <a:schemeClr val="tx1"/>
                  </a:buClr>
                  <a:buSzPct val="100000"/>
                </a:pPr>
                <a:endParaRPr lang="en-US" sz="800" b="1" i="1" dirty="0"/>
              </a:p>
            </p:txBody>
          </p:sp>
        </p:grpSp>
        <p:cxnSp>
          <p:nvCxnSpPr>
            <p:cNvPr id="123" name="Straight Arrow Connector 122">
              <a:extLst>
                <a:ext uri="{FF2B5EF4-FFF2-40B4-BE49-F238E27FC236}">
                  <a16:creationId xmlns:a16="http://schemas.microsoft.com/office/drawing/2014/main" id="{2DF9F130-A19B-42E8-9E88-A51965BCB5E8}"/>
                </a:ext>
              </a:extLst>
            </p:cNvPr>
            <p:cNvCxnSpPr/>
            <p:nvPr/>
          </p:nvCxnSpPr>
          <p:spPr>
            <a:xfrm flipV="1">
              <a:off x="1391411"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4" name="Straight Arrow Connector 123">
              <a:extLst>
                <a:ext uri="{FF2B5EF4-FFF2-40B4-BE49-F238E27FC236}">
                  <a16:creationId xmlns:a16="http://schemas.microsoft.com/office/drawing/2014/main" id="{BFC34030-6A82-4B35-8E43-986AC20B3C11}"/>
                </a:ext>
              </a:extLst>
            </p:cNvPr>
            <p:cNvCxnSpPr/>
            <p:nvPr/>
          </p:nvCxnSpPr>
          <p:spPr>
            <a:xfrm flipV="1">
              <a:off x="1524001"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5" name="Straight Arrow Connector 124">
              <a:extLst>
                <a:ext uri="{FF2B5EF4-FFF2-40B4-BE49-F238E27FC236}">
                  <a16:creationId xmlns:a16="http://schemas.microsoft.com/office/drawing/2014/main" id="{0D9F67F8-A340-48B3-81F0-8C8D1485DD35}"/>
                </a:ext>
              </a:extLst>
            </p:cNvPr>
            <p:cNvCxnSpPr/>
            <p:nvPr/>
          </p:nvCxnSpPr>
          <p:spPr>
            <a:xfrm flipV="1">
              <a:off x="1752601"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6" name="Straight Arrow Connector 125">
              <a:extLst>
                <a:ext uri="{FF2B5EF4-FFF2-40B4-BE49-F238E27FC236}">
                  <a16:creationId xmlns:a16="http://schemas.microsoft.com/office/drawing/2014/main" id="{4E2D7376-70A5-452A-B95F-8959FB6CA2B1}"/>
                </a:ext>
              </a:extLst>
            </p:cNvPr>
            <p:cNvCxnSpPr/>
            <p:nvPr/>
          </p:nvCxnSpPr>
          <p:spPr>
            <a:xfrm flipV="1">
              <a:off x="2199937"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7" name="Straight Arrow Connector 126">
              <a:extLst>
                <a:ext uri="{FF2B5EF4-FFF2-40B4-BE49-F238E27FC236}">
                  <a16:creationId xmlns:a16="http://schemas.microsoft.com/office/drawing/2014/main" id="{A5804CB2-5923-41FF-9595-FEE2C8BC4EC2}"/>
                </a:ext>
              </a:extLst>
            </p:cNvPr>
            <p:cNvCxnSpPr/>
            <p:nvPr/>
          </p:nvCxnSpPr>
          <p:spPr>
            <a:xfrm flipV="1">
              <a:off x="2590801"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8" name="Straight Arrow Connector 127">
              <a:extLst>
                <a:ext uri="{FF2B5EF4-FFF2-40B4-BE49-F238E27FC236}">
                  <a16:creationId xmlns:a16="http://schemas.microsoft.com/office/drawing/2014/main" id="{C03A1176-54A4-4B90-8E90-1A4AD8098F47}"/>
                </a:ext>
              </a:extLst>
            </p:cNvPr>
            <p:cNvCxnSpPr/>
            <p:nvPr/>
          </p:nvCxnSpPr>
          <p:spPr>
            <a:xfrm flipV="1">
              <a:off x="2667001"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29" name="Straight Arrow Connector 128">
              <a:extLst>
                <a:ext uri="{FF2B5EF4-FFF2-40B4-BE49-F238E27FC236}">
                  <a16:creationId xmlns:a16="http://schemas.microsoft.com/office/drawing/2014/main" id="{006A8CA8-68CF-478E-88C8-2ADE574FA985}"/>
                </a:ext>
              </a:extLst>
            </p:cNvPr>
            <p:cNvCxnSpPr/>
            <p:nvPr/>
          </p:nvCxnSpPr>
          <p:spPr>
            <a:xfrm flipV="1">
              <a:off x="3255486" y="2272663"/>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sp>
          <p:nvSpPr>
            <p:cNvPr id="130" name="Rounded Rectangle 34">
              <a:extLst>
                <a:ext uri="{FF2B5EF4-FFF2-40B4-BE49-F238E27FC236}">
                  <a16:creationId xmlns:a16="http://schemas.microsoft.com/office/drawing/2014/main" id="{34711735-2822-4532-B741-71B4767827FF}"/>
                </a:ext>
              </a:extLst>
            </p:cNvPr>
            <p:cNvSpPr/>
            <p:nvPr/>
          </p:nvSpPr>
          <p:spPr>
            <a:xfrm>
              <a:off x="5490942" y="2213765"/>
              <a:ext cx="580211" cy="436518"/>
            </a:xfrm>
            <a:prstGeom prst="roundRect">
              <a:avLst/>
            </a:prstGeom>
            <a:noFill/>
            <a:ln>
              <a:solidFill>
                <a:srgbClr val="0F45FF"/>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31" name="TextBox 130">
              <a:extLst>
                <a:ext uri="{FF2B5EF4-FFF2-40B4-BE49-F238E27FC236}">
                  <a16:creationId xmlns:a16="http://schemas.microsoft.com/office/drawing/2014/main" id="{44E45264-596F-4635-AAA2-9F3390271069}"/>
                </a:ext>
              </a:extLst>
            </p:cNvPr>
            <p:cNvSpPr txBox="1"/>
            <p:nvPr/>
          </p:nvSpPr>
          <p:spPr>
            <a:xfrm>
              <a:off x="5470050" y="2392857"/>
              <a:ext cx="555530" cy="173081"/>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800" b="1" i="1" dirty="0"/>
                <a:t>Consumer</a:t>
              </a:r>
            </a:p>
          </p:txBody>
        </p:sp>
        <p:grpSp>
          <p:nvGrpSpPr>
            <p:cNvPr id="132" name="Group 131">
              <a:extLst>
                <a:ext uri="{FF2B5EF4-FFF2-40B4-BE49-F238E27FC236}">
                  <a16:creationId xmlns:a16="http://schemas.microsoft.com/office/drawing/2014/main" id="{C5C756C1-6061-4B39-9A91-68AD9FB6421D}"/>
                </a:ext>
              </a:extLst>
            </p:cNvPr>
            <p:cNvGrpSpPr/>
            <p:nvPr/>
          </p:nvGrpSpPr>
          <p:grpSpPr>
            <a:xfrm>
              <a:off x="3841330" y="2498087"/>
              <a:ext cx="1636621" cy="180361"/>
              <a:chOff x="620224" y="971550"/>
              <a:chExt cx="2046776" cy="157067"/>
            </a:xfrm>
          </p:grpSpPr>
          <p:cxnSp>
            <p:nvCxnSpPr>
              <p:cNvPr id="141" name="Straight Connector 140">
                <a:extLst>
                  <a:ext uri="{FF2B5EF4-FFF2-40B4-BE49-F238E27FC236}">
                    <a16:creationId xmlns:a16="http://schemas.microsoft.com/office/drawing/2014/main" id="{A07C4DC9-95A8-4080-9BED-BECA6DF9DA92}"/>
                  </a:ext>
                </a:extLst>
              </p:cNvPr>
              <p:cNvCxnSpPr/>
              <p:nvPr/>
            </p:nvCxnSpPr>
            <p:spPr>
              <a:xfrm>
                <a:off x="620224" y="971550"/>
                <a:ext cx="2046776" cy="0"/>
              </a:xfrm>
              <a:prstGeom prst="line">
                <a:avLst/>
              </a:prstGeom>
              <a:ln w="12700" cap="sq">
                <a:solidFill>
                  <a:schemeClr val="accent4"/>
                </a:solidFill>
                <a:headEnd type="none"/>
                <a:tailEnd type="triangle"/>
              </a:ln>
            </p:spPr>
            <p:style>
              <a:lnRef idx="1">
                <a:schemeClr val="accent1"/>
              </a:lnRef>
              <a:fillRef idx="0">
                <a:schemeClr val="accent1"/>
              </a:fillRef>
              <a:effectRef idx="0">
                <a:schemeClr val="dk1"/>
              </a:effectRef>
              <a:fontRef idx="minor">
                <a:schemeClr val="lt1"/>
              </a:fontRef>
            </p:style>
          </p:cxnSp>
          <p:sp>
            <p:nvSpPr>
              <p:cNvPr id="142" name="TextBox 141">
                <a:extLst>
                  <a:ext uri="{FF2B5EF4-FFF2-40B4-BE49-F238E27FC236}">
                    <a16:creationId xmlns:a16="http://schemas.microsoft.com/office/drawing/2014/main" id="{EADE46DA-E582-4713-A26C-ABDC2CC38CB0}"/>
                  </a:ext>
                </a:extLst>
              </p:cNvPr>
              <p:cNvSpPr txBox="1"/>
              <p:nvPr/>
            </p:nvSpPr>
            <p:spPr>
              <a:xfrm>
                <a:off x="2590800" y="1028061"/>
                <a:ext cx="76200" cy="100556"/>
              </a:xfrm>
              <a:prstGeom prst="rect">
                <a:avLst/>
              </a:prstGeom>
              <a:noFill/>
            </p:spPr>
            <p:txBody>
              <a:bodyPr wrap="none" lIns="0" tIns="0" rIns="0" bIns="0" rtlCol="0">
                <a:noAutofit/>
              </a:bodyPr>
              <a:lstStyle/>
              <a:p>
                <a:pPr>
                  <a:lnSpc>
                    <a:spcPct val="100000"/>
                  </a:lnSpc>
                  <a:spcBef>
                    <a:spcPts val="900"/>
                  </a:spcBef>
                  <a:buClr>
                    <a:schemeClr val="tx1"/>
                  </a:buClr>
                  <a:buSzPct val="100000"/>
                </a:pPr>
                <a:endParaRPr lang="en-US" sz="800" b="1" i="1" dirty="0"/>
              </a:p>
            </p:txBody>
          </p:sp>
        </p:grpSp>
        <p:cxnSp>
          <p:nvCxnSpPr>
            <p:cNvPr id="133" name="Straight Arrow Connector 132">
              <a:extLst>
                <a:ext uri="{FF2B5EF4-FFF2-40B4-BE49-F238E27FC236}">
                  <a16:creationId xmlns:a16="http://schemas.microsoft.com/office/drawing/2014/main" id="{8B789FDB-69A4-4C9C-A763-9011378903E9}"/>
                </a:ext>
              </a:extLst>
            </p:cNvPr>
            <p:cNvCxnSpPr/>
            <p:nvPr/>
          </p:nvCxnSpPr>
          <p:spPr>
            <a:xfrm flipV="1">
              <a:off x="3997480" y="226685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4" name="Straight Arrow Connector 133">
              <a:extLst>
                <a:ext uri="{FF2B5EF4-FFF2-40B4-BE49-F238E27FC236}">
                  <a16:creationId xmlns:a16="http://schemas.microsoft.com/office/drawing/2014/main" id="{484E90F6-A60C-407B-8E4A-2FF591B8F353}"/>
                </a:ext>
              </a:extLst>
            </p:cNvPr>
            <p:cNvCxnSpPr/>
            <p:nvPr/>
          </p:nvCxnSpPr>
          <p:spPr>
            <a:xfrm flipV="1">
              <a:off x="4130070" y="226685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5" name="Straight Arrow Connector 134">
              <a:extLst>
                <a:ext uri="{FF2B5EF4-FFF2-40B4-BE49-F238E27FC236}">
                  <a16:creationId xmlns:a16="http://schemas.microsoft.com/office/drawing/2014/main" id="{D7F4FB2E-6F14-430A-BCEF-D30BE66D4040}"/>
                </a:ext>
              </a:extLst>
            </p:cNvPr>
            <p:cNvCxnSpPr/>
            <p:nvPr/>
          </p:nvCxnSpPr>
          <p:spPr>
            <a:xfrm flipV="1">
              <a:off x="4743660" y="226685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6" name="Straight Arrow Connector 135">
              <a:extLst>
                <a:ext uri="{FF2B5EF4-FFF2-40B4-BE49-F238E27FC236}">
                  <a16:creationId xmlns:a16="http://schemas.microsoft.com/office/drawing/2014/main" id="{0D0DB155-6B49-4E38-B05B-2F394A00417C}"/>
                </a:ext>
              </a:extLst>
            </p:cNvPr>
            <p:cNvCxnSpPr/>
            <p:nvPr/>
          </p:nvCxnSpPr>
          <p:spPr>
            <a:xfrm flipV="1">
              <a:off x="4806006" y="226685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7" name="Straight Arrow Connector 136">
              <a:extLst>
                <a:ext uri="{FF2B5EF4-FFF2-40B4-BE49-F238E27FC236}">
                  <a16:creationId xmlns:a16="http://schemas.microsoft.com/office/drawing/2014/main" id="{8C58438B-1B04-4B0C-AB76-81CDD15683A3}"/>
                </a:ext>
              </a:extLst>
            </p:cNvPr>
            <p:cNvCxnSpPr/>
            <p:nvPr/>
          </p:nvCxnSpPr>
          <p:spPr>
            <a:xfrm flipV="1">
              <a:off x="5110806" y="227369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8" name="Straight Arrow Connector 137">
              <a:extLst>
                <a:ext uri="{FF2B5EF4-FFF2-40B4-BE49-F238E27FC236}">
                  <a16:creationId xmlns:a16="http://schemas.microsoft.com/office/drawing/2014/main" id="{AF59EB4D-6352-40D7-8B92-3C287A8FE68E}"/>
                </a:ext>
              </a:extLst>
            </p:cNvPr>
            <p:cNvCxnSpPr/>
            <p:nvPr/>
          </p:nvCxnSpPr>
          <p:spPr>
            <a:xfrm flipV="1">
              <a:off x="5187006" y="227369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39" name="Straight Arrow Connector 138">
              <a:extLst>
                <a:ext uri="{FF2B5EF4-FFF2-40B4-BE49-F238E27FC236}">
                  <a16:creationId xmlns:a16="http://schemas.microsoft.com/office/drawing/2014/main" id="{222BA0EA-5EE1-4308-AF6B-6AEA6139B3AA}"/>
                </a:ext>
              </a:extLst>
            </p:cNvPr>
            <p:cNvCxnSpPr/>
            <p:nvPr/>
          </p:nvCxnSpPr>
          <p:spPr>
            <a:xfrm flipV="1">
              <a:off x="5034606" y="2273692"/>
              <a:ext cx="0" cy="226048"/>
            </a:xfrm>
            <a:prstGeom prst="straightConnector1">
              <a:avLst/>
            </a:prstGeom>
            <a:ln w="12700" cap="sq">
              <a:solidFill>
                <a:schemeClr val="accent2"/>
              </a:solidFill>
              <a:tailEnd type="triangle"/>
            </a:ln>
          </p:spPr>
          <p:style>
            <a:lnRef idx="1">
              <a:schemeClr val="accent1"/>
            </a:lnRef>
            <a:fillRef idx="0">
              <a:schemeClr val="accent1"/>
            </a:fillRef>
            <a:effectRef idx="0">
              <a:schemeClr val="dk1"/>
            </a:effectRef>
            <a:fontRef idx="minor">
              <a:schemeClr val="lt1"/>
            </a:fontRef>
          </p:style>
        </p:cxnSp>
        <p:cxnSp>
          <p:nvCxnSpPr>
            <p:cNvPr id="140" name="Straight Connector 139">
              <a:extLst>
                <a:ext uri="{FF2B5EF4-FFF2-40B4-BE49-F238E27FC236}">
                  <a16:creationId xmlns:a16="http://schemas.microsoft.com/office/drawing/2014/main" id="{DA0896E0-59B1-4F03-971E-3E2E38809579}"/>
                </a:ext>
              </a:extLst>
            </p:cNvPr>
            <p:cNvCxnSpPr/>
            <p:nvPr/>
          </p:nvCxnSpPr>
          <p:spPr>
            <a:xfrm>
              <a:off x="3520993" y="2492900"/>
              <a:ext cx="320337" cy="0"/>
            </a:xfrm>
            <a:prstGeom prst="line">
              <a:avLst/>
            </a:prstGeom>
            <a:ln w="38100" cap="rnd">
              <a:solidFill>
                <a:schemeClr val="tx1"/>
              </a:solidFill>
              <a:prstDash val="sysDot"/>
            </a:ln>
          </p:spPr>
          <p:style>
            <a:lnRef idx="1">
              <a:schemeClr val="accent1"/>
            </a:lnRef>
            <a:fillRef idx="0">
              <a:schemeClr val="accent1"/>
            </a:fillRef>
            <a:effectRef idx="0">
              <a:schemeClr val="dk1"/>
            </a:effectRef>
            <a:fontRef idx="minor">
              <a:schemeClr val="lt1"/>
            </a:fontRef>
          </p:style>
        </p:cxnSp>
      </p:grpSp>
    </p:spTree>
    <p:extLst>
      <p:ext uri="{BB962C8B-B14F-4D97-AF65-F5344CB8AC3E}">
        <p14:creationId xmlns:p14="http://schemas.microsoft.com/office/powerpoint/2010/main" val="1532925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F249-717F-4FA4-9DEE-7E5A35751CCE}"/>
              </a:ext>
            </a:extLst>
          </p:cNvPr>
          <p:cNvSpPr>
            <a:spLocks noGrp="1"/>
          </p:cNvSpPr>
          <p:nvPr>
            <p:ph type="title"/>
          </p:nvPr>
        </p:nvSpPr>
        <p:spPr>
          <a:xfrm>
            <a:off x="2324100" y="203201"/>
            <a:ext cx="9029700" cy="985519"/>
          </a:xfrm>
        </p:spPr>
        <p:txBody>
          <a:bodyPr/>
          <a:lstStyle/>
          <a:p>
            <a:r>
              <a:rPr lang="en-US" dirty="0"/>
              <a:t>Motivation</a:t>
            </a:r>
          </a:p>
        </p:txBody>
      </p:sp>
      <p:sp>
        <p:nvSpPr>
          <p:cNvPr id="3" name="Content Placeholder 2">
            <a:extLst>
              <a:ext uri="{FF2B5EF4-FFF2-40B4-BE49-F238E27FC236}">
                <a16:creationId xmlns:a16="http://schemas.microsoft.com/office/drawing/2014/main" id="{B7ABA29A-B617-48B0-B33A-685D8AF1F874}"/>
              </a:ext>
            </a:extLst>
          </p:cNvPr>
          <p:cNvSpPr>
            <a:spLocks noGrp="1"/>
          </p:cNvSpPr>
          <p:nvPr>
            <p:ph idx="1"/>
          </p:nvPr>
        </p:nvSpPr>
        <p:spPr>
          <a:xfrm>
            <a:off x="264160" y="1498601"/>
            <a:ext cx="11089640" cy="4678362"/>
          </a:xfrm>
        </p:spPr>
        <p:txBody>
          <a:bodyPr>
            <a:normAutofit lnSpcReduction="10000"/>
          </a:bodyPr>
          <a:lstStyle/>
          <a:p>
            <a:pPr marL="0" indent="0">
              <a:buNone/>
            </a:pPr>
            <a:r>
              <a:rPr lang="en-US" dirty="0"/>
              <a:t>Conventional Sync approach: </a:t>
            </a:r>
          </a:p>
          <a:p>
            <a:r>
              <a:rPr lang="en-US" dirty="0"/>
              <a:t>Producer notifies consumers when data is available via separate sync protocol</a:t>
            </a:r>
          </a:p>
          <a:p>
            <a:pPr lvl="1"/>
            <a:r>
              <a:rPr lang="en-US" dirty="0"/>
              <a:t>Immediate notification to satisfy latency constraints</a:t>
            </a:r>
          </a:p>
          <a:p>
            <a:r>
              <a:rPr lang="en-US" dirty="0"/>
              <a:t>Consumers obtain data name from sync protocol and fetch data</a:t>
            </a:r>
          </a:p>
          <a:p>
            <a:r>
              <a:rPr lang="en-US" dirty="0"/>
              <a:t>Issues: large overhead, per-data item sync and fetch overhead</a:t>
            </a:r>
          </a:p>
          <a:p>
            <a:pPr marL="0" indent="0">
              <a:buNone/>
            </a:pPr>
            <a:r>
              <a:rPr lang="en-US" dirty="0"/>
              <a:t>Proposed approach:</a:t>
            </a:r>
          </a:p>
          <a:p>
            <a:r>
              <a:rPr lang="en-US" i="1" dirty="0"/>
              <a:t>Optimistic content pre-fetching</a:t>
            </a:r>
            <a:r>
              <a:rPr lang="en-US" dirty="0"/>
              <a:t>: low latency and low overhead</a:t>
            </a:r>
          </a:p>
          <a:p>
            <a:r>
              <a:rPr lang="en-US" i="1" dirty="0"/>
              <a:t>State vector-based sync protocol</a:t>
            </a:r>
            <a:r>
              <a:rPr lang="en-US" dirty="0"/>
              <a:t>: additional small and fixed overhead sync layer that provides operations in DIL conditions</a:t>
            </a:r>
          </a:p>
          <a:p>
            <a:endParaRPr lang="en-US" dirty="0"/>
          </a:p>
        </p:txBody>
      </p:sp>
    </p:spTree>
    <p:extLst>
      <p:ext uri="{BB962C8B-B14F-4D97-AF65-F5344CB8AC3E}">
        <p14:creationId xmlns:p14="http://schemas.microsoft.com/office/powerpoint/2010/main" val="3199261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F249-717F-4FA4-9DEE-7E5A35751CCE}"/>
              </a:ext>
            </a:extLst>
          </p:cNvPr>
          <p:cNvSpPr>
            <a:spLocks noGrp="1"/>
          </p:cNvSpPr>
          <p:nvPr>
            <p:ph type="title"/>
          </p:nvPr>
        </p:nvSpPr>
        <p:spPr>
          <a:xfrm>
            <a:off x="2324100" y="203201"/>
            <a:ext cx="9029700" cy="985519"/>
          </a:xfrm>
        </p:spPr>
        <p:txBody>
          <a:bodyPr/>
          <a:lstStyle/>
          <a:p>
            <a:r>
              <a:rPr lang="en-US" dirty="0"/>
              <a:t>Approach</a:t>
            </a:r>
          </a:p>
        </p:txBody>
      </p:sp>
      <p:sp>
        <p:nvSpPr>
          <p:cNvPr id="3" name="Content Placeholder 2">
            <a:extLst>
              <a:ext uri="{FF2B5EF4-FFF2-40B4-BE49-F238E27FC236}">
                <a16:creationId xmlns:a16="http://schemas.microsoft.com/office/drawing/2014/main" id="{B7ABA29A-B617-48B0-B33A-685D8AF1F874}"/>
              </a:ext>
            </a:extLst>
          </p:cNvPr>
          <p:cNvSpPr>
            <a:spLocks noGrp="1"/>
          </p:cNvSpPr>
          <p:nvPr>
            <p:ph idx="1"/>
          </p:nvPr>
        </p:nvSpPr>
        <p:spPr>
          <a:xfrm>
            <a:off x="217848" y="1404574"/>
            <a:ext cx="11551920" cy="1693783"/>
          </a:xfrm>
          <a:ln>
            <a:solidFill>
              <a:schemeClr val="tx1"/>
            </a:solidFill>
          </a:ln>
        </p:spPr>
        <p:txBody>
          <a:bodyPr>
            <a:normAutofit fontScale="92500" lnSpcReduction="20000"/>
          </a:bodyPr>
          <a:lstStyle/>
          <a:p>
            <a:r>
              <a:rPr lang="en-US" dirty="0"/>
              <a:t>Optimistic Prefetching:</a:t>
            </a:r>
          </a:p>
          <a:p>
            <a:pPr lvl="1"/>
            <a:r>
              <a:rPr lang="en-US" dirty="0"/>
              <a:t>Stream-oriented namespace: /data/Prod#/Stream#/Seq#</a:t>
            </a:r>
          </a:p>
          <a:p>
            <a:pPr lvl="1"/>
            <a:r>
              <a:rPr lang="en-US" dirty="0"/>
              <a:t>Once consumer has received a piece of data, optimistically issues an interest for the next seq#</a:t>
            </a:r>
          </a:p>
          <a:p>
            <a:pPr lvl="1"/>
            <a:r>
              <a:rPr lang="en-US" dirty="0"/>
              <a:t>Before sync notification and before data production</a:t>
            </a:r>
          </a:p>
          <a:p>
            <a:pPr lvl="1"/>
            <a:r>
              <a:rPr lang="en-US" dirty="0"/>
              <a:t>Use heuristics/learning for setting Interest lifetime</a:t>
            </a:r>
          </a:p>
          <a:p>
            <a:pPr lvl="1"/>
            <a:endParaRPr lang="en-US" dirty="0"/>
          </a:p>
          <a:p>
            <a:endParaRPr lang="en-US" dirty="0"/>
          </a:p>
        </p:txBody>
      </p:sp>
      <p:grpSp>
        <p:nvGrpSpPr>
          <p:cNvPr id="5" name="Group 4">
            <a:extLst>
              <a:ext uri="{FF2B5EF4-FFF2-40B4-BE49-F238E27FC236}">
                <a16:creationId xmlns:a16="http://schemas.microsoft.com/office/drawing/2014/main" id="{A665362C-6C02-4D9B-A2C2-EE4166A92342}"/>
              </a:ext>
            </a:extLst>
          </p:cNvPr>
          <p:cNvGrpSpPr/>
          <p:nvPr/>
        </p:nvGrpSpPr>
        <p:grpSpPr>
          <a:xfrm>
            <a:off x="5176654" y="3351852"/>
            <a:ext cx="6931502" cy="2957382"/>
            <a:chOff x="152400" y="361950"/>
            <a:chExt cx="7805467" cy="3688491"/>
          </a:xfrm>
        </p:grpSpPr>
        <p:sp>
          <p:nvSpPr>
            <p:cNvPr id="6" name="Rectangle 5">
              <a:extLst>
                <a:ext uri="{FF2B5EF4-FFF2-40B4-BE49-F238E27FC236}">
                  <a16:creationId xmlns:a16="http://schemas.microsoft.com/office/drawing/2014/main" id="{5E0C84B4-C6B3-467D-9F8F-9E3942523F18}"/>
                </a:ext>
              </a:extLst>
            </p:cNvPr>
            <p:cNvSpPr/>
            <p:nvPr/>
          </p:nvSpPr>
          <p:spPr>
            <a:xfrm>
              <a:off x="2916942" y="971552"/>
              <a:ext cx="2688841" cy="2640016"/>
            </a:xfrm>
            <a:prstGeom prst="rect">
              <a:avLst/>
            </a:prstGeom>
            <a:noFill/>
            <a:ln w="15875">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cxnSp>
          <p:nvCxnSpPr>
            <p:cNvPr id="7" name="Straight Arrow Connector 6">
              <a:extLst>
                <a:ext uri="{FF2B5EF4-FFF2-40B4-BE49-F238E27FC236}">
                  <a16:creationId xmlns:a16="http://schemas.microsoft.com/office/drawing/2014/main" id="{6A365070-6A7C-4921-AB59-0C10712697F3}"/>
                </a:ext>
              </a:extLst>
            </p:cNvPr>
            <p:cNvCxnSpPr>
              <a:cxnSpLocks/>
            </p:cNvCxnSpPr>
            <p:nvPr/>
          </p:nvCxnSpPr>
          <p:spPr>
            <a:xfrm flipV="1">
              <a:off x="1524010" y="3382968"/>
              <a:ext cx="1347132" cy="960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8" name="Straight Arrow Connector 7">
              <a:extLst>
                <a:ext uri="{FF2B5EF4-FFF2-40B4-BE49-F238E27FC236}">
                  <a16:creationId xmlns:a16="http://schemas.microsoft.com/office/drawing/2014/main" id="{B280F048-AE1F-4598-9983-FFFE3FDE88D6}"/>
                </a:ext>
              </a:extLst>
            </p:cNvPr>
            <p:cNvCxnSpPr>
              <a:cxnSpLocks/>
            </p:cNvCxnSpPr>
            <p:nvPr/>
          </p:nvCxnSpPr>
          <p:spPr>
            <a:xfrm flipH="1">
              <a:off x="1447809" y="2580264"/>
              <a:ext cx="1395369"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9" name="Straight Arrow Connector 8">
              <a:extLst>
                <a:ext uri="{FF2B5EF4-FFF2-40B4-BE49-F238E27FC236}">
                  <a16:creationId xmlns:a16="http://schemas.microsoft.com/office/drawing/2014/main" id="{2F3D647A-55FF-4BFA-90CC-B418DD650903}"/>
                </a:ext>
              </a:extLst>
            </p:cNvPr>
            <p:cNvCxnSpPr>
              <a:cxnSpLocks/>
            </p:cNvCxnSpPr>
            <p:nvPr/>
          </p:nvCxnSpPr>
          <p:spPr>
            <a:xfrm flipH="1">
              <a:off x="1447810" y="2444099"/>
              <a:ext cx="1395369"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10" name="Straight Arrow Connector 9">
              <a:extLst>
                <a:ext uri="{FF2B5EF4-FFF2-40B4-BE49-F238E27FC236}">
                  <a16:creationId xmlns:a16="http://schemas.microsoft.com/office/drawing/2014/main" id="{007E8B0D-2F2A-4DBE-A620-27D046653821}"/>
                </a:ext>
              </a:extLst>
            </p:cNvPr>
            <p:cNvCxnSpPr>
              <a:cxnSpLocks/>
            </p:cNvCxnSpPr>
            <p:nvPr/>
          </p:nvCxnSpPr>
          <p:spPr>
            <a:xfrm flipH="1">
              <a:off x="1447808" y="2075299"/>
              <a:ext cx="139537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11" name="TextBox 10">
              <a:extLst>
                <a:ext uri="{FF2B5EF4-FFF2-40B4-BE49-F238E27FC236}">
                  <a16:creationId xmlns:a16="http://schemas.microsoft.com/office/drawing/2014/main" id="{3C1F0702-9151-409E-B124-67BE19288EB7}"/>
                </a:ext>
              </a:extLst>
            </p:cNvPr>
            <p:cNvSpPr txBox="1"/>
            <p:nvPr/>
          </p:nvSpPr>
          <p:spPr>
            <a:xfrm>
              <a:off x="1634464" y="3199408"/>
              <a:ext cx="914400" cy="381000"/>
            </a:xfrm>
            <a:prstGeom prst="rect">
              <a:avLst/>
            </a:prstGeom>
            <a:noFill/>
          </p:spPr>
          <p:txBody>
            <a:bodyPr wrap="none" lIns="0" tIns="0" rIns="0" bIns="0" rtlCol="0">
              <a:noAutofit/>
            </a:bodyPr>
            <a:lstStyle/>
            <a:p>
              <a:pPr algn="ctr">
                <a:lnSpc>
                  <a:spcPct val="100000"/>
                </a:lnSpc>
                <a:buClr>
                  <a:schemeClr val="tx1"/>
                </a:buClr>
                <a:buSzPct val="100000"/>
              </a:pPr>
              <a:r>
                <a:rPr lang="en-US" sz="1200" dirty="0"/>
                <a:t>Producer</a:t>
              </a:r>
            </a:p>
            <a:p>
              <a:pPr algn="ctr">
                <a:lnSpc>
                  <a:spcPct val="100000"/>
                </a:lnSpc>
                <a:buClr>
                  <a:schemeClr val="tx1"/>
                </a:buClr>
                <a:buSzPct val="100000"/>
              </a:pPr>
              <a:r>
                <a:rPr lang="en-US" sz="1200" dirty="0"/>
                <a:t>Stream</a:t>
              </a:r>
            </a:p>
          </p:txBody>
        </p:sp>
        <p:sp>
          <p:nvSpPr>
            <p:cNvPr id="12" name="TextBox 11">
              <a:extLst>
                <a:ext uri="{FF2B5EF4-FFF2-40B4-BE49-F238E27FC236}">
                  <a16:creationId xmlns:a16="http://schemas.microsoft.com/office/drawing/2014/main" id="{BCC523E9-5CB3-465E-9040-76B9B9829A07}"/>
                </a:ext>
              </a:extLst>
            </p:cNvPr>
            <p:cNvSpPr txBox="1"/>
            <p:nvPr/>
          </p:nvSpPr>
          <p:spPr>
            <a:xfrm>
              <a:off x="1741773" y="2083746"/>
              <a:ext cx="764955" cy="381000"/>
            </a:xfrm>
            <a:prstGeom prst="rect">
              <a:avLst/>
            </a:prstGeom>
            <a:noFill/>
          </p:spPr>
          <p:txBody>
            <a:bodyPr wrap="none" lIns="0" tIns="0" rIns="0" bIns="0" rtlCol="0">
              <a:noAutofit/>
            </a:bodyPr>
            <a:lstStyle/>
            <a:p>
              <a:pPr algn="ctr">
                <a:lnSpc>
                  <a:spcPct val="100000"/>
                </a:lnSpc>
                <a:buClr>
                  <a:schemeClr val="tx1"/>
                </a:buClr>
                <a:buSzPct val="100000"/>
              </a:pPr>
              <a:r>
                <a:rPr lang="en-US" sz="1200" dirty="0"/>
                <a:t>Consumer</a:t>
              </a:r>
            </a:p>
            <a:p>
              <a:pPr algn="ctr">
                <a:lnSpc>
                  <a:spcPct val="100000"/>
                </a:lnSpc>
                <a:buClr>
                  <a:schemeClr val="tx1"/>
                </a:buClr>
                <a:buSzPct val="100000"/>
              </a:pPr>
              <a:r>
                <a:rPr lang="en-US" sz="1200" dirty="0"/>
                <a:t>Streams</a:t>
              </a:r>
            </a:p>
          </p:txBody>
        </p:sp>
        <p:cxnSp>
          <p:nvCxnSpPr>
            <p:cNvPr id="13" name="Straight Connector 12">
              <a:extLst>
                <a:ext uri="{FF2B5EF4-FFF2-40B4-BE49-F238E27FC236}">
                  <a16:creationId xmlns:a16="http://schemas.microsoft.com/office/drawing/2014/main" id="{BE567524-CADC-4750-A0A3-DA8884F5DCF3}"/>
                </a:ext>
              </a:extLst>
            </p:cNvPr>
            <p:cNvCxnSpPr/>
            <p:nvPr/>
          </p:nvCxnSpPr>
          <p:spPr>
            <a:xfrm>
              <a:off x="2560049" y="2163767"/>
              <a:ext cx="0" cy="228600"/>
            </a:xfrm>
            <a:prstGeom prst="line">
              <a:avLst/>
            </a:prstGeom>
            <a:ln w="31750" cap="rnd">
              <a:prstDash val="sysDot"/>
            </a:ln>
          </p:spPr>
          <p:style>
            <a:lnRef idx="1">
              <a:schemeClr val="accent1"/>
            </a:lnRef>
            <a:fillRef idx="0">
              <a:schemeClr val="accent1"/>
            </a:fillRef>
            <a:effectRef idx="0">
              <a:schemeClr val="dk1"/>
            </a:effectRef>
            <a:fontRef idx="minor">
              <a:schemeClr val="lt1"/>
            </a:fontRef>
          </p:style>
        </p:cxnSp>
        <p:sp>
          <p:nvSpPr>
            <p:cNvPr id="14" name="Rectangle 13">
              <a:extLst>
                <a:ext uri="{FF2B5EF4-FFF2-40B4-BE49-F238E27FC236}">
                  <a16:creationId xmlns:a16="http://schemas.microsoft.com/office/drawing/2014/main" id="{50F3E9A2-BA16-4B40-A8D2-64F59C32A83A}"/>
                </a:ext>
              </a:extLst>
            </p:cNvPr>
            <p:cNvSpPr/>
            <p:nvPr/>
          </p:nvSpPr>
          <p:spPr>
            <a:xfrm>
              <a:off x="3066725" y="3049674"/>
              <a:ext cx="1676400" cy="457189"/>
            </a:xfrm>
            <a:prstGeom prst="rect">
              <a:avLst/>
            </a:prstGeom>
            <a:noFill/>
            <a:ln>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5" name="TextBox 14">
              <a:extLst>
                <a:ext uri="{FF2B5EF4-FFF2-40B4-BE49-F238E27FC236}">
                  <a16:creationId xmlns:a16="http://schemas.microsoft.com/office/drawing/2014/main" id="{A2956726-F293-4374-AC55-BE9591A45000}"/>
                </a:ext>
              </a:extLst>
            </p:cNvPr>
            <p:cNvSpPr txBox="1"/>
            <p:nvPr/>
          </p:nvSpPr>
          <p:spPr>
            <a:xfrm>
              <a:off x="3447724" y="3163968"/>
              <a:ext cx="914400" cy="228600"/>
            </a:xfrm>
            <a:prstGeom prst="rect">
              <a:avLst/>
            </a:prstGeom>
            <a:noFill/>
          </p:spPr>
          <p:txBody>
            <a:bodyPr wrap="none" lIns="0" tIns="0" rIns="0" bIns="0" rtlCol="0">
              <a:noAutofit/>
            </a:bodyPr>
            <a:lstStyle/>
            <a:p>
              <a:pPr algn="ctr">
                <a:lnSpc>
                  <a:spcPct val="100000"/>
                </a:lnSpc>
                <a:spcBef>
                  <a:spcPts val="900"/>
                </a:spcBef>
                <a:buClr>
                  <a:schemeClr val="tx1"/>
                </a:buClr>
                <a:buSzPct val="100000"/>
              </a:pPr>
              <a:r>
                <a:rPr lang="en-US" sz="1200" dirty="0"/>
                <a:t>Producer</a:t>
              </a:r>
            </a:p>
          </p:txBody>
        </p:sp>
        <p:sp>
          <p:nvSpPr>
            <p:cNvPr id="16" name="Rectangle 15">
              <a:extLst>
                <a:ext uri="{FF2B5EF4-FFF2-40B4-BE49-F238E27FC236}">
                  <a16:creationId xmlns:a16="http://schemas.microsoft.com/office/drawing/2014/main" id="{3D2EC64B-FE50-48F0-B9AF-2450917654C6}"/>
                </a:ext>
              </a:extLst>
            </p:cNvPr>
            <p:cNvSpPr/>
            <p:nvPr/>
          </p:nvSpPr>
          <p:spPr>
            <a:xfrm>
              <a:off x="3066725" y="2031509"/>
              <a:ext cx="1676400" cy="555532"/>
            </a:xfrm>
            <a:prstGeom prst="rect">
              <a:avLst/>
            </a:prstGeom>
            <a:noFill/>
            <a:ln>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7" name="TextBox 16">
              <a:extLst>
                <a:ext uri="{FF2B5EF4-FFF2-40B4-BE49-F238E27FC236}">
                  <a16:creationId xmlns:a16="http://schemas.microsoft.com/office/drawing/2014/main" id="{9A878ECA-72E4-4D78-8C67-A8432F4FA863}"/>
                </a:ext>
              </a:extLst>
            </p:cNvPr>
            <p:cNvSpPr txBox="1"/>
            <p:nvPr/>
          </p:nvSpPr>
          <p:spPr>
            <a:xfrm>
              <a:off x="3447724" y="2244145"/>
              <a:ext cx="914400" cy="228600"/>
            </a:xfrm>
            <a:prstGeom prst="rect">
              <a:avLst/>
            </a:prstGeom>
            <a:noFill/>
          </p:spPr>
          <p:txBody>
            <a:bodyPr wrap="none" lIns="0" tIns="0" rIns="0" bIns="0" rtlCol="0">
              <a:noAutofit/>
            </a:bodyPr>
            <a:lstStyle/>
            <a:p>
              <a:pPr algn="ctr">
                <a:lnSpc>
                  <a:spcPct val="100000"/>
                </a:lnSpc>
                <a:spcBef>
                  <a:spcPts val="900"/>
                </a:spcBef>
                <a:buClr>
                  <a:schemeClr val="tx1"/>
                </a:buClr>
                <a:buSzPct val="100000"/>
              </a:pPr>
              <a:r>
                <a:rPr lang="en-US" sz="1200" dirty="0"/>
                <a:t>Consumer</a:t>
              </a:r>
            </a:p>
          </p:txBody>
        </p:sp>
        <p:sp>
          <p:nvSpPr>
            <p:cNvPr id="18" name="Rectangle 17">
              <a:extLst>
                <a:ext uri="{FF2B5EF4-FFF2-40B4-BE49-F238E27FC236}">
                  <a16:creationId xmlns:a16="http://schemas.microsoft.com/office/drawing/2014/main" id="{59EF8741-E42C-445A-A3AE-B574EB4F5999}"/>
                </a:ext>
              </a:extLst>
            </p:cNvPr>
            <p:cNvSpPr/>
            <p:nvPr/>
          </p:nvSpPr>
          <p:spPr>
            <a:xfrm>
              <a:off x="3066725" y="1318109"/>
              <a:ext cx="1676400" cy="457189"/>
            </a:xfrm>
            <a:prstGeom prst="rect">
              <a:avLst/>
            </a:prstGeom>
            <a:noFill/>
            <a:ln>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19" name="TextBox 18">
              <a:extLst>
                <a:ext uri="{FF2B5EF4-FFF2-40B4-BE49-F238E27FC236}">
                  <a16:creationId xmlns:a16="http://schemas.microsoft.com/office/drawing/2014/main" id="{E29DE8A7-0664-4A1B-811A-56F3D65C37C7}"/>
                </a:ext>
              </a:extLst>
            </p:cNvPr>
            <p:cNvSpPr txBox="1"/>
            <p:nvPr/>
          </p:nvSpPr>
          <p:spPr>
            <a:xfrm>
              <a:off x="3447724" y="1432403"/>
              <a:ext cx="914400" cy="228600"/>
            </a:xfrm>
            <a:prstGeom prst="rect">
              <a:avLst/>
            </a:prstGeom>
            <a:noFill/>
          </p:spPr>
          <p:txBody>
            <a:bodyPr wrap="none" lIns="0" tIns="0" rIns="0" bIns="0" rtlCol="0">
              <a:noAutofit/>
            </a:bodyPr>
            <a:lstStyle/>
            <a:p>
              <a:pPr algn="ctr">
                <a:lnSpc>
                  <a:spcPct val="100000"/>
                </a:lnSpc>
                <a:spcBef>
                  <a:spcPts val="900"/>
                </a:spcBef>
                <a:buClr>
                  <a:schemeClr val="tx1"/>
                </a:buClr>
                <a:buSzPct val="100000"/>
              </a:pPr>
              <a:r>
                <a:rPr lang="en-US" sz="1200" dirty="0"/>
                <a:t>PLI-Sync</a:t>
              </a:r>
            </a:p>
          </p:txBody>
        </p:sp>
        <p:sp>
          <p:nvSpPr>
            <p:cNvPr id="20" name="Rectangle 19">
              <a:extLst>
                <a:ext uri="{FF2B5EF4-FFF2-40B4-BE49-F238E27FC236}">
                  <a16:creationId xmlns:a16="http://schemas.microsoft.com/office/drawing/2014/main" id="{55F396E8-ED81-40FA-B29F-CAEC9FA75189}"/>
                </a:ext>
              </a:extLst>
            </p:cNvPr>
            <p:cNvSpPr/>
            <p:nvPr/>
          </p:nvSpPr>
          <p:spPr>
            <a:xfrm>
              <a:off x="4996193" y="1318109"/>
              <a:ext cx="450208" cy="2188754"/>
            </a:xfrm>
            <a:prstGeom prst="rect">
              <a:avLst/>
            </a:prstGeom>
            <a:noFill/>
            <a:ln>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21" name="TextBox 20">
              <a:extLst>
                <a:ext uri="{FF2B5EF4-FFF2-40B4-BE49-F238E27FC236}">
                  <a16:creationId xmlns:a16="http://schemas.microsoft.com/office/drawing/2014/main" id="{F69751BF-BF0A-4C9F-8354-F594AC8DFBB9}"/>
                </a:ext>
              </a:extLst>
            </p:cNvPr>
            <p:cNvSpPr txBox="1"/>
            <p:nvPr/>
          </p:nvSpPr>
          <p:spPr>
            <a:xfrm rot="16200000">
              <a:off x="4613645" y="2286472"/>
              <a:ext cx="1283812" cy="275060"/>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NDN Library Layer</a:t>
              </a:r>
            </a:p>
          </p:txBody>
        </p:sp>
        <p:sp>
          <p:nvSpPr>
            <p:cNvPr id="22" name="Rectangle: Rounded Corners 21">
              <a:extLst>
                <a:ext uri="{FF2B5EF4-FFF2-40B4-BE49-F238E27FC236}">
                  <a16:creationId xmlns:a16="http://schemas.microsoft.com/office/drawing/2014/main" id="{74CC567F-7869-4D4C-A006-4CC3BC976A5B}"/>
                </a:ext>
              </a:extLst>
            </p:cNvPr>
            <p:cNvSpPr/>
            <p:nvPr/>
          </p:nvSpPr>
          <p:spPr>
            <a:xfrm>
              <a:off x="259720" y="1930991"/>
              <a:ext cx="1101055" cy="1642476"/>
            </a:xfrm>
            <a:prstGeom prst="roundRect">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dirty="0"/>
            </a:p>
          </p:txBody>
        </p:sp>
        <p:sp>
          <p:nvSpPr>
            <p:cNvPr id="23" name="TextBox 22">
              <a:extLst>
                <a:ext uri="{FF2B5EF4-FFF2-40B4-BE49-F238E27FC236}">
                  <a16:creationId xmlns:a16="http://schemas.microsoft.com/office/drawing/2014/main" id="{77C49AE7-6A70-40DE-AAF6-494200A47FF2}"/>
                </a:ext>
              </a:extLst>
            </p:cNvPr>
            <p:cNvSpPr txBox="1"/>
            <p:nvPr/>
          </p:nvSpPr>
          <p:spPr>
            <a:xfrm rot="16200000">
              <a:off x="73593" y="2499387"/>
              <a:ext cx="1416690" cy="531644"/>
            </a:xfrm>
            <a:prstGeom prst="rect">
              <a:avLst/>
            </a:prstGeom>
            <a:noFill/>
          </p:spPr>
          <p:txBody>
            <a:bodyPr wrap="none" lIns="0" tIns="0" rIns="0" bIns="0" rtlCol="0">
              <a:noAutofit/>
            </a:bodyPr>
            <a:lstStyle/>
            <a:p>
              <a:pPr algn="ctr">
                <a:lnSpc>
                  <a:spcPct val="100000"/>
                </a:lnSpc>
                <a:buClr>
                  <a:schemeClr val="tx1"/>
                </a:buClr>
                <a:buSzPct val="100000"/>
              </a:pPr>
              <a:r>
                <a:rPr lang="en-US" sz="1200" dirty="0">
                  <a:solidFill>
                    <a:schemeClr val="bg1"/>
                  </a:solidFill>
                </a:rPr>
                <a:t>Application Logic /</a:t>
              </a:r>
            </a:p>
            <a:p>
              <a:pPr algn="ctr">
                <a:lnSpc>
                  <a:spcPct val="100000"/>
                </a:lnSpc>
                <a:buClr>
                  <a:schemeClr val="tx1"/>
                </a:buClr>
                <a:buSzPct val="100000"/>
              </a:pPr>
              <a:r>
                <a:rPr lang="en-US" sz="1200" dirty="0">
                  <a:solidFill>
                    <a:schemeClr val="bg1"/>
                  </a:solidFill>
                </a:rPr>
                <a:t>Presentation</a:t>
              </a:r>
            </a:p>
          </p:txBody>
        </p:sp>
        <p:sp>
          <p:nvSpPr>
            <p:cNvPr id="24" name="Rectangle 23">
              <a:extLst>
                <a:ext uri="{FF2B5EF4-FFF2-40B4-BE49-F238E27FC236}">
                  <a16:creationId xmlns:a16="http://schemas.microsoft.com/office/drawing/2014/main" id="{3C4379C2-EA5F-4616-8FB7-B4F4D9F83C86}"/>
                </a:ext>
              </a:extLst>
            </p:cNvPr>
            <p:cNvSpPr/>
            <p:nvPr/>
          </p:nvSpPr>
          <p:spPr>
            <a:xfrm>
              <a:off x="6487552" y="971552"/>
              <a:ext cx="914400" cy="2640015"/>
            </a:xfrm>
            <a:prstGeom prst="rect">
              <a:avLst/>
            </a:prstGeom>
            <a:noFill/>
            <a:ln>
              <a:solidFill>
                <a:schemeClr val="tx1"/>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25" name="TextBox 24">
              <a:extLst>
                <a:ext uri="{FF2B5EF4-FFF2-40B4-BE49-F238E27FC236}">
                  <a16:creationId xmlns:a16="http://schemas.microsoft.com/office/drawing/2014/main" id="{155EEFCA-2D2D-4FE3-880C-4295A1AD8008}"/>
                </a:ext>
              </a:extLst>
            </p:cNvPr>
            <p:cNvSpPr txBox="1"/>
            <p:nvPr/>
          </p:nvSpPr>
          <p:spPr>
            <a:xfrm>
              <a:off x="6767518" y="2196812"/>
              <a:ext cx="370850" cy="255859"/>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NFD</a:t>
              </a:r>
            </a:p>
          </p:txBody>
        </p:sp>
        <p:cxnSp>
          <p:nvCxnSpPr>
            <p:cNvPr id="26" name="Straight Arrow Connector 25">
              <a:extLst>
                <a:ext uri="{FF2B5EF4-FFF2-40B4-BE49-F238E27FC236}">
                  <a16:creationId xmlns:a16="http://schemas.microsoft.com/office/drawing/2014/main" id="{30252F13-A479-493D-B71C-17154607AA70}"/>
                </a:ext>
              </a:extLst>
            </p:cNvPr>
            <p:cNvCxnSpPr/>
            <p:nvPr/>
          </p:nvCxnSpPr>
          <p:spPr>
            <a:xfrm flipH="1">
              <a:off x="5681983" y="3199408"/>
              <a:ext cx="68580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27" name="TextBox 26">
              <a:extLst>
                <a:ext uri="{FF2B5EF4-FFF2-40B4-BE49-F238E27FC236}">
                  <a16:creationId xmlns:a16="http://schemas.microsoft.com/office/drawing/2014/main" id="{5BA416DF-0EE9-4FDB-A328-9A4B64E7993A}"/>
                </a:ext>
              </a:extLst>
            </p:cNvPr>
            <p:cNvSpPr txBox="1"/>
            <p:nvPr/>
          </p:nvSpPr>
          <p:spPr>
            <a:xfrm>
              <a:off x="5758183" y="3019047"/>
              <a:ext cx="533400" cy="180361"/>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dirty="0"/>
                <a:t>Interest</a:t>
              </a:r>
            </a:p>
          </p:txBody>
        </p:sp>
        <p:cxnSp>
          <p:nvCxnSpPr>
            <p:cNvPr id="28" name="Straight Arrow Connector 27">
              <a:extLst>
                <a:ext uri="{FF2B5EF4-FFF2-40B4-BE49-F238E27FC236}">
                  <a16:creationId xmlns:a16="http://schemas.microsoft.com/office/drawing/2014/main" id="{CAE75F05-6117-4953-AA25-10FA61846D77}"/>
                </a:ext>
              </a:extLst>
            </p:cNvPr>
            <p:cNvCxnSpPr/>
            <p:nvPr/>
          </p:nvCxnSpPr>
          <p:spPr>
            <a:xfrm>
              <a:off x="5681983" y="3506863"/>
              <a:ext cx="68580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29" name="TextBox 28">
              <a:extLst>
                <a:ext uri="{FF2B5EF4-FFF2-40B4-BE49-F238E27FC236}">
                  <a16:creationId xmlns:a16="http://schemas.microsoft.com/office/drawing/2014/main" id="{7993CE4A-357D-4F27-B1DD-CCA13214721E}"/>
                </a:ext>
              </a:extLst>
            </p:cNvPr>
            <p:cNvSpPr txBox="1"/>
            <p:nvPr/>
          </p:nvSpPr>
          <p:spPr>
            <a:xfrm>
              <a:off x="5858851" y="3323301"/>
              <a:ext cx="440771" cy="180358"/>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dirty="0"/>
                <a:t>Data</a:t>
              </a:r>
            </a:p>
          </p:txBody>
        </p:sp>
        <p:cxnSp>
          <p:nvCxnSpPr>
            <p:cNvPr id="30" name="Straight Arrow Connector 29">
              <a:extLst>
                <a:ext uri="{FF2B5EF4-FFF2-40B4-BE49-F238E27FC236}">
                  <a16:creationId xmlns:a16="http://schemas.microsoft.com/office/drawing/2014/main" id="{E5D34EEE-13D5-4E59-8488-3E7ABC45EC76}"/>
                </a:ext>
              </a:extLst>
            </p:cNvPr>
            <p:cNvCxnSpPr/>
            <p:nvPr/>
          </p:nvCxnSpPr>
          <p:spPr>
            <a:xfrm flipH="1">
              <a:off x="5651411" y="2554926"/>
              <a:ext cx="68580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31" name="TextBox 30">
              <a:extLst>
                <a:ext uri="{FF2B5EF4-FFF2-40B4-BE49-F238E27FC236}">
                  <a16:creationId xmlns:a16="http://schemas.microsoft.com/office/drawing/2014/main" id="{6CDF36F4-53CA-458F-A5E0-E0E4E2C4C9C1}"/>
                </a:ext>
              </a:extLst>
            </p:cNvPr>
            <p:cNvSpPr txBox="1"/>
            <p:nvPr/>
          </p:nvSpPr>
          <p:spPr>
            <a:xfrm>
              <a:off x="5750145" y="2099211"/>
              <a:ext cx="533400" cy="180361"/>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dirty="0"/>
                <a:t>Interest</a:t>
              </a:r>
            </a:p>
          </p:txBody>
        </p:sp>
        <p:cxnSp>
          <p:nvCxnSpPr>
            <p:cNvPr id="32" name="Straight Arrow Connector 31">
              <a:extLst>
                <a:ext uri="{FF2B5EF4-FFF2-40B4-BE49-F238E27FC236}">
                  <a16:creationId xmlns:a16="http://schemas.microsoft.com/office/drawing/2014/main" id="{EF96B886-0AA7-4D1C-8341-DC37AB4B04AB}"/>
                </a:ext>
              </a:extLst>
            </p:cNvPr>
            <p:cNvCxnSpPr/>
            <p:nvPr/>
          </p:nvCxnSpPr>
          <p:spPr>
            <a:xfrm>
              <a:off x="5674643" y="2302623"/>
              <a:ext cx="68580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33" name="TextBox 32">
              <a:extLst>
                <a:ext uri="{FF2B5EF4-FFF2-40B4-BE49-F238E27FC236}">
                  <a16:creationId xmlns:a16="http://schemas.microsoft.com/office/drawing/2014/main" id="{EB1A1A1D-CD44-40B7-9103-1953C326FD08}"/>
                </a:ext>
              </a:extLst>
            </p:cNvPr>
            <p:cNvSpPr txBox="1"/>
            <p:nvPr/>
          </p:nvSpPr>
          <p:spPr>
            <a:xfrm>
              <a:off x="5843830" y="2361663"/>
              <a:ext cx="440771" cy="180358"/>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dirty="0"/>
                <a:t>Data</a:t>
              </a:r>
            </a:p>
          </p:txBody>
        </p:sp>
        <p:sp>
          <p:nvSpPr>
            <p:cNvPr id="34" name="TextBox 33">
              <a:extLst>
                <a:ext uri="{FF2B5EF4-FFF2-40B4-BE49-F238E27FC236}">
                  <a16:creationId xmlns:a16="http://schemas.microsoft.com/office/drawing/2014/main" id="{CF11E2B2-B3E0-4C40-BD09-E761D4C85A88}"/>
                </a:ext>
              </a:extLst>
            </p:cNvPr>
            <p:cNvSpPr txBox="1"/>
            <p:nvPr/>
          </p:nvSpPr>
          <p:spPr>
            <a:xfrm>
              <a:off x="5751731" y="1396455"/>
              <a:ext cx="533400" cy="180361"/>
            </a:xfrm>
            <a:prstGeom prst="rect">
              <a:avLst/>
            </a:prstGeom>
            <a:noFill/>
          </p:spPr>
          <p:txBody>
            <a:bodyPr wrap="square" lIns="0" tIns="0" rIns="0" bIns="0" rtlCol="0">
              <a:noAutofit/>
            </a:bodyPr>
            <a:lstStyle/>
            <a:p>
              <a:pPr>
                <a:lnSpc>
                  <a:spcPct val="100000"/>
                </a:lnSpc>
                <a:spcBef>
                  <a:spcPts val="900"/>
                </a:spcBef>
                <a:buClr>
                  <a:schemeClr val="tx1"/>
                </a:buClr>
                <a:buSzPct val="100000"/>
              </a:pPr>
              <a:r>
                <a:rPr lang="en-US" sz="1200" dirty="0"/>
                <a:t>Interest</a:t>
              </a:r>
            </a:p>
          </p:txBody>
        </p:sp>
        <p:cxnSp>
          <p:nvCxnSpPr>
            <p:cNvPr id="35" name="Straight Arrow Connector 34">
              <a:extLst>
                <a:ext uri="{FF2B5EF4-FFF2-40B4-BE49-F238E27FC236}">
                  <a16:creationId xmlns:a16="http://schemas.microsoft.com/office/drawing/2014/main" id="{35278984-642A-4D16-AE4C-85A3A3C7D64D}"/>
                </a:ext>
              </a:extLst>
            </p:cNvPr>
            <p:cNvCxnSpPr/>
            <p:nvPr/>
          </p:nvCxnSpPr>
          <p:spPr>
            <a:xfrm>
              <a:off x="5676229" y="1599867"/>
              <a:ext cx="685800" cy="0"/>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36" name="Rectangle 35">
              <a:extLst>
                <a:ext uri="{FF2B5EF4-FFF2-40B4-BE49-F238E27FC236}">
                  <a16:creationId xmlns:a16="http://schemas.microsoft.com/office/drawing/2014/main" id="{E253F613-5472-4731-8844-2ED412673015}"/>
                </a:ext>
              </a:extLst>
            </p:cNvPr>
            <p:cNvSpPr/>
            <p:nvPr/>
          </p:nvSpPr>
          <p:spPr>
            <a:xfrm>
              <a:off x="2971800" y="1093059"/>
              <a:ext cx="3472183" cy="770963"/>
            </a:xfrm>
            <a:prstGeom prst="rect">
              <a:avLst/>
            </a:prstGeom>
            <a:solidFill>
              <a:schemeClr val="bg1">
                <a:lumMod val="85000"/>
                <a:alpha val="20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37" name="TextBox 36">
              <a:extLst>
                <a:ext uri="{FF2B5EF4-FFF2-40B4-BE49-F238E27FC236}">
                  <a16:creationId xmlns:a16="http://schemas.microsoft.com/office/drawing/2014/main" id="{7BDD13A0-BC1F-47B7-84A2-D535BD2E80AC}"/>
                </a:ext>
              </a:extLst>
            </p:cNvPr>
            <p:cNvSpPr txBox="1"/>
            <p:nvPr/>
          </p:nvSpPr>
          <p:spPr>
            <a:xfrm>
              <a:off x="3580236" y="1088191"/>
              <a:ext cx="914400" cy="247201"/>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Sync Plane</a:t>
              </a:r>
            </a:p>
          </p:txBody>
        </p:sp>
        <p:sp>
          <p:nvSpPr>
            <p:cNvPr id="38" name="Rectangle 37">
              <a:extLst>
                <a:ext uri="{FF2B5EF4-FFF2-40B4-BE49-F238E27FC236}">
                  <a16:creationId xmlns:a16="http://schemas.microsoft.com/office/drawing/2014/main" id="{3169A54E-B2C1-408D-8CEE-D0CA8997FF5B}"/>
                </a:ext>
              </a:extLst>
            </p:cNvPr>
            <p:cNvSpPr/>
            <p:nvPr/>
          </p:nvSpPr>
          <p:spPr>
            <a:xfrm>
              <a:off x="2971800" y="1916709"/>
              <a:ext cx="3472183" cy="1656758"/>
            </a:xfrm>
            <a:prstGeom prst="rect">
              <a:avLst/>
            </a:prstGeom>
            <a:solidFill>
              <a:schemeClr val="bg1">
                <a:lumMod val="85000"/>
                <a:alpha val="48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39" name="TextBox 38">
              <a:extLst>
                <a:ext uri="{FF2B5EF4-FFF2-40B4-BE49-F238E27FC236}">
                  <a16:creationId xmlns:a16="http://schemas.microsoft.com/office/drawing/2014/main" id="{F712C939-28E8-40CB-BD3F-5FED52A6677D}"/>
                </a:ext>
              </a:extLst>
            </p:cNvPr>
            <p:cNvSpPr txBox="1"/>
            <p:nvPr/>
          </p:nvSpPr>
          <p:spPr>
            <a:xfrm>
              <a:off x="3597164" y="2710008"/>
              <a:ext cx="914400" cy="247201"/>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Data Plane</a:t>
              </a:r>
            </a:p>
          </p:txBody>
        </p:sp>
        <p:cxnSp>
          <p:nvCxnSpPr>
            <p:cNvPr id="40" name="Straight Connector 39">
              <a:extLst>
                <a:ext uri="{FF2B5EF4-FFF2-40B4-BE49-F238E27FC236}">
                  <a16:creationId xmlns:a16="http://schemas.microsoft.com/office/drawing/2014/main" id="{DE534716-8911-4D57-BC37-71713E151144}"/>
                </a:ext>
              </a:extLst>
            </p:cNvPr>
            <p:cNvCxnSpPr>
              <a:cxnSpLocks/>
              <a:stCxn id="24" idx="3"/>
            </p:cNvCxnSpPr>
            <p:nvPr/>
          </p:nvCxnSpPr>
          <p:spPr>
            <a:xfrm>
              <a:off x="7401952" y="2291560"/>
              <a:ext cx="325359" cy="11063"/>
            </a:xfrm>
            <a:prstGeom prst="line">
              <a:avLst/>
            </a:prstGeom>
            <a:ln w="12700" cap="sq"/>
          </p:spPr>
          <p:style>
            <a:lnRef idx="1">
              <a:schemeClr val="accent1"/>
            </a:lnRef>
            <a:fillRef idx="0">
              <a:schemeClr val="accent1"/>
            </a:fillRef>
            <a:effectRef idx="0">
              <a:schemeClr val="dk1"/>
            </a:effectRef>
            <a:fontRef idx="minor">
              <a:schemeClr val="lt1"/>
            </a:fontRef>
          </p:style>
        </p:cxnSp>
        <p:sp>
          <p:nvSpPr>
            <p:cNvPr id="44" name="TextBox 43">
              <a:extLst>
                <a:ext uri="{FF2B5EF4-FFF2-40B4-BE49-F238E27FC236}">
                  <a16:creationId xmlns:a16="http://schemas.microsoft.com/office/drawing/2014/main" id="{251A9996-F97F-456C-B47E-6BA49BC7B40C}"/>
                </a:ext>
              </a:extLst>
            </p:cNvPr>
            <p:cNvSpPr txBox="1"/>
            <p:nvPr/>
          </p:nvSpPr>
          <p:spPr>
            <a:xfrm rot="16200000">
              <a:off x="7238898" y="2114639"/>
              <a:ext cx="1194987" cy="242950"/>
            </a:xfrm>
            <a:prstGeom prst="rect">
              <a:avLst/>
            </a:prstGeom>
            <a:noFill/>
          </p:spPr>
          <p:txBody>
            <a:bodyPr wrap="none" lIns="0" tIns="0" rIns="0" bIns="0" rtlCol="0">
              <a:noAutofit/>
            </a:bodyPr>
            <a:lstStyle/>
            <a:p>
              <a:pPr algn="ctr">
                <a:lnSpc>
                  <a:spcPct val="100000"/>
                </a:lnSpc>
                <a:spcBef>
                  <a:spcPts val="300"/>
                </a:spcBef>
                <a:buClr>
                  <a:schemeClr val="tx1"/>
                </a:buClr>
                <a:buSzPct val="100000"/>
              </a:pPr>
              <a:r>
                <a:rPr lang="en-US" sz="1200" dirty="0"/>
                <a:t>NDN Network</a:t>
              </a:r>
            </a:p>
          </p:txBody>
        </p:sp>
        <p:sp>
          <p:nvSpPr>
            <p:cNvPr id="45" name="Rectangle 44">
              <a:extLst>
                <a:ext uri="{FF2B5EF4-FFF2-40B4-BE49-F238E27FC236}">
                  <a16:creationId xmlns:a16="http://schemas.microsoft.com/office/drawing/2014/main" id="{26D83C0E-DADE-48C1-8AE6-46A38B47FC6E}"/>
                </a:ext>
              </a:extLst>
            </p:cNvPr>
            <p:cNvSpPr/>
            <p:nvPr/>
          </p:nvSpPr>
          <p:spPr>
            <a:xfrm>
              <a:off x="152400" y="361950"/>
              <a:ext cx="7467590" cy="3688491"/>
            </a:xfrm>
            <a:prstGeom prst="rect">
              <a:avLst/>
            </a:prstGeom>
            <a:noFill/>
            <a:ln>
              <a:solidFill>
                <a:schemeClr val="bg1">
                  <a:lumMod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46" name="TextBox 45">
              <a:extLst>
                <a:ext uri="{FF2B5EF4-FFF2-40B4-BE49-F238E27FC236}">
                  <a16:creationId xmlns:a16="http://schemas.microsoft.com/office/drawing/2014/main" id="{1057418D-7228-4555-BBDB-B6FB0E150ADD}"/>
                </a:ext>
              </a:extLst>
            </p:cNvPr>
            <p:cNvSpPr txBox="1"/>
            <p:nvPr/>
          </p:nvSpPr>
          <p:spPr>
            <a:xfrm>
              <a:off x="3361407" y="389049"/>
              <a:ext cx="1826183" cy="236480"/>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PLI-Sync Streaming Node</a:t>
              </a:r>
            </a:p>
          </p:txBody>
        </p:sp>
      </p:grpSp>
      <p:sp>
        <p:nvSpPr>
          <p:cNvPr id="48" name="Content Placeholder 2">
            <a:extLst>
              <a:ext uri="{FF2B5EF4-FFF2-40B4-BE49-F238E27FC236}">
                <a16:creationId xmlns:a16="http://schemas.microsoft.com/office/drawing/2014/main" id="{E762A64C-621F-4324-B370-1CBC1DE50C89}"/>
              </a:ext>
            </a:extLst>
          </p:cNvPr>
          <p:cNvSpPr txBox="1">
            <a:spLocks/>
          </p:cNvSpPr>
          <p:nvPr/>
        </p:nvSpPr>
        <p:spPr>
          <a:xfrm>
            <a:off x="195802" y="3351852"/>
            <a:ext cx="4839785" cy="2957382"/>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State Vector Sync </a:t>
            </a:r>
          </a:p>
          <a:p>
            <a:pPr lvl="1"/>
            <a:r>
              <a:rPr lang="en-US" dirty="0"/>
              <a:t>Periodic Interest-based  notification of  state vector from each node </a:t>
            </a:r>
          </a:p>
          <a:p>
            <a:pPr lvl="1"/>
            <a:r>
              <a:rPr lang="en-US" dirty="0"/>
              <a:t>State: latest seq number for each producer/each stream</a:t>
            </a:r>
          </a:p>
          <a:p>
            <a:pPr lvl="1"/>
            <a:r>
              <a:rPr lang="en-US" dirty="0"/>
              <a:t>Bootstrapping </a:t>
            </a:r>
          </a:p>
          <a:p>
            <a:pPr lvl="1"/>
            <a:r>
              <a:rPr lang="en-US" dirty="0"/>
              <a:t>Lossy operations</a:t>
            </a:r>
          </a:p>
        </p:txBody>
      </p:sp>
    </p:spTree>
    <p:extLst>
      <p:ext uri="{BB962C8B-B14F-4D97-AF65-F5344CB8AC3E}">
        <p14:creationId xmlns:p14="http://schemas.microsoft.com/office/powerpoint/2010/main" val="82918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F249-717F-4FA4-9DEE-7E5A35751CCE}"/>
              </a:ext>
            </a:extLst>
          </p:cNvPr>
          <p:cNvSpPr>
            <a:spLocks noGrp="1"/>
          </p:cNvSpPr>
          <p:nvPr>
            <p:ph type="title"/>
          </p:nvPr>
        </p:nvSpPr>
        <p:spPr>
          <a:xfrm>
            <a:off x="2324100" y="203201"/>
            <a:ext cx="9029700" cy="985519"/>
          </a:xfrm>
        </p:spPr>
        <p:txBody>
          <a:bodyPr/>
          <a:lstStyle/>
          <a:p>
            <a:r>
              <a:rPr lang="en-US" dirty="0"/>
              <a:t>Approach – </a:t>
            </a:r>
            <a:r>
              <a:rPr lang="en-US" dirty="0" err="1"/>
              <a:t>cont’ed</a:t>
            </a:r>
            <a:endParaRPr lang="en-US" dirty="0"/>
          </a:p>
        </p:txBody>
      </p:sp>
      <p:sp>
        <p:nvSpPr>
          <p:cNvPr id="48" name="Content Placeholder 2">
            <a:extLst>
              <a:ext uri="{FF2B5EF4-FFF2-40B4-BE49-F238E27FC236}">
                <a16:creationId xmlns:a16="http://schemas.microsoft.com/office/drawing/2014/main" id="{E762A64C-621F-4324-B370-1CBC1DE50C89}"/>
              </a:ext>
            </a:extLst>
          </p:cNvPr>
          <p:cNvSpPr txBox="1">
            <a:spLocks/>
          </p:cNvSpPr>
          <p:nvPr/>
        </p:nvSpPr>
        <p:spPr>
          <a:xfrm>
            <a:off x="2857500" y="1842625"/>
            <a:ext cx="8872219" cy="2068975"/>
          </a:xfrm>
          <a:prstGeom prst="rect">
            <a:avLst/>
          </a:prstGeom>
          <a:ln>
            <a:solidFill>
              <a:schemeClr val="tx1"/>
            </a:solidFill>
          </a:ln>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State Vector state updates </a:t>
            </a:r>
          </a:p>
          <a:p>
            <a:pPr lvl="1"/>
            <a:r>
              <a:rPr lang="en-US" dirty="0"/>
              <a:t>At each producer</a:t>
            </a:r>
          </a:p>
          <a:p>
            <a:pPr lvl="1"/>
            <a:r>
              <a:rPr lang="en-US" i="1" dirty="0"/>
              <a:t>At each data consumer</a:t>
            </a:r>
          </a:p>
          <a:p>
            <a:pPr lvl="1"/>
            <a:r>
              <a:rPr lang="en-US" i="1" dirty="0"/>
              <a:t>At each sync consumer</a:t>
            </a:r>
          </a:p>
          <a:p>
            <a:r>
              <a:rPr lang="en-US" dirty="0"/>
              <a:t>Significantly increases the efficiency and throughput of the protocol and reduces its latency and overhead.</a:t>
            </a:r>
          </a:p>
          <a:p>
            <a:pPr marL="0" indent="0">
              <a:buNone/>
            </a:pPr>
            <a:endParaRPr lang="en-US" i="1" dirty="0"/>
          </a:p>
        </p:txBody>
      </p:sp>
      <p:grpSp>
        <p:nvGrpSpPr>
          <p:cNvPr id="47" name="Group 46">
            <a:extLst>
              <a:ext uri="{FF2B5EF4-FFF2-40B4-BE49-F238E27FC236}">
                <a16:creationId xmlns:a16="http://schemas.microsoft.com/office/drawing/2014/main" id="{F2A4771C-CCA9-4A14-A0E7-9751AE1C2EB1}"/>
              </a:ext>
            </a:extLst>
          </p:cNvPr>
          <p:cNvGrpSpPr/>
          <p:nvPr/>
        </p:nvGrpSpPr>
        <p:grpSpPr>
          <a:xfrm>
            <a:off x="469901" y="1842625"/>
            <a:ext cx="1905000" cy="2068975"/>
            <a:chOff x="5181600" y="438150"/>
            <a:chExt cx="1905000" cy="2971800"/>
          </a:xfrm>
        </p:grpSpPr>
        <p:sp>
          <p:nvSpPr>
            <p:cNvPr id="49" name="Rectangle 48">
              <a:extLst>
                <a:ext uri="{FF2B5EF4-FFF2-40B4-BE49-F238E27FC236}">
                  <a16:creationId xmlns:a16="http://schemas.microsoft.com/office/drawing/2014/main" id="{6451E44D-E742-4B2B-9C1F-E99EE05A21A9}"/>
                </a:ext>
              </a:extLst>
            </p:cNvPr>
            <p:cNvSpPr/>
            <p:nvPr/>
          </p:nvSpPr>
          <p:spPr>
            <a:xfrm>
              <a:off x="5181600" y="438150"/>
              <a:ext cx="1905000" cy="2971800"/>
            </a:xfrm>
            <a:prstGeom prst="rect">
              <a:avLst/>
            </a:prstGeom>
            <a:solidFill>
              <a:schemeClr val="accent1">
                <a:alpha val="21000"/>
              </a:schemeClr>
            </a:solidFill>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50" name="Rectangle 49">
              <a:extLst>
                <a:ext uri="{FF2B5EF4-FFF2-40B4-BE49-F238E27FC236}">
                  <a16:creationId xmlns:a16="http://schemas.microsoft.com/office/drawing/2014/main" id="{29C964F4-BC29-48E7-B145-51D110103BF5}"/>
                </a:ext>
              </a:extLst>
            </p:cNvPr>
            <p:cNvSpPr/>
            <p:nvPr/>
          </p:nvSpPr>
          <p:spPr>
            <a:xfrm>
              <a:off x="5486400" y="2818351"/>
              <a:ext cx="1295400" cy="485162"/>
            </a:xfrm>
            <a:prstGeom prst="rect">
              <a:avLst/>
            </a:prstGeom>
            <a:noFill/>
            <a:ln>
              <a:solidFill>
                <a:schemeClr val="bg1">
                  <a:lumMod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51" name="TextBox 50">
              <a:extLst>
                <a:ext uri="{FF2B5EF4-FFF2-40B4-BE49-F238E27FC236}">
                  <a16:creationId xmlns:a16="http://schemas.microsoft.com/office/drawing/2014/main" id="{6EB3F878-B50D-4C91-95A7-2D9A1DD4780B}"/>
                </a:ext>
              </a:extLst>
            </p:cNvPr>
            <p:cNvSpPr txBox="1"/>
            <p:nvPr/>
          </p:nvSpPr>
          <p:spPr>
            <a:xfrm>
              <a:off x="5791200" y="2975469"/>
              <a:ext cx="685800" cy="268376"/>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Producer</a:t>
              </a:r>
            </a:p>
          </p:txBody>
        </p:sp>
        <p:sp>
          <p:nvSpPr>
            <p:cNvPr id="52" name="Rectangle 51">
              <a:extLst>
                <a:ext uri="{FF2B5EF4-FFF2-40B4-BE49-F238E27FC236}">
                  <a16:creationId xmlns:a16="http://schemas.microsoft.com/office/drawing/2014/main" id="{E3C5A3A2-24DF-450E-87D2-2C6AF07E2D54}"/>
                </a:ext>
              </a:extLst>
            </p:cNvPr>
            <p:cNvSpPr/>
            <p:nvPr/>
          </p:nvSpPr>
          <p:spPr>
            <a:xfrm>
              <a:off x="5486400" y="1023231"/>
              <a:ext cx="1295400" cy="485162"/>
            </a:xfrm>
            <a:prstGeom prst="rect">
              <a:avLst/>
            </a:prstGeom>
            <a:noFill/>
            <a:ln>
              <a:solidFill>
                <a:schemeClr val="bg1">
                  <a:lumMod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53" name="TextBox 52">
              <a:extLst>
                <a:ext uri="{FF2B5EF4-FFF2-40B4-BE49-F238E27FC236}">
                  <a16:creationId xmlns:a16="http://schemas.microsoft.com/office/drawing/2014/main" id="{0D411FC9-198E-4255-A3E0-268B224E2EB7}"/>
                </a:ext>
              </a:extLst>
            </p:cNvPr>
            <p:cNvSpPr txBox="1"/>
            <p:nvPr/>
          </p:nvSpPr>
          <p:spPr>
            <a:xfrm>
              <a:off x="5715000" y="1180349"/>
              <a:ext cx="762000" cy="2238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Consumer</a:t>
              </a:r>
            </a:p>
          </p:txBody>
        </p:sp>
        <p:sp>
          <p:nvSpPr>
            <p:cNvPr id="54" name="Rectangle 53">
              <a:extLst>
                <a:ext uri="{FF2B5EF4-FFF2-40B4-BE49-F238E27FC236}">
                  <a16:creationId xmlns:a16="http://schemas.microsoft.com/office/drawing/2014/main" id="{38B02DB7-9449-4250-8653-CA12805679DE}"/>
                </a:ext>
              </a:extLst>
            </p:cNvPr>
            <p:cNvSpPr/>
            <p:nvPr/>
          </p:nvSpPr>
          <p:spPr>
            <a:xfrm>
              <a:off x="5486400" y="1918667"/>
              <a:ext cx="1295400" cy="485162"/>
            </a:xfrm>
            <a:prstGeom prst="rect">
              <a:avLst/>
            </a:prstGeom>
            <a:noFill/>
            <a:ln>
              <a:solidFill>
                <a:schemeClr val="bg1">
                  <a:lumMod val="50000"/>
                </a:schemeClr>
              </a:solid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endParaRPr lang="en-US" sz="1200"/>
            </a:p>
          </p:txBody>
        </p:sp>
        <p:sp>
          <p:nvSpPr>
            <p:cNvPr id="55" name="TextBox 54">
              <a:extLst>
                <a:ext uri="{FF2B5EF4-FFF2-40B4-BE49-F238E27FC236}">
                  <a16:creationId xmlns:a16="http://schemas.microsoft.com/office/drawing/2014/main" id="{051C16B2-1B62-4EA7-933B-91FA59A26481}"/>
                </a:ext>
              </a:extLst>
            </p:cNvPr>
            <p:cNvSpPr txBox="1"/>
            <p:nvPr/>
          </p:nvSpPr>
          <p:spPr>
            <a:xfrm>
              <a:off x="5943600" y="2075785"/>
              <a:ext cx="381000" cy="22388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Sync</a:t>
              </a:r>
            </a:p>
          </p:txBody>
        </p:sp>
        <p:cxnSp>
          <p:nvCxnSpPr>
            <p:cNvPr id="56" name="Straight Arrow Connector 55">
              <a:extLst>
                <a:ext uri="{FF2B5EF4-FFF2-40B4-BE49-F238E27FC236}">
                  <a16:creationId xmlns:a16="http://schemas.microsoft.com/office/drawing/2014/main" id="{D4863C19-3666-4A53-8514-FF165AA26C9F}"/>
                </a:ext>
              </a:extLst>
            </p:cNvPr>
            <p:cNvCxnSpPr>
              <a:cxnSpLocks/>
            </p:cNvCxnSpPr>
            <p:nvPr/>
          </p:nvCxnSpPr>
          <p:spPr>
            <a:xfrm flipV="1">
              <a:off x="6096000" y="2403829"/>
              <a:ext cx="0" cy="408001"/>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cxnSp>
          <p:nvCxnSpPr>
            <p:cNvPr id="57" name="Straight Arrow Connector 56">
              <a:extLst>
                <a:ext uri="{FF2B5EF4-FFF2-40B4-BE49-F238E27FC236}">
                  <a16:creationId xmlns:a16="http://schemas.microsoft.com/office/drawing/2014/main" id="{1049EA71-6E11-478A-BEDA-3575D9E92B60}"/>
                </a:ext>
              </a:extLst>
            </p:cNvPr>
            <p:cNvCxnSpPr>
              <a:cxnSpLocks/>
            </p:cNvCxnSpPr>
            <p:nvPr/>
          </p:nvCxnSpPr>
          <p:spPr>
            <a:xfrm flipV="1">
              <a:off x="6019800" y="1508393"/>
              <a:ext cx="0" cy="408001"/>
            </a:xfrm>
            <a:prstGeom prst="straightConnector1">
              <a:avLst/>
            </a:prstGeom>
            <a:ln w="12700" cap="sq">
              <a:tailEnd type="triangle"/>
            </a:ln>
          </p:spPr>
          <p:style>
            <a:lnRef idx="1">
              <a:schemeClr val="accent1"/>
            </a:lnRef>
            <a:fillRef idx="0">
              <a:schemeClr val="accent1"/>
            </a:fillRef>
            <a:effectRef idx="0">
              <a:schemeClr val="dk1"/>
            </a:effectRef>
            <a:fontRef idx="minor">
              <a:schemeClr val="lt1"/>
            </a:fontRef>
          </p:style>
        </p:cxnSp>
        <p:sp>
          <p:nvSpPr>
            <p:cNvPr id="58" name="TextBox 57">
              <a:extLst>
                <a:ext uri="{FF2B5EF4-FFF2-40B4-BE49-F238E27FC236}">
                  <a16:creationId xmlns:a16="http://schemas.microsoft.com/office/drawing/2014/main" id="{5D7E6A69-5351-45CC-B3D6-BF9D69CE65DB}"/>
                </a:ext>
              </a:extLst>
            </p:cNvPr>
            <p:cNvSpPr txBox="1"/>
            <p:nvPr/>
          </p:nvSpPr>
          <p:spPr>
            <a:xfrm>
              <a:off x="5638800" y="447311"/>
              <a:ext cx="914400" cy="408001"/>
            </a:xfrm>
            <a:prstGeom prst="rect">
              <a:avLst/>
            </a:prstGeom>
            <a:noFill/>
          </p:spPr>
          <p:txBody>
            <a:bodyPr wrap="none" lIns="0" tIns="0" rIns="0" bIns="0" rtlCol="0">
              <a:noAutofit/>
            </a:bodyPr>
            <a:lstStyle/>
            <a:p>
              <a:pPr algn="ctr">
                <a:lnSpc>
                  <a:spcPct val="100000"/>
                </a:lnSpc>
                <a:buClr>
                  <a:schemeClr val="tx1"/>
                </a:buClr>
                <a:buSzPct val="100000"/>
              </a:pPr>
              <a:r>
                <a:rPr lang="en-US" sz="1200" dirty="0"/>
                <a:t>PLI-Sync</a:t>
              </a:r>
            </a:p>
            <a:p>
              <a:pPr algn="ctr">
                <a:lnSpc>
                  <a:spcPct val="100000"/>
                </a:lnSpc>
                <a:buClr>
                  <a:schemeClr val="tx1"/>
                </a:buClr>
                <a:buSzPct val="100000"/>
              </a:pPr>
              <a:r>
                <a:rPr lang="en-US" sz="1200" dirty="0"/>
                <a:t>Stack</a:t>
              </a:r>
            </a:p>
          </p:txBody>
        </p:sp>
        <p:cxnSp>
          <p:nvCxnSpPr>
            <p:cNvPr id="59" name="Straight Arrow Connector 58">
              <a:extLst>
                <a:ext uri="{FF2B5EF4-FFF2-40B4-BE49-F238E27FC236}">
                  <a16:creationId xmlns:a16="http://schemas.microsoft.com/office/drawing/2014/main" id="{3C4641A3-D696-4A45-BDBB-81C9C984138D}"/>
                </a:ext>
              </a:extLst>
            </p:cNvPr>
            <p:cNvCxnSpPr>
              <a:cxnSpLocks/>
            </p:cNvCxnSpPr>
            <p:nvPr/>
          </p:nvCxnSpPr>
          <p:spPr>
            <a:xfrm flipV="1">
              <a:off x="6248400" y="1510666"/>
              <a:ext cx="0" cy="408001"/>
            </a:xfrm>
            <a:prstGeom prst="straightConnector1">
              <a:avLst/>
            </a:prstGeom>
            <a:ln w="12700" cap="sq">
              <a:headEnd type="triangle"/>
              <a:tailEnd type="none"/>
            </a:ln>
          </p:spPr>
          <p:style>
            <a:lnRef idx="1">
              <a:schemeClr val="accent1"/>
            </a:lnRef>
            <a:fillRef idx="0">
              <a:schemeClr val="accent1"/>
            </a:fillRef>
            <a:effectRef idx="0">
              <a:schemeClr val="dk1"/>
            </a:effectRef>
            <a:fontRef idx="minor">
              <a:schemeClr val="lt1"/>
            </a:fontRef>
          </p:style>
        </p:cxnSp>
      </p:grpSp>
      <p:grpSp>
        <p:nvGrpSpPr>
          <p:cNvPr id="61" name="Group 60">
            <a:extLst>
              <a:ext uri="{FF2B5EF4-FFF2-40B4-BE49-F238E27FC236}">
                <a16:creationId xmlns:a16="http://schemas.microsoft.com/office/drawing/2014/main" id="{09954C38-980C-46F7-B242-0C6472F46BDA}"/>
              </a:ext>
            </a:extLst>
          </p:cNvPr>
          <p:cNvGrpSpPr/>
          <p:nvPr/>
        </p:nvGrpSpPr>
        <p:grpSpPr>
          <a:xfrm>
            <a:off x="7386319" y="4802395"/>
            <a:ext cx="4305300" cy="1040165"/>
            <a:chOff x="3771900" y="1843443"/>
            <a:chExt cx="4305300" cy="1040165"/>
          </a:xfrm>
        </p:grpSpPr>
        <p:sp>
          <p:nvSpPr>
            <p:cNvPr id="62" name="Oval 61">
              <a:extLst>
                <a:ext uri="{FF2B5EF4-FFF2-40B4-BE49-F238E27FC236}">
                  <a16:creationId xmlns:a16="http://schemas.microsoft.com/office/drawing/2014/main" id="{FCA24383-115D-4A64-A010-18C2BDB5EEEB}"/>
                </a:ext>
              </a:extLst>
            </p:cNvPr>
            <p:cNvSpPr/>
            <p:nvPr/>
          </p:nvSpPr>
          <p:spPr>
            <a:xfrm>
              <a:off x="3810000" y="2128174"/>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A</a:t>
              </a:r>
            </a:p>
          </p:txBody>
        </p:sp>
        <p:sp>
          <p:nvSpPr>
            <p:cNvPr id="63" name="Oval 62">
              <a:extLst>
                <a:ext uri="{FF2B5EF4-FFF2-40B4-BE49-F238E27FC236}">
                  <a16:creationId xmlns:a16="http://schemas.microsoft.com/office/drawing/2014/main" id="{E04CD31F-06A6-466B-821D-A807C1A00DF3}"/>
                </a:ext>
              </a:extLst>
            </p:cNvPr>
            <p:cNvSpPr/>
            <p:nvPr/>
          </p:nvSpPr>
          <p:spPr>
            <a:xfrm>
              <a:off x="4419600" y="2128174"/>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B</a:t>
              </a:r>
            </a:p>
          </p:txBody>
        </p:sp>
        <p:sp>
          <p:nvSpPr>
            <p:cNvPr id="64" name="Oval 63">
              <a:extLst>
                <a:ext uri="{FF2B5EF4-FFF2-40B4-BE49-F238E27FC236}">
                  <a16:creationId xmlns:a16="http://schemas.microsoft.com/office/drawing/2014/main" id="{CE7F0C0E-9C5B-4765-BEAD-7C774DC8CB3A}"/>
                </a:ext>
              </a:extLst>
            </p:cNvPr>
            <p:cNvSpPr/>
            <p:nvPr/>
          </p:nvSpPr>
          <p:spPr>
            <a:xfrm>
              <a:off x="5011024" y="2121362"/>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C</a:t>
              </a:r>
            </a:p>
          </p:txBody>
        </p:sp>
        <p:sp>
          <p:nvSpPr>
            <p:cNvPr id="65" name="Oval 64">
              <a:extLst>
                <a:ext uri="{FF2B5EF4-FFF2-40B4-BE49-F238E27FC236}">
                  <a16:creationId xmlns:a16="http://schemas.microsoft.com/office/drawing/2014/main" id="{55DE918E-D4AB-47B0-B94D-8B52C5E1C612}"/>
                </a:ext>
              </a:extLst>
            </p:cNvPr>
            <p:cNvSpPr/>
            <p:nvPr/>
          </p:nvSpPr>
          <p:spPr>
            <a:xfrm>
              <a:off x="6495176" y="2128174"/>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A</a:t>
              </a:r>
            </a:p>
          </p:txBody>
        </p:sp>
        <p:sp>
          <p:nvSpPr>
            <p:cNvPr id="66" name="Oval 65">
              <a:extLst>
                <a:ext uri="{FF2B5EF4-FFF2-40B4-BE49-F238E27FC236}">
                  <a16:creationId xmlns:a16="http://schemas.microsoft.com/office/drawing/2014/main" id="{FC0FE351-3CDF-45AE-921F-0B7774650A50}"/>
                </a:ext>
              </a:extLst>
            </p:cNvPr>
            <p:cNvSpPr/>
            <p:nvPr/>
          </p:nvSpPr>
          <p:spPr>
            <a:xfrm>
              <a:off x="7104776" y="2128174"/>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B</a:t>
              </a:r>
            </a:p>
          </p:txBody>
        </p:sp>
        <p:sp>
          <p:nvSpPr>
            <p:cNvPr id="67" name="Oval 66">
              <a:extLst>
                <a:ext uri="{FF2B5EF4-FFF2-40B4-BE49-F238E27FC236}">
                  <a16:creationId xmlns:a16="http://schemas.microsoft.com/office/drawing/2014/main" id="{66A3A793-B0B9-4623-8D10-4952CB4DB8D2}"/>
                </a:ext>
              </a:extLst>
            </p:cNvPr>
            <p:cNvSpPr/>
            <p:nvPr/>
          </p:nvSpPr>
          <p:spPr>
            <a:xfrm>
              <a:off x="7696200" y="2121362"/>
              <a:ext cx="304800" cy="281623"/>
            </a:xfrm>
            <a:prstGeom prst="ellipse">
              <a:avLst/>
            </a:prstGeom>
            <a:ln>
              <a:noFill/>
            </a:ln>
          </p:spPr>
          <p:style>
            <a:lnRef idx="0">
              <a:schemeClr val="accent1"/>
            </a:lnRef>
            <a:fillRef idx="1">
              <a:schemeClr val="accent1"/>
            </a:fillRef>
            <a:effectRef idx="0">
              <a:schemeClr val="dk1"/>
            </a:effectRef>
            <a:fontRef idx="minor">
              <a:schemeClr val="lt1"/>
            </a:fontRef>
          </p:style>
          <p:txBody>
            <a:bodyPr rtlCol="0" anchor="ctr"/>
            <a:lstStyle/>
            <a:p>
              <a:pPr algn="ctr">
                <a:lnSpc>
                  <a:spcPct val="100000"/>
                </a:lnSpc>
              </a:pPr>
              <a:r>
                <a:rPr lang="en-US" sz="1200" dirty="0"/>
                <a:t>C</a:t>
              </a:r>
            </a:p>
          </p:txBody>
        </p:sp>
        <p:cxnSp>
          <p:nvCxnSpPr>
            <p:cNvPr id="68" name="Straight Connector 67">
              <a:extLst>
                <a:ext uri="{FF2B5EF4-FFF2-40B4-BE49-F238E27FC236}">
                  <a16:creationId xmlns:a16="http://schemas.microsoft.com/office/drawing/2014/main" id="{6F685783-F7B4-48FA-9DE3-2FBF37ED99E6}"/>
                </a:ext>
              </a:extLst>
            </p:cNvPr>
            <p:cNvCxnSpPr>
              <a:stCxn id="62" idx="6"/>
              <a:endCxn id="63" idx="2"/>
            </p:cNvCxnSpPr>
            <p:nvPr/>
          </p:nvCxnSpPr>
          <p:spPr>
            <a:xfrm>
              <a:off x="4114800" y="2268986"/>
              <a:ext cx="304800" cy="0"/>
            </a:xfrm>
            <a:prstGeom prst="line">
              <a:avLst/>
            </a:prstGeom>
            <a:ln w="12700" cap="sq"/>
          </p:spPr>
          <p:style>
            <a:lnRef idx="1">
              <a:schemeClr val="accent1"/>
            </a:lnRef>
            <a:fillRef idx="0">
              <a:schemeClr val="accent1"/>
            </a:fillRef>
            <a:effectRef idx="0">
              <a:schemeClr val="dk1"/>
            </a:effectRef>
            <a:fontRef idx="minor">
              <a:schemeClr val="lt1"/>
            </a:fontRef>
          </p:style>
        </p:cxnSp>
        <p:cxnSp>
          <p:nvCxnSpPr>
            <p:cNvPr id="69" name="Straight Connector 68">
              <a:extLst>
                <a:ext uri="{FF2B5EF4-FFF2-40B4-BE49-F238E27FC236}">
                  <a16:creationId xmlns:a16="http://schemas.microsoft.com/office/drawing/2014/main" id="{4598B7A4-D924-4BCF-9275-3A89929E39AC}"/>
                </a:ext>
              </a:extLst>
            </p:cNvPr>
            <p:cNvCxnSpPr>
              <a:stCxn id="66" idx="6"/>
              <a:endCxn id="67" idx="2"/>
            </p:cNvCxnSpPr>
            <p:nvPr/>
          </p:nvCxnSpPr>
          <p:spPr>
            <a:xfrm flipV="1">
              <a:off x="7409576" y="2262174"/>
              <a:ext cx="286624" cy="6812"/>
            </a:xfrm>
            <a:prstGeom prst="line">
              <a:avLst/>
            </a:prstGeom>
            <a:ln w="12700" cap="sq"/>
          </p:spPr>
          <p:style>
            <a:lnRef idx="1">
              <a:schemeClr val="accent1"/>
            </a:lnRef>
            <a:fillRef idx="0">
              <a:schemeClr val="accent1"/>
            </a:fillRef>
            <a:effectRef idx="0">
              <a:schemeClr val="dk1"/>
            </a:effectRef>
            <a:fontRef idx="minor">
              <a:schemeClr val="lt1"/>
            </a:fontRef>
          </p:style>
        </p:cxnSp>
        <p:sp>
          <p:nvSpPr>
            <p:cNvPr id="70" name="TextBox 69">
              <a:extLst>
                <a:ext uri="{FF2B5EF4-FFF2-40B4-BE49-F238E27FC236}">
                  <a16:creationId xmlns:a16="http://schemas.microsoft.com/office/drawing/2014/main" id="{15E12DC9-2F0D-436B-BDDB-5169BAEDFFBB}"/>
                </a:ext>
              </a:extLst>
            </p:cNvPr>
            <p:cNvSpPr txBox="1"/>
            <p:nvPr/>
          </p:nvSpPr>
          <p:spPr>
            <a:xfrm>
              <a:off x="4991100" y="1843443"/>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A[10]</a:t>
              </a:r>
            </a:p>
          </p:txBody>
        </p:sp>
        <p:sp>
          <p:nvSpPr>
            <p:cNvPr id="71" name="TextBox 70">
              <a:extLst>
                <a:ext uri="{FF2B5EF4-FFF2-40B4-BE49-F238E27FC236}">
                  <a16:creationId xmlns:a16="http://schemas.microsoft.com/office/drawing/2014/main" id="{5F7C1736-6AF2-4786-83D7-843B875D63A7}"/>
                </a:ext>
              </a:extLst>
            </p:cNvPr>
            <p:cNvSpPr txBox="1"/>
            <p:nvPr/>
          </p:nvSpPr>
          <p:spPr>
            <a:xfrm>
              <a:off x="4363673" y="1843443"/>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A[15]</a:t>
              </a:r>
            </a:p>
          </p:txBody>
        </p:sp>
        <p:sp>
          <p:nvSpPr>
            <p:cNvPr id="72" name="TextBox 71">
              <a:extLst>
                <a:ext uri="{FF2B5EF4-FFF2-40B4-BE49-F238E27FC236}">
                  <a16:creationId xmlns:a16="http://schemas.microsoft.com/office/drawing/2014/main" id="{C8248C53-64E4-43E2-9E94-3F9A53F1C5EB}"/>
                </a:ext>
              </a:extLst>
            </p:cNvPr>
            <p:cNvSpPr txBox="1"/>
            <p:nvPr/>
          </p:nvSpPr>
          <p:spPr>
            <a:xfrm>
              <a:off x="3771900" y="1843443"/>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A[15]</a:t>
              </a:r>
            </a:p>
          </p:txBody>
        </p:sp>
        <p:sp>
          <p:nvSpPr>
            <p:cNvPr id="73" name="TextBox 72">
              <a:extLst>
                <a:ext uri="{FF2B5EF4-FFF2-40B4-BE49-F238E27FC236}">
                  <a16:creationId xmlns:a16="http://schemas.microsoft.com/office/drawing/2014/main" id="{E772EDE7-AFFC-4F69-92E3-06A6459F16F1}"/>
                </a:ext>
              </a:extLst>
            </p:cNvPr>
            <p:cNvSpPr txBox="1"/>
            <p:nvPr/>
          </p:nvSpPr>
          <p:spPr>
            <a:xfrm>
              <a:off x="7620000" y="1844215"/>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A[15]</a:t>
              </a:r>
            </a:p>
          </p:txBody>
        </p:sp>
        <p:sp>
          <p:nvSpPr>
            <p:cNvPr id="74" name="TextBox 73">
              <a:extLst>
                <a:ext uri="{FF2B5EF4-FFF2-40B4-BE49-F238E27FC236}">
                  <a16:creationId xmlns:a16="http://schemas.microsoft.com/office/drawing/2014/main" id="{BA86E303-8A7C-498A-BA10-10A3DB967A6F}"/>
                </a:ext>
              </a:extLst>
            </p:cNvPr>
            <p:cNvSpPr txBox="1"/>
            <p:nvPr/>
          </p:nvSpPr>
          <p:spPr>
            <a:xfrm>
              <a:off x="6992573" y="1844215"/>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A[15]</a:t>
              </a:r>
            </a:p>
          </p:txBody>
        </p:sp>
        <p:sp>
          <p:nvSpPr>
            <p:cNvPr id="75" name="TextBox 74">
              <a:extLst>
                <a:ext uri="{FF2B5EF4-FFF2-40B4-BE49-F238E27FC236}">
                  <a16:creationId xmlns:a16="http://schemas.microsoft.com/office/drawing/2014/main" id="{D0B054CD-3406-44A5-8C01-06C2871141A1}"/>
                </a:ext>
              </a:extLst>
            </p:cNvPr>
            <p:cNvSpPr txBox="1"/>
            <p:nvPr/>
          </p:nvSpPr>
          <p:spPr>
            <a:xfrm>
              <a:off x="6400800" y="1844215"/>
              <a:ext cx="381000" cy="180362"/>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A[20]</a:t>
              </a:r>
            </a:p>
          </p:txBody>
        </p:sp>
        <p:sp>
          <p:nvSpPr>
            <p:cNvPr id="76" name="TextBox 75">
              <a:extLst>
                <a:ext uri="{FF2B5EF4-FFF2-40B4-BE49-F238E27FC236}">
                  <a16:creationId xmlns:a16="http://schemas.microsoft.com/office/drawing/2014/main" id="{BAF8C63F-1989-4E29-BE9B-B354F14C481C}"/>
                </a:ext>
              </a:extLst>
            </p:cNvPr>
            <p:cNvSpPr txBox="1"/>
            <p:nvPr/>
          </p:nvSpPr>
          <p:spPr>
            <a:xfrm>
              <a:off x="4495800" y="2599358"/>
              <a:ext cx="228600" cy="281623"/>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t</a:t>
              </a:r>
              <a:r>
                <a:rPr lang="en-US" sz="1200" baseline="-25000" dirty="0"/>
                <a:t>0</a:t>
              </a:r>
            </a:p>
          </p:txBody>
        </p:sp>
        <p:sp>
          <p:nvSpPr>
            <p:cNvPr id="77" name="TextBox 76">
              <a:extLst>
                <a:ext uri="{FF2B5EF4-FFF2-40B4-BE49-F238E27FC236}">
                  <a16:creationId xmlns:a16="http://schemas.microsoft.com/office/drawing/2014/main" id="{99A6EBF1-BC01-43A4-99F4-127A6519FED7}"/>
                </a:ext>
              </a:extLst>
            </p:cNvPr>
            <p:cNvSpPr txBox="1"/>
            <p:nvPr/>
          </p:nvSpPr>
          <p:spPr>
            <a:xfrm>
              <a:off x="7142876" y="2601985"/>
              <a:ext cx="228600" cy="281623"/>
            </a:xfrm>
            <a:prstGeom prst="rect">
              <a:avLst/>
            </a:prstGeom>
            <a:noFill/>
          </p:spPr>
          <p:txBody>
            <a:bodyPr wrap="none" lIns="0" tIns="0" rIns="0" bIns="0" rtlCol="0">
              <a:noAutofit/>
            </a:bodyPr>
            <a:lstStyle/>
            <a:p>
              <a:pPr>
                <a:lnSpc>
                  <a:spcPct val="100000"/>
                </a:lnSpc>
                <a:spcBef>
                  <a:spcPts val="900"/>
                </a:spcBef>
                <a:buClr>
                  <a:schemeClr val="tx1"/>
                </a:buClr>
                <a:buSzPct val="100000"/>
              </a:pPr>
              <a:r>
                <a:rPr lang="en-US" sz="1200" dirty="0"/>
                <a:t>t</a:t>
              </a:r>
              <a:r>
                <a:rPr lang="en-US" sz="1200" baseline="-25000" dirty="0"/>
                <a:t>1</a:t>
              </a:r>
            </a:p>
          </p:txBody>
        </p:sp>
        <p:cxnSp>
          <p:nvCxnSpPr>
            <p:cNvPr id="78" name="Straight Arrow Connector 77">
              <a:extLst>
                <a:ext uri="{FF2B5EF4-FFF2-40B4-BE49-F238E27FC236}">
                  <a16:creationId xmlns:a16="http://schemas.microsoft.com/office/drawing/2014/main" id="{8C33A8A8-4AB4-493D-B22C-F6E8F77D77C6}"/>
                </a:ext>
              </a:extLst>
            </p:cNvPr>
            <p:cNvCxnSpPr>
              <a:cxnSpLocks/>
            </p:cNvCxnSpPr>
            <p:nvPr/>
          </p:nvCxnSpPr>
          <p:spPr>
            <a:xfrm>
              <a:off x="3886200" y="2883608"/>
              <a:ext cx="4191000" cy="0"/>
            </a:xfrm>
            <a:prstGeom prst="straightConnector1">
              <a:avLst/>
            </a:prstGeom>
            <a:ln w="6350" cap="sq">
              <a:solidFill>
                <a:schemeClr val="tx1"/>
              </a:solidFill>
              <a:tailEnd type="triangle"/>
            </a:ln>
          </p:spPr>
          <p:style>
            <a:lnRef idx="1">
              <a:schemeClr val="accent1"/>
            </a:lnRef>
            <a:fillRef idx="0">
              <a:schemeClr val="accent1"/>
            </a:fillRef>
            <a:effectRef idx="0">
              <a:schemeClr val="dk1"/>
            </a:effectRef>
            <a:fontRef idx="minor">
              <a:schemeClr val="lt1"/>
            </a:fontRef>
          </p:style>
        </p:cxnSp>
      </p:grpSp>
      <p:sp>
        <p:nvSpPr>
          <p:cNvPr id="79" name="Content Placeholder 2">
            <a:extLst>
              <a:ext uri="{FF2B5EF4-FFF2-40B4-BE49-F238E27FC236}">
                <a16:creationId xmlns:a16="http://schemas.microsoft.com/office/drawing/2014/main" id="{AF7CE1E7-C9AA-47A7-A37E-C724BDA26C6D}"/>
              </a:ext>
            </a:extLst>
          </p:cNvPr>
          <p:cNvSpPr txBox="1">
            <a:spLocks/>
          </p:cNvSpPr>
          <p:nvPr/>
        </p:nvSpPr>
        <p:spPr>
          <a:xfrm>
            <a:off x="404257" y="4248440"/>
            <a:ext cx="6618889" cy="2068975"/>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Consumers fetch data eagerly</a:t>
            </a:r>
          </a:p>
          <a:p>
            <a:r>
              <a:rPr lang="en-US" dirty="0"/>
              <a:t>Local NFDs of consumer nodes cache data</a:t>
            </a:r>
          </a:p>
          <a:p>
            <a:r>
              <a:rPr lang="en-US" dirty="0"/>
              <a:t>PLI Sync hence enables data fetching  in disconnected networks</a:t>
            </a:r>
          </a:p>
          <a:p>
            <a:endParaRPr lang="en-US" dirty="0"/>
          </a:p>
          <a:p>
            <a:pPr marL="0" indent="0">
              <a:buNone/>
            </a:pPr>
            <a:endParaRPr lang="en-US" i="1" dirty="0"/>
          </a:p>
        </p:txBody>
      </p:sp>
    </p:spTree>
    <p:extLst>
      <p:ext uri="{BB962C8B-B14F-4D97-AF65-F5344CB8AC3E}">
        <p14:creationId xmlns:p14="http://schemas.microsoft.com/office/powerpoint/2010/main" val="24928539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F249-717F-4FA4-9DEE-7E5A35751CCE}"/>
              </a:ext>
            </a:extLst>
          </p:cNvPr>
          <p:cNvSpPr>
            <a:spLocks noGrp="1"/>
          </p:cNvSpPr>
          <p:nvPr>
            <p:ph type="title"/>
          </p:nvPr>
        </p:nvSpPr>
        <p:spPr>
          <a:xfrm>
            <a:off x="2558194" y="203201"/>
            <a:ext cx="8795605" cy="985519"/>
          </a:xfrm>
        </p:spPr>
        <p:txBody>
          <a:bodyPr/>
          <a:lstStyle/>
          <a:p>
            <a:r>
              <a:rPr lang="en-US" dirty="0"/>
              <a:t>Results</a:t>
            </a:r>
          </a:p>
        </p:txBody>
      </p:sp>
      <p:sp>
        <p:nvSpPr>
          <p:cNvPr id="3" name="Content Placeholder 2">
            <a:extLst>
              <a:ext uri="{FF2B5EF4-FFF2-40B4-BE49-F238E27FC236}">
                <a16:creationId xmlns:a16="http://schemas.microsoft.com/office/drawing/2014/main" id="{B7ABA29A-B617-48B0-B33A-685D8AF1F874}"/>
              </a:ext>
            </a:extLst>
          </p:cNvPr>
          <p:cNvSpPr>
            <a:spLocks noGrp="1"/>
          </p:cNvSpPr>
          <p:nvPr>
            <p:ph idx="1"/>
          </p:nvPr>
        </p:nvSpPr>
        <p:spPr>
          <a:xfrm>
            <a:off x="344454" y="4245044"/>
            <a:ext cx="4509546" cy="1890593"/>
          </a:xfrm>
        </p:spPr>
        <p:txBody>
          <a:bodyPr>
            <a:normAutofit fontScale="70000" lnSpcReduction="20000"/>
          </a:bodyPr>
          <a:lstStyle/>
          <a:p>
            <a:pPr marL="0" indent="0">
              <a:buNone/>
            </a:pPr>
            <a:r>
              <a:rPr lang="en-US" dirty="0"/>
              <a:t>Setup</a:t>
            </a:r>
          </a:p>
          <a:p>
            <a:r>
              <a:rPr lang="en-US" dirty="0"/>
              <a:t>50 nodes, 5 groups</a:t>
            </a:r>
          </a:p>
          <a:p>
            <a:r>
              <a:rPr lang="en-US" dirty="0"/>
              <a:t>Each node is a producer and a consumer</a:t>
            </a:r>
          </a:p>
          <a:p>
            <a:r>
              <a:rPr lang="en-US" dirty="0"/>
              <a:t>20% loss n-&gt;AP, 20% loss AP-&gt;n</a:t>
            </a:r>
          </a:p>
          <a:p>
            <a:r>
              <a:rPr lang="en-US" dirty="0"/>
              <a:t>No loss AP &lt;-&gt; LH</a:t>
            </a:r>
          </a:p>
          <a:p>
            <a:pPr marL="0" indent="0">
              <a:buNone/>
            </a:pPr>
            <a:endParaRPr lang="en-US" dirty="0"/>
          </a:p>
        </p:txBody>
      </p:sp>
      <p:grpSp>
        <p:nvGrpSpPr>
          <p:cNvPr id="5" name="Group 4">
            <a:extLst>
              <a:ext uri="{FF2B5EF4-FFF2-40B4-BE49-F238E27FC236}">
                <a16:creationId xmlns:a16="http://schemas.microsoft.com/office/drawing/2014/main" id="{64186622-B2C0-4FEE-BD93-1F521196D87F}"/>
              </a:ext>
            </a:extLst>
          </p:cNvPr>
          <p:cNvGrpSpPr/>
          <p:nvPr/>
        </p:nvGrpSpPr>
        <p:grpSpPr>
          <a:xfrm>
            <a:off x="186217" y="1480450"/>
            <a:ext cx="5529710" cy="2352040"/>
            <a:chOff x="2830943" y="2334968"/>
            <a:chExt cx="8409610" cy="3476361"/>
          </a:xfrm>
        </p:grpSpPr>
        <p:cxnSp>
          <p:nvCxnSpPr>
            <p:cNvPr id="6" name="Straight Connector 5">
              <a:extLst>
                <a:ext uri="{FF2B5EF4-FFF2-40B4-BE49-F238E27FC236}">
                  <a16:creationId xmlns:a16="http://schemas.microsoft.com/office/drawing/2014/main" id="{180CA5B5-309F-4059-8933-35BA766B6228}"/>
                </a:ext>
              </a:extLst>
            </p:cNvPr>
            <p:cNvCxnSpPr>
              <a:cxnSpLocks/>
            </p:cNvCxnSpPr>
            <p:nvPr/>
          </p:nvCxnSpPr>
          <p:spPr>
            <a:xfrm>
              <a:off x="3318346" y="4958665"/>
              <a:ext cx="471558"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03B0A527-6363-4E10-8C73-CD6020EB571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2830943" y="4654773"/>
              <a:ext cx="341340" cy="623240"/>
            </a:xfrm>
            <a:prstGeom prst="rect">
              <a:avLst/>
            </a:prstGeom>
          </p:spPr>
        </p:pic>
        <p:pic>
          <p:nvPicPr>
            <p:cNvPr id="8" name="Picture 7">
              <a:extLst>
                <a:ext uri="{FF2B5EF4-FFF2-40B4-BE49-F238E27FC236}">
                  <a16:creationId xmlns:a16="http://schemas.microsoft.com/office/drawing/2014/main" id="{6CF8AB7E-D203-48D7-A99D-D6CC00CDFCF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3880134" y="4654773"/>
              <a:ext cx="341340" cy="623240"/>
            </a:xfrm>
            <a:prstGeom prst="rect">
              <a:avLst/>
            </a:prstGeom>
          </p:spPr>
        </p:pic>
        <p:pic>
          <p:nvPicPr>
            <p:cNvPr id="9" name="Picture 8">
              <a:extLst>
                <a:ext uri="{FF2B5EF4-FFF2-40B4-BE49-F238E27FC236}">
                  <a16:creationId xmlns:a16="http://schemas.microsoft.com/office/drawing/2014/main" id="{65DE278E-7767-4698-B0B4-0374F60C17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3245829" y="4141266"/>
              <a:ext cx="594239" cy="393188"/>
            </a:xfrm>
            <a:prstGeom prst="rect">
              <a:avLst/>
            </a:prstGeom>
          </p:spPr>
        </p:pic>
        <p:pic>
          <p:nvPicPr>
            <p:cNvPr id="10" name="Picture 9">
              <a:extLst>
                <a:ext uri="{FF2B5EF4-FFF2-40B4-BE49-F238E27FC236}">
                  <a16:creationId xmlns:a16="http://schemas.microsoft.com/office/drawing/2014/main" id="{4309330F-7A75-418E-A63E-1BFCD49CB5D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3230053" y="3877271"/>
              <a:ext cx="650081" cy="385233"/>
            </a:xfrm>
            <a:prstGeom prst="rect">
              <a:avLst/>
            </a:prstGeom>
          </p:spPr>
        </p:pic>
        <p:cxnSp>
          <p:nvCxnSpPr>
            <p:cNvPr id="11" name="Straight Connector 10">
              <a:extLst>
                <a:ext uri="{FF2B5EF4-FFF2-40B4-BE49-F238E27FC236}">
                  <a16:creationId xmlns:a16="http://schemas.microsoft.com/office/drawing/2014/main" id="{8010266D-E591-4884-B369-D211508C82EA}"/>
                </a:ext>
              </a:extLst>
            </p:cNvPr>
            <p:cNvCxnSpPr>
              <a:cxnSpLocks/>
            </p:cNvCxnSpPr>
            <p:nvPr/>
          </p:nvCxnSpPr>
          <p:spPr>
            <a:xfrm>
              <a:off x="7253773" y="2991385"/>
              <a:ext cx="2830955" cy="818236"/>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E6F1BDD3-C0FF-4656-A28F-EFAE6C4C39FA}"/>
                </a:ext>
              </a:extLst>
            </p:cNvPr>
            <p:cNvCxnSpPr>
              <a:cxnSpLocks/>
            </p:cNvCxnSpPr>
            <p:nvPr/>
          </p:nvCxnSpPr>
          <p:spPr>
            <a:xfrm flipH="1">
              <a:off x="3636006" y="3058929"/>
              <a:ext cx="2740993" cy="717462"/>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A9CB4771-8C0B-4FE5-91DD-C77EC33538A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6514319" y="2334968"/>
              <a:ext cx="650081" cy="385233"/>
            </a:xfrm>
            <a:prstGeom prst="rect">
              <a:avLst/>
            </a:prstGeom>
          </p:spPr>
        </p:pic>
        <p:cxnSp>
          <p:nvCxnSpPr>
            <p:cNvPr id="14" name="Straight Connector 13">
              <a:extLst>
                <a:ext uri="{FF2B5EF4-FFF2-40B4-BE49-F238E27FC236}">
                  <a16:creationId xmlns:a16="http://schemas.microsoft.com/office/drawing/2014/main" id="{23ED2DD1-A38C-4F24-B944-CE90FE7109C9}"/>
                </a:ext>
              </a:extLst>
            </p:cNvPr>
            <p:cNvCxnSpPr>
              <a:cxnSpLocks/>
            </p:cNvCxnSpPr>
            <p:nvPr/>
          </p:nvCxnSpPr>
          <p:spPr>
            <a:xfrm>
              <a:off x="6821552" y="3313355"/>
              <a:ext cx="0" cy="483993"/>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70E2C028-6868-4867-A9E9-EB6A1BFC8B21}"/>
                </a:ext>
              </a:extLst>
            </p:cNvPr>
            <p:cNvSpPr txBox="1"/>
            <p:nvPr/>
          </p:nvSpPr>
          <p:spPr>
            <a:xfrm>
              <a:off x="3892751" y="3932891"/>
              <a:ext cx="916724" cy="506107"/>
            </a:xfrm>
            <a:prstGeom prst="rect">
              <a:avLst/>
            </a:prstGeom>
            <a:noFill/>
          </p:spPr>
          <p:txBody>
            <a:bodyPr wrap="square" rtlCol="0">
              <a:spAutoFit/>
            </a:bodyPr>
            <a:lstStyle/>
            <a:p>
              <a:r>
                <a:rPr lang="en-US" sz="1200" dirty="0"/>
                <a:t>AP1</a:t>
              </a:r>
            </a:p>
          </p:txBody>
        </p:sp>
        <p:sp>
          <p:nvSpPr>
            <p:cNvPr id="16" name="TextBox 15">
              <a:extLst>
                <a:ext uri="{FF2B5EF4-FFF2-40B4-BE49-F238E27FC236}">
                  <a16:creationId xmlns:a16="http://schemas.microsoft.com/office/drawing/2014/main" id="{91F9F423-CB06-456F-9A3B-6A019C30AAC3}"/>
                </a:ext>
              </a:extLst>
            </p:cNvPr>
            <p:cNvSpPr txBox="1"/>
            <p:nvPr/>
          </p:nvSpPr>
          <p:spPr>
            <a:xfrm>
              <a:off x="2957164" y="5356408"/>
              <a:ext cx="1264311" cy="421755"/>
            </a:xfrm>
            <a:prstGeom prst="rect">
              <a:avLst/>
            </a:prstGeom>
            <a:noFill/>
          </p:spPr>
          <p:txBody>
            <a:bodyPr wrap="square" rtlCol="0">
              <a:spAutoFit/>
            </a:bodyPr>
            <a:lstStyle/>
            <a:p>
              <a:r>
                <a:rPr lang="en-US" sz="900" dirty="0"/>
                <a:t>n1 ~ n10</a:t>
              </a:r>
            </a:p>
          </p:txBody>
        </p:sp>
        <p:pic>
          <p:nvPicPr>
            <p:cNvPr id="17" name="Picture 16">
              <a:extLst>
                <a:ext uri="{FF2B5EF4-FFF2-40B4-BE49-F238E27FC236}">
                  <a16:creationId xmlns:a16="http://schemas.microsoft.com/office/drawing/2014/main" id="{A3955A42-1C26-4FD2-9D50-91EC54AB6F0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6500662" y="2821475"/>
              <a:ext cx="594239" cy="393188"/>
            </a:xfrm>
            <a:prstGeom prst="rect">
              <a:avLst/>
            </a:prstGeom>
          </p:spPr>
        </p:pic>
        <p:cxnSp>
          <p:nvCxnSpPr>
            <p:cNvPr id="18" name="Straight Connector 17">
              <a:extLst>
                <a:ext uri="{FF2B5EF4-FFF2-40B4-BE49-F238E27FC236}">
                  <a16:creationId xmlns:a16="http://schemas.microsoft.com/office/drawing/2014/main" id="{AB0908C7-B3A7-4D49-94BF-B3F3AC970AE1}"/>
                </a:ext>
              </a:extLst>
            </p:cNvPr>
            <p:cNvCxnSpPr>
              <a:cxnSpLocks/>
            </p:cNvCxnSpPr>
            <p:nvPr/>
          </p:nvCxnSpPr>
          <p:spPr>
            <a:xfrm>
              <a:off x="3780429" y="4456190"/>
              <a:ext cx="157692" cy="22041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6C44D01-0E64-4E0D-9292-9FE6604BE2D3}"/>
                </a:ext>
              </a:extLst>
            </p:cNvPr>
            <p:cNvCxnSpPr>
              <a:cxnSpLocks/>
            </p:cNvCxnSpPr>
            <p:nvPr/>
          </p:nvCxnSpPr>
          <p:spPr>
            <a:xfrm>
              <a:off x="4988896" y="4958665"/>
              <a:ext cx="471558"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3DC8F481-3E35-470D-9F50-7AF8BC83D7A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4501493" y="4654773"/>
              <a:ext cx="341340" cy="623240"/>
            </a:xfrm>
            <a:prstGeom prst="rect">
              <a:avLst/>
            </a:prstGeom>
          </p:spPr>
        </p:pic>
        <p:pic>
          <p:nvPicPr>
            <p:cNvPr id="21" name="Picture 20">
              <a:extLst>
                <a:ext uri="{FF2B5EF4-FFF2-40B4-BE49-F238E27FC236}">
                  <a16:creationId xmlns:a16="http://schemas.microsoft.com/office/drawing/2014/main" id="{A2C99652-8AC3-4A0D-8D49-E9253D4DDBD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5550684" y="4654773"/>
              <a:ext cx="341340" cy="623240"/>
            </a:xfrm>
            <a:prstGeom prst="rect">
              <a:avLst/>
            </a:prstGeom>
          </p:spPr>
        </p:pic>
        <p:pic>
          <p:nvPicPr>
            <p:cNvPr id="22" name="Picture 21">
              <a:extLst>
                <a:ext uri="{FF2B5EF4-FFF2-40B4-BE49-F238E27FC236}">
                  <a16:creationId xmlns:a16="http://schemas.microsoft.com/office/drawing/2014/main" id="{AE670306-A86E-401E-96E2-5C577D185D3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4916379" y="4141266"/>
              <a:ext cx="594239" cy="393188"/>
            </a:xfrm>
            <a:prstGeom prst="rect">
              <a:avLst/>
            </a:prstGeom>
          </p:spPr>
        </p:pic>
        <p:pic>
          <p:nvPicPr>
            <p:cNvPr id="23" name="Picture 22">
              <a:extLst>
                <a:ext uri="{FF2B5EF4-FFF2-40B4-BE49-F238E27FC236}">
                  <a16:creationId xmlns:a16="http://schemas.microsoft.com/office/drawing/2014/main" id="{5804D284-6B66-4ED4-809A-42B6E3CDCE1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4900603" y="3877271"/>
              <a:ext cx="650081" cy="385233"/>
            </a:xfrm>
            <a:prstGeom prst="rect">
              <a:avLst/>
            </a:prstGeom>
          </p:spPr>
        </p:pic>
        <p:sp>
          <p:nvSpPr>
            <p:cNvPr id="24" name="TextBox 23">
              <a:extLst>
                <a:ext uri="{FF2B5EF4-FFF2-40B4-BE49-F238E27FC236}">
                  <a16:creationId xmlns:a16="http://schemas.microsoft.com/office/drawing/2014/main" id="{594A032E-3DF0-4880-9CF4-2E69B7BF4283}"/>
                </a:ext>
              </a:extLst>
            </p:cNvPr>
            <p:cNvSpPr txBox="1"/>
            <p:nvPr/>
          </p:nvSpPr>
          <p:spPr>
            <a:xfrm>
              <a:off x="5563304" y="3932891"/>
              <a:ext cx="856358" cy="506107"/>
            </a:xfrm>
            <a:prstGeom prst="rect">
              <a:avLst/>
            </a:prstGeom>
            <a:noFill/>
          </p:spPr>
          <p:txBody>
            <a:bodyPr wrap="square" rtlCol="0">
              <a:spAutoFit/>
            </a:bodyPr>
            <a:lstStyle/>
            <a:p>
              <a:r>
                <a:rPr lang="en-US" sz="1200" dirty="0"/>
                <a:t>AP2</a:t>
              </a:r>
            </a:p>
          </p:txBody>
        </p:sp>
        <p:sp>
          <p:nvSpPr>
            <p:cNvPr id="25" name="TextBox 24">
              <a:extLst>
                <a:ext uri="{FF2B5EF4-FFF2-40B4-BE49-F238E27FC236}">
                  <a16:creationId xmlns:a16="http://schemas.microsoft.com/office/drawing/2014/main" id="{01431894-D85F-4078-B386-D813CBEF244B}"/>
                </a:ext>
              </a:extLst>
            </p:cNvPr>
            <p:cNvSpPr txBox="1"/>
            <p:nvPr/>
          </p:nvSpPr>
          <p:spPr>
            <a:xfrm>
              <a:off x="4557871" y="5389575"/>
              <a:ext cx="1264311" cy="421754"/>
            </a:xfrm>
            <a:prstGeom prst="rect">
              <a:avLst/>
            </a:prstGeom>
            <a:noFill/>
          </p:spPr>
          <p:txBody>
            <a:bodyPr wrap="square" rtlCol="0">
              <a:spAutoFit/>
            </a:bodyPr>
            <a:lstStyle/>
            <a:p>
              <a:r>
                <a:rPr lang="en-US" sz="900" dirty="0"/>
                <a:t>n11 ~ n20</a:t>
              </a:r>
            </a:p>
          </p:txBody>
        </p:sp>
        <p:cxnSp>
          <p:nvCxnSpPr>
            <p:cNvPr id="26" name="Straight Connector 25">
              <a:extLst>
                <a:ext uri="{FF2B5EF4-FFF2-40B4-BE49-F238E27FC236}">
                  <a16:creationId xmlns:a16="http://schemas.microsoft.com/office/drawing/2014/main" id="{E05FBA56-0B3D-40A2-99F4-B071449ADD9F}"/>
                </a:ext>
              </a:extLst>
            </p:cNvPr>
            <p:cNvCxnSpPr>
              <a:cxnSpLocks/>
            </p:cNvCxnSpPr>
            <p:nvPr/>
          </p:nvCxnSpPr>
          <p:spPr>
            <a:xfrm>
              <a:off x="6608388" y="4948009"/>
              <a:ext cx="471558"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3848DBBD-E513-439F-A2A3-E863696DD94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6120985" y="4644117"/>
              <a:ext cx="341340" cy="623240"/>
            </a:xfrm>
            <a:prstGeom prst="rect">
              <a:avLst/>
            </a:prstGeom>
          </p:spPr>
        </p:pic>
        <p:pic>
          <p:nvPicPr>
            <p:cNvPr id="28" name="Picture 27">
              <a:extLst>
                <a:ext uri="{FF2B5EF4-FFF2-40B4-BE49-F238E27FC236}">
                  <a16:creationId xmlns:a16="http://schemas.microsoft.com/office/drawing/2014/main" id="{393A6652-88B4-4CA3-8943-B24B998C9CF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7170176" y="4644117"/>
              <a:ext cx="341340" cy="623240"/>
            </a:xfrm>
            <a:prstGeom prst="rect">
              <a:avLst/>
            </a:prstGeom>
          </p:spPr>
        </p:pic>
        <p:pic>
          <p:nvPicPr>
            <p:cNvPr id="29" name="Picture 28">
              <a:extLst>
                <a:ext uri="{FF2B5EF4-FFF2-40B4-BE49-F238E27FC236}">
                  <a16:creationId xmlns:a16="http://schemas.microsoft.com/office/drawing/2014/main" id="{DE70B9A1-B982-4FDC-91D0-AC2FF4B5A76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6535871" y="4130610"/>
              <a:ext cx="594239" cy="393188"/>
            </a:xfrm>
            <a:prstGeom prst="rect">
              <a:avLst/>
            </a:prstGeom>
          </p:spPr>
        </p:pic>
        <p:pic>
          <p:nvPicPr>
            <p:cNvPr id="30" name="Picture 29">
              <a:extLst>
                <a:ext uri="{FF2B5EF4-FFF2-40B4-BE49-F238E27FC236}">
                  <a16:creationId xmlns:a16="http://schemas.microsoft.com/office/drawing/2014/main" id="{5BFB1D64-9355-43C4-B33F-3C5C54C2257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6520095" y="3866615"/>
              <a:ext cx="650081" cy="385233"/>
            </a:xfrm>
            <a:prstGeom prst="rect">
              <a:avLst/>
            </a:prstGeom>
          </p:spPr>
        </p:pic>
        <p:sp>
          <p:nvSpPr>
            <p:cNvPr id="31" name="TextBox 30">
              <a:extLst>
                <a:ext uri="{FF2B5EF4-FFF2-40B4-BE49-F238E27FC236}">
                  <a16:creationId xmlns:a16="http://schemas.microsoft.com/office/drawing/2014/main" id="{4AAC4B34-889F-4F7C-A35C-D744E96FBCEB}"/>
                </a:ext>
              </a:extLst>
            </p:cNvPr>
            <p:cNvSpPr txBox="1"/>
            <p:nvPr/>
          </p:nvSpPr>
          <p:spPr>
            <a:xfrm>
              <a:off x="7182794" y="3922235"/>
              <a:ext cx="886427" cy="506107"/>
            </a:xfrm>
            <a:prstGeom prst="rect">
              <a:avLst/>
            </a:prstGeom>
            <a:noFill/>
          </p:spPr>
          <p:txBody>
            <a:bodyPr wrap="square" rtlCol="0">
              <a:spAutoFit/>
            </a:bodyPr>
            <a:lstStyle/>
            <a:p>
              <a:r>
                <a:rPr lang="en-US" sz="1200" dirty="0"/>
                <a:t>AP3</a:t>
              </a:r>
            </a:p>
          </p:txBody>
        </p:sp>
        <p:sp>
          <p:nvSpPr>
            <p:cNvPr id="32" name="TextBox 31">
              <a:extLst>
                <a:ext uri="{FF2B5EF4-FFF2-40B4-BE49-F238E27FC236}">
                  <a16:creationId xmlns:a16="http://schemas.microsoft.com/office/drawing/2014/main" id="{540C1CC9-AFCC-462F-9AB9-01B8A5DE42E2}"/>
                </a:ext>
              </a:extLst>
            </p:cNvPr>
            <p:cNvSpPr txBox="1"/>
            <p:nvPr/>
          </p:nvSpPr>
          <p:spPr>
            <a:xfrm>
              <a:off x="6259999" y="5361458"/>
              <a:ext cx="1410633" cy="421755"/>
            </a:xfrm>
            <a:prstGeom prst="rect">
              <a:avLst/>
            </a:prstGeom>
            <a:noFill/>
          </p:spPr>
          <p:txBody>
            <a:bodyPr wrap="square" rtlCol="0">
              <a:spAutoFit/>
            </a:bodyPr>
            <a:lstStyle/>
            <a:p>
              <a:r>
                <a:rPr lang="en-US" sz="900" dirty="0"/>
                <a:t>n21 ~ n30</a:t>
              </a:r>
            </a:p>
          </p:txBody>
        </p:sp>
        <p:cxnSp>
          <p:nvCxnSpPr>
            <p:cNvPr id="33" name="Straight Connector 32">
              <a:extLst>
                <a:ext uri="{FF2B5EF4-FFF2-40B4-BE49-F238E27FC236}">
                  <a16:creationId xmlns:a16="http://schemas.microsoft.com/office/drawing/2014/main" id="{A916D837-7609-4082-B12A-52602A40EC23}"/>
                </a:ext>
              </a:extLst>
            </p:cNvPr>
            <p:cNvCxnSpPr>
              <a:cxnSpLocks/>
            </p:cNvCxnSpPr>
            <p:nvPr/>
          </p:nvCxnSpPr>
          <p:spPr>
            <a:xfrm>
              <a:off x="8227880" y="4958665"/>
              <a:ext cx="471558"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pic>
          <p:nvPicPr>
            <p:cNvPr id="34" name="Picture 33">
              <a:extLst>
                <a:ext uri="{FF2B5EF4-FFF2-40B4-BE49-F238E27FC236}">
                  <a16:creationId xmlns:a16="http://schemas.microsoft.com/office/drawing/2014/main" id="{C5A9BD79-21D6-42D5-B1D8-CF08DFBC974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7740477" y="4654773"/>
              <a:ext cx="341340" cy="623240"/>
            </a:xfrm>
            <a:prstGeom prst="rect">
              <a:avLst/>
            </a:prstGeom>
          </p:spPr>
        </p:pic>
        <p:pic>
          <p:nvPicPr>
            <p:cNvPr id="35" name="Picture 34">
              <a:extLst>
                <a:ext uri="{FF2B5EF4-FFF2-40B4-BE49-F238E27FC236}">
                  <a16:creationId xmlns:a16="http://schemas.microsoft.com/office/drawing/2014/main" id="{B9451463-841B-4260-82BD-414C90568BF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8789668" y="4654773"/>
              <a:ext cx="341340" cy="623240"/>
            </a:xfrm>
            <a:prstGeom prst="rect">
              <a:avLst/>
            </a:prstGeom>
          </p:spPr>
        </p:pic>
        <p:pic>
          <p:nvPicPr>
            <p:cNvPr id="36" name="Picture 35">
              <a:extLst>
                <a:ext uri="{FF2B5EF4-FFF2-40B4-BE49-F238E27FC236}">
                  <a16:creationId xmlns:a16="http://schemas.microsoft.com/office/drawing/2014/main" id="{77E75C9D-B852-4EDA-A6B2-F94A562D47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8155363" y="4141266"/>
              <a:ext cx="594239" cy="393188"/>
            </a:xfrm>
            <a:prstGeom prst="rect">
              <a:avLst/>
            </a:prstGeom>
          </p:spPr>
        </p:pic>
        <p:pic>
          <p:nvPicPr>
            <p:cNvPr id="37" name="Picture 36">
              <a:extLst>
                <a:ext uri="{FF2B5EF4-FFF2-40B4-BE49-F238E27FC236}">
                  <a16:creationId xmlns:a16="http://schemas.microsoft.com/office/drawing/2014/main" id="{CEBFD398-9AEF-4721-A356-122A34C6DC7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8139587" y="3877271"/>
              <a:ext cx="650081" cy="385233"/>
            </a:xfrm>
            <a:prstGeom prst="rect">
              <a:avLst/>
            </a:prstGeom>
          </p:spPr>
        </p:pic>
        <p:sp>
          <p:nvSpPr>
            <p:cNvPr id="38" name="TextBox 37">
              <a:extLst>
                <a:ext uri="{FF2B5EF4-FFF2-40B4-BE49-F238E27FC236}">
                  <a16:creationId xmlns:a16="http://schemas.microsoft.com/office/drawing/2014/main" id="{C00F3DC6-B802-42A5-BC62-3ACCBDC35A7A}"/>
                </a:ext>
              </a:extLst>
            </p:cNvPr>
            <p:cNvSpPr txBox="1"/>
            <p:nvPr/>
          </p:nvSpPr>
          <p:spPr>
            <a:xfrm>
              <a:off x="8802287" y="3932891"/>
              <a:ext cx="874516" cy="506107"/>
            </a:xfrm>
            <a:prstGeom prst="rect">
              <a:avLst/>
            </a:prstGeom>
            <a:noFill/>
          </p:spPr>
          <p:txBody>
            <a:bodyPr wrap="square" rtlCol="0">
              <a:spAutoFit/>
            </a:bodyPr>
            <a:lstStyle/>
            <a:p>
              <a:r>
                <a:rPr lang="en-US" sz="1200" dirty="0"/>
                <a:t>AP4</a:t>
              </a:r>
            </a:p>
          </p:txBody>
        </p:sp>
        <p:sp>
          <p:nvSpPr>
            <p:cNvPr id="39" name="TextBox 38">
              <a:extLst>
                <a:ext uri="{FF2B5EF4-FFF2-40B4-BE49-F238E27FC236}">
                  <a16:creationId xmlns:a16="http://schemas.microsoft.com/office/drawing/2014/main" id="{FB81E7B0-6217-4F30-B09C-492D003B0244}"/>
                </a:ext>
              </a:extLst>
            </p:cNvPr>
            <p:cNvSpPr txBox="1"/>
            <p:nvPr/>
          </p:nvSpPr>
          <p:spPr>
            <a:xfrm>
              <a:off x="7866697" y="5374481"/>
              <a:ext cx="1264311" cy="421755"/>
            </a:xfrm>
            <a:prstGeom prst="rect">
              <a:avLst/>
            </a:prstGeom>
            <a:noFill/>
          </p:spPr>
          <p:txBody>
            <a:bodyPr wrap="square" rtlCol="0">
              <a:spAutoFit/>
            </a:bodyPr>
            <a:lstStyle/>
            <a:p>
              <a:r>
                <a:rPr lang="en-US" sz="900" dirty="0"/>
                <a:t>n31 ~ n40</a:t>
              </a:r>
            </a:p>
          </p:txBody>
        </p:sp>
        <p:cxnSp>
          <p:nvCxnSpPr>
            <p:cNvPr id="40" name="Straight Connector 39">
              <a:extLst>
                <a:ext uri="{FF2B5EF4-FFF2-40B4-BE49-F238E27FC236}">
                  <a16:creationId xmlns:a16="http://schemas.microsoft.com/office/drawing/2014/main" id="{E70A3808-4410-4722-8642-C545ABB63FC3}"/>
                </a:ext>
              </a:extLst>
            </p:cNvPr>
            <p:cNvCxnSpPr>
              <a:cxnSpLocks/>
            </p:cNvCxnSpPr>
            <p:nvPr/>
          </p:nvCxnSpPr>
          <p:spPr>
            <a:xfrm>
              <a:off x="9881006" y="4948009"/>
              <a:ext cx="471558" cy="0"/>
            </a:xfrm>
            <a:prstGeom prst="line">
              <a:avLst/>
            </a:prstGeom>
            <a:ln w="38100">
              <a:prstDash val="sysDot"/>
            </a:ln>
          </p:spPr>
          <p:style>
            <a:lnRef idx="2">
              <a:schemeClr val="accent1"/>
            </a:lnRef>
            <a:fillRef idx="0">
              <a:schemeClr val="accent1"/>
            </a:fillRef>
            <a:effectRef idx="1">
              <a:schemeClr val="accent1"/>
            </a:effectRef>
            <a:fontRef idx="minor">
              <a:schemeClr val="tx1"/>
            </a:fontRef>
          </p:style>
        </p:cxnSp>
        <p:pic>
          <p:nvPicPr>
            <p:cNvPr id="41" name="Picture 40">
              <a:extLst>
                <a:ext uri="{FF2B5EF4-FFF2-40B4-BE49-F238E27FC236}">
                  <a16:creationId xmlns:a16="http://schemas.microsoft.com/office/drawing/2014/main" id="{15C063FE-F2A2-4973-9E4C-7FBA5520D4B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9393603" y="4644117"/>
              <a:ext cx="341340" cy="623240"/>
            </a:xfrm>
            <a:prstGeom prst="rect">
              <a:avLst/>
            </a:prstGeom>
          </p:spPr>
        </p:pic>
        <p:pic>
          <p:nvPicPr>
            <p:cNvPr id="42" name="Picture 41">
              <a:extLst>
                <a:ext uri="{FF2B5EF4-FFF2-40B4-BE49-F238E27FC236}">
                  <a16:creationId xmlns:a16="http://schemas.microsoft.com/office/drawing/2014/main" id="{79804439-2CB3-4BCF-BB26-617D41A8B8D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2961" r="22271"/>
            <a:stretch/>
          </p:blipFill>
          <p:spPr>
            <a:xfrm>
              <a:off x="10442794" y="4644117"/>
              <a:ext cx="341340" cy="623240"/>
            </a:xfrm>
            <a:prstGeom prst="rect">
              <a:avLst/>
            </a:prstGeom>
          </p:spPr>
        </p:pic>
        <p:pic>
          <p:nvPicPr>
            <p:cNvPr id="43" name="Picture 42">
              <a:extLst>
                <a:ext uri="{FF2B5EF4-FFF2-40B4-BE49-F238E27FC236}">
                  <a16:creationId xmlns:a16="http://schemas.microsoft.com/office/drawing/2014/main" id="{3E27C40D-1B53-4040-B04D-D443DA80DCF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9808489" y="4130610"/>
              <a:ext cx="594239" cy="393188"/>
            </a:xfrm>
            <a:prstGeom prst="rect">
              <a:avLst/>
            </a:prstGeom>
          </p:spPr>
        </p:pic>
        <p:pic>
          <p:nvPicPr>
            <p:cNvPr id="44" name="Picture 43">
              <a:extLst>
                <a:ext uri="{FF2B5EF4-FFF2-40B4-BE49-F238E27FC236}">
                  <a16:creationId xmlns:a16="http://schemas.microsoft.com/office/drawing/2014/main" id="{C4CA70EE-9106-45A8-86D1-D6E82F46DFA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9185" t="40943" r="13095" b="24853"/>
            <a:stretch/>
          </p:blipFill>
          <p:spPr>
            <a:xfrm>
              <a:off x="9792713" y="3866615"/>
              <a:ext cx="650081" cy="385233"/>
            </a:xfrm>
            <a:prstGeom prst="rect">
              <a:avLst/>
            </a:prstGeom>
          </p:spPr>
        </p:pic>
        <p:sp>
          <p:nvSpPr>
            <p:cNvPr id="45" name="TextBox 44">
              <a:extLst>
                <a:ext uri="{FF2B5EF4-FFF2-40B4-BE49-F238E27FC236}">
                  <a16:creationId xmlns:a16="http://schemas.microsoft.com/office/drawing/2014/main" id="{CF09B584-74D8-4F23-82E4-80C548186EBA}"/>
                </a:ext>
              </a:extLst>
            </p:cNvPr>
            <p:cNvSpPr txBox="1"/>
            <p:nvPr/>
          </p:nvSpPr>
          <p:spPr>
            <a:xfrm>
              <a:off x="10380445" y="3922235"/>
              <a:ext cx="860108" cy="506107"/>
            </a:xfrm>
            <a:prstGeom prst="rect">
              <a:avLst/>
            </a:prstGeom>
            <a:noFill/>
          </p:spPr>
          <p:txBody>
            <a:bodyPr wrap="square" rtlCol="0">
              <a:spAutoFit/>
            </a:bodyPr>
            <a:lstStyle/>
            <a:p>
              <a:r>
                <a:rPr lang="en-US" sz="1200" dirty="0"/>
                <a:t>AP5</a:t>
              </a:r>
            </a:p>
          </p:txBody>
        </p:sp>
        <p:sp>
          <p:nvSpPr>
            <p:cNvPr id="46" name="TextBox 45">
              <a:extLst>
                <a:ext uri="{FF2B5EF4-FFF2-40B4-BE49-F238E27FC236}">
                  <a16:creationId xmlns:a16="http://schemas.microsoft.com/office/drawing/2014/main" id="{38DEE8EF-F655-4C48-A69A-99315BFBDEF1}"/>
                </a:ext>
              </a:extLst>
            </p:cNvPr>
            <p:cNvSpPr txBox="1"/>
            <p:nvPr/>
          </p:nvSpPr>
          <p:spPr>
            <a:xfrm>
              <a:off x="9514172" y="5401932"/>
              <a:ext cx="1209574" cy="393639"/>
            </a:xfrm>
            <a:prstGeom prst="rect">
              <a:avLst/>
            </a:prstGeom>
            <a:noFill/>
          </p:spPr>
          <p:txBody>
            <a:bodyPr wrap="square" rtlCol="0">
              <a:spAutoFit/>
            </a:bodyPr>
            <a:lstStyle/>
            <a:p>
              <a:r>
                <a:rPr lang="en-US" sz="800" dirty="0"/>
                <a:t>n41 ~ n50</a:t>
              </a:r>
            </a:p>
          </p:txBody>
        </p:sp>
        <p:cxnSp>
          <p:nvCxnSpPr>
            <p:cNvPr id="47" name="Straight Connector 46">
              <a:extLst>
                <a:ext uri="{FF2B5EF4-FFF2-40B4-BE49-F238E27FC236}">
                  <a16:creationId xmlns:a16="http://schemas.microsoft.com/office/drawing/2014/main" id="{E61A3E81-DA69-4CEC-B79E-809CF76882DE}"/>
                </a:ext>
              </a:extLst>
            </p:cNvPr>
            <p:cNvCxnSpPr>
              <a:cxnSpLocks/>
            </p:cNvCxnSpPr>
            <p:nvPr/>
          </p:nvCxnSpPr>
          <p:spPr>
            <a:xfrm flipH="1">
              <a:off x="5293531" y="3260395"/>
              <a:ext cx="1207131" cy="501704"/>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3261D39-6CC1-4129-A92F-6CEABA0AEA0C}"/>
                </a:ext>
              </a:extLst>
            </p:cNvPr>
            <p:cNvCxnSpPr>
              <a:cxnSpLocks/>
            </p:cNvCxnSpPr>
            <p:nvPr/>
          </p:nvCxnSpPr>
          <p:spPr>
            <a:xfrm>
              <a:off x="7130110" y="3222441"/>
              <a:ext cx="1264903" cy="55192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FB6688A2-93CC-4E3B-87D7-DFF086F4670E}"/>
                </a:ext>
              </a:extLst>
            </p:cNvPr>
            <p:cNvCxnSpPr>
              <a:cxnSpLocks/>
            </p:cNvCxnSpPr>
            <p:nvPr/>
          </p:nvCxnSpPr>
          <p:spPr>
            <a:xfrm flipH="1">
              <a:off x="3166365" y="4475176"/>
              <a:ext cx="125756" cy="207001"/>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3280B276-ED00-4359-A137-8E8F8113E952}"/>
                </a:ext>
              </a:extLst>
            </p:cNvPr>
            <p:cNvCxnSpPr>
              <a:cxnSpLocks/>
            </p:cNvCxnSpPr>
            <p:nvPr/>
          </p:nvCxnSpPr>
          <p:spPr>
            <a:xfrm>
              <a:off x="5439065" y="4456627"/>
              <a:ext cx="157692" cy="22041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415FEC98-902F-4BED-95CC-C3BF3B02B86E}"/>
                </a:ext>
              </a:extLst>
            </p:cNvPr>
            <p:cNvCxnSpPr>
              <a:cxnSpLocks/>
            </p:cNvCxnSpPr>
            <p:nvPr/>
          </p:nvCxnSpPr>
          <p:spPr>
            <a:xfrm flipH="1">
              <a:off x="4825001" y="4475613"/>
              <a:ext cx="125756" cy="207001"/>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2" name="Straight Connector 51">
              <a:extLst>
                <a:ext uri="{FF2B5EF4-FFF2-40B4-BE49-F238E27FC236}">
                  <a16:creationId xmlns:a16="http://schemas.microsoft.com/office/drawing/2014/main" id="{E0E14EE1-8CA6-4377-BE1F-FD9FC7592D6C}"/>
                </a:ext>
              </a:extLst>
            </p:cNvPr>
            <p:cNvCxnSpPr>
              <a:cxnSpLocks/>
            </p:cNvCxnSpPr>
            <p:nvPr/>
          </p:nvCxnSpPr>
          <p:spPr>
            <a:xfrm>
              <a:off x="7052323" y="4457064"/>
              <a:ext cx="157692" cy="22041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E8E63A37-3CA3-46A3-9510-C3D3A041B160}"/>
                </a:ext>
              </a:extLst>
            </p:cNvPr>
            <p:cNvCxnSpPr>
              <a:cxnSpLocks/>
            </p:cNvCxnSpPr>
            <p:nvPr/>
          </p:nvCxnSpPr>
          <p:spPr>
            <a:xfrm flipH="1">
              <a:off x="6438259" y="4476050"/>
              <a:ext cx="125756" cy="207001"/>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12FE35C5-0627-45F8-AF44-D06A9FD69406}"/>
                </a:ext>
              </a:extLst>
            </p:cNvPr>
            <p:cNvCxnSpPr>
              <a:cxnSpLocks/>
            </p:cNvCxnSpPr>
            <p:nvPr/>
          </p:nvCxnSpPr>
          <p:spPr>
            <a:xfrm>
              <a:off x="8653215" y="4467248"/>
              <a:ext cx="157692" cy="22041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FD7C6DC6-EAAF-48E1-BBE1-1BC3A73B07C4}"/>
                </a:ext>
              </a:extLst>
            </p:cNvPr>
            <p:cNvCxnSpPr>
              <a:cxnSpLocks/>
            </p:cNvCxnSpPr>
            <p:nvPr/>
          </p:nvCxnSpPr>
          <p:spPr>
            <a:xfrm flipH="1">
              <a:off x="8039151" y="4486234"/>
              <a:ext cx="125756" cy="207001"/>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E7EF5760-2E95-4A82-874D-637CF21A4F04}"/>
                </a:ext>
              </a:extLst>
            </p:cNvPr>
            <p:cNvCxnSpPr>
              <a:cxnSpLocks/>
            </p:cNvCxnSpPr>
            <p:nvPr/>
          </p:nvCxnSpPr>
          <p:spPr>
            <a:xfrm>
              <a:off x="10330935" y="4456592"/>
              <a:ext cx="157692" cy="220419"/>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70320F9F-0BAD-4383-A562-AFBDAD13C986}"/>
                </a:ext>
              </a:extLst>
            </p:cNvPr>
            <p:cNvCxnSpPr>
              <a:cxnSpLocks/>
            </p:cNvCxnSpPr>
            <p:nvPr/>
          </p:nvCxnSpPr>
          <p:spPr>
            <a:xfrm flipH="1">
              <a:off x="9716871" y="4475578"/>
              <a:ext cx="125756" cy="207001"/>
            </a:xfrm>
            <a:prstGeom prst="line">
              <a:avLst/>
            </a:prstGeom>
            <a:ln>
              <a:prstDash val="sysDash"/>
              <a:headEnd type="triangle" w="lg"/>
              <a:tailEnd type="triangle" w="lg"/>
            </a:ln>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52D38D81-D470-43F5-825C-CDBF533D881F}"/>
                </a:ext>
              </a:extLst>
            </p:cNvPr>
            <p:cNvSpPr/>
            <p:nvPr/>
          </p:nvSpPr>
          <p:spPr>
            <a:xfrm>
              <a:off x="6015759" y="2366400"/>
              <a:ext cx="372218" cy="274370"/>
            </a:xfrm>
            <a:prstGeom prst="rect">
              <a:avLst/>
            </a:prstGeom>
          </p:spPr>
          <p:txBody>
            <a:bodyPr wrap="none">
              <a:spAutoFit/>
            </a:bodyPr>
            <a:lstStyle/>
            <a:p>
              <a:pPr algn="ctr">
                <a:lnSpc>
                  <a:spcPts val="1400"/>
                </a:lnSpc>
              </a:pPr>
              <a:r>
                <a:rPr lang="en-US" sz="1400" dirty="0"/>
                <a:t>LH</a:t>
              </a:r>
            </a:p>
          </p:txBody>
        </p:sp>
      </p:grpSp>
      <p:sp>
        <p:nvSpPr>
          <p:cNvPr id="61" name="Content Placeholder 2">
            <a:extLst>
              <a:ext uri="{FF2B5EF4-FFF2-40B4-BE49-F238E27FC236}">
                <a16:creationId xmlns:a16="http://schemas.microsoft.com/office/drawing/2014/main" id="{D4BA0349-5540-4655-88B3-05CB3B8D4499}"/>
              </a:ext>
            </a:extLst>
          </p:cNvPr>
          <p:cNvSpPr txBox="1">
            <a:spLocks/>
          </p:cNvSpPr>
          <p:nvPr/>
        </p:nvSpPr>
        <p:spPr>
          <a:xfrm>
            <a:off x="6102388" y="1391921"/>
            <a:ext cx="5776989" cy="275640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Metrics:</a:t>
            </a:r>
          </a:p>
          <a:p>
            <a:r>
              <a:rPr lang="en-US" sz="1800" dirty="0"/>
              <a:t>Overall Interest to Data Ratio (OIDR): total number of interests sent (data and sync planes)/data items received</a:t>
            </a:r>
          </a:p>
          <a:p>
            <a:r>
              <a:rPr lang="en-US" sz="1800" dirty="0"/>
              <a:t>Data Interest to Data Ratio (DIDR): number of data-plane interests / number of data items received</a:t>
            </a:r>
          </a:p>
          <a:p>
            <a:r>
              <a:rPr lang="en-US" sz="1800" dirty="0"/>
              <a:t>Sync Interest to Data Ratio (SIDR): number of sync interests sent / number of data items received</a:t>
            </a:r>
          </a:p>
          <a:p>
            <a:r>
              <a:rPr lang="en-US" sz="1800" dirty="0"/>
              <a:t>Efficiency (EFF): total bytes of received data at all end nodes / total sent bytes at all nodes</a:t>
            </a:r>
          </a:p>
        </p:txBody>
      </p:sp>
      <p:graphicFrame>
        <p:nvGraphicFramePr>
          <p:cNvPr id="62" name="Table 61">
            <a:extLst>
              <a:ext uri="{FF2B5EF4-FFF2-40B4-BE49-F238E27FC236}">
                <a16:creationId xmlns:a16="http://schemas.microsoft.com/office/drawing/2014/main" id="{55975050-2533-4BE1-9452-B5DAEF02B6A6}"/>
              </a:ext>
            </a:extLst>
          </p:cNvPr>
          <p:cNvGraphicFramePr>
            <a:graphicFrameLocks noGrp="1"/>
          </p:cNvGraphicFramePr>
          <p:nvPr>
            <p:extLst>
              <p:ext uri="{D42A27DB-BD31-4B8C-83A1-F6EECF244321}">
                <p14:modId xmlns:p14="http://schemas.microsoft.com/office/powerpoint/2010/main" val="1436700156"/>
              </p:ext>
            </p:extLst>
          </p:nvPr>
        </p:nvGraphicFramePr>
        <p:xfrm>
          <a:off x="5252749" y="4128944"/>
          <a:ext cx="6767321" cy="2188177"/>
        </p:xfrm>
        <a:graphic>
          <a:graphicData uri="http://schemas.openxmlformats.org/drawingml/2006/table">
            <a:tbl>
              <a:tblPr firstRow="1" bandRow="1">
                <a:tableStyleId>{0505E3EF-67EA-436B-97B2-0124C06EBD24}</a:tableStyleId>
              </a:tblPr>
              <a:tblGrid>
                <a:gridCol w="1575588">
                  <a:extLst>
                    <a:ext uri="{9D8B030D-6E8A-4147-A177-3AD203B41FA5}">
                      <a16:colId xmlns:a16="http://schemas.microsoft.com/office/drawing/2014/main" val="2451075367"/>
                    </a:ext>
                  </a:extLst>
                </a:gridCol>
                <a:gridCol w="1258268">
                  <a:extLst>
                    <a:ext uri="{9D8B030D-6E8A-4147-A177-3AD203B41FA5}">
                      <a16:colId xmlns:a16="http://schemas.microsoft.com/office/drawing/2014/main" val="3933509516"/>
                    </a:ext>
                  </a:extLst>
                </a:gridCol>
                <a:gridCol w="1258268">
                  <a:extLst>
                    <a:ext uri="{9D8B030D-6E8A-4147-A177-3AD203B41FA5}">
                      <a16:colId xmlns:a16="http://schemas.microsoft.com/office/drawing/2014/main" val="139562774"/>
                    </a:ext>
                  </a:extLst>
                </a:gridCol>
                <a:gridCol w="1258268">
                  <a:extLst>
                    <a:ext uri="{9D8B030D-6E8A-4147-A177-3AD203B41FA5}">
                      <a16:colId xmlns:a16="http://schemas.microsoft.com/office/drawing/2014/main" val="1072753618"/>
                    </a:ext>
                  </a:extLst>
                </a:gridCol>
                <a:gridCol w="1416929">
                  <a:extLst>
                    <a:ext uri="{9D8B030D-6E8A-4147-A177-3AD203B41FA5}">
                      <a16:colId xmlns:a16="http://schemas.microsoft.com/office/drawing/2014/main" val="2038580487"/>
                    </a:ext>
                  </a:extLst>
                </a:gridCol>
              </a:tblGrid>
              <a:tr h="479670">
                <a:tc>
                  <a:txBody>
                    <a:bodyPr/>
                    <a:lstStyle/>
                    <a:p>
                      <a:endParaRPr lang="en-US" dirty="0"/>
                    </a:p>
                  </a:txBody>
                  <a:tcPr/>
                </a:tc>
                <a:tc>
                  <a:txBody>
                    <a:bodyPr/>
                    <a:lstStyle/>
                    <a:p>
                      <a:r>
                        <a:rPr lang="en-US" dirty="0"/>
                        <a:t>OIDR</a:t>
                      </a:r>
                    </a:p>
                  </a:txBody>
                  <a:tcPr/>
                </a:tc>
                <a:tc>
                  <a:txBody>
                    <a:bodyPr/>
                    <a:lstStyle/>
                    <a:p>
                      <a:r>
                        <a:rPr lang="en-US" dirty="0"/>
                        <a:t>DIDR</a:t>
                      </a:r>
                    </a:p>
                  </a:txBody>
                  <a:tcPr/>
                </a:tc>
                <a:tc>
                  <a:txBody>
                    <a:bodyPr/>
                    <a:lstStyle/>
                    <a:p>
                      <a:r>
                        <a:rPr lang="en-US" dirty="0"/>
                        <a:t>SIDR</a:t>
                      </a:r>
                    </a:p>
                  </a:txBody>
                  <a:tcPr/>
                </a:tc>
                <a:tc>
                  <a:txBody>
                    <a:bodyPr/>
                    <a:lstStyle/>
                    <a:p>
                      <a:r>
                        <a:rPr lang="en-US" dirty="0"/>
                        <a:t>Eff</a:t>
                      </a:r>
                    </a:p>
                  </a:txBody>
                  <a:tcPr/>
                </a:tc>
                <a:extLst>
                  <a:ext uri="{0D108BD9-81ED-4DB2-BD59-A6C34878D82A}">
                    <a16:rowId xmlns:a16="http://schemas.microsoft.com/office/drawing/2014/main" val="3469393645"/>
                  </a:ext>
                </a:extLst>
              </a:tr>
              <a:tr h="458533">
                <a:tc>
                  <a:txBody>
                    <a:bodyPr/>
                    <a:lstStyle/>
                    <a:p>
                      <a:r>
                        <a:rPr lang="en-US" dirty="0"/>
                        <a:t>PLI-sync</a:t>
                      </a:r>
                    </a:p>
                  </a:txBody>
                  <a:tcPr/>
                </a:tc>
                <a:tc>
                  <a:txBody>
                    <a:bodyPr/>
                    <a:lstStyle/>
                    <a:p>
                      <a:r>
                        <a:rPr lang="en-US" dirty="0"/>
                        <a:t>1.88</a:t>
                      </a:r>
                    </a:p>
                  </a:txBody>
                  <a:tcPr/>
                </a:tc>
                <a:tc>
                  <a:txBody>
                    <a:bodyPr/>
                    <a:lstStyle/>
                    <a:p>
                      <a:r>
                        <a:rPr lang="en-US" dirty="0"/>
                        <a:t>1.87</a:t>
                      </a:r>
                    </a:p>
                  </a:txBody>
                  <a:tcPr/>
                </a:tc>
                <a:tc>
                  <a:txBody>
                    <a:bodyPr/>
                    <a:lstStyle/>
                    <a:p>
                      <a:r>
                        <a:rPr lang="en-US" dirty="0"/>
                        <a:t>0.06</a:t>
                      </a:r>
                    </a:p>
                  </a:txBody>
                  <a:tcPr/>
                </a:tc>
                <a:tc>
                  <a:txBody>
                    <a:bodyPr/>
                    <a:lstStyle/>
                    <a:p>
                      <a:r>
                        <a:rPr lang="en-US" dirty="0"/>
                        <a:t>13.4</a:t>
                      </a:r>
                    </a:p>
                  </a:txBody>
                  <a:tcPr/>
                </a:tc>
                <a:extLst>
                  <a:ext uri="{0D108BD9-81ED-4DB2-BD59-A6C34878D82A}">
                    <a16:rowId xmlns:a16="http://schemas.microsoft.com/office/drawing/2014/main" val="378941475"/>
                  </a:ext>
                </a:extLst>
              </a:tr>
              <a:tr h="791441">
                <a:tc>
                  <a:txBody>
                    <a:bodyPr/>
                    <a:lstStyle/>
                    <a:p>
                      <a:r>
                        <a:rPr lang="en-US" dirty="0"/>
                        <a:t>PLI-sync-</a:t>
                      </a:r>
                      <a:r>
                        <a:rPr lang="en-US" dirty="0" err="1"/>
                        <a:t>nocons</a:t>
                      </a:r>
                      <a:endParaRPr lang="en-US" dirty="0"/>
                    </a:p>
                  </a:txBody>
                  <a:tcPr/>
                </a:tc>
                <a:tc>
                  <a:txBody>
                    <a:bodyPr/>
                    <a:lstStyle/>
                    <a:p>
                      <a:r>
                        <a:rPr lang="en-US" dirty="0"/>
                        <a:t>2.66</a:t>
                      </a:r>
                    </a:p>
                  </a:txBody>
                  <a:tcPr/>
                </a:tc>
                <a:tc>
                  <a:txBody>
                    <a:bodyPr/>
                    <a:lstStyle/>
                    <a:p>
                      <a:r>
                        <a:rPr lang="en-US" dirty="0"/>
                        <a:t>2.08</a:t>
                      </a:r>
                    </a:p>
                  </a:txBody>
                  <a:tcPr/>
                </a:tc>
                <a:tc>
                  <a:txBody>
                    <a:bodyPr/>
                    <a:lstStyle/>
                    <a:p>
                      <a:r>
                        <a:rPr lang="en-US" dirty="0"/>
                        <a:t>0.58</a:t>
                      </a:r>
                    </a:p>
                  </a:txBody>
                  <a:tcPr/>
                </a:tc>
                <a:tc>
                  <a:txBody>
                    <a:bodyPr/>
                    <a:lstStyle/>
                    <a:p>
                      <a:r>
                        <a:rPr lang="en-US" dirty="0"/>
                        <a:t>3.0</a:t>
                      </a:r>
                    </a:p>
                  </a:txBody>
                  <a:tcPr/>
                </a:tc>
                <a:extLst>
                  <a:ext uri="{0D108BD9-81ED-4DB2-BD59-A6C34878D82A}">
                    <a16:rowId xmlns:a16="http://schemas.microsoft.com/office/drawing/2014/main" val="3352908998"/>
                  </a:ext>
                </a:extLst>
              </a:tr>
              <a:tr h="458533">
                <a:tc>
                  <a:txBody>
                    <a:bodyPr/>
                    <a:lstStyle/>
                    <a:p>
                      <a:r>
                        <a:rPr lang="en-US" dirty="0" err="1"/>
                        <a:t>PartialSync</a:t>
                      </a:r>
                      <a:endParaRPr lang="en-US" dirty="0"/>
                    </a:p>
                  </a:txBody>
                  <a:tcPr/>
                </a:tc>
                <a:tc>
                  <a:txBody>
                    <a:bodyPr/>
                    <a:lstStyle/>
                    <a:p>
                      <a:r>
                        <a:rPr lang="en-US"/>
                        <a:t>4.88</a:t>
                      </a:r>
                      <a:endParaRPr lang="en-US" dirty="0"/>
                    </a:p>
                  </a:txBody>
                  <a:tcPr/>
                </a:tc>
                <a:tc>
                  <a:txBody>
                    <a:bodyPr/>
                    <a:lstStyle/>
                    <a:p>
                      <a:r>
                        <a:rPr lang="en-US"/>
                        <a:t>1.68</a:t>
                      </a:r>
                      <a:endParaRPr lang="en-US" dirty="0"/>
                    </a:p>
                  </a:txBody>
                  <a:tcPr/>
                </a:tc>
                <a:tc>
                  <a:txBody>
                    <a:bodyPr/>
                    <a:lstStyle/>
                    <a:p>
                      <a:r>
                        <a:rPr lang="en-US"/>
                        <a:t>0.18</a:t>
                      </a:r>
                      <a:endParaRPr lang="en-US" dirty="0"/>
                    </a:p>
                  </a:txBody>
                  <a:tcPr/>
                </a:tc>
                <a:tc>
                  <a:txBody>
                    <a:bodyPr/>
                    <a:lstStyle/>
                    <a:p>
                      <a:r>
                        <a:rPr lang="en-US" dirty="0"/>
                        <a:t>0.45</a:t>
                      </a:r>
                    </a:p>
                  </a:txBody>
                  <a:tcPr/>
                </a:tc>
                <a:extLst>
                  <a:ext uri="{0D108BD9-81ED-4DB2-BD59-A6C34878D82A}">
                    <a16:rowId xmlns:a16="http://schemas.microsoft.com/office/drawing/2014/main" val="1108200247"/>
                  </a:ext>
                </a:extLst>
              </a:tr>
            </a:tbl>
          </a:graphicData>
        </a:graphic>
      </p:graphicFrame>
    </p:spTree>
    <p:extLst>
      <p:ext uri="{BB962C8B-B14F-4D97-AF65-F5344CB8AC3E}">
        <p14:creationId xmlns:p14="http://schemas.microsoft.com/office/powerpoint/2010/main" val="1535248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0F249-717F-4FA4-9DEE-7E5A35751CCE}"/>
              </a:ext>
            </a:extLst>
          </p:cNvPr>
          <p:cNvSpPr>
            <a:spLocks noGrp="1"/>
          </p:cNvSpPr>
          <p:nvPr>
            <p:ph type="title"/>
          </p:nvPr>
        </p:nvSpPr>
        <p:spPr>
          <a:xfrm>
            <a:off x="2324100" y="203201"/>
            <a:ext cx="9029700" cy="985519"/>
          </a:xfrm>
        </p:spPr>
        <p:txBody>
          <a:bodyPr/>
          <a:lstStyle/>
          <a:p>
            <a:r>
              <a:rPr lang="en-US" dirty="0"/>
              <a:t>Conclusions</a:t>
            </a:r>
          </a:p>
        </p:txBody>
      </p:sp>
      <p:sp>
        <p:nvSpPr>
          <p:cNvPr id="3" name="Content Placeholder 2">
            <a:extLst>
              <a:ext uri="{FF2B5EF4-FFF2-40B4-BE49-F238E27FC236}">
                <a16:creationId xmlns:a16="http://schemas.microsoft.com/office/drawing/2014/main" id="{B7ABA29A-B617-48B0-B33A-685D8AF1F874}"/>
              </a:ext>
            </a:extLst>
          </p:cNvPr>
          <p:cNvSpPr>
            <a:spLocks noGrp="1"/>
          </p:cNvSpPr>
          <p:nvPr>
            <p:ph idx="1"/>
          </p:nvPr>
        </p:nvSpPr>
        <p:spPr>
          <a:xfrm>
            <a:off x="264160" y="1498601"/>
            <a:ext cx="11089640" cy="4678362"/>
          </a:xfrm>
        </p:spPr>
        <p:txBody>
          <a:bodyPr>
            <a:normAutofit/>
          </a:bodyPr>
          <a:lstStyle/>
          <a:p>
            <a:r>
              <a:rPr lang="en-US" dirty="0"/>
              <a:t>New PLI-Sync targeting low-overhead low latency in DIL environments</a:t>
            </a:r>
          </a:p>
          <a:p>
            <a:r>
              <a:rPr lang="en-US" dirty="0"/>
              <a:t>Optimistic prefetch and periodic sync planes help each other for increased efficiency</a:t>
            </a:r>
          </a:p>
          <a:p>
            <a:r>
              <a:rPr lang="en-US" dirty="0"/>
              <a:t>Further considerations</a:t>
            </a:r>
          </a:p>
          <a:p>
            <a:pPr lvl="1"/>
            <a:r>
              <a:rPr lang="en-US" dirty="0"/>
              <a:t>Congestion control</a:t>
            </a:r>
          </a:p>
          <a:p>
            <a:pPr lvl="1"/>
            <a:r>
              <a:rPr lang="en-US" dirty="0"/>
              <a:t>Asymmetric group operations</a:t>
            </a:r>
          </a:p>
          <a:p>
            <a:pPr lvl="1"/>
            <a:r>
              <a:rPr lang="en-US" dirty="0"/>
              <a:t>Differentiated reliability/latency services</a:t>
            </a:r>
          </a:p>
          <a:p>
            <a:pPr lvl="1"/>
            <a:r>
              <a:rPr lang="en-US" dirty="0"/>
              <a:t>Predictability of data production rate</a:t>
            </a:r>
          </a:p>
          <a:p>
            <a:pPr lvl="1"/>
            <a:r>
              <a:rPr lang="en-US" dirty="0"/>
              <a:t>…</a:t>
            </a:r>
          </a:p>
          <a:p>
            <a:pPr lvl="1"/>
            <a:endParaRPr lang="en-US" dirty="0"/>
          </a:p>
          <a:p>
            <a:endParaRPr lang="en-US" dirty="0"/>
          </a:p>
        </p:txBody>
      </p:sp>
    </p:spTree>
    <p:extLst>
      <p:ext uri="{BB962C8B-B14F-4D97-AF65-F5344CB8AC3E}">
        <p14:creationId xmlns:p14="http://schemas.microsoft.com/office/powerpoint/2010/main" val="925895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1404</TotalTime>
  <Words>633</Words>
  <Application>Microsoft Office PowerPoint</Application>
  <PresentationFormat>Widescreen</PresentationFormat>
  <Paragraphs>171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PLI-Sync: Prefetch Loss-Insensitive Sync for NDN Group Streaming</vt:lpstr>
      <vt:lpstr>The Problem</vt:lpstr>
      <vt:lpstr>Motivation</vt:lpstr>
      <vt:lpstr>Approach</vt:lpstr>
      <vt:lpstr>Approach – cont’ed</vt:lpstr>
      <vt:lpstr>Results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Pillitteri, Victoria Yan (Fed)</dc:creator>
  <cp:lastModifiedBy>Serban, Constantin</cp:lastModifiedBy>
  <cp:revision>37</cp:revision>
  <dcterms:created xsi:type="dcterms:W3CDTF">2020-04-22T14:06:19Z</dcterms:created>
  <dcterms:modified xsi:type="dcterms:W3CDTF">2020-09-09T18:04:22Z</dcterms:modified>
</cp:coreProperties>
</file>