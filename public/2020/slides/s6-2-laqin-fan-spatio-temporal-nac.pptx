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4" roundtripDataSignature="AMtx7mgix6drnRAcSAlYoB3hRq/sQrEd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" name="Google Shape;12;p21"/>
          <p:cNvSpPr txBox="1"/>
          <p:nvPr>
            <p:ph idx="12" type="sldNum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2"/>
          <p:cNvSpPr txBox="1"/>
          <p:nvPr>
            <p:ph idx="12" type="sldNum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body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" type="body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2" type="body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2" type="sldNum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idx="12" type="sldNum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8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28"/>
          <p:cNvSpPr txBox="1"/>
          <p:nvPr>
            <p:ph idx="1" type="body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2" type="body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2" type="sldNum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29"/>
          <p:cNvSpPr/>
          <p:nvPr>
            <p:ph idx="2" type="pic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29"/>
          <p:cNvSpPr txBox="1"/>
          <p:nvPr>
            <p:ph idx="1" type="body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9"/>
          <p:cNvSpPr txBox="1"/>
          <p:nvPr>
            <p:ph idx="12" type="sldNum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2" type="sldNum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/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" type="body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2" type="sldNum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2" type="sldNum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5.png"/><Relationship Id="rId7" Type="http://schemas.openxmlformats.org/officeDocument/2006/relationships/image" Target="../media/image10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minindn.memphis.edu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/>
          <p:nvPr>
            <p:ph idx="4294967295" type="ctr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46"/>
              <a:buFont typeface="Calibri"/>
              <a:buNone/>
            </a:pPr>
            <a:r>
              <a:rPr b="0" i="0" lang="en-US" sz="534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Secure Sharing of Spatio-Temporal Data through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46"/>
              <a:buFont typeface="Calibri"/>
              <a:buNone/>
            </a:pPr>
            <a:r>
              <a:rPr b="0" i="0" lang="en-US" sz="534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Name-based Access Control</a:t>
            </a:r>
            <a:endParaRPr/>
          </a:p>
        </p:txBody>
      </p:sp>
      <p:sp>
        <p:nvSpPr>
          <p:cNvPr id="58" name="Google Shape;58;p1"/>
          <p:cNvSpPr txBox="1"/>
          <p:nvPr>
            <p:ph idx="4294967295" type="subTitle"/>
          </p:nvPr>
        </p:nvSpPr>
        <p:spPr>
          <a:xfrm>
            <a:off x="1524000" y="360203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Laqin Fan, Lan Wang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University of Memphis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NDNcomm, Sept 2020</a:t>
            </a:r>
            <a:endParaRPr/>
          </a:p>
        </p:txBody>
      </p:sp>
      <p:sp>
        <p:nvSpPr>
          <p:cNvPr id="59" name="Google Shape;59;p1"/>
          <p:cNvSpPr txBox="1"/>
          <p:nvPr/>
        </p:nvSpPr>
        <p:spPr>
          <a:xfrm>
            <a:off x="0" y="335279"/>
            <a:ext cx="2324100" cy="624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TEXT – Picture In Picture </a:t>
            </a:r>
            <a:endParaRPr/>
          </a:p>
        </p:txBody>
      </p:sp>
      <p:sp>
        <p:nvSpPr>
          <p:cNvPr id="60" name="Google Shape;60;p1"/>
          <p:cNvSpPr txBox="1"/>
          <p:nvPr>
            <p:ph idx="12" type="sldNum"/>
          </p:nvPr>
        </p:nvSpPr>
        <p:spPr>
          <a:xfrm>
            <a:off x="11169739" y="6404292"/>
            <a:ext cx="184061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>
            <p:ph type="title"/>
          </p:nvPr>
        </p:nvSpPr>
        <p:spPr>
          <a:xfrm>
            <a:off x="2363280" y="365125"/>
            <a:ext cx="899052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</p:txBody>
      </p:sp>
      <p:sp>
        <p:nvSpPr>
          <p:cNvPr id="66" name="Google Shape;66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sensors provide a vast amount of data, dynamic and continuous on time and space.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lang="en-US" sz="2300"/>
              <a:t>e.g., mobile health(mHealth) data, generated at different times and locations.</a:t>
            </a:r>
            <a:endParaRPr/>
          </a:p>
          <a:p>
            <a:pPr indent="-8255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None/>
            </a:pPr>
            <a:r>
              <a:t/>
            </a:r>
            <a:endParaRPr sz="23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data may expose privacy-sensitive information of a user.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lang="en-US" sz="2300"/>
              <a:t>Only authorized users are allowed to access the data.</a:t>
            </a:r>
            <a:endParaRPr/>
          </a:p>
        </p:txBody>
      </p:sp>
      <p:sp>
        <p:nvSpPr>
          <p:cNvPr id="67" name="Google Shape;67;p2"/>
          <p:cNvSpPr txBox="1"/>
          <p:nvPr>
            <p:ph idx="12" type="sldNum"/>
          </p:nvPr>
        </p:nvSpPr>
        <p:spPr>
          <a:xfrm>
            <a:off x="11169739" y="6404292"/>
            <a:ext cx="184061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/>
          <p:nvPr>
            <p:ph type="title"/>
          </p:nvPr>
        </p:nvSpPr>
        <p:spPr>
          <a:xfrm>
            <a:off x="2306221" y="365125"/>
            <a:ext cx="904757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/>
          </a:p>
        </p:txBody>
      </p:sp>
      <p:sp>
        <p:nvSpPr>
          <p:cNvPr id="73" name="Google Shape;73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Fine-grained access control</a:t>
            </a:r>
            <a:endParaRPr/>
          </a:p>
          <a:p>
            <a:pPr indent="-163285" lvl="1" marL="62048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Access policies can contain time and location information of data.</a:t>
            </a:r>
            <a:endParaRPr sz="2000"/>
          </a:p>
          <a:p>
            <a:pPr indent="-101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Real-time data sharing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To enable timely interventions based on collected data.</a:t>
            </a:r>
            <a:endParaRPr/>
          </a:p>
        </p:txBody>
      </p:sp>
      <p:sp>
        <p:nvSpPr>
          <p:cNvPr id="74" name="Google Shape;74;p3"/>
          <p:cNvSpPr txBox="1"/>
          <p:nvPr/>
        </p:nvSpPr>
        <p:spPr>
          <a:xfrm>
            <a:off x="7167901" y="5821611"/>
            <a:ext cx="2665300" cy="4851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231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6"/>
              <a:buFont typeface="Calibri"/>
              <a:buNone/>
            </a:pPr>
            <a:r>
              <a:rPr b="0" i="0" lang="en-US" sz="146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 of Bob’s data sharing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-32715" y="318921"/>
            <a:ext cx="2324101" cy="624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TEXT – Picture In Picture </a:t>
            </a:r>
            <a:endParaRPr/>
          </a:p>
        </p:txBody>
      </p:sp>
      <p:sp>
        <p:nvSpPr>
          <p:cNvPr id="76" name="Google Shape;76;p3"/>
          <p:cNvSpPr txBox="1"/>
          <p:nvPr>
            <p:ph idx="12" type="sldNum"/>
          </p:nvPr>
        </p:nvSpPr>
        <p:spPr>
          <a:xfrm>
            <a:off x="11169739" y="6404292"/>
            <a:ext cx="184061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/>
          </a:p>
        </p:txBody>
      </p:sp>
      <p:pic>
        <p:nvPicPr>
          <p:cNvPr descr="example2 (1).png" id="77" name="Google Shape;7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7620" y="1169671"/>
            <a:ext cx="5682366" cy="4518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/>
          <p:nvPr>
            <p:ph type="title"/>
          </p:nvPr>
        </p:nvSpPr>
        <p:spPr>
          <a:xfrm>
            <a:off x="2323856" y="365125"/>
            <a:ext cx="902994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12"/>
              <a:buFont typeface="Calibri"/>
              <a:buNone/>
            </a:pPr>
            <a:r>
              <a:rPr lang="en-US" sz="4312"/>
              <a:t>Why Name-based Access Control</a:t>
            </a:r>
            <a:r>
              <a:rPr baseline="30000" lang="en-US" sz="1960"/>
              <a:t>[1]</a:t>
            </a:r>
            <a:r>
              <a:rPr lang="en-US" sz="4312"/>
              <a:t>?</a:t>
            </a:r>
            <a:endParaRPr/>
          </a:p>
        </p:txBody>
      </p:sp>
      <p:sp>
        <p:nvSpPr>
          <p:cNvPr id="83" name="Google Shape;83;p4"/>
          <p:cNvSpPr txBox="1"/>
          <p:nvPr>
            <p:ph idx="1" type="body"/>
          </p:nvPr>
        </p:nvSpPr>
        <p:spPr>
          <a:xfrm>
            <a:off x="838200" y="1825625"/>
            <a:ext cx="991079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 data confidentiality and access control in NDN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Encrypting data at the time of production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Enabling end-to-end security without relying on third-party service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NDN provides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hierarchical naming structure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data-centric security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name-based data distribution</a:t>
            </a:r>
            <a:endParaRPr/>
          </a:p>
        </p:txBody>
      </p:sp>
      <p:sp>
        <p:nvSpPr>
          <p:cNvPr id="84" name="Google Shape;84;p4"/>
          <p:cNvSpPr txBox="1"/>
          <p:nvPr/>
        </p:nvSpPr>
        <p:spPr>
          <a:xfrm>
            <a:off x="503064" y="5886605"/>
            <a:ext cx="11316225" cy="713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241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6"/>
              <a:buFont typeface="Calibri"/>
              <a:buNone/>
            </a:pPr>
            <a:r>
              <a:rPr b="0" i="0" lang="en-US" sz="136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[1] Z. Zhang, Y. Yu, S. K. Ramani, A. Afanasyev, and L. Zhang, “NAC: Automating access control via Named Data,” in </a:t>
            </a:r>
            <a:r>
              <a:rPr b="0" i="1" lang="en-US" sz="136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IEEE MILCOM 2018</a:t>
            </a:r>
            <a:r>
              <a:rPr b="0" i="0" lang="en-US" sz="136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2018. </a:t>
            </a:r>
            <a:endParaRPr/>
          </a:p>
        </p:txBody>
      </p:sp>
      <p:sp>
        <p:nvSpPr>
          <p:cNvPr id="85" name="Google Shape;85;p4"/>
          <p:cNvSpPr txBox="1"/>
          <p:nvPr/>
        </p:nvSpPr>
        <p:spPr>
          <a:xfrm>
            <a:off x="-32715" y="318921"/>
            <a:ext cx="2324101" cy="624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TEXT – Picture In Picture </a:t>
            </a:r>
            <a:endParaRPr/>
          </a:p>
        </p:txBody>
      </p:sp>
      <p:sp>
        <p:nvSpPr>
          <p:cNvPr id="86" name="Google Shape;86;p4"/>
          <p:cNvSpPr txBox="1"/>
          <p:nvPr>
            <p:ph idx="12" type="sldNum"/>
          </p:nvPr>
        </p:nvSpPr>
        <p:spPr>
          <a:xfrm>
            <a:off x="11169739" y="6404292"/>
            <a:ext cx="184061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>
            <p:ph type="title"/>
          </p:nvPr>
        </p:nvSpPr>
        <p:spPr>
          <a:xfrm>
            <a:off x="2362066" y="365125"/>
            <a:ext cx="899173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NAC works?</a:t>
            </a:r>
            <a:endParaRPr/>
          </a:p>
        </p:txBody>
      </p:sp>
      <p:sp>
        <p:nvSpPr>
          <p:cNvPr id="92" name="Google Shape;92;p5"/>
          <p:cNvSpPr txBox="1"/>
          <p:nvPr>
            <p:ph idx="1" type="body"/>
          </p:nvPr>
        </p:nvSpPr>
        <p:spPr>
          <a:xfrm>
            <a:off x="838200" y="1825625"/>
            <a:ext cx="554781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01168" lvl="0" marL="20116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4"/>
              <a:buChar char="•"/>
            </a:pPr>
            <a:r>
              <a:rPr lang="en-US" sz="2464"/>
              <a:t>Access manager</a:t>
            </a:r>
            <a:endParaRPr/>
          </a:p>
          <a:p>
            <a:pPr indent="-201168" lvl="1" marL="603504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60"/>
              <a:buChar char="•"/>
            </a:pPr>
            <a:r>
              <a:rPr lang="en-US" sz="1760"/>
              <a:t>publishes access policy as named public/private key pairs</a:t>
            </a:r>
            <a:endParaRPr/>
          </a:p>
          <a:p>
            <a:pPr indent="-201168" lvl="1" marL="603504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60"/>
              <a:buChar char="•"/>
            </a:pPr>
            <a:r>
              <a:rPr lang="en-US" sz="1760"/>
              <a:t>KEK(key encryption key)</a:t>
            </a:r>
            <a:endParaRPr/>
          </a:p>
          <a:p>
            <a:pPr indent="-201168" lvl="1" marL="603504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60"/>
              <a:buChar char="•"/>
            </a:pPr>
            <a:r>
              <a:rPr lang="en-US" sz="1760"/>
              <a:t>KDK(key decryption key)</a:t>
            </a:r>
            <a:endParaRPr/>
          </a:p>
          <a:p>
            <a:pPr indent="-201168" lvl="0" marL="201168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64"/>
              <a:buChar char="•"/>
            </a:pPr>
            <a:r>
              <a:rPr lang="en-US" sz="2464"/>
              <a:t>Producer</a:t>
            </a:r>
            <a:endParaRPr/>
          </a:p>
          <a:p>
            <a:pPr indent="-201168" lvl="1" marL="603504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60"/>
              <a:buChar char="•"/>
            </a:pPr>
            <a:r>
              <a:rPr lang="en-US" sz="1760"/>
              <a:t>CK(content key), a symmetric key</a:t>
            </a:r>
            <a:endParaRPr/>
          </a:p>
          <a:p>
            <a:pPr indent="-201168" lvl="1" marL="603504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60"/>
              <a:buChar char="•"/>
            </a:pPr>
            <a:r>
              <a:rPr lang="en-US" sz="1760"/>
              <a:t>Content encrypted by CK</a:t>
            </a:r>
            <a:endParaRPr/>
          </a:p>
          <a:p>
            <a:pPr indent="-201168" lvl="1" marL="603504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60"/>
              <a:buChar char="•"/>
            </a:pPr>
            <a:r>
              <a:rPr lang="en-US" sz="1760"/>
              <a:t>publishes encrypted content and encrypted CK</a:t>
            </a:r>
            <a:endParaRPr/>
          </a:p>
          <a:p>
            <a:pPr indent="-201168" lvl="0" marL="201168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64"/>
              <a:buChar char="•"/>
            </a:pPr>
            <a:r>
              <a:rPr lang="en-US" sz="2464"/>
              <a:t>Consumer</a:t>
            </a:r>
            <a:endParaRPr/>
          </a:p>
          <a:p>
            <a:pPr indent="-201168" lvl="1" marL="603504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60"/>
              <a:buChar char="•"/>
            </a:pPr>
            <a:r>
              <a:rPr lang="en-US" sz="1760"/>
              <a:t>decrypts encrypted CK using KDK</a:t>
            </a:r>
            <a:endParaRPr/>
          </a:p>
          <a:p>
            <a:pPr indent="-201168" lvl="1" marL="603504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60"/>
              <a:buChar char="•"/>
            </a:pPr>
            <a:r>
              <a:rPr lang="en-US" sz="1760"/>
              <a:t>decrypts encrypted content using CK </a:t>
            </a:r>
            <a:endParaRPr/>
          </a:p>
        </p:txBody>
      </p:sp>
      <p:pic>
        <p:nvPicPr>
          <p:cNvPr descr="1 (1).png" id="93" name="Google Shape;9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6282" y="1671478"/>
            <a:ext cx="6338418" cy="30565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.png" id="94" name="Google Shape;9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7978" y="1736085"/>
            <a:ext cx="2620568" cy="807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 (1).png" id="95" name="Google Shape;9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8792" y="3173677"/>
            <a:ext cx="854005" cy="8856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 (3).png" id="96" name="Google Shape;9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111" y="3176524"/>
            <a:ext cx="1994528" cy="8799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5"/>
          <p:cNvCxnSpPr/>
          <p:nvPr/>
        </p:nvCxnSpPr>
        <p:spPr>
          <a:xfrm flipH="1">
            <a:off x="7387025" y="2542497"/>
            <a:ext cx="1653585" cy="606065"/>
          </a:xfrm>
          <a:prstGeom prst="straightConnector1">
            <a:avLst/>
          </a:prstGeom>
          <a:noFill/>
          <a:ln cap="flat" cmpd="sng" w="16500">
            <a:solidFill>
              <a:srgbClr val="00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98" name="Google Shape;98;p5"/>
          <p:cNvCxnSpPr/>
          <p:nvPr/>
        </p:nvCxnSpPr>
        <p:spPr>
          <a:xfrm>
            <a:off x="10131349" y="2147753"/>
            <a:ext cx="708490" cy="1018567"/>
          </a:xfrm>
          <a:prstGeom prst="straightConnector1">
            <a:avLst/>
          </a:prstGeom>
          <a:noFill/>
          <a:ln cap="flat" cmpd="sng" w="16500">
            <a:solidFill>
              <a:srgbClr val="00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pic>
        <p:nvPicPr>
          <p:cNvPr descr="2 (5).png" id="99" name="Google Shape;9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51390" y="3258606"/>
            <a:ext cx="1032058" cy="889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 (6).png" id="100" name="Google Shape;100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46349" y="3165643"/>
            <a:ext cx="1742412" cy="876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 txBox="1"/>
          <p:nvPr>
            <p:ph idx="12" type="sldNum"/>
          </p:nvPr>
        </p:nvSpPr>
        <p:spPr>
          <a:xfrm>
            <a:off x="11169739" y="6404292"/>
            <a:ext cx="184061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 txBox="1"/>
          <p:nvPr>
            <p:ph type="title"/>
          </p:nvPr>
        </p:nvSpPr>
        <p:spPr>
          <a:xfrm>
            <a:off x="2270502" y="365125"/>
            <a:ext cx="908329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Spatio-Temporal Access Control</a:t>
            </a:r>
            <a:endParaRPr/>
          </a:p>
        </p:txBody>
      </p:sp>
      <p:sp>
        <p:nvSpPr>
          <p:cNvPr id="107" name="Google Shape;10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 a hierarchical naming convention related to time and location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/>
              <a:t>e.g. Bob’s activity data namespace, /Bob/activity/&lt;geolocation&gt;/&lt;timestamp&gt;/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Support granular non-real time data sharing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/>
              <a:t>Data owners could share historical data in storage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Support granular real-time data sharing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/>
              <a:t>e.g. physician retrieves heart rate data in real time for intervention timely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Specify different granularities of content key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/>
              <a:t>CK granularity could be changed depending on time and/or location.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/>
              <a:t>E.g., content key could be generated per second, per minute, or at each location.</a:t>
            </a:r>
            <a:endParaRPr/>
          </a:p>
        </p:txBody>
      </p:sp>
      <p:sp>
        <p:nvSpPr>
          <p:cNvPr id="108" name="Google Shape;108;p6"/>
          <p:cNvSpPr txBox="1"/>
          <p:nvPr>
            <p:ph idx="12" type="sldNum"/>
          </p:nvPr>
        </p:nvSpPr>
        <p:spPr>
          <a:xfrm>
            <a:off x="11169739" y="6404292"/>
            <a:ext cx="184061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>
            <p:ph type="title"/>
          </p:nvPr>
        </p:nvSpPr>
        <p:spPr>
          <a:xfrm>
            <a:off x="2333504" y="365125"/>
            <a:ext cx="902029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Granular Access Policy</a:t>
            </a:r>
            <a:endParaRPr/>
          </a:p>
        </p:txBody>
      </p:sp>
      <p:sp>
        <p:nvSpPr>
          <p:cNvPr id="114" name="Google Shape;114;p7"/>
          <p:cNvSpPr txBox="1"/>
          <p:nvPr>
            <p:ph idx="1" type="body"/>
          </p:nvPr>
        </p:nvSpPr>
        <p:spPr>
          <a:xfrm>
            <a:off x="838200" y="1825625"/>
            <a:ext cx="548306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Decide who can access what data at which granularity.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Granular access policy contains a list of constraints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-US" sz="2100"/>
              <a:t>Time interval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Char char="•"/>
            </a:pPr>
            <a:r>
              <a:rPr lang="en-US" sz="1900"/>
              <a:t>between 8am and 5pm Sept 1, 2020</a:t>
            </a:r>
            <a:endParaRPr>
              <a:solidFill>
                <a:srgbClr val="595959"/>
              </a:solidFill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-US" sz="2100"/>
              <a:t>Spatial area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Char char="•"/>
            </a:pPr>
            <a:r>
              <a:rPr lang="en-US" sz="1900"/>
              <a:t>at building, neighborhood, or city level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Char char="•"/>
            </a:pPr>
            <a:r>
              <a:rPr lang="en-US" sz="1900"/>
              <a:t>home, Memphis, etc.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Char char="•"/>
            </a:pPr>
            <a:r>
              <a:rPr lang="en-US" sz="1900"/>
              <a:t>represented by a center point (GPS coordinates ) and a radius(in meters)</a:t>
            </a:r>
            <a:endParaRPr/>
          </a:p>
        </p:txBody>
      </p:sp>
      <p:pic>
        <p:nvPicPr>
          <p:cNvPr descr="gym1.png" id="115" name="Google Shape;11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4975" y="1997891"/>
            <a:ext cx="5381174" cy="312393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7"/>
          <p:cNvSpPr txBox="1"/>
          <p:nvPr/>
        </p:nvSpPr>
        <p:spPr>
          <a:xfrm>
            <a:off x="7228906" y="5429031"/>
            <a:ext cx="3693313" cy="4851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231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6"/>
              <a:buFont typeface="Calibri"/>
              <a:buNone/>
            </a:pPr>
            <a:r>
              <a:rPr b="0" i="0" lang="en-US" sz="146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 of geolocation: UM Fitness center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 txBox="1"/>
          <p:nvPr>
            <p:ph idx="12" type="sldNum"/>
          </p:nvPr>
        </p:nvSpPr>
        <p:spPr>
          <a:xfrm>
            <a:off x="11169739" y="6404292"/>
            <a:ext cx="184061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 txBox="1"/>
          <p:nvPr>
            <p:ph type="title"/>
          </p:nvPr>
        </p:nvSpPr>
        <p:spPr>
          <a:xfrm>
            <a:off x="2285199" y="365125"/>
            <a:ext cx="9068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Namespace Design</a:t>
            </a:r>
            <a:endParaRPr/>
          </a:p>
        </p:txBody>
      </p:sp>
      <p:sp>
        <p:nvSpPr>
          <p:cNvPr id="123" name="Google Shape;123;p8"/>
          <p:cNvSpPr txBox="1"/>
          <p:nvPr>
            <p:ph idx="1" type="body"/>
          </p:nvPr>
        </p:nvSpPr>
        <p:spPr>
          <a:xfrm>
            <a:off x="838200" y="1825625"/>
            <a:ext cx="392782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•"/>
            </a:pPr>
            <a:r>
              <a:rPr lang="en-US" sz="2600"/>
              <a:t>&lt;DataOwner&gt;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Char char="•"/>
            </a:pPr>
            <a:r>
              <a:rPr lang="en-US" sz="1900"/>
              <a:t>e.g., /Bob, /org/UofM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Char char="•"/>
            </a:pPr>
            <a:r>
              <a:rPr lang="en-US" sz="2600"/>
              <a:t>&lt;DataStream&gt;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e.g.,/activity, /heart_rate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Char char="•"/>
            </a:pPr>
            <a:r>
              <a:rPr lang="en-US" sz="2600"/>
              <a:t>/DATA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Data namespace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CK namespace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PSync namespace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Char char="•"/>
            </a:pPr>
            <a:r>
              <a:rPr lang="en-US" sz="2600"/>
              <a:t>/Read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Access control namespace</a:t>
            </a:r>
            <a:endParaRPr/>
          </a:p>
        </p:txBody>
      </p:sp>
      <p:pic>
        <p:nvPicPr>
          <p:cNvPr descr="-GpBTblHyvxZHmoIyoaR3TP3qnsXcRCNLoChvr7lmB2BCd8FH6MXheTS9PvqsirdnKXHE7hzbd78t7oOn3SjdVsHUnLTTZ97Gj49lFzVxyfKHvwPBozfygl54kdJDNta3LUWhAK2JzA.png" id="124" name="Google Shape;12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7943" y="1496304"/>
            <a:ext cx="6674179" cy="477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8"/>
          <p:cNvSpPr txBox="1"/>
          <p:nvPr>
            <p:ph idx="12" type="sldNum"/>
          </p:nvPr>
        </p:nvSpPr>
        <p:spPr>
          <a:xfrm>
            <a:off x="11169739" y="6404292"/>
            <a:ext cx="184061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 txBox="1"/>
          <p:nvPr>
            <p:ph type="title"/>
          </p:nvPr>
        </p:nvSpPr>
        <p:spPr>
          <a:xfrm>
            <a:off x="2329798" y="365125"/>
            <a:ext cx="902400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Design of Access Policy</a:t>
            </a:r>
            <a:endParaRPr/>
          </a:p>
        </p:txBody>
      </p:sp>
      <p:sp>
        <p:nvSpPr>
          <p:cNvPr id="131" name="Google Shape;13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80736" lvl="0" marL="28073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manager sets up access policy for data owner Bob</a:t>
            </a:r>
            <a:endParaRPr/>
          </a:p>
          <a:p>
            <a:pPr indent="-280736" lvl="1" marL="661736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n-US" sz="1900"/>
              <a:t>Bob’s coach can access dataset: /Bob/activity generated at Fitness center, between 8am to 12pm from 09/01/2020 to 09/05/2020 daily</a:t>
            </a:r>
            <a:endParaRPr/>
          </a:p>
        </p:txBody>
      </p:sp>
      <p:sp>
        <p:nvSpPr>
          <p:cNvPr id="132" name="Google Shape;132;p9"/>
          <p:cNvSpPr txBox="1"/>
          <p:nvPr>
            <p:ph idx="12" type="sldNum"/>
          </p:nvPr>
        </p:nvSpPr>
        <p:spPr>
          <a:xfrm>
            <a:off x="11169739" y="6404292"/>
            <a:ext cx="184061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33" name="Google Shape;133;p9"/>
          <p:cNvSpPr txBox="1"/>
          <p:nvPr/>
        </p:nvSpPr>
        <p:spPr>
          <a:xfrm>
            <a:off x="-32715" y="318921"/>
            <a:ext cx="2324101" cy="624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TEXT – Picture In Picture </a:t>
            </a:r>
            <a:endParaRPr/>
          </a:p>
        </p:txBody>
      </p:sp>
      <p:sp>
        <p:nvSpPr>
          <p:cNvPr id="134" name="Google Shape;134;p9"/>
          <p:cNvSpPr txBox="1"/>
          <p:nvPr/>
        </p:nvSpPr>
        <p:spPr>
          <a:xfrm>
            <a:off x="1324069" y="5821611"/>
            <a:ext cx="3496587" cy="4851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231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6"/>
              <a:buFont typeface="Calibri"/>
              <a:buNone/>
            </a:pPr>
            <a:r>
              <a:rPr b="0" i="0" lang="en-US" sz="146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 of access policy for coach Alice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xample3 (2).png" id="135" name="Google Shape;1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8256" y="2917656"/>
            <a:ext cx="5343211" cy="33589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licy (2).png" id="136" name="Google Shape;13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5373" y="3384271"/>
            <a:ext cx="4330701" cy="242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>
            <p:ph type="title"/>
          </p:nvPr>
        </p:nvSpPr>
        <p:spPr>
          <a:xfrm>
            <a:off x="2371778" y="365125"/>
            <a:ext cx="898202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Design of Data Naming</a:t>
            </a:r>
            <a:endParaRPr/>
          </a:p>
        </p:txBody>
      </p:sp>
      <p:sp>
        <p:nvSpPr>
          <p:cNvPr id="142" name="Google Shape;142;p10"/>
          <p:cNvSpPr txBox="1"/>
          <p:nvPr>
            <p:ph idx="1" type="body"/>
          </p:nvPr>
        </p:nvSpPr>
        <p:spPr>
          <a:xfrm>
            <a:off x="838200" y="1825625"/>
            <a:ext cx="10515600" cy="2324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1079" lvl="0" marL="22107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Calibri"/>
              <a:buChar char="•"/>
            </a:pPr>
            <a:r>
              <a:rPr lang="en-US" sz="2205"/>
              <a:t>Access Manager generates pairs of KEK and KDK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Calibri"/>
              <a:buNone/>
            </a:pPr>
            <a:r>
              <a:t/>
            </a:r>
            <a:endParaRPr sz="220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Calibri"/>
              <a:buNone/>
            </a:pPr>
            <a:r>
              <a:t/>
            </a:r>
            <a:endParaRPr sz="220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Calibri"/>
              <a:buNone/>
            </a:pPr>
            <a:r>
              <a:t/>
            </a:r>
            <a:endParaRPr sz="220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Calibri"/>
              <a:buNone/>
            </a:pPr>
            <a:r>
              <a:t/>
            </a:r>
            <a:endParaRPr sz="220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Calibri"/>
              <a:buNone/>
            </a:pPr>
            <a:r>
              <a:t/>
            </a:r>
            <a:endParaRPr sz="220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Calibri"/>
              <a:buNone/>
            </a:pPr>
            <a:r>
              <a:t/>
            </a:r>
            <a:endParaRPr sz="220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Calibri"/>
              <a:buNone/>
            </a:pPr>
            <a:r>
              <a:t/>
            </a:r>
            <a:endParaRPr sz="220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Calibri"/>
              <a:buNone/>
            </a:pPr>
            <a:r>
              <a:t/>
            </a:r>
            <a:endParaRPr sz="220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Calibri"/>
              <a:buNone/>
            </a:pPr>
            <a:r>
              <a:t/>
            </a:r>
            <a:endParaRPr sz="220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Calibri"/>
              <a:buNone/>
            </a:pPr>
            <a:r>
              <a:t/>
            </a:r>
            <a:endParaRPr sz="2205"/>
          </a:p>
        </p:txBody>
      </p:sp>
      <p:sp>
        <p:nvSpPr>
          <p:cNvPr id="143" name="Google Shape;143;p10"/>
          <p:cNvSpPr txBox="1"/>
          <p:nvPr>
            <p:ph idx="12" type="sldNum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44" name="Google Shape;144;p10"/>
          <p:cNvSpPr txBox="1"/>
          <p:nvPr/>
        </p:nvSpPr>
        <p:spPr>
          <a:xfrm>
            <a:off x="838200" y="3948238"/>
            <a:ext cx="10515600" cy="999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16568" lvl="0" marL="2165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Char char="•"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Bob generates content at 09012020T083000, fitness center.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t/>
            </a:r>
            <a:endParaRPr b="0" i="0" sz="21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t/>
            </a:r>
            <a:endParaRPr b="0" i="0" sz="21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t/>
            </a:r>
            <a:endParaRPr b="0" i="0" sz="21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t/>
            </a:r>
            <a:endParaRPr b="0" i="0" sz="21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t/>
            </a:r>
            <a:endParaRPr b="0" i="0" sz="21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t/>
            </a:r>
            <a:endParaRPr b="0" i="0" sz="21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t/>
            </a:r>
            <a:endParaRPr b="0" i="0" sz="21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t/>
            </a:r>
            <a:endParaRPr b="0" i="0" sz="21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t/>
            </a:r>
            <a:endParaRPr b="0" i="0" sz="21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t/>
            </a:r>
            <a:endParaRPr b="0" i="0" sz="21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ata_name.png" id="145" name="Google Shape;14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833" y="4310248"/>
            <a:ext cx="6616701" cy="622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0"/>
          <p:cNvSpPr txBox="1"/>
          <p:nvPr/>
        </p:nvSpPr>
        <p:spPr>
          <a:xfrm>
            <a:off x="838200" y="4976513"/>
            <a:ext cx="10515600" cy="1325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16568" lvl="0" marL="2165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Char char="•"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Bob specifies CK granularity as 1m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t/>
            </a:r>
            <a:endParaRPr b="0" i="0" sz="21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t/>
            </a:r>
            <a:endParaRPr b="0" i="0" sz="21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t/>
            </a:r>
            <a:endParaRPr b="0" i="0" sz="21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t/>
            </a:r>
            <a:endParaRPr b="0" i="0" sz="21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t/>
            </a:r>
            <a:endParaRPr b="0" i="0" sz="21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t/>
            </a:r>
            <a:endParaRPr b="0" i="0" sz="21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t/>
            </a:r>
            <a:endParaRPr b="0" i="0" sz="21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t/>
            </a:r>
            <a:endParaRPr b="0" i="0" sz="21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t/>
            </a:r>
            <a:endParaRPr b="0" i="0" sz="21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t/>
            </a:r>
            <a:endParaRPr b="0" i="0" sz="21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HDuh-BFPGr4TeEOpKVmZ7b4vBVJQWaLA87wqunjX7CnN2WkamUW3qKBOvuLrJa9jze8RX4tnW_u3PPtEVSzI5OOqld3wluTe3j0T5t1KJivfcVVYzr7dN2EedbEWp_awIb04evgHF8.png" id="147" name="Google Shape;14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3965" y="5335883"/>
            <a:ext cx="10109201" cy="812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bine-time-location (3).png" id="148" name="Google Shape;14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215" y="2225768"/>
            <a:ext cx="10172702" cy="167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>
            <p:ph idx="1" type="body"/>
          </p:nvPr>
        </p:nvSpPr>
        <p:spPr>
          <a:xfrm>
            <a:off x="838200" y="1825625"/>
            <a:ext cx="559047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</a:pPr>
            <a:r>
              <a:rPr lang="en-US" sz="2700"/>
              <a:t>Coach can only access Bob’s activity data generated at fitness center 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</a:pPr>
            <a:r>
              <a:rPr lang="en-US" sz="2700"/>
              <a:t>When coach fetches Bob’s activity data generated at home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Coach is not authorized to access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Cannot have the keys to decrypt the data  </a:t>
            </a:r>
            <a:endParaRPr/>
          </a:p>
        </p:txBody>
      </p:sp>
      <p:sp>
        <p:nvSpPr>
          <p:cNvPr id="154" name="Google Shape;154;p11"/>
          <p:cNvSpPr txBox="1"/>
          <p:nvPr>
            <p:ph idx="12" type="sldNum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55" name="Google Shape;155;p11"/>
          <p:cNvSpPr txBox="1"/>
          <p:nvPr>
            <p:ph type="title"/>
          </p:nvPr>
        </p:nvSpPr>
        <p:spPr>
          <a:xfrm>
            <a:off x="2371778" y="365125"/>
            <a:ext cx="898202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Failure Case</a:t>
            </a:r>
            <a:endParaRPr/>
          </a:p>
        </p:txBody>
      </p:sp>
      <p:pic>
        <p:nvPicPr>
          <p:cNvPr descr="failure (2).png" id="156" name="Google Shape;15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4710" y="1692949"/>
            <a:ext cx="5523237" cy="3472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 txBox="1"/>
          <p:nvPr>
            <p:ph type="title"/>
          </p:nvPr>
        </p:nvSpPr>
        <p:spPr>
          <a:xfrm>
            <a:off x="2261173" y="365125"/>
            <a:ext cx="909262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/>
          </a:p>
        </p:txBody>
      </p:sp>
      <p:sp>
        <p:nvSpPr>
          <p:cNvPr id="162" name="Google Shape;162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10311" lvl="0" marL="21031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6"/>
              <a:buChar char="•"/>
            </a:pPr>
            <a:r>
              <a:rPr lang="en-US" sz="2576"/>
              <a:t>Experiment for data retrieval time for spatio-temporal access control</a:t>
            </a:r>
            <a:endParaRPr/>
          </a:p>
          <a:p>
            <a:pPr indent="-210311" lvl="0" marL="210311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576"/>
              <a:buChar char="•"/>
            </a:pPr>
            <a:r>
              <a:rPr lang="en-US" sz="2576"/>
              <a:t>MiniNDN</a:t>
            </a:r>
            <a:r>
              <a:rPr baseline="30000" lang="en-US" sz="1564"/>
              <a:t>[2]</a:t>
            </a:r>
            <a:r>
              <a:rPr lang="en-US" sz="2576"/>
              <a:t> Emulation Environment</a:t>
            </a:r>
            <a:endParaRPr/>
          </a:p>
          <a:p>
            <a:pPr indent="-210311" lvl="1" marL="630936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40"/>
              <a:buChar char="•"/>
            </a:pPr>
            <a:r>
              <a:rPr lang="en-US" sz="1840"/>
              <a:t>Mininet-based NDN emulator</a:t>
            </a:r>
            <a:endParaRPr/>
          </a:p>
          <a:p>
            <a:pPr indent="-210311" lvl="1" marL="630936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40"/>
              <a:buChar char="•"/>
            </a:pPr>
            <a:r>
              <a:rPr lang="en-US" sz="1840"/>
              <a:t>Experimental topology: star topology with 102 nodes</a:t>
            </a:r>
            <a:endParaRPr/>
          </a:p>
          <a:p>
            <a:pPr indent="-210311" lvl="2" marL="105156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56"/>
              <a:buChar char="•"/>
            </a:pPr>
            <a:r>
              <a:rPr lang="en-US" sz="1656"/>
              <a:t>100 consumers, 1 producer, 1 access manager</a:t>
            </a:r>
            <a:endParaRPr sz="1840"/>
          </a:p>
          <a:p>
            <a:pPr indent="-210311" lvl="0" marL="210311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576"/>
              <a:buChar char="•"/>
            </a:pPr>
            <a:r>
              <a:rPr lang="en-US" sz="2576"/>
              <a:t>Dataset</a:t>
            </a:r>
            <a:endParaRPr/>
          </a:p>
          <a:p>
            <a:pPr indent="-210311" lvl="1" marL="630936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40"/>
              <a:buChar char="•"/>
            </a:pPr>
            <a:r>
              <a:rPr lang="en-US" sz="1840"/>
              <a:t>Activity data, continuous time(8am-8pm), location (UM Library and CS department)</a:t>
            </a:r>
            <a:endParaRPr/>
          </a:p>
          <a:p>
            <a:pPr indent="-210311" lvl="1" marL="630936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40"/>
              <a:buChar char="•"/>
            </a:pPr>
            <a:r>
              <a:rPr lang="en-US" sz="1840"/>
              <a:t>Size: 2000 data points</a:t>
            </a:r>
            <a:endParaRPr/>
          </a:p>
          <a:p>
            <a:pPr indent="-210311" lvl="0" marL="210311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576"/>
              <a:buChar char="•"/>
            </a:pPr>
            <a:r>
              <a:rPr lang="en-US" sz="2576"/>
              <a:t>Access policy</a:t>
            </a:r>
            <a:endParaRPr/>
          </a:p>
          <a:p>
            <a:pPr indent="-210311" lvl="1" marL="630936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40"/>
              <a:buChar char="•"/>
            </a:pPr>
            <a:r>
              <a:rPr lang="en-US" sz="1840"/>
              <a:t>Allow access activity data between 8am and 12pm at CS department, University of Memphis.</a:t>
            </a:r>
            <a:endParaRPr/>
          </a:p>
        </p:txBody>
      </p:sp>
      <p:sp>
        <p:nvSpPr>
          <p:cNvPr id="163" name="Google Shape;163;p12"/>
          <p:cNvSpPr txBox="1"/>
          <p:nvPr>
            <p:ph idx="12" type="sldNum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64" name="Google Shape;164;p12"/>
          <p:cNvSpPr txBox="1"/>
          <p:nvPr/>
        </p:nvSpPr>
        <p:spPr>
          <a:xfrm>
            <a:off x="1036185" y="6311900"/>
            <a:ext cx="10119630" cy="713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241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6"/>
              <a:buFont typeface="Calibri"/>
              <a:buNone/>
            </a:pPr>
            <a:r>
              <a:rPr b="0" i="0" lang="en-US" sz="136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[2] </a:t>
            </a:r>
            <a:r>
              <a:rPr b="0" i="0" lang="en-US" sz="1366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http://minindn.memphis.edu/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 txBox="1"/>
          <p:nvPr>
            <p:ph type="title"/>
          </p:nvPr>
        </p:nvSpPr>
        <p:spPr>
          <a:xfrm>
            <a:off x="2270438" y="365125"/>
            <a:ext cx="908336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Evaluation Results</a:t>
            </a:r>
            <a:endParaRPr/>
          </a:p>
        </p:txBody>
      </p:sp>
      <p:sp>
        <p:nvSpPr>
          <p:cNvPr id="170" name="Google Shape;170;p13"/>
          <p:cNvSpPr txBox="1"/>
          <p:nvPr>
            <p:ph idx="1" type="body"/>
          </p:nvPr>
        </p:nvSpPr>
        <p:spPr>
          <a:xfrm>
            <a:off x="838200" y="1825625"/>
            <a:ext cx="555271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700"/>
              <a:t>CK granularity can be specified</a:t>
            </a:r>
            <a:r>
              <a:rPr lang="en-US" sz="2700"/>
              <a:t> </a:t>
            </a:r>
            <a:r>
              <a:rPr lang="en-US" sz="2700"/>
              <a:t>based on data generation interval</a:t>
            </a:r>
            <a:endParaRPr sz="2700"/>
          </a:p>
          <a:p>
            <a:pPr indent="-234950" lvl="1" marL="723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 sz="2000"/>
              <a:t>When data is generated per second, granularity could be 1s, or coarser</a:t>
            </a:r>
            <a:endParaRPr sz="13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700"/>
              <a:t>Tradeoff between finer granularity and number of CK generated</a:t>
            </a:r>
            <a:endParaRPr/>
          </a:p>
          <a:p>
            <a:pPr indent="-279400" lvl="1" marL="723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Coarse granularity makes one CK cover more data, once the CK is compromised, those data will be exposed</a:t>
            </a:r>
            <a:br>
              <a:rPr lang="en-US"/>
            </a:br>
            <a:endParaRPr sz="2700"/>
          </a:p>
        </p:txBody>
      </p:sp>
      <p:pic>
        <p:nvPicPr>
          <p:cNvPr descr="dOUsSug0m0eGTjmZayUr7I86mIkpwIzuagKEyRLV3oob7M90vy3yEh9q38yjJicGg47x2os3kLRIsKi_dPqMV0ZRNGrHByg3Z0ZjH_tQcPkziDeX0E99-N2LzkGydv6DHjedkQeSgN4.png" id="171" name="Google Shape;17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0983" y="1434575"/>
            <a:ext cx="5866537" cy="435133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3"/>
          <p:cNvSpPr txBox="1"/>
          <p:nvPr>
            <p:ph idx="12" type="sldNum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generation interval: 1s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average sync delay for each data point ≈ 20.4ms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production time ≈ 4.5ms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Including CK search/generation, KEK retrieval, and data encryption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consumption time ≈ 30ms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Including CK retrieval, KDK retrieval, and data decryption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Communication delay ≈ 16ms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Data transmission delay between producer and consumer</a:t>
            </a:r>
            <a:endParaRPr/>
          </a:p>
        </p:txBody>
      </p:sp>
      <p:sp>
        <p:nvSpPr>
          <p:cNvPr id="178" name="Google Shape;178;p14"/>
          <p:cNvSpPr txBox="1"/>
          <p:nvPr>
            <p:ph idx="12" type="sldNum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79" name="Google Shape;179;p14"/>
          <p:cNvSpPr txBox="1"/>
          <p:nvPr/>
        </p:nvSpPr>
        <p:spPr>
          <a:xfrm>
            <a:off x="2290566" y="365125"/>
            <a:ext cx="906323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Evaluation Results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"/>
          <p:cNvSpPr txBox="1"/>
          <p:nvPr>
            <p:ph type="title"/>
          </p:nvPr>
        </p:nvSpPr>
        <p:spPr>
          <a:xfrm>
            <a:off x="2353567" y="365125"/>
            <a:ext cx="900023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85" name="Google Shape;185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developed spatio-temporal access control</a:t>
            </a:r>
            <a:endParaRPr/>
          </a:p>
          <a:p>
            <a:pPr indent="-320040" lvl="1" marL="77724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Fine-grained access control, access policy defining and enforcement </a:t>
            </a:r>
            <a:endParaRPr/>
          </a:p>
          <a:p>
            <a:pPr indent="-320040" lvl="1" marL="77724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Real-time data subscription and notification</a:t>
            </a:r>
            <a:endParaRPr/>
          </a:p>
          <a:p>
            <a:pPr indent="-320039" lvl="0" marL="320039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/>
          </a:p>
          <a:p>
            <a:pPr indent="-320040" lvl="1" marL="77724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Specify spatial area through a map directly</a:t>
            </a:r>
            <a:endParaRPr/>
          </a:p>
          <a:p>
            <a:pPr indent="-320040" lvl="1" marL="77724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Run experiments by changing granularity of spacial area at neighborhood level, city level</a:t>
            </a:r>
            <a:endParaRPr/>
          </a:p>
        </p:txBody>
      </p:sp>
      <p:sp>
        <p:nvSpPr>
          <p:cNvPr id="186" name="Google Shape;186;p15"/>
          <p:cNvSpPr txBox="1"/>
          <p:nvPr>
            <p:ph idx="12" type="sldNum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"/>
          <p:cNvSpPr txBox="1"/>
          <p:nvPr>
            <p:ph type="title"/>
          </p:nvPr>
        </p:nvSpPr>
        <p:spPr>
          <a:xfrm>
            <a:off x="2375548" y="365125"/>
            <a:ext cx="897825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End</a:t>
            </a:r>
            <a:endParaRPr/>
          </a:p>
        </p:txBody>
      </p:sp>
      <p:sp>
        <p:nvSpPr>
          <p:cNvPr id="192" name="Google Shape;192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Calibri"/>
              <a:buNone/>
            </a:pPr>
            <a:r>
              <a:t/>
            </a:r>
            <a:endParaRPr sz="60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Calibri"/>
              <a:buNone/>
            </a:pPr>
            <a:r>
              <a:rPr lang="en-US" sz="6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Calibri"/>
              <a:buNone/>
            </a:pPr>
            <a:r>
              <a:rPr lang="en-US" sz="6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/>
          </a:p>
        </p:txBody>
      </p:sp>
      <p:sp>
        <p:nvSpPr>
          <p:cNvPr id="193" name="Google Shape;193;p16"/>
          <p:cNvSpPr txBox="1"/>
          <p:nvPr>
            <p:ph idx="12" type="sldNum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"/>
          <p:cNvSpPr txBox="1"/>
          <p:nvPr>
            <p:ph type="title"/>
          </p:nvPr>
        </p:nvSpPr>
        <p:spPr>
          <a:xfrm>
            <a:off x="2339957" y="365125"/>
            <a:ext cx="901384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Assumptions</a:t>
            </a:r>
            <a:endParaRPr/>
          </a:p>
        </p:txBody>
      </p:sp>
      <p:sp>
        <p:nvSpPr>
          <p:cNvPr id="199" name="Google Shape;19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Assumptions from NAC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Each entity in the system has its own public/private key pair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Each entity is able to authenticate the data packets produced by others through digital signature validation.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Assumption for spatio-temporal data sharing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The data contains geolocation and time information.</a:t>
            </a:r>
            <a:endParaRPr/>
          </a:p>
        </p:txBody>
      </p:sp>
      <p:sp>
        <p:nvSpPr>
          <p:cNvPr id="200" name="Google Shape;200;p17"/>
          <p:cNvSpPr txBox="1"/>
          <p:nvPr>
            <p:ph idx="12" type="sldNum"/>
          </p:nvPr>
        </p:nvSpPr>
        <p:spPr>
          <a:xfrm>
            <a:off x="11164827" y="6404292"/>
            <a:ext cx="188974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"/>
          <p:cNvSpPr txBox="1"/>
          <p:nvPr>
            <p:ph type="title"/>
          </p:nvPr>
        </p:nvSpPr>
        <p:spPr>
          <a:xfrm>
            <a:off x="2315038" y="365125"/>
            <a:ext cx="903876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Subscription and Notification</a:t>
            </a:r>
            <a:endParaRPr/>
          </a:p>
        </p:txBody>
      </p:sp>
      <p:sp>
        <p:nvSpPr>
          <p:cNvPr id="206" name="Google Shape;206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Enable real-time data sharing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Data consumers subscribe to the data prefix of their interests.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Receive notification whenever such data is generated.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Synchronize the new data.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PSync</a:t>
            </a:r>
            <a:r>
              <a:rPr lang="en-US" sz="1500"/>
              <a:t>[2]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a sync protocol in NDN, addresses different types of data synchronization efficiently.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453991" y="5870247"/>
            <a:ext cx="11745565" cy="492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241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6"/>
              <a:buFont typeface="Calibri"/>
              <a:buNone/>
            </a:pPr>
            <a:r>
              <a:rPr b="0" i="0" lang="en-US" sz="136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[2] M. Zhang, V. Lehman, and L. Wang. 2017. Scalable name-based data synchronization for Named Data Networking. In IEEE INFOCOM 2017 - IEEE Conference on Computer Communications. 1–9.</a:t>
            </a:r>
            <a:endParaRPr/>
          </a:p>
        </p:txBody>
      </p:sp>
      <p:sp>
        <p:nvSpPr>
          <p:cNvPr id="208" name="Google Shape;208;p18"/>
          <p:cNvSpPr txBox="1"/>
          <p:nvPr>
            <p:ph idx="12" type="sldNum"/>
          </p:nvPr>
        </p:nvSpPr>
        <p:spPr>
          <a:xfrm>
            <a:off x="11164827" y="6404292"/>
            <a:ext cx="188974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Physician fetches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encrypted content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encrypted CK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encrypted KDK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Physician decrypts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encrypted KDK using her private key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encrypted CK using KDK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encrypted content using CK</a:t>
            </a:r>
            <a:endParaRPr/>
          </a:p>
        </p:txBody>
      </p:sp>
      <p:sp>
        <p:nvSpPr>
          <p:cNvPr id="214" name="Google Shape;214;p19"/>
          <p:cNvSpPr txBox="1"/>
          <p:nvPr>
            <p:ph idx="12" type="sldNum"/>
          </p:nvPr>
        </p:nvSpPr>
        <p:spPr>
          <a:xfrm>
            <a:off x="11164827" y="6404292"/>
            <a:ext cx="188974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215" name="Google Shape;215;p19"/>
          <p:cNvSpPr txBox="1"/>
          <p:nvPr>
            <p:ph type="title"/>
          </p:nvPr>
        </p:nvSpPr>
        <p:spPr>
          <a:xfrm>
            <a:off x="2371778" y="365125"/>
            <a:ext cx="898202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Case - Data Consumption</a:t>
            </a:r>
            <a:endParaRPr/>
          </a:p>
        </p:txBody>
      </p:sp>
      <p:pic>
        <p:nvPicPr>
          <p:cNvPr descr="xwOZXsXb6dmdz8sQ6BaqgZPq-MeVGHdcb19lDi84II_f0UFqHW-DttFp-3k4626y_xwgud3UuKOJHYK9fpgZAjuCCHeUZ6dg6bQErblsnuZ-dpS3HSzZj9nX3GK4z-AG0wz0UFUjAiY.png" id="216" name="Google Shape;21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0024" y="2216943"/>
            <a:ext cx="5181601" cy="3257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