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55" r:id="rId1"/>
  </p:sldMasterIdLst>
  <p:sldIdLst>
    <p:sldId id="258" r:id="rId2"/>
    <p:sldId id="259" r:id="rId3"/>
    <p:sldId id="260" r:id="rId4"/>
    <p:sldId id="277" r:id="rId5"/>
    <p:sldId id="262" r:id="rId6"/>
    <p:sldId id="261" r:id="rId7"/>
    <p:sldId id="263" r:id="rId8"/>
    <p:sldId id="268" r:id="rId9"/>
    <p:sldId id="264" r:id="rId10"/>
    <p:sldId id="265" r:id="rId11"/>
    <p:sldId id="266" r:id="rId12"/>
    <p:sldId id="267" r:id="rId13"/>
    <p:sldId id="278" r:id="rId14"/>
    <p:sldId id="276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</p:sldIdLst>
  <p:sldSz cx="9144000" cy="6858000" type="screen4x3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96"/>
    <p:restoredTop sz="93602"/>
  </p:normalViewPr>
  <p:slideViewPr>
    <p:cSldViewPr snapToGrid="0" snapToObjects="1">
      <p:cViewPr varScale="1">
        <p:scale>
          <a:sx n="98" d="100"/>
          <a:sy n="98" d="100"/>
        </p:scale>
        <p:origin x="6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10/27/15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www.named-data.net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026595"/>
      </p:ext>
    </p:extLst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526674" cy="365125"/>
          </a:xfrm>
        </p:spPr>
        <p:txBody>
          <a:bodyPr/>
          <a:lstStyle/>
          <a:p>
            <a:r>
              <a:rPr lang="en-US" dirty="0" err="1"/>
              <a:t>NDNcomm</a:t>
            </a:r>
            <a:r>
              <a:rPr lang="en-US" dirty="0"/>
              <a:t> panel 3, Sep 11, 2020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241246"/>
      </p:ext>
    </p:extLst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10/27/15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www.named-data.net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855199"/>
      </p:ext>
    </p:extLst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10/27/15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www.named-data.net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429587"/>
      </p:ext>
    </p:extLst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10/27/15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www.named-data.net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453799"/>
      </p:ext>
    </p:extLst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10/27/15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www.named-data.net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398283"/>
      </p:ext>
    </p:extLst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10/27/15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www.named-data.net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26423"/>
      </p:ext>
    </p:extLst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10/27/15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www.named-data.net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620470"/>
      </p:ext>
    </p:extLst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10/27/15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www.named-data.net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556640"/>
      </p:ext>
    </p:extLst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10/27/15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www.named-data.net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187419"/>
      </p:ext>
    </p:extLst>
  </p:cSld>
  <p:clrMapOvr>
    <a:masterClrMapping/>
  </p:clrMapOvr>
  <p:transition>
    <p:fade thruBlk="1"/>
  </p:transition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10/27/15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www.named-data.net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033067"/>
      </p:ext>
    </p:extLst>
  </p:cSld>
  <p:clrMapOvr>
    <a:masterClrMapping/>
  </p:clrMapOvr>
  <p:transition>
    <p:fade thruBlk="1"/>
  </p:transition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540" y="2205990"/>
            <a:ext cx="7440930" cy="35433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635578"/>
            <a:ext cx="2133600" cy="2224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10/27/15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6660292"/>
            <a:ext cx="2133600" cy="19770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23B3AB-4E47-0F47-AF51-3BDBAF17B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861548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10/27/15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www.named-data.net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3B3AB-4E47-0F47-AF51-3BDBAF17B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744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</p:sldLayoutIdLst>
  <p:transition>
    <p:fade thruBlk="1"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5D71A-B632-1348-9A5A-E77C65635F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Named Data Networking Community Meeting</a:t>
            </a:r>
            <a:br>
              <a:rPr lang="en-US" dirty="0"/>
            </a:br>
            <a:r>
              <a:rPr lang="en-US" dirty="0"/>
              <a:t>Sep 10-11, 2020</a:t>
            </a:r>
            <a:br>
              <a:rPr lang="en-US" dirty="0"/>
            </a:br>
            <a:r>
              <a:rPr lang="en-US" sz="2700" dirty="0"/>
              <a:t>virtual event hosted by NIST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8254C6-13E1-4D4C-8F9D-C5045A8A8D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307432"/>
            <a:ext cx="6858000" cy="1655762"/>
          </a:xfrm>
        </p:spPr>
        <p:txBody>
          <a:bodyPr>
            <a:normAutofit lnSpcReduction="10000"/>
          </a:bodyPr>
          <a:lstStyle/>
          <a:p>
            <a:br>
              <a:rPr lang="en-US" sz="3200" dirty="0"/>
            </a:br>
            <a:r>
              <a:rPr lang="en-US" sz="3200" dirty="0">
                <a:solidFill>
                  <a:srgbClr val="C00000"/>
                </a:solidFill>
              </a:rPr>
              <a:t>Panel 3 – lessons learned</a:t>
            </a:r>
            <a:br>
              <a:rPr lang="en-US" sz="3200" dirty="0">
                <a:solidFill>
                  <a:srgbClr val="C00000"/>
                </a:solidFill>
              </a:rPr>
            </a:br>
            <a:br>
              <a:rPr lang="en-US" sz="3200" dirty="0">
                <a:solidFill>
                  <a:srgbClr val="C00000"/>
                </a:solidFill>
              </a:rPr>
            </a:br>
            <a:r>
              <a:rPr lang="en-US" dirty="0"/>
              <a:t>Fri Sep 11, 10:45am – 12:15pm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271838007"/>
      </p:ext>
    </p:extLst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430F6-DE1A-C742-92CB-15107FA18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214904" cy="1325563"/>
          </a:xfrm>
        </p:spPr>
        <p:txBody>
          <a:bodyPr>
            <a:normAutofit fontScale="90000"/>
          </a:bodyPr>
          <a:lstStyle/>
          <a:p>
            <a:r>
              <a:rPr lang="en-US" sz="2700" dirty="0" err="1"/>
              <a:t>NDNcomm</a:t>
            </a:r>
            <a:r>
              <a:rPr lang="en-US" sz="2700" dirty="0"/>
              <a:t> Panel 3</a:t>
            </a:r>
            <a:br>
              <a:rPr lang="en-US" sz="2700" dirty="0"/>
            </a:br>
            <a:br>
              <a:rPr lang="en-US" sz="2700" dirty="0"/>
            </a:br>
            <a:r>
              <a:rPr lang="en-US" dirty="0"/>
              <a:t>Lessons Learned Over the Last 10 years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EF41E-E9BB-D04D-A5F5-E1574C6D2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099942"/>
            <a:ext cx="7886700" cy="4351338"/>
          </a:xfrm>
        </p:spPr>
        <p:txBody>
          <a:bodyPr>
            <a:normAutofit lnSpcReduction="10000"/>
          </a:bodyPr>
          <a:lstStyle/>
          <a:p>
            <a:pPr marL="296863" indent="-284163">
              <a:buNone/>
              <a:tabLst>
                <a:tab pos="3873500" algn="l"/>
              </a:tabLst>
            </a:pPr>
            <a:r>
              <a:rPr lang="en-US" i="1" dirty="0"/>
              <a:t>Panelists</a:t>
            </a:r>
            <a:br>
              <a:rPr lang="en-US" dirty="0"/>
            </a:br>
            <a:r>
              <a:rPr lang="en-US" dirty="0"/>
              <a:t>Jeff Burke	(UCLA REMAP)</a:t>
            </a:r>
            <a:br>
              <a:rPr lang="en-US" dirty="0"/>
            </a:br>
            <a:r>
              <a:rPr lang="en-US" dirty="0"/>
              <a:t>David Clark	(MIT)</a:t>
            </a:r>
            <a:br>
              <a:rPr lang="en-US" dirty="0"/>
            </a:br>
            <a:r>
              <a:rPr lang="en-US" dirty="0"/>
              <a:t>Darleen Fisher	(NSF)</a:t>
            </a:r>
            <a:br>
              <a:rPr lang="en-US" dirty="0"/>
            </a:br>
            <a:r>
              <a:rPr lang="en-US" dirty="0"/>
              <a:t>Van Jacobson	(Google)</a:t>
            </a:r>
            <a:br>
              <a:rPr lang="en-US" dirty="0"/>
            </a:br>
            <a:r>
              <a:rPr lang="en-US" dirty="0"/>
              <a:t>Christos Papadopoulos	(University of Memphis)</a:t>
            </a:r>
            <a:br>
              <a:rPr lang="en-US" dirty="0"/>
            </a:br>
            <a:r>
              <a:rPr lang="en-US" dirty="0"/>
              <a:t>Lan Wang	(University of Memphis)</a:t>
            </a:r>
            <a:br>
              <a:rPr lang="en-US" dirty="0"/>
            </a:br>
            <a:r>
              <a:rPr lang="en-US" dirty="0" err="1"/>
              <a:t>Beichuan</a:t>
            </a:r>
            <a:r>
              <a:rPr lang="en-US" dirty="0"/>
              <a:t> Zhang	(University of Arizona)</a:t>
            </a:r>
            <a:br>
              <a:rPr lang="en-US" dirty="0"/>
            </a:br>
            <a:r>
              <a:rPr lang="en-US" dirty="0" err="1"/>
              <a:t>Lixia</a:t>
            </a:r>
            <a:r>
              <a:rPr lang="en-US" dirty="0"/>
              <a:t> Zhang	(UCLA) </a:t>
            </a:r>
          </a:p>
          <a:p>
            <a:pPr marL="296863" indent="-284163">
              <a:buNone/>
              <a:tabLst>
                <a:tab pos="3873500" algn="l"/>
              </a:tabLst>
            </a:pPr>
            <a:r>
              <a:rPr lang="en-US" i="1" dirty="0"/>
              <a:t>Moderator</a:t>
            </a:r>
            <a:br>
              <a:rPr lang="en-US" dirty="0"/>
            </a:br>
            <a:r>
              <a:rPr lang="en-US" dirty="0"/>
              <a:t>Christian Tschudin	(University of Basel)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515F8-CEF5-D747-A3D9-337E14834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Sep 11, 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48730E-58D0-0049-B274-8CD2C565C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2</a:t>
            </a:fld>
            <a:endParaRPr lang="en-US"/>
          </a:p>
        </p:txBody>
      </p:sp>
      <p:pic>
        <p:nvPicPr>
          <p:cNvPr id="1026" name="Picture 2" descr="It’s our 10th birthday! | The Buff Day Spa's Blog">
            <a:extLst>
              <a:ext uri="{FF2B5EF4-FFF2-40B4-BE49-F238E27FC236}">
                <a16:creationId xmlns:a16="http://schemas.microsoft.com/office/drawing/2014/main" id="{EEE67CDB-44D8-B646-BE56-F4FB419ED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650" y="-4059"/>
            <a:ext cx="1653902" cy="1031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266A4F4-32EB-C048-8649-8A7F5812E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024" y="94930"/>
            <a:ext cx="27940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8839198"/>
      </p:ext>
    </p:extLst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430F6-DE1A-C742-92CB-15107FA18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214904" cy="1325563"/>
          </a:xfrm>
        </p:spPr>
        <p:txBody>
          <a:bodyPr>
            <a:normAutofit fontScale="90000"/>
          </a:bodyPr>
          <a:lstStyle/>
          <a:p>
            <a:r>
              <a:rPr lang="en-US" sz="2700" dirty="0" err="1"/>
              <a:t>NDNcomm</a:t>
            </a:r>
            <a:r>
              <a:rPr lang="en-US" sz="2700" dirty="0"/>
              <a:t> Panel 3</a:t>
            </a:r>
            <a:br>
              <a:rPr lang="en-US" sz="2700" dirty="0"/>
            </a:br>
            <a:br>
              <a:rPr lang="en-US" sz="270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EF41E-E9BB-D04D-A5F5-E1574C6D2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47851"/>
            <a:ext cx="7886700" cy="4351338"/>
          </a:xfrm>
        </p:spPr>
        <p:txBody>
          <a:bodyPr>
            <a:normAutofit/>
          </a:bodyPr>
          <a:lstStyle/>
          <a:p>
            <a:pPr marL="296863" indent="-284163">
              <a:buNone/>
              <a:tabLst>
                <a:tab pos="3873500" algn="l"/>
              </a:tabLst>
            </a:pPr>
            <a:r>
              <a:rPr lang="en-US" dirty="0"/>
              <a:t>Round 1</a:t>
            </a:r>
          </a:p>
          <a:p>
            <a:pPr marL="296863" indent="-284163">
              <a:buNone/>
              <a:tabLst>
                <a:tab pos="3873500" algn="l"/>
              </a:tabLst>
            </a:pPr>
            <a:r>
              <a:rPr lang="en-US" i="1" dirty="0">
                <a:solidFill>
                  <a:srgbClr val="C00000"/>
                </a:solidFill>
              </a:rPr>
              <a:t>What are highlights of the last ten years?</a:t>
            </a:r>
            <a:br>
              <a:rPr lang="en-US" dirty="0">
                <a:solidFill>
                  <a:srgbClr val="C00000"/>
                </a:solidFill>
              </a:rPr>
            </a:br>
            <a:endParaRPr lang="en-US" dirty="0">
              <a:solidFill>
                <a:srgbClr val="C00000"/>
              </a:solidFill>
            </a:endParaRPr>
          </a:p>
          <a:p>
            <a:pPr marL="296863" indent="-284163">
              <a:buNone/>
              <a:tabLst>
                <a:tab pos="3873500" algn="l"/>
              </a:tabLst>
            </a:pPr>
            <a:r>
              <a:rPr lang="en-US" dirty="0"/>
              <a:t>Round 2</a:t>
            </a:r>
          </a:p>
          <a:p>
            <a:pPr marL="296863" indent="-284163">
              <a:buNone/>
              <a:tabLst>
                <a:tab pos="3873500" algn="l"/>
              </a:tabLst>
            </a:pPr>
            <a:r>
              <a:rPr lang="en-US" i="1" dirty="0">
                <a:solidFill>
                  <a:srgbClr val="C00000"/>
                </a:solidFill>
              </a:rPr>
              <a:t>Where things could be improved</a:t>
            </a:r>
            <a:br>
              <a:rPr lang="en-US" i="1" dirty="0">
                <a:solidFill>
                  <a:srgbClr val="C00000"/>
                </a:solidFill>
              </a:rPr>
            </a:br>
            <a:endParaRPr lang="en-US" i="1" dirty="0">
              <a:solidFill>
                <a:srgbClr val="C00000"/>
              </a:solidFill>
            </a:endParaRPr>
          </a:p>
          <a:p>
            <a:pPr marL="296863" indent="-284163">
              <a:buNone/>
              <a:tabLst>
                <a:tab pos="3873500" algn="l"/>
              </a:tabLst>
            </a:pPr>
            <a:r>
              <a:rPr lang="en-US" dirty="0"/>
              <a:t>Round 3, closing statements</a:t>
            </a:r>
          </a:p>
          <a:p>
            <a:pPr marL="296863" indent="-284163">
              <a:buNone/>
              <a:tabLst>
                <a:tab pos="3873500" algn="l"/>
              </a:tabLst>
            </a:pPr>
            <a:r>
              <a:rPr lang="en-US" i="1" dirty="0">
                <a:solidFill>
                  <a:srgbClr val="C00000"/>
                </a:solidFill>
              </a:rPr>
              <a:t>Where are we now?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515F8-CEF5-D747-A3D9-337E14834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Sep 11, 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48730E-58D0-0049-B274-8CD2C565C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3</a:t>
            </a:fld>
            <a:endParaRPr lang="en-US"/>
          </a:p>
        </p:txBody>
      </p:sp>
      <p:pic>
        <p:nvPicPr>
          <p:cNvPr id="1026" name="Picture 2" descr="It’s our 10th birthday! | The Buff Day Spa's Blog">
            <a:extLst>
              <a:ext uri="{FF2B5EF4-FFF2-40B4-BE49-F238E27FC236}">
                <a16:creationId xmlns:a16="http://schemas.microsoft.com/office/drawing/2014/main" id="{EEE67CDB-44D8-B646-BE56-F4FB419ED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650" y="-4059"/>
            <a:ext cx="1653902" cy="1031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3C877563-B615-D842-B9E0-40196D235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024" y="94930"/>
            <a:ext cx="27940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7591585"/>
      </p:ext>
    </p:extLst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25B9B-6507-704D-9D5E-332226C9D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Round 1:</a:t>
            </a:r>
            <a:br>
              <a:rPr lang="en-US" dirty="0"/>
            </a:br>
            <a:br>
              <a:rPr lang="en-US" dirty="0"/>
            </a:br>
            <a:r>
              <a:rPr lang="en-US" i="1" dirty="0">
                <a:solidFill>
                  <a:srgbClr val="C00000"/>
                </a:solidFill>
              </a:rPr>
              <a:t>What are highlights of the last ten years?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CB0DE-8EBD-864C-A47E-DBE48F3CD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3D3AC-70C9-704A-93A2-2B2C9D15C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381189"/>
      </p:ext>
    </p:extLst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9E265-DBC6-C642-8EB1-967C72D46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>
                <a:solidFill>
                  <a:schemeClr val="bg1">
                    <a:lumMod val="65000"/>
                  </a:schemeClr>
                </a:solidFill>
              </a:rPr>
              <a:t>Round 1 /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"What are highlights of the last ten years?"</a:t>
            </a:r>
            <a:br>
              <a:rPr lang="en-US" sz="2700" dirty="0"/>
            </a:br>
            <a:r>
              <a:rPr lang="en-US" sz="4000" dirty="0">
                <a:solidFill>
                  <a:srgbClr val="C00000"/>
                </a:solidFill>
              </a:rPr>
              <a:t>Van Jacobson,</a:t>
            </a:r>
            <a:br>
              <a:rPr lang="en-US" sz="4000" dirty="0">
                <a:solidFill>
                  <a:srgbClr val="C00000"/>
                </a:solidFill>
              </a:rPr>
            </a:br>
            <a:r>
              <a:rPr lang="en-US" sz="4000" dirty="0">
                <a:solidFill>
                  <a:srgbClr val="C00000"/>
                </a:solidFill>
              </a:rPr>
              <a:t>“spiritus rector” / researcher</a:t>
            </a:r>
            <a:endParaRPr lang="en-US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39790-6AB0-C846-976A-FC635A336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84278"/>
            <a:ext cx="85153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IP is a communications framework that implements the </a:t>
            </a:r>
            <a:r>
              <a:rPr lang="en-US" dirty="0" err="1"/>
              <a:t>Shannow</a:t>
            </a:r>
            <a:r>
              <a:rPr lang="en-US" dirty="0"/>
              <a:t>-Weaver communication model (sender-channel-receiver).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 wanted a framework that could implement richer models, e.g., </a:t>
            </a:r>
            <a:r>
              <a:rPr lang="en-US" dirty="0" err="1"/>
              <a:t>Barnlund's</a:t>
            </a:r>
            <a:r>
              <a:rPr lang="en-US" dirty="0"/>
              <a:t>, that include broadcast channels, </a:t>
            </a:r>
            <a:r>
              <a:rPr lang="en-US" dirty="0" err="1"/>
              <a:t>multiparties</a:t>
            </a:r>
            <a:r>
              <a:rPr lang="en-US" dirty="0"/>
              <a:t>, asymmetric roles, intent, reciprocity, "speech acts", etc. NDN is such a framework.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34591-9C15-8A4E-8F18-7BEE6C712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042173"/>
      </p:ext>
    </p:extLst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9E265-DBC6-C642-8EB1-967C72D46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>
                <a:solidFill>
                  <a:schemeClr val="bg1">
                    <a:lumMod val="65000"/>
                  </a:schemeClr>
                </a:solidFill>
              </a:rPr>
              <a:t>Round 1 /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"What are highlights of the last ten years?"</a:t>
            </a:r>
            <a:br>
              <a:rPr lang="en-US" sz="2700" dirty="0"/>
            </a:br>
            <a:r>
              <a:rPr lang="en-US" sz="4000" dirty="0">
                <a:solidFill>
                  <a:srgbClr val="C00000"/>
                </a:solidFill>
              </a:rPr>
              <a:t>Jeff Burke</a:t>
            </a:r>
            <a:br>
              <a:rPr lang="en-US" sz="4000" dirty="0">
                <a:solidFill>
                  <a:srgbClr val="C00000"/>
                </a:solidFill>
              </a:rPr>
            </a:br>
            <a:r>
              <a:rPr lang="en-US" sz="3100" dirty="0">
                <a:solidFill>
                  <a:srgbClr val="C00000"/>
                </a:solidFill>
              </a:rPr>
              <a:t>“driving NDN through use cases, library dev”</a:t>
            </a:r>
            <a:endParaRPr lang="en-US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39790-6AB0-C846-976A-FC635A336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Emotional highlights were hackathons,</a:t>
            </a:r>
            <a:br>
              <a:rPr lang="en-US" dirty="0"/>
            </a:br>
            <a:r>
              <a:rPr lang="en-US" dirty="0"/>
              <a:t>other problem-solving focused efforts: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way-clever approaches</a:t>
            </a:r>
            <a:br>
              <a:rPr lang="en-US" dirty="0"/>
            </a:br>
            <a:r>
              <a:rPr lang="en-US" dirty="0"/>
              <a:t>emerging from data-centric thinking</a:t>
            </a:r>
          </a:p>
          <a:p>
            <a:endParaRPr lang="en-US" dirty="0"/>
          </a:p>
          <a:p>
            <a:r>
              <a:rPr lang="en-US" dirty="0"/>
              <a:t>"messy vitality"</a:t>
            </a:r>
            <a:br>
              <a:rPr lang="en-US" dirty="0"/>
            </a:br>
            <a:r>
              <a:rPr lang="en-US" sz="2400" dirty="0"/>
              <a:t>- approaches were hybrid/compromising/</a:t>
            </a:r>
            <a:r>
              <a:rPr lang="en-US" sz="2400" dirty="0" err="1"/>
              <a:t>accomodating</a:t>
            </a:r>
            <a:r>
              <a:rPr lang="en-US" sz="2400" dirty="0"/>
              <a:t>,</a:t>
            </a:r>
            <a:br>
              <a:rPr lang="en-US" sz="2400" dirty="0"/>
            </a:br>
            <a:r>
              <a:rPr lang="en-US" sz="2400" dirty="0"/>
              <a:t>- rather than </a:t>
            </a:r>
            <a:r>
              <a:rPr lang="en-US" sz="2400" dirty="0" err="1"/>
              <a:t>architectually</a:t>
            </a:r>
            <a:r>
              <a:rPr lang="en-US" sz="2400" dirty="0"/>
              <a:t> pure/clean/excluding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34591-9C15-8A4E-8F18-7BEE6C712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521421"/>
      </p:ext>
    </p:extLst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9E265-DBC6-C642-8EB1-967C72D46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>
                <a:solidFill>
                  <a:schemeClr val="bg1">
                    <a:lumMod val="65000"/>
                  </a:schemeClr>
                </a:solidFill>
              </a:rPr>
              <a:t>Round 1 /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"What are highlights of the last ten years?"</a:t>
            </a:r>
            <a:br>
              <a:rPr lang="en-US" sz="2700" dirty="0"/>
            </a:br>
            <a:r>
              <a:rPr lang="en-US" sz="4000" dirty="0">
                <a:solidFill>
                  <a:srgbClr val="C00000"/>
                </a:solidFill>
              </a:rPr>
              <a:t>Dave Clark</a:t>
            </a:r>
            <a:br>
              <a:rPr lang="en-US" sz="4000" dirty="0">
                <a:solidFill>
                  <a:srgbClr val="C00000"/>
                </a:solidFill>
              </a:rPr>
            </a:br>
            <a:r>
              <a:rPr lang="en-US" sz="3100" dirty="0">
                <a:solidFill>
                  <a:srgbClr val="C00000"/>
                </a:solidFill>
              </a:rPr>
              <a:t>“one of the original designers of the Internet”</a:t>
            </a:r>
            <a:endParaRPr lang="en-US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39790-6AB0-C846-976A-FC635A336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396264"/>
            <a:ext cx="8515350" cy="4351338"/>
          </a:xfrm>
        </p:spPr>
        <p:txBody>
          <a:bodyPr>
            <a:normAutofit lnSpcReduction="10000"/>
          </a:bodyPr>
          <a:lstStyle/>
          <a:p>
            <a:pPr marL="12700" indent="0">
              <a:buNone/>
              <a:tabLst>
                <a:tab pos="3873500" algn="l"/>
              </a:tabLst>
            </a:pPr>
            <a:r>
              <a:rPr lang="en-US" dirty="0"/>
              <a:t>Excited about NDN is the boldness of its divergence</a:t>
            </a:r>
            <a:br>
              <a:rPr lang="en-US" dirty="0"/>
            </a:br>
            <a:r>
              <a:rPr lang="en-US" dirty="0"/>
              <a:t>from current thinking (most of the FIA proposals were somewhat incremental)</a:t>
            </a:r>
          </a:p>
          <a:p>
            <a:pPr marL="12700" indent="0">
              <a:buNone/>
              <a:tabLst>
                <a:tab pos="3873500" algn="l"/>
              </a:tabLst>
            </a:pPr>
            <a:r>
              <a:rPr lang="en-US" dirty="0"/>
              <a:t>NDN explores what can be done if there is per-packet state in the router.</a:t>
            </a:r>
          </a:p>
          <a:p>
            <a:pPr marL="12700" indent="0">
              <a:buNone/>
              <a:tabLst>
                <a:tab pos="3873500" algn="l"/>
              </a:tabLst>
            </a:pPr>
            <a:r>
              <a:rPr lang="en-US" dirty="0"/>
              <a:t>The approach to security evolved/emerged over time:</a:t>
            </a:r>
            <a:br>
              <a:rPr lang="en-US" dirty="0"/>
            </a:br>
            <a:r>
              <a:rPr lang="en-US" dirty="0"/>
              <a:t>to me that is clearly something that worked out well.</a:t>
            </a:r>
          </a:p>
          <a:p>
            <a:pPr marL="12700" indent="0">
              <a:buNone/>
              <a:tabLst>
                <a:tab pos="3873500" algn="l"/>
              </a:tabLst>
            </a:pPr>
            <a:endParaRPr lang="en-US" dirty="0"/>
          </a:p>
          <a:p>
            <a:pPr marL="12700" indent="0">
              <a:buNone/>
              <a:tabLst>
                <a:tab pos="3873500" algn="l"/>
              </a:tabLst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 think what is interesting is to track how the research team evolved their thinking 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(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sym typeface="Wingdings" pitchFamily="2" charset="2"/>
              </a:rPr>
              <a:t> “where we could improve”)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34591-9C15-8A4E-8F18-7BEE6C712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907855"/>
      </p:ext>
    </p:extLst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34591-9C15-8A4E-8F18-7BEE6C712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8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B51CB92-E4E6-0D4F-9AFF-32524665F5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7125" y="2409555"/>
            <a:ext cx="4543697" cy="4351338"/>
          </a:xfrm>
        </p:spPr>
        <p:txBody>
          <a:bodyPr>
            <a:normAutofit/>
          </a:bodyPr>
          <a:lstStyle/>
          <a:p>
            <a:r>
              <a:rPr lang="en-US" sz="2400" dirty="0"/>
              <a:t>A Good Idea</a:t>
            </a:r>
          </a:p>
          <a:p>
            <a:r>
              <a:rPr lang="en-US" sz="2400" dirty="0"/>
              <a:t>Funding Surge</a:t>
            </a:r>
          </a:p>
          <a:p>
            <a:pPr lvl="1"/>
            <a:r>
              <a:rPr lang="en-US" sz="2000" dirty="0"/>
              <a:t>A Legacy</a:t>
            </a:r>
          </a:p>
          <a:p>
            <a:pPr lvl="1"/>
            <a:r>
              <a:rPr lang="en-US" sz="2000" dirty="0"/>
              <a:t>A Research Infrastructure and </a:t>
            </a:r>
            <a:r>
              <a:rPr lang="en-US" sz="2000" dirty="0">
                <a:latin typeface="+mj-lt"/>
                <a:ea typeface="+mj-ea"/>
                <a:cs typeface="+mj-cs"/>
              </a:rPr>
              <a:t>Research</a:t>
            </a:r>
            <a:r>
              <a:rPr lang="en-US" sz="2000" dirty="0"/>
              <a:t> to Run on it</a:t>
            </a:r>
          </a:p>
          <a:p>
            <a:pPr lvl="1"/>
            <a:r>
              <a:rPr lang="en-US" sz="2000" dirty="0"/>
              <a:t>A Secure Internet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sz="2000" dirty="0">
                <a:sym typeface="Wingdings" panose="05000000000000000000" pitchFamily="2" charset="2"/>
              </a:rPr>
              <a:t>GENI &amp; FIA</a:t>
            </a:r>
          </a:p>
          <a:p>
            <a:r>
              <a:rPr lang="en-US" sz="2400" dirty="0">
                <a:sym typeface="Wingdings" panose="05000000000000000000" pitchFamily="2" charset="2"/>
              </a:rPr>
              <a:t>A Paper</a:t>
            </a:r>
          </a:p>
          <a:p>
            <a:r>
              <a:rPr lang="en-US" sz="2400" dirty="0">
                <a:sym typeface="Wingdings" panose="05000000000000000000" pitchFamily="2" charset="2"/>
              </a:rPr>
              <a:t>A Zealous Champion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DC6026C-E8B3-284F-AB5A-40EB2930A4D0}"/>
              </a:ext>
            </a:extLst>
          </p:cNvPr>
          <p:cNvSpPr txBox="1">
            <a:spLocks/>
          </p:cNvSpPr>
          <p:nvPr/>
        </p:nvSpPr>
        <p:spPr>
          <a:xfrm>
            <a:off x="4800600" y="2441669"/>
            <a:ext cx="454369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ym typeface="Wingdings" panose="05000000000000000000" pitchFamily="2" charset="2"/>
              </a:rPr>
              <a:t>A Dedicated Persistent Team</a:t>
            </a:r>
          </a:p>
          <a:p>
            <a:r>
              <a:rPr lang="en-US" sz="2400" dirty="0">
                <a:sym typeface="Wingdings" panose="05000000000000000000" pitchFamily="2" charset="2"/>
              </a:rPr>
              <a:t>Rich Research Problems</a:t>
            </a:r>
          </a:p>
          <a:p>
            <a:r>
              <a:rPr lang="en-US" sz="2400" dirty="0">
                <a:sym typeface="Wingdings" panose="05000000000000000000" pitchFamily="2" charset="2"/>
              </a:rPr>
              <a:t>Other Funders</a:t>
            </a:r>
          </a:p>
          <a:p>
            <a:r>
              <a:rPr lang="en-US" sz="2400" dirty="0">
                <a:sym typeface="Wingdings" panose="05000000000000000000" pitchFamily="2" charset="2"/>
              </a:rPr>
              <a:t>The Right Stuff: Architecture, Code, Libraries, etc.</a:t>
            </a:r>
            <a:endParaRPr lang="en-US" sz="2400" dirty="0"/>
          </a:p>
          <a:p>
            <a:r>
              <a:rPr lang="en-US" sz="2400" dirty="0"/>
              <a:t>Building of Community</a:t>
            </a:r>
          </a:p>
          <a:p>
            <a:r>
              <a:rPr lang="en-US" sz="2400" dirty="0"/>
              <a:t>Applications and Use Cases</a:t>
            </a:r>
          </a:p>
          <a:p>
            <a:r>
              <a:rPr lang="en-US" sz="2400" dirty="0"/>
              <a:t>Users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EC9235-18D8-D64A-B53D-8A38739AECED}"/>
              </a:ext>
            </a:extLst>
          </p:cNvPr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700" dirty="0">
                <a:solidFill>
                  <a:schemeClr val="bg1">
                    <a:lumMod val="65000"/>
                  </a:schemeClr>
                </a:solidFill>
              </a:rPr>
              <a:t>Round 1 /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"What are highlights of the last ten years?"</a:t>
            </a:r>
            <a:br>
              <a:rPr lang="en-US" sz="2700" dirty="0"/>
            </a:br>
            <a:r>
              <a:rPr lang="en-US" sz="4000" dirty="0">
                <a:solidFill>
                  <a:srgbClr val="C00000"/>
                </a:solidFill>
              </a:rPr>
              <a:t>Darleen Fisher</a:t>
            </a:r>
            <a:br>
              <a:rPr lang="en-US" sz="4000" dirty="0">
                <a:solidFill>
                  <a:srgbClr val="C00000"/>
                </a:solidFill>
              </a:rPr>
            </a:br>
            <a:r>
              <a:rPr lang="en-US" sz="3100" dirty="0">
                <a:solidFill>
                  <a:srgbClr val="C00000"/>
                </a:solidFill>
              </a:rPr>
              <a:t>“Program Director, </a:t>
            </a:r>
            <a:r>
              <a:rPr lang="en-US" sz="2800" dirty="0">
                <a:solidFill>
                  <a:srgbClr val="C00000"/>
                </a:solidFill>
              </a:rPr>
              <a:t>Networking Research, NSF”</a:t>
            </a:r>
            <a:endParaRPr lang="en-US" sz="28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61398"/>
      </p:ext>
    </p:extLst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9E265-DBC6-C642-8EB1-967C72D46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>
                <a:solidFill>
                  <a:schemeClr val="bg1">
                    <a:lumMod val="65000"/>
                  </a:schemeClr>
                </a:solidFill>
              </a:rPr>
              <a:t>Round 1 /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"What are highlights of the last ten years?"</a:t>
            </a:r>
            <a:br>
              <a:rPr lang="en-US" sz="2700" dirty="0"/>
            </a:br>
            <a:r>
              <a:rPr lang="en-US" sz="4000" dirty="0">
                <a:solidFill>
                  <a:srgbClr val="C00000"/>
                </a:solidFill>
              </a:rPr>
              <a:t>Christos Papadopoulos</a:t>
            </a:r>
            <a:br>
              <a:rPr lang="en-US" sz="4000" dirty="0">
                <a:solidFill>
                  <a:srgbClr val="C00000"/>
                </a:solidFill>
              </a:rPr>
            </a:br>
            <a:r>
              <a:rPr lang="en-US" sz="3100" dirty="0">
                <a:solidFill>
                  <a:srgbClr val="C00000"/>
                </a:solidFill>
              </a:rPr>
              <a:t>“working with NDN since 2010”</a:t>
            </a:r>
            <a:endParaRPr lang="en-US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39790-6AB0-C846-976A-FC635A336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187575"/>
            <a:ext cx="8515350" cy="4351338"/>
          </a:xfrm>
        </p:spPr>
        <p:txBody>
          <a:bodyPr>
            <a:normAutofit/>
          </a:bodyPr>
          <a:lstStyle/>
          <a:p>
            <a:pPr marL="12700" indent="0">
              <a:buNone/>
              <a:tabLst>
                <a:tab pos="3873500" algn="l"/>
              </a:tabLst>
            </a:pPr>
            <a:r>
              <a:rPr lang="en-US" dirty="0"/>
              <a:t>robust NDN community,</a:t>
            </a:r>
            <a:br>
              <a:rPr lang="en-US" dirty="0"/>
            </a:br>
            <a:endParaRPr lang="en-US" dirty="0"/>
          </a:p>
          <a:p>
            <a:pPr marL="12700" indent="0">
              <a:buNone/>
              <a:tabLst>
                <a:tab pos="3873500" algn="l"/>
              </a:tabLst>
            </a:pPr>
            <a:r>
              <a:rPr lang="en-US" dirty="0"/>
              <a:t>improvements in NFD</a:t>
            </a:r>
            <a:br>
              <a:rPr lang="en-US" dirty="0"/>
            </a:br>
            <a:endParaRPr lang="en-US" dirty="0"/>
          </a:p>
          <a:p>
            <a:pPr marL="12700" indent="0">
              <a:buNone/>
              <a:tabLst>
                <a:tab pos="3873500" algn="l"/>
              </a:tabLst>
            </a:pPr>
            <a:r>
              <a:rPr lang="en-US" dirty="0"/>
              <a:t>and beginning adoption by industry.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34591-9C15-8A4E-8F18-7BEE6C712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73087"/>
      </p:ext>
    </p:extLst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9E265-DBC6-C642-8EB1-967C72D46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>
                <a:solidFill>
                  <a:schemeClr val="bg1">
                    <a:lumMod val="65000"/>
                  </a:schemeClr>
                </a:solidFill>
              </a:rPr>
              <a:t>Round 1 /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"What are highlights of the last ten years?"</a:t>
            </a:r>
            <a:br>
              <a:rPr lang="en-US" sz="2700" dirty="0"/>
            </a:br>
            <a:r>
              <a:rPr lang="en-US" sz="4000" dirty="0">
                <a:solidFill>
                  <a:srgbClr val="C00000"/>
                </a:solidFill>
              </a:rPr>
              <a:t>Lan Wang</a:t>
            </a:r>
            <a:br>
              <a:rPr lang="en-US" sz="4000" dirty="0">
                <a:solidFill>
                  <a:srgbClr val="C00000"/>
                </a:solidFill>
              </a:rPr>
            </a:br>
            <a:r>
              <a:rPr lang="en-US" sz="3100" dirty="0">
                <a:solidFill>
                  <a:srgbClr val="C00000"/>
                </a:solidFill>
              </a:rPr>
              <a:t>“contributor to NDN architecture development”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39790-6AB0-C846-976A-FC635A336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>
            <a:normAutofit/>
          </a:bodyPr>
          <a:lstStyle/>
          <a:p>
            <a:pPr marL="355600" lvl="1" indent="-342900"/>
            <a:endParaRPr lang="en-US" dirty="0"/>
          </a:p>
          <a:p>
            <a:pPr marL="355600" lvl="1" indent="-342900"/>
            <a:r>
              <a:rPr lang="en-US" dirty="0"/>
              <a:t>routing protocol as an example NDN app (sync, security)</a:t>
            </a:r>
          </a:p>
          <a:p>
            <a:pPr marL="355600" lvl="1" indent="-342900"/>
            <a:endParaRPr lang="en-US" dirty="0"/>
          </a:p>
          <a:p>
            <a:pPr marL="355600" lvl="1" indent="-342900"/>
            <a:r>
              <a:rPr lang="en-US" dirty="0"/>
              <a:t>largely static routing + adaptive forwarding </a:t>
            </a:r>
          </a:p>
          <a:p>
            <a:pPr marL="355600" lvl="1" indent="-342900"/>
            <a:endParaRPr lang="en-US" dirty="0"/>
          </a:p>
          <a:p>
            <a:pPr marL="355600" lvl="1" indent="-342900"/>
            <a:r>
              <a:rPr lang="en-US" dirty="0"/>
              <a:t>decentralized apps: social media, </a:t>
            </a:r>
            <a:r>
              <a:rPr lang="en-US" dirty="0" err="1"/>
              <a:t>smarthome</a:t>
            </a:r>
            <a:r>
              <a:rPr lang="en-US" dirty="0"/>
              <a:t>, …</a:t>
            </a:r>
          </a:p>
          <a:p>
            <a:pPr marL="469900" indent="-457200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34591-9C15-8A4E-8F18-7BEE6C712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750583"/>
      </p:ext>
    </p:extLst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9E265-DBC6-C642-8EB1-967C72D46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>
                <a:solidFill>
                  <a:schemeClr val="bg1">
                    <a:lumMod val="65000"/>
                  </a:schemeClr>
                </a:solidFill>
              </a:rPr>
              <a:t>Round 1 /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"What are highlights of the last ten years?"</a:t>
            </a:r>
            <a:br>
              <a:rPr lang="en-US" sz="2700" dirty="0"/>
            </a:br>
            <a:r>
              <a:rPr lang="en-US" sz="4000" dirty="0" err="1">
                <a:solidFill>
                  <a:srgbClr val="C00000"/>
                </a:solidFill>
              </a:rPr>
              <a:t>Beichuang</a:t>
            </a:r>
            <a:r>
              <a:rPr lang="en-US" sz="4000" dirty="0">
                <a:solidFill>
                  <a:srgbClr val="C00000"/>
                </a:solidFill>
              </a:rPr>
              <a:t> Zhang</a:t>
            </a:r>
            <a:br>
              <a:rPr lang="en-US" sz="4000" dirty="0">
                <a:solidFill>
                  <a:srgbClr val="C00000"/>
                </a:solidFill>
              </a:rPr>
            </a:br>
            <a:r>
              <a:rPr lang="en-US" sz="2700" dirty="0">
                <a:solidFill>
                  <a:srgbClr val="C00000"/>
                </a:solidFill>
              </a:rPr>
              <a:t>“University of Arizona”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39790-6AB0-C846-976A-FC635A336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187575"/>
            <a:ext cx="8515350" cy="4351338"/>
          </a:xfrm>
        </p:spPr>
        <p:txBody>
          <a:bodyPr>
            <a:normAutofit/>
          </a:bodyPr>
          <a:lstStyle/>
          <a:p>
            <a:pPr marL="12700" indent="0">
              <a:buNone/>
              <a:tabLst>
                <a:tab pos="3873500" algn="l"/>
              </a:tabLst>
            </a:pPr>
            <a:r>
              <a:rPr lang="en-US" dirty="0"/>
              <a:t>Biggest highlight is the one idea (naming the data) that changes the foundation of how we design and build networked systems. </a:t>
            </a:r>
          </a:p>
          <a:p>
            <a:pPr marL="12700" indent="0">
              <a:buNone/>
              <a:tabLst>
                <a:tab pos="3873500" algn="l"/>
              </a:tabLst>
            </a:pPr>
            <a:r>
              <a:rPr lang="en-US" dirty="0"/>
              <a:t>In terms of the process:</a:t>
            </a:r>
          </a:p>
          <a:p>
            <a:pPr marL="469900" indent="-457200">
              <a:buFontTx/>
              <a:buChar char="-"/>
              <a:tabLst>
                <a:tab pos="3873500" algn="l"/>
              </a:tabLst>
            </a:pPr>
            <a:r>
              <a:rPr lang="en-US" dirty="0"/>
              <a:t>the emergence of the ICN/NDN research community</a:t>
            </a:r>
          </a:p>
          <a:p>
            <a:pPr marL="469900" indent="-457200">
              <a:buFontTx/>
              <a:buChar char="-"/>
              <a:tabLst>
                <a:tab pos="3873500" algn="l"/>
              </a:tabLst>
            </a:pPr>
            <a:r>
              <a:rPr lang="en-US" dirty="0"/>
              <a:t>the development of a number of NDN apps and forwarder on different platforms are notable achievements.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34591-9C15-8A4E-8F18-7BEE6C712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361733"/>
      </p:ext>
    </p:extLst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9E265-DBC6-C642-8EB1-967C72D46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>
                <a:solidFill>
                  <a:schemeClr val="bg1">
                    <a:lumMod val="65000"/>
                  </a:schemeClr>
                </a:solidFill>
              </a:rPr>
              <a:t>Round 1 / </a:t>
            </a:r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"What are highlights of the last ten years?"</a:t>
            </a:r>
            <a:br>
              <a:rPr lang="en-US" sz="2700" dirty="0"/>
            </a:br>
            <a:r>
              <a:rPr lang="en-US" sz="4000" dirty="0" err="1">
                <a:solidFill>
                  <a:srgbClr val="C00000"/>
                </a:solidFill>
              </a:rPr>
              <a:t>Lixia</a:t>
            </a:r>
            <a:r>
              <a:rPr lang="en-US" sz="4000" dirty="0">
                <a:solidFill>
                  <a:srgbClr val="C00000"/>
                </a:solidFill>
              </a:rPr>
              <a:t> Zhang</a:t>
            </a:r>
            <a:br>
              <a:rPr lang="en-US" sz="4000" dirty="0">
                <a:solidFill>
                  <a:srgbClr val="C00000"/>
                </a:solidFill>
              </a:rPr>
            </a:br>
            <a:r>
              <a:rPr lang="en-US" sz="2200" dirty="0">
                <a:solidFill>
                  <a:srgbClr val="C00000"/>
                </a:solidFill>
              </a:rPr>
              <a:t>“orchestrated the original NDN proposal to NSF, lead PI of the NDN project,</a:t>
            </a:r>
            <a:br>
              <a:rPr lang="en-US" sz="2200" dirty="0">
                <a:solidFill>
                  <a:srgbClr val="C00000"/>
                </a:solidFill>
              </a:rPr>
            </a:br>
            <a:r>
              <a:rPr lang="en-US" sz="2200" dirty="0">
                <a:solidFill>
                  <a:srgbClr val="C00000"/>
                </a:solidFill>
              </a:rPr>
              <a:t>keeping the team going”</a:t>
            </a:r>
            <a:endParaRPr lang="en-US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39790-6AB0-C846-976A-FC635A336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187575"/>
            <a:ext cx="8515350" cy="4351338"/>
          </a:xfrm>
        </p:spPr>
        <p:txBody>
          <a:bodyPr>
            <a:normAutofit/>
          </a:bodyPr>
          <a:lstStyle/>
          <a:p>
            <a:pPr marL="296863" indent="-284163">
              <a:buNone/>
              <a:tabLst>
                <a:tab pos="3873500" algn="l"/>
              </a:tabLst>
            </a:pPr>
            <a:r>
              <a:rPr lang="en-US" dirty="0"/>
              <a:t>NDN got the basic idea right:</a:t>
            </a:r>
          </a:p>
          <a:p>
            <a:pPr marL="296863" indent="-284163">
              <a:buNone/>
              <a:tabLst>
                <a:tab pos="3873500" algn="l"/>
              </a:tabLst>
            </a:pPr>
            <a:r>
              <a:rPr lang="en-US" dirty="0"/>
              <a:t>      semantically named, secured data</a:t>
            </a:r>
          </a:p>
          <a:p>
            <a:pPr marL="296863" indent="-284163">
              <a:buNone/>
              <a:tabLst>
                <a:tab pos="3873500" algn="l"/>
              </a:tabLst>
            </a:pPr>
            <a:r>
              <a:rPr lang="en-US" dirty="0"/>
              <a:t>as the basic architecture building block</a:t>
            </a:r>
          </a:p>
          <a:p>
            <a:pPr marL="296863" indent="-284163">
              <a:buNone/>
              <a:tabLst>
                <a:tab pos="3873500" algn="l"/>
              </a:tabLst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34591-9C15-8A4E-8F18-7BEE6C712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12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B761E8-A849-AE4F-B2D5-7750A5E92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00369"/>
      </p:ext>
    </p:extLst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25B9B-6507-704D-9D5E-332226C9D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Round 2:</a:t>
            </a:r>
            <a:br>
              <a:rPr lang="en-US" dirty="0"/>
            </a:br>
            <a:br>
              <a:rPr lang="en-US" dirty="0"/>
            </a:br>
            <a:r>
              <a:rPr lang="en-US" i="1" dirty="0">
                <a:solidFill>
                  <a:srgbClr val="C00000"/>
                </a:solidFill>
              </a:rPr>
              <a:t>Where things could be improved</a:t>
            </a:r>
            <a:br>
              <a:rPr lang="en-US" i="1" dirty="0">
                <a:solidFill>
                  <a:srgbClr val="C00000"/>
                </a:solidFill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CB0DE-8EBD-864C-A47E-DBE48F3CD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3D3AC-70C9-704A-93A2-2B2C9D15C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72241"/>
      </p:ext>
    </p:extLst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9E265-DBC6-C642-8EB1-967C72D46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>
                <a:solidFill>
                  <a:schemeClr val="bg1">
                    <a:lumMod val="65000"/>
                  </a:schemeClr>
                </a:solidFill>
              </a:rPr>
              <a:t>Round 2 / “where things could be improved”</a:t>
            </a:r>
            <a:br>
              <a:rPr lang="en-US" sz="2700" dirty="0"/>
            </a:br>
            <a:r>
              <a:rPr lang="en-US" sz="4000" dirty="0">
                <a:solidFill>
                  <a:srgbClr val="C00000"/>
                </a:solidFill>
              </a:rPr>
              <a:t>Van Jacobson,</a:t>
            </a:r>
            <a:br>
              <a:rPr lang="en-US" sz="4000" dirty="0">
                <a:solidFill>
                  <a:srgbClr val="C00000"/>
                </a:solidFill>
              </a:rPr>
            </a:br>
            <a:r>
              <a:rPr lang="en-US" sz="4000" dirty="0">
                <a:solidFill>
                  <a:srgbClr val="C00000"/>
                </a:solidFill>
              </a:rPr>
              <a:t>“researcher”</a:t>
            </a:r>
            <a:endParaRPr lang="en-US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39790-6AB0-C846-976A-FC635A336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370138"/>
            <a:ext cx="85153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Most NDN 'research' has focused on how to make NDN behave like IP.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34591-9C15-8A4E-8F18-7BEE6C712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478546"/>
      </p:ext>
    </p:extLst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9E265-DBC6-C642-8EB1-967C72D46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>
                <a:solidFill>
                  <a:schemeClr val="bg1">
                    <a:lumMod val="65000"/>
                  </a:schemeClr>
                </a:solidFill>
              </a:rPr>
              <a:t>Round 2 / “where things could be improved”</a:t>
            </a:r>
            <a:br>
              <a:rPr lang="en-US" sz="2700" dirty="0"/>
            </a:br>
            <a:r>
              <a:rPr lang="en-US" sz="4000" dirty="0">
                <a:solidFill>
                  <a:srgbClr val="C00000"/>
                </a:solidFill>
              </a:rPr>
              <a:t>Jeff Burke</a:t>
            </a:r>
            <a:br>
              <a:rPr lang="en-US" sz="4000" dirty="0">
                <a:solidFill>
                  <a:srgbClr val="C00000"/>
                </a:solidFill>
              </a:rPr>
            </a:br>
            <a:r>
              <a:rPr lang="en-US" sz="3100" dirty="0">
                <a:solidFill>
                  <a:srgbClr val="C00000"/>
                </a:solidFill>
              </a:rPr>
              <a:t>“driving NDN through use cases, library dev”</a:t>
            </a:r>
            <a:endParaRPr lang="en-US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39790-6AB0-C846-976A-FC635A336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Emotional highlights were hackathons,</a:t>
            </a:r>
            <a:br>
              <a:rPr lang="en-US" dirty="0"/>
            </a:br>
            <a:r>
              <a:rPr lang="en-US" dirty="0"/>
              <a:t>other problem-solving focused efforts: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way-clever approaches</a:t>
            </a:r>
            <a:br>
              <a:rPr lang="en-US" dirty="0"/>
            </a:br>
            <a:r>
              <a:rPr lang="en-US" dirty="0"/>
              <a:t>emerging from data-centric thinking</a:t>
            </a:r>
          </a:p>
          <a:p>
            <a:endParaRPr lang="en-US" dirty="0"/>
          </a:p>
          <a:p>
            <a:r>
              <a:rPr lang="en-US" dirty="0"/>
              <a:t>"messy vitality"</a:t>
            </a:r>
            <a:br>
              <a:rPr lang="en-US" dirty="0"/>
            </a:br>
            <a:r>
              <a:rPr lang="en-US" sz="2400" dirty="0"/>
              <a:t>- approaches were hybrid/compromising/</a:t>
            </a:r>
            <a:r>
              <a:rPr lang="en-US" sz="2400" dirty="0" err="1"/>
              <a:t>accomodating</a:t>
            </a:r>
            <a:r>
              <a:rPr lang="en-US" sz="2400" dirty="0"/>
              <a:t>,</a:t>
            </a:r>
            <a:br>
              <a:rPr lang="en-US" sz="2400" dirty="0"/>
            </a:br>
            <a:r>
              <a:rPr lang="en-US" sz="2400" dirty="0"/>
              <a:t>- rather than </a:t>
            </a:r>
            <a:r>
              <a:rPr lang="en-US" sz="2400" dirty="0" err="1"/>
              <a:t>architectually</a:t>
            </a:r>
            <a:r>
              <a:rPr lang="en-US" sz="2400" dirty="0"/>
              <a:t> pure/clean/excluding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34591-9C15-8A4E-8F18-7BEE6C712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587325"/>
      </p:ext>
    </p:extLst>
  </p:cSld>
  <p:clrMapOvr>
    <a:masterClrMapping/>
  </p:clrMapOvr>
  <p:transition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9E265-DBC6-C642-8EB1-967C72D46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>
                <a:solidFill>
                  <a:schemeClr val="bg1">
                    <a:lumMod val="65000"/>
                  </a:schemeClr>
                </a:solidFill>
              </a:rPr>
              <a:t>Round 2 / “where things could be improved”</a:t>
            </a:r>
            <a:br>
              <a:rPr lang="en-US" sz="2700" dirty="0"/>
            </a:br>
            <a:r>
              <a:rPr lang="en-US" sz="4000" dirty="0">
                <a:solidFill>
                  <a:srgbClr val="C00000"/>
                </a:solidFill>
              </a:rPr>
              <a:t>Dave Clark</a:t>
            </a:r>
            <a:br>
              <a:rPr lang="en-US" sz="4000" dirty="0">
                <a:solidFill>
                  <a:srgbClr val="C00000"/>
                </a:solidFill>
              </a:rPr>
            </a:br>
            <a:r>
              <a:rPr lang="en-US" sz="3100" dirty="0">
                <a:solidFill>
                  <a:srgbClr val="C00000"/>
                </a:solidFill>
              </a:rPr>
              <a:t>“one of the original designers of the Internet”</a:t>
            </a:r>
            <a:endParaRPr lang="en-US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39790-6AB0-C846-976A-FC635A336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>
            <a:normAutofit lnSpcReduction="10000"/>
          </a:bodyPr>
          <a:lstStyle/>
          <a:p>
            <a:pPr marL="12700" indent="0">
              <a:buNone/>
              <a:tabLst>
                <a:tab pos="3873500" algn="l"/>
              </a:tabLst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Excited about NDN was the boldness of its divergence from current thinking (most of the FIA proposals were somewhat incremental)</a:t>
            </a:r>
          </a:p>
          <a:p>
            <a:pPr marL="12700" indent="0">
              <a:buNone/>
              <a:tabLst>
                <a:tab pos="3873500" algn="l"/>
              </a:tabLst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NDN explores what can be done if there is per-packet state in the router.</a:t>
            </a:r>
          </a:p>
          <a:p>
            <a:pPr marL="12700" indent="0">
              <a:buNone/>
              <a:tabLst>
                <a:tab pos="3873500" algn="l"/>
              </a:tabLst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The approach to security evolved/emerged over time:</a:t>
            </a:r>
            <a:br>
              <a:rPr lang="en-US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to me that is clearly something that worked out well.</a:t>
            </a:r>
          </a:p>
          <a:p>
            <a:pPr marL="12700" indent="0">
              <a:buNone/>
              <a:tabLst>
                <a:tab pos="3873500" algn="l"/>
              </a:tabLst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12700" indent="0">
              <a:buNone/>
              <a:tabLst>
                <a:tab pos="3873500" algn="l"/>
              </a:tabLst>
            </a:pPr>
            <a:r>
              <a:rPr lang="en-US" dirty="0"/>
              <a:t>I think what is interesting is to track how the research team evolved their thinking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34591-9C15-8A4E-8F18-7BEE6C712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032059"/>
      </p:ext>
    </p:extLst>
  </p:cSld>
  <p:clrMapOvr>
    <a:masterClrMapping/>
  </p:clrMapOvr>
  <p:transition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9E265-DBC6-C642-8EB1-967C72D46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dirty="0">
                <a:solidFill>
                  <a:schemeClr val="bg1">
                    <a:lumMod val="65000"/>
                  </a:schemeClr>
                </a:solidFill>
              </a:rPr>
              <a:t>Round 2 / “where things could be improved”</a:t>
            </a:r>
            <a:br>
              <a:rPr lang="en-US" sz="2700" dirty="0"/>
            </a:br>
            <a:r>
              <a:rPr lang="en-US" sz="4000" dirty="0">
                <a:solidFill>
                  <a:srgbClr val="C00000"/>
                </a:solidFill>
              </a:rPr>
              <a:t>Darleen Fisher</a:t>
            </a:r>
            <a:br>
              <a:rPr lang="en-US" sz="4000" dirty="0">
                <a:solidFill>
                  <a:srgbClr val="C00000"/>
                </a:solidFill>
              </a:rPr>
            </a:br>
            <a:r>
              <a:rPr lang="en-US" sz="2200" dirty="0">
                <a:solidFill>
                  <a:srgbClr val="C00000"/>
                </a:solidFill>
              </a:rPr>
              <a:t>“Program Director, Networking Research, NSF”</a:t>
            </a:r>
            <a:endParaRPr lang="en-US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34591-9C15-8A4E-8F18-7BEE6C712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17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CEF1BA1-981C-A24F-8108-386735233CC0}"/>
              </a:ext>
            </a:extLst>
          </p:cNvPr>
          <p:cNvSpPr txBox="1">
            <a:spLocks/>
          </p:cNvSpPr>
          <p:nvPr/>
        </p:nvSpPr>
        <p:spPr>
          <a:xfrm>
            <a:off x="14692" y="2011001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Finding Funding</a:t>
            </a:r>
          </a:p>
          <a:p>
            <a:r>
              <a:rPr lang="en-US" sz="2000" dirty="0"/>
              <a:t>Broader Research Community Support</a:t>
            </a:r>
          </a:p>
          <a:p>
            <a:pPr lvl="1"/>
            <a:r>
              <a:rPr lang="en-US" sz="1800" dirty="0"/>
              <a:t>Publications (ACM ICN)</a:t>
            </a:r>
          </a:p>
          <a:p>
            <a:pPr lvl="1"/>
            <a:r>
              <a:rPr lang="en-US" sz="1800" dirty="0"/>
              <a:t>Jobs for Students</a:t>
            </a:r>
          </a:p>
          <a:p>
            <a:pPr lvl="1"/>
            <a:r>
              <a:rPr lang="en-US" sz="1800" dirty="0"/>
              <a:t>Proposals hard to fund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1800" dirty="0"/>
          </a:p>
          <a:p>
            <a:r>
              <a:rPr lang="en-US" sz="2000" dirty="0"/>
              <a:t>Framing/Selling the “Product”—Context Switching</a:t>
            </a:r>
          </a:p>
          <a:p>
            <a:pPr lvl="1"/>
            <a:r>
              <a:rPr lang="en-US" sz="1800" dirty="0"/>
              <a:t>What it Enables</a:t>
            </a:r>
          </a:p>
          <a:p>
            <a:pPr lvl="1"/>
            <a:r>
              <a:rPr lang="en-US" sz="1800" dirty="0"/>
              <a:t>How it Compares to Other Products</a:t>
            </a:r>
          </a:p>
          <a:p>
            <a:pPr lvl="1"/>
            <a:r>
              <a:rPr lang="en-US" sz="1800" dirty="0"/>
              <a:t>What is New</a:t>
            </a:r>
          </a:p>
          <a:p>
            <a:pPr lvl="1"/>
            <a:endParaRPr lang="en-US" sz="1800" dirty="0"/>
          </a:p>
          <a:p>
            <a:pPr lvl="1"/>
            <a:endParaRPr lang="en-US" sz="1800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36EFE18-FE6D-354F-8376-30A685BC767D}"/>
              </a:ext>
            </a:extLst>
          </p:cNvPr>
          <p:cNvSpPr txBox="1">
            <a:spLocks/>
          </p:cNvSpPr>
          <p:nvPr/>
        </p:nvSpPr>
        <p:spPr>
          <a:xfrm>
            <a:off x="4421773" y="2030460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Transitions are Challenging: e.g. from: </a:t>
            </a:r>
          </a:p>
          <a:p>
            <a:pPr lvl="1"/>
            <a:r>
              <a:rPr lang="en-US" sz="1800" dirty="0"/>
              <a:t>Concept to Architecture</a:t>
            </a:r>
          </a:p>
          <a:p>
            <a:pPr lvl="1"/>
            <a:r>
              <a:rPr lang="en-US" sz="1800" dirty="0"/>
              <a:t>Architecture to an Internet</a:t>
            </a:r>
          </a:p>
          <a:p>
            <a:pPr lvl="1"/>
            <a:r>
              <a:rPr lang="en-US" sz="1800" dirty="0"/>
              <a:t>Research to Engineering and Back</a:t>
            </a:r>
          </a:p>
          <a:p>
            <a:pPr lvl="1"/>
            <a:r>
              <a:rPr lang="en-US" sz="1800" dirty="0"/>
              <a:t>Research to Development to Deployment </a:t>
            </a:r>
          </a:p>
          <a:p>
            <a:pPr lvl="1"/>
            <a:r>
              <a:rPr lang="en-US" sz="1800" dirty="0"/>
              <a:t>Clunky to Ease of Use</a:t>
            </a:r>
          </a:p>
          <a:p>
            <a:pPr lvl="1"/>
            <a:r>
              <a:rPr lang="en-US" sz="1800" dirty="0"/>
              <a:t>From Research Network to Production Network </a:t>
            </a:r>
          </a:p>
          <a:p>
            <a:pPr lvl="2"/>
            <a:r>
              <a:rPr lang="en-US" sz="1600" dirty="0"/>
              <a:t>Academic to Commercial-Grade Code</a:t>
            </a:r>
          </a:p>
          <a:p>
            <a:pPr lvl="2"/>
            <a:r>
              <a:rPr lang="en-US" sz="1600" dirty="0"/>
              <a:t>Embracing Other’s </a:t>
            </a:r>
            <a:r>
              <a:rPr lang="en-US" sz="1600" dirty="0" err="1"/>
              <a:t>Develppments</a:t>
            </a:r>
            <a:endParaRPr lang="en-US" sz="1600" dirty="0"/>
          </a:p>
          <a:p>
            <a:pPr lvl="2"/>
            <a:r>
              <a:rPr lang="en-US" sz="1600" dirty="0"/>
              <a:t>Securing NDN Itself</a:t>
            </a:r>
          </a:p>
        </p:txBody>
      </p:sp>
    </p:spTree>
    <p:extLst>
      <p:ext uri="{BB962C8B-B14F-4D97-AF65-F5344CB8AC3E}">
        <p14:creationId xmlns:p14="http://schemas.microsoft.com/office/powerpoint/2010/main" val="3856600418"/>
      </p:ext>
    </p:extLst>
  </p:cSld>
  <p:clrMapOvr>
    <a:masterClrMapping/>
  </p:clrMapOvr>
  <p:transition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9E265-DBC6-C642-8EB1-967C72D46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>
                <a:solidFill>
                  <a:schemeClr val="bg1">
                    <a:lumMod val="65000"/>
                  </a:schemeClr>
                </a:solidFill>
              </a:rPr>
              <a:t>Round 2 / “where things could be improved”</a:t>
            </a:r>
            <a:br>
              <a:rPr lang="en-US" sz="2700" dirty="0"/>
            </a:br>
            <a:r>
              <a:rPr lang="en-US" sz="4000" dirty="0">
                <a:solidFill>
                  <a:srgbClr val="C00000"/>
                </a:solidFill>
              </a:rPr>
              <a:t>Christos Papadopoulos</a:t>
            </a:r>
            <a:br>
              <a:rPr lang="en-US" sz="4000" dirty="0">
                <a:solidFill>
                  <a:srgbClr val="C00000"/>
                </a:solidFill>
              </a:rPr>
            </a:br>
            <a:r>
              <a:rPr lang="en-US" sz="3100" dirty="0">
                <a:solidFill>
                  <a:srgbClr val="C00000"/>
                </a:solidFill>
              </a:rPr>
              <a:t>“working with NDN since 2010”</a:t>
            </a:r>
            <a:endParaRPr lang="en-US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39790-6AB0-C846-976A-FC635A336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370138"/>
            <a:ext cx="8515350" cy="4351338"/>
          </a:xfrm>
        </p:spPr>
        <p:txBody>
          <a:bodyPr>
            <a:normAutofit/>
          </a:bodyPr>
          <a:lstStyle/>
          <a:p>
            <a:pPr marL="12700" indent="0">
              <a:buNone/>
              <a:tabLst>
                <a:tab pos="3873500" algn="l"/>
              </a:tabLst>
            </a:pPr>
            <a:r>
              <a:rPr lang="en-US" dirty="0"/>
              <a:t>NDN needs a success story that clearly demonstrates</a:t>
            </a:r>
            <a:br>
              <a:rPr lang="en-US" dirty="0"/>
            </a:br>
            <a:r>
              <a:rPr lang="en-US" dirty="0"/>
              <a:t>its advantages over host-based communication</a:t>
            </a:r>
          </a:p>
          <a:p>
            <a:pPr marL="12700" indent="0">
              <a:buNone/>
              <a:tabLst>
                <a:tab pos="3873500" algn="l"/>
              </a:tabLst>
            </a:pPr>
            <a:endParaRPr lang="en-US" dirty="0"/>
          </a:p>
          <a:p>
            <a:pPr marL="12700" indent="0">
              <a:buNone/>
              <a:tabLst>
                <a:tab pos="3873500" algn="l"/>
              </a:tabLst>
            </a:pPr>
            <a:r>
              <a:rPr lang="en-US" dirty="0"/>
              <a:t>We need to focus more on applications for maximum impact.</a:t>
            </a:r>
          </a:p>
          <a:p>
            <a:pPr marL="12700" indent="0">
              <a:buNone/>
              <a:tabLst>
                <a:tab pos="3873500" algn="l"/>
              </a:tabLst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34591-9C15-8A4E-8F18-7BEE6C712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703760"/>
      </p:ext>
    </p:extLst>
  </p:cSld>
  <p:clrMapOvr>
    <a:masterClrMapping/>
  </p:clrMapOvr>
  <p:transition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9E265-DBC6-C642-8EB1-967C72D46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>
                <a:solidFill>
                  <a:schemeClr val="bg1">
                    <a:lumMod val="65000"/>
                  </a:schemeClr>
                </a:solidFill>
              </a:rPr>
              <a:t>Round 2 / “where things could be improved”</a:t>
            </a:r>
            <a:br>
              <a:rPr lang="en-US" sz="2700" dirty="0"/>
            </a:br>
            <a:r>
              <a:rPr lang="en-US" sz="4000" dirty="0">
                <a:solidFill>
                  <a:srgbClr val="C00000"/>
                </a:solidFill>
              </a:rPr>
              <a:t>Lan Wang</a:t>
            </a:r>
            <a:br>
              <a:rPr lang="en-US" sz="4000" dirty="0">
                <a:solidFill>
                  <a:srgbClr val="C00000"/>
                </a:solidFill>
              </a:rPr>
            </a:br>
            <a:r>
              <a:rPr lang="en-US" sz="3100" dirty="0">
                <a:solidFill>
                  <a:srgbClr val="C00000"/>
                </a:solidFill>
              </a:rPr>
              <a:t>“contributor to NDN architecture development”</a:t>
            </a:r>
            <a:endParaRPr lang="en-US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39790-6AB0-C846-976A-FC635A336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>
            <a:normAutofit/>
          </a:bodyPr>
          <a:lstStyle/>
          <a:p>
            <a:pPr marL="355600" lvl="1" indent="-342900"/>
            <a:endParaRPr lang="en-US" dirty="0"/>
          </a:p>
          <a:p>
            <a:pPr marL="355600" lvl="1" indent="-342900"/>
            <a:r>
              <a:rPr lang="en-US" dirty="0"/>
              <a:t>routing protocol as an example NDN app (sync, security)</a:t>
            </a:r>
          </a:p>
          <a:p>
            <a:pPr marL="355600" lvl="1" indent="-342900"/>
            <a:endParaRPr lang="en-US" dirty="0"/>
          </a:p>
          <a:p>
            <a:pPr marL="355600" lvl="1" indent="-342900"/>
            <a:r>
              <a:rPr lang="en-US" dirty="0"/>
              <a:t>largely static routing + adaptive forwarding </a:t>
            </a:r>
          </a:p>
          <a:p>
            <a:pPr marL="355600" lvl="1" indent="-342900"/>
            <a:endParaRPr lang="en-US" dirty="0"/>
          </a:p>
          <a:p>
            <a:pPr marL="355600" lvl="1" indent="-342900"/>
            <a:r>
              <a:rPr lang="en-US" dirty="0"/>
              <a:t>decentralized apps: social media, </a:t>
            </a:r>
            <a:r>
              <a:rPr lang="en-US" dirty="0" err="1"/>
              <a:t>smarthome</a:t>
            </a:r>
            <a:r>
              <a:rPr lang="en-US" dirty="0"/>
              <a:t>, …</a:t>
            </a:r>
          </a:p>
          <a:p>
            <a:pPr marL="469900" indent="-457200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34591-9C15-8A4E-8F18-7BEE6C712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023967"/>
      </p:ext>
    </p:extLst>
  </p:cSld>
  <p:clrMapOvr>
    <a:masterClrMapping/>
  </p:clrMapOvr>
  <p:transition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9E265-DBC6-C642-8EB1-967C72D46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>
                <a:solidFill>
                  <a:schemeClr val="bg1">
                    <a:lumMod val="65000"/>
                  </a:schemeClr>
                </a:solidFill>
              </a:rPr>
              <a:t>Round 2 / “where things could be improved”</a:t>
            </a:r>
            <a:br>
              <a:rPr lang="en-US" sz="2700" dirty="0"/>
            </a:br>
            <a:r>
              <a:rPr lang="en-US" sz="4000" dirty="0" err="1">
                <a:solidFill>
                  <a:srgbClr val="C00000"/>
                </a:solidFill>
              </a:rPr>
              <a:t>Beichuang</a:t>
            </a:r>
            <a:r>
              <a:rPr lang="en-US" sz="4000" dirty="0">
                <a:solidFill>
                  <a:srgbClr val="C00000"/>
                </a:solidFill>
              </a:rPr>
              <a:t> Zhang</a:t>
            </a:r>
            <a:br>
              <a:rPr lang="en-US" sz="4000" dirty="0">
                <a:solidFill>
                  <a:srgbClr val="C00000"/>
                </a:solidFill>
              </a:rPr>
            </a:br>
            <a:r>
              <a:rPr lang="en-US" sz="2700" dirty="0">
                <a:solidFill>
                  <a:srgbClr val="C00000"/>
                </a:solidFill>
              </a:rPr>
              <a:t>“University of Arizona”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39790-6AB0-C846-976A-FC635A336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>
            <a:normAutofit/>
          </a:bodyPr>
          <a:lstStyle/>
          <a:p>
            <a:pPr marL="12700" indent="0">
              <a:buNone/>
              <a:tabLst>
                <a:tab pos="3873500" algn="l"/>
              </a:tabLst>
            </a:pPr>
            <a:r>
              <a:rPr lang="en-US" dirty="0"/>
              <a:t>We should have a common user-friendly API:</a:t>
            </a:r>
          </a:p>
          <a:p>
            <a:pPr marL="469900" indent="-457200">
              <a:buFontTx/>
              <a:buChar char="-"/>
              <a:tabLst>
                <a:tab pos="3873500" algn="l"/>
              </a:tabLst>
            </a:pPr>
            <a:r>
              <a:rPr lang="en-US" dirty="0"/>
              <a:t>without exposing too much low level interest/data information</a:t>
            </a:r>
          </a:p>
          <a:p>
            <a:pPr marL="469900" indent="-457200">
              <a:buFontTx/>
              <a:buChar char="-"/>
              <a:tabLst>
                <a:tab pos="3873500" algn="l"/>
              </a:tabLst>
            </a:pPr>
            <a:r>
              <a:rPr lang="en-US" dirty="0"/>
              <a:t>for non-network developers to write apps without understanding low-level mechanisms.</a:t>
            </a:r>
            <a:br>
              <a:rPr lang="en-US" dirty="0"/>
            </a:br>
            <a:endParaRPr lang="en-US" dirty="0"/>
          </a:p>
          <a:p>
            <a:pPr marL="12700" indent="0">
              <a:buNone/>
              <a:tabLst>
                <a:tab pos="3873500" algn="l"/>
              </a:tabLst>
            </a:pPr>
            <a:r>
              <a:rPr lang="en-US" dirty="0"/>
              <a:t>This involves both the API design (understand what apps want), and API implementation (what the network can do).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34591-9C15-8A4E-8F18-7BEE6C712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214197"/>
      </p:ext>
    </p:extLst>
  </p:cSld>
  <p:clrMapOvr>
    <a:masterClrMapping/>
  </p:clrMapOvr>
  <p:transition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9E265-DBC6-C642-8EB1-967C72D46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>
                <a:solidFill>
                  <a:schemeClr val="bg1">
                    <a:lumMod val="65000"/>
                  </a:schemeClr>
                </a:solidFill>
              </a:rPr>
              <a:t>Round 2 / “where things could be improved”</a:t>
            </a:r>
            <a:br>
              <a:rPr lang="en-US" sz="2700" dirty="0"/>
            </a:br>
            <a:r>
              <a:rPr lang="en-US" sz="4000" dirty="0" err="1">
                <a:solidFill>
                  <a:srgbClr val="C00000"/>
                </a:solidFill>
              </a:rPr>
              <a:t>Lixia</a:t>
            </a:r>
            <a:r>
              <a:rPr lang="en-US" sz="4000" dirty="0">
                <a:solidFill>
                  <a:srgbClr val="C00000"/>
                </a:solidFill>
              </a:rPr>
              <a:t> Zhang</a:t>
            </a:r>
            <a:br>
              <a:rPr lang="en-US" sz="4000" dirty="0">
                <a:solidFill>
                  <a:srgbClr val="C00000"/>
                </a:solidFill>
              </a:rPr>
            </a:br>
            <a:r>
              <a:rPr lang="en-US" sz="2200" dirty="0">
                <a:solidFill>
                  <a:srgbClr val="C00000"/>
                </a:solidFill>
              </a:rPr>
              <a:t>“orchestrated the original NDN proposal to NSF, lead PI of the NDN project”</a:t>
            </a:r>
            <a:endParaRPr lang="en-US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39790-6AB0-C846-976A-FC635A336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>
            <a:normAutofit/>
          </a:bodyPr>
          <a:lstStyle/>
          <a:p>
            <a:pPr marL="296863" indent="-284163">
              <a:buNone/>
              <a:tabLst>
                <a:tab pos="3873500" algn="l"/>
              </a:tabLst>
            </a:pPr>
            <a:r>
              <a:rPr lang="en-US" dirty="0"/>
              <a:t>- being truly app-drive architecture development, building usable apps</a:t>
            </a:r>
          </a:p>
          <a:p>
            <a:pPr marL="296863" indent="-284163">
              <a:buNone/>
              <a:tabLst>
                <a:tab pos="3873500" algn="l"/>
              </a:tabLst>
            </a:pPr>
            <a:endParaRPr lang="en-US" dirty="0"/>
          </a:p>
          <a:p>
            <a:pPr marL="296863" indent="-284163">
              <a:buNone/>
              <a:tabLst>
                <a:tab pos="3873500" algn="l"/>
              </a:tabLst>
            </a:pPr>
            <a:r>
              <a:rPr lang="en-US" dirty="0"/>
              <a:t>where we are now</a:t>
            </a:r>
          </a:p>
          <a:p>
            <a:pPr marL="296863" indent="-284163">
              <a:buNone/>
              <a:tabLst>
                <a:tab pos="3873500" algn="l"/>
              </a:tabLst>
            </a:pPr>
            <a:r>
              <a:rPr lang="en-US" dirty="0"/>
              <a:t>- the end of the beginning:</a:t>
            </a:r>
          </a:p>
          <a:p>
            <a:pPr marL="296863" indent="-284163">
              <a:buNone/>
              <a:tabLst>
                <a:tab pos="3873500" algn="l"/>
              </a:tabLst>
            </a:pPr>
            <a:r>
              <a:rPr lang="en-US" dirty="0"/>
              <a:t>learned where the difficulties are in pushing out NDN,</a:t>
            </a:r>
          </a:p>
          <a:p>
            <a:pPr marL="296863" indent="-284163">
              <a:buNone/>
              <a:tabLst>
                <a:tab pos="3873500" algn="l"/>
              </a:tabLst>
            </a:pPr>
            <a:r>
              <a:rPr lang="en-US" dirty="0"/>
              <a:t>and learned how to get there: edge-in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34591-9C15-8A4E-8F18-7BEE6C712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3970"/>
      </p:ext>
    </p:extLst>
  </p:cSld>
  <p:clrMapOvr>
    <a:masterClrMapping/>
  </p:clrMapOvr>
  <p:transition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25B9B-6507-704D-9D5E-332226C9D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Round 3:</a:t>
            </a:r>
            <a:br>
              <a:rPr lang="en-US" dirty="0"/>
            </a:br>
            <a:br>
              <a:rPr lang="en-US" dirty="0"/>
            </a:br>
            <a:r>
              <a:rPr lang="en-US" i="1" dirty="0">
                <a:solidFill>
                  <a:srgbClr val="C00000"/>
                </a:solidFill>
              </a:rPr>
              <a:t>Where are we now?</a:t>
            </a:r>
            <a:br>
              <a:rPr lang="en-US" i="1" dirty="0">
                <a:solidFill>
                  <a:srgbClr val="C00000"/>
                </a:solidFill>
              </a:rPr>
            </a:br>
            <a:r>
              <a:rPr lang="en-US" sz="3600" i="1" dirty="0">
                <a:solidFill>
                  <a:srgbClr val="C00000"/>
                </a:solidFill>
              </a:rPr>
              <a:t>(closing statements)</a:t>
            </a:r>
            <a:endParaRPr lang="en-US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CB0DE-8EBD-864C-A47E-DBE48F3CD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3D3AC-70C9-704A-93A2-2B2C9D15C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965339"/>
      </p:ext>
    </p:extLst>
  </p:cSld>
  <p:clrMapOvr>
    <a:masterClrMapping/>
  </p:clrMapOvr>
  <p:transition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9E265-DBC6-C642-8EB1-967C72D46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>
                <a:solidFill>
                  <a:schemeClr val="bg1">
                    <a:lumMod val="65000"/>
                  </a:schemeClr>
                </a:solidFill>
              </a:rPr>
              <a:t>Round 3 / “where are we now”</a:t>
            </a:r>
            <a:br>
              <a:rPr lang="en-US" sz="2700" dirty="0"/>
            </a:br>
            <a:r>
              <a:rPr lang="en-US" sz="4000" dirty="0">
                <a:solidFill>
                  <a:srgbClr val="C00000"/>
                </a:solidFill>
              </a:rPr>
              <a:t>Van Jacobson,</a:t>
            </a:r>
            <a:br>
              <a:rPr lang="en-US" sz="4000" dirty="0">
                <a:solidFill>
                  <a:srgbClr val="C00000"/>
                </a:solidFill>
              </a:rPr>
            </a:br>
            <a:r>
              <a:rPr lang="en-US" sz="4000" dirty="0">
                <a:solidFill>
                  <a:srgbClr val="C00000"/>
                </a:solidFill>
              </a:rPr>
              <a:t>“researcher”</a:t>
            </a:r>
            <a:endParaRPr lang="en-US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39790-6AB0-C846-976A-FC635A336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187575"/>
            <a:ext cx="85153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Who is "we"?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34591-9C15-8A4E-8F18-7BEE6C712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277521"/>
      </p:ext>
    </p:extLst>
  </p:cSld>
  <p:clrMapOvr>
    <a:masterClrMapping/>
  </p:clrMapOvr>
  <p:transition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9E265-DBC6-C642-8EB1-967C72D46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>
                <a:solidFill>
                  <a:schemeClr val="bg1">
                    <a:lumMod val="65000"/>
                  </a:schemeClr>
                </a:solidFill>
              </a:rPr>
              <a:t>Round 3 / “where are we now”</a:t>
            </a:r>
            <a:br>
              <a:rPr lang="en-US" sz="2700" dirty="0"/>
            </a:br>
            <a:r>
              <a:rPr lang="en-US" sz="4000" dirty="0">
                <a:solidFill>
                  <a:srgbClr val="C00000"/>
                </a:solidFill>
              </a:rPr>
              <a:t>Jeff Burke</a:t>
            </a:r>
            <a:br>
              <a:rPr lang="en-US" sz="4000" dirty="0">
                <a:solidFill>
                  <a:srgbClr val="C00000"/>
                </a:solidFill>
              </a:rPr>
            </a:br>
            <a:r>
              <a:rPr lang="en-US" sz="2800" dirty="0">
                <a:solidFill>
                  <a:srgbClr val="C00000"/>
                </a:solidFill>
              </a:rPr>
              <a:t>“driving NDN through use cases, library dev”</a:t>
            </a:r>
            <a:endParaRPr lang="en-US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39790-6AB0-C846-976A-FC635A336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187575"/>
            <a:ext cx="85153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At an inflection point</a:t>
            </a:r>
            <a:br>
              <a:rPr lang="en-US" dirty="0"/>
            </a:br>
            <a:r>
              <a:rPr lang="en-US" dirty="0"/>
              <a:t>for two "faces" of the NDN architecture:</a:t>
            </a:r>
          </a:p>
          <a:p>
            <a:pPr marL="0" indent="0">
              <a:buNone/>
            </a:pPr>
            <a:r>
              <a:rPr lang="en-US" dirty="0"/>
              <a:t>- user-focused</a:t>
            </a:r>
          </a:p>
          <a:p>
            <a:pPr marL="0" indent="0">
              <a:buNone/>
            </a:pPr>
            <a:r>
              <a:rPr lang="en-US" dirty="0"/>
              <a:t>- research community-focused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34591-9C15-8A4E-8F18-7BEE6C712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306812"/>
      </p:ext>
    </p:extLst>
  </p:cSld>
  <p:clrMapOvr>
    <a:masterClrMapping/>
  </p:clrMapOvr>
  <p:transition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9E265-DBC6-C642-8EB1-967C72D46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>
                <a:solidFill>
                  <a:schemeClr val="bg1">
                    <a:lumMod val="65000"/>
                  </a:schemeClr>
                </a:solidFill>
              </a:rPr>
              <a:t>Round 3 / “where are we now”</a:t>
            </a:r>
            <a:br>
              <a:rPr lang="en-US" sz="2700" dirty="0"/>
            </a:br>
            <a:r>
              <a:rPr lang="en-US" sz="4000" dirty="0">
                <a:solidFill>
                  <a:srgbClr val="C00000"/>
                </a:solidFill>
              </a:rPr>
              <a:t>Dave Clark</a:t>
            </a:r>
            <a:br>
              <a:rPr lang="en-US" sz="4000" dirty="0">
                <a:solidFill>
                  <a:srgbClr val="C00000"/>
                </a:solidFill>
              </a:rPr>
            </a:br>
            <a:r>
              <a:rPr lang="en-US" sz="3100" dirty="0">
                <a:solidFill>
                  <a:srgbClr val="C00000"/>
                </a:solidFill>
              </a:rPr>
              <a:t>“one of the original designers of the Internet”</a:t>
            </a:r>
            <a:endParaRPr lang="en-US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39790-6AB0-C846-976A-FC635A336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>
            <a:normAutofit/>
          </a:bodyPr>
          <a:lstStyle/>
          <a:p>
            <a:pPr marL="296863" indent="-284163">
              <a:buNone/>
              <a:tabLst>
                <a:tab pos="3873500" algn="l"/>
              </a:tabLst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34591-9C15-8A4E-8F18-7BEE6C712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397512"/>
      </p:ext>
    </p:extLst>
  </p:cSld>
  <p:clrMapOvr>
    <a:masterClrMapping/>
  </p:clrMapOvr>
  <p:transition>
    <p:fade thruBlk="1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9E265-DBC6-C642-8EB1-967C72D46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dirty="0">
                <a:solidFill>
                  <a:schemeClr val="bg1">
                    <a:lumMod val="65000"/>
                  </a:schemeClr>
                </a:solidFill>
              </a:rPr>
              <a:t>Round 3 / “where are we now” or closing statement</a:t>
            </a:r>
            <a:br>
              <a:rPr lang="en-US" sz="2700" dirty="0"/>
            </a:br>
            <a:r>
              <a:rPr lang="en-US" sz="4000" dirty="0">
                <a:solidFill>
                  <a:srgbClr val="C00000"/>
                </a:solidFill>
              </a:rPr>
              <a:t>Darleen Fisher</a:t>
            </a:r>
            <a:br>
              <a:rPr lang="en-US" sz="4000" dirty="0">
                <a:solidFill>
                  <a:srgbClr val="C00000"/>
                </a:solidFill>
              </a:rPr>
            </a:br>
            <a:r>
              <a:rPr lang="en-US" sz="2200" dirty="0">
                <a:solidFill>
                  <a:srgbClr val="C00000"/>
                </a:solidFill>
              </a:rPr>
              <a:t>“Program Director, Networking Research, NSF”</a:t>
            </a:r>
            <a:endParaRPr lang="en-US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34591-9C15-8A4E-8F18-7BEE6C712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26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B51CB92-E4E6-0D4F-9AFF-32524665F5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7125" y="2409555"/>
            <a:ext cx="4543697" cy="4351338"/>
          </a:xfrm>
        </p:spPr>
        <p:txBody>
          <a:bodyPr>
            <a:normAutofit/>
          </a:bodyPr>
          <a:lstStyle/>
          <a:p>
            <a:endParaRPr lang="en-US" sz="2400" dirty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DC6026C-E8B3-284F-AB5A-40EB2930A4D0}"/>
              </a:ext>
            </a:extLst>
          </p:cNvPr>
          <p:cNvSpPr txBox="1">
            <a:spLocks/>
          </p:cNvSpPr>
          <p:nvPr/>
        </p:nvSpPr>
        <p:spPr>
          <a:xfrm>
            <a:off x="4800600" y="2441669"/>
            <a:ext cx="454369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74550812"/>
      </p:ext>
    </p:extLst>
  </p:cSld>
  <p:clrMapOvr>
    <a:masterClrMapping/>
  </p:clrMapOvr>
  <p:transition>
    <p:fade thruBlk="1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9E265-DBC6-C642-8EB1-967C72D46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>
                <a:solidFill>
                  <a:schemeClr val="bg1">
                    <a:lumMod val="65000"/>
                  </a:schemeClr>
                </a:solidFill>
              </a:rPr>
              <a:t>Round 3 / “where are we now”</a:t>
            </a:r>
            <a:br>
              <a:rPr lang="en-US" sz="2700" dirty="0"/>
            </a:br>
            <a:r>
              <a:rPr lang="en-US" sz="4000" dirty="0">
                <a:solidFill>
                  <a:srgbClr val="C00000"/>
                </a:solidFill>
              </a:rPr>
              <a:t>Christos Papadopoulos</a:t>
            </a:r>
            <a:br>
              <a:rPr lang="en-US" sz="4000" dirty="0">
                <a:solidFill>
                  <a:srgbClr val="C00000"/>
                </a:solidFill>
              </a:rPr>
            </a:br>
            <a:r>
              <a:rPr lang="en-US" sz="2800" dirty="0">
                <a:solidFill>
                  <a:srgbClr val="C00000"/>
                </a:solidFill>
              </a:rPr>
              <a:t>“working with NDN since 2010”</a:t>
            </a:r>
            <a:endParaRPr lang="en-US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39790-6AB0-C846-976A-FC635A336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84278"/>
            <a:ext cx="8515350" cy="4351338"/>
          </a:xfrm>
        </p:spPr>
        <p:txBody>
          <a:bodyPr>
            <a:normAutofit/>
          </a:bodyPr>
          <a:lstStyle/>
          <a:p>
            <a:pPr marL="12700" indent="0">
              <a:buNone/>
              <a:tabLst>
                <a:tab pos="3873500" algn="l"/>
              </a:tabLst>
            </a:pPr>
            <a:r>
              <a:rPr lang="en-US" dirty="0"/>
              <a:t>We are still an important research project that is slowly gaining momentum.</a:t>
            </a:r>
          </a:p>
          <a:p>
            <a:pPr marL="12700" indent="0">
              <a:buNone/>
              <a:tabLst>
                <a:tab pos="3873500" algn="l"/>
              </a:tabLst>
            </a:pPr>
            <a:endParaRPr lang="en-US" dirty="0"/>
          </a:p>
          <a:p>
            <a:pPr marL="12700" indent="0">
              <a:buNone/>
              <a:tabLst>
                <a:tab pos="3873500" algn="l"/>
              </a:tabLst>
            </a:pPr>
            <a:r>
              <a:rPr lang="en-US" dirty="0"/>
              <a:t>However, we have not broken out of that mold to the broader networking community.</a:t>
            </a:r>
          </a:p>
          <a:p>
            <a:pPr marL="12700" indent="0">
              <a:buNone/>
              <a:tabLst>
                <a:tab pos="3873500" algn="l"/>
              </a:tabLst>
            </a:pPr>
            <a:endParaRPr lang="en-US" dirty="0"/>
          </a:p>
          <a:p>
            <a:pPr marL="12700" indent="0">
              <a:buNone/>
              <a:tabLst>
                <a:tab pos="3873500" algn="l"/>
              </a:tabLst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34591-9C15-8A4E-8F18-7BEE6C712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793639"/>
      </p:ext>
    </p:extLst>
  </p:cSld>
  <p:clrMapOvr>
    <a:masterClrMapping/>
  </p:clrMapOvr>
  <p:transition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9E265-DBC6-C642-8EB1-967C72D46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>
                <a:solidFill>
                  <a:schemeClr val="bg1">
                    <a:lumMod val="65000"/>
                  </a:schemeClr>
                </a:solidFill>
              </a:rPr>
              <a:t>Round 3 / “where are we now”</a:t>
            </a:r>
            <a:br>
              <a:rPr lang="en-US" sz="2700" dirty="0"/>
            </a:br>
            <a:r>
              <a:rPr lang="en-US" sz="4000" dirty="0">
                <a:solidFill>
                  <a:srgbClr val="C00000"/>
                </a:solidFill>
              </a:rPr>
              <a:t>Lan Wang</a:t>
            </a:r>
            <a:br>
              <a:rPr lang="en-US" sz="4000" dirty="0">
                <a:solidFill>
                  <a:srgbClr val="C00000"/>
                </a:solidFill>
              </a:rPr>
            </a:br>
            <a:r>
              <a:rPr lang="en-US" sz="4000" dirty="0">
                <a:solidFill>
                  <a:srgbClr val="C00000"/>
                </a:solidFill>
              </a:rPr>
              <a:t>“</a:t>
            </a:r>
            <a:r>
              <a:rPr lang="en-US" sz="2700" dirty="0">
                <a:solidFill>
                  <a:srgbClr val="C00000"/>
                </a:solidFill>
              </a:rPr>
              <a:t>contributor to NDN architecture development</a:t>
            </a:r>
            <a:r>
              <a:rPr lang="en-US" sz="4000" dirty="0">
                <a:solidFill>
                  <a:srgbClr val="C00000"/>
                </a:solidFill>
              </a:rPr>
              <a:t>”</a:t>
            </a:r>
            <a:endParaRPr lang="en-US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34591-9C15-8A4E-8F18-7BEE6C712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28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3169F1-7C01-9F46-8FF3-2F6E8FE4D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969976"/>
            <a:ext cx="9142368" cy="695335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288276B-C639-F849-8009-4B05E563CB9D}"/>
              </a:ext>
            </a:extLst>
          </p:cNvPr>
          <p:cNvCxnSpPr/>
          <p:nvPr/>
        </p:nvCxnSpPr>
        <p:spPr>
          <a:xfrm flipV="1">
            <a:off x="326571" y="6356350"/>
            <a:ext cx="914400" cy="27432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2324652"/>
      </p:ext>
    </p:extLst>
  </p:cSld>
  <p:clrMapOvr>
    <a:masterClrMapping/>
  </p:clrMapOvr>
  <p:transition>
    <p:fade thruBlk="1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9E265-DBC6-C642-8EB1-967C72D46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>
                <a:solidFill>
                  <a:schemeClr val="bg1">
                    <a:lumMod val="65000"/>
                  </a:schemeClr>
                </a:solidFill>
              </a:rPr>
              <a:t>Round 3 / “where are we now”</a:t>
            </a:r>
            <a:br>
              <a:rPr lang="en-US" sz="2700" dirty="0"/>
            </a:br>
            <a:r>
              <a:rPr lang="en-US" sz="4000" dirty="0" err="1">
                <a:solidFill>
                  <a:srgbClr val="C00000"/>
                </a:solidFill>
              </a:rPr>
              <a:t>Beichuang</a:t>
            </a:r>
            <a:r>
              <a:rPr lang="en-US" sz="4000" dirty="0">
                <a:solidFill>
                  <a:srgbClr val="C00000"/>
                </a:solidFill>
              </a:rPr>
              <a:t> Zhang</a:t>
            </a:r>
            <a:br>
              <a:rPr lang="en-US" sz="4000" dirty="0">
                <a:solidFill>
                  <a:srgbClr val="C00000"/>
                </a:solidFill>
              </a:rPr>
            </a:br>
            <a:r>
              <a:rPr lang="en-US" sz="2700" dirty="0">
                <a:solidFill>
                  <a:srgbClr val="C00000"/>
                </a:solidFill>
              </a:rPr>
              <a:t>“University of Arizona”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39790-6AB0-C846-976A-FC635A336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>
            <a:normAutofit/>
          </a:bodyPr>
          <a:lstStyle/>
          <a:p>
            <a:pPr marL="12700" indent="0">
              <a:buNone/>
              <a:tabLst>
                <a:tab pos="3873500" algn="l"/>
              </a:tabLst>
            </a:pPr>
            <a:r>
              <a:rPr lang="en-US" dirty="0"/>
              <a:t>U</a:t>
            </a:r>
            <a:r>
              <a:rPr lang="en-US"/>
              <a:t>sing </a:t>
            </a:r>
            <a:r>
              <a:rPr lang="en-US" dirty="0"/>
              <a:t>the house analogy, I think we have a foundation here with the basic protocol, implementation, and libraries.</a:t>
            </a:r>
          </a:p>
          <a:p>
            <a:pPr marL="12700" indent="0">
              <a:buNone/>
              <a:tabLst>
                <a:tab pos="3873500" algn="l"/>
              </a:tabLst>
            </a:pPr>
            <a:endParaRPr lang="en-US" dirty="0"/>
          </a:p>
          <a:p>
            <a:pPr marL="12700" indent="0">
              <a:buNone/>
              <a:tabLst>
                <a:tab pos="3873500" algn="l"/>
              </a:tabLst>
            </a:pPr>
            <a:r>
              <a:rPr lang="en-US" dirty="0"/>
              <a:t>But much need to do to fully explore the potential (e.g., security/trust management, in-network storage and computation, etc.) with applications.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34591-9C15-8A4E-8F18-7BEE6C712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233988"/>
      </p:ext>
    </p:extLst>
  </p:cSld>
  <p:clrMapOvr>
    <a:masterClrMapping/>
  </p:clrMapOvr>
  <p:transition>
    <p:fade thruBlk="1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9E265-DBC6-C642-8EB1-967C72D46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>
                <a:solidFill>
                  <a:schemeClr val="bg1">
                    <a:lumMod val="65000"/>
                  </a:schemeClr>
                </a:solidFill>
              </a:rPr>
              <a:t>Round 3 / “where are we now”</a:t>
            </a:r>
            <a:br>
              <a:rPr lang="en-US" sz="2700" dirty="0"/>
            </a:br>
            <a:r>
              <a:rPr lang="en-US" sz="4000" dirty="0" err="1">
                <a:solidFill>
                  <a:srgbClr val="C00000"/>
                </a:solidFill>
              </a:rPr>
              <a:t>Lixia</a:t>
            </a:r>
            <a:r>
              <a:rPr lang="en-US" sz="4000" dirty="0">
                <a:solidFill>
                  <a:srgbClr val="C00000"/>
                </a:solidFill>
              </a:rPr>
              <a:t> Zhang</a:t>
            </a:r>
            <a:br>
              <a:rPr lang="en-US" sz="4000" dirty="0">
                <a:solidFill>
                  <a:srgbClr val="C00000"/>
                </a:solidFill>
              </a:rPr>
            </a:br>
            <a:r>
              <a:rPr lang="en-US" sz="2200" dirty="0">
                <a:solidFill>
                  <a:srgbClr val="C00000"/>
                </a:solidFill>
              </a:rPr>
              <a:t>“orchestrated the original NDN proposal to NSF, lead PI of the NDN project,</a:t>
            </a:r>
            <a:br>
              <a:rPr lang="en-US" sz="2200" dirty="0">
                <a:solidFill>
                  <a:srgbClr val="C00000"/>
                </a:solidFill>
              </a:rPr>
            </a:br>
            <a:r>
              <a:rPr lang="en-US" sz="2200" dirty="0">
                <a:solidFill>
                  <a:srgbClr val="C00000"/>
                </a:solidFill>
              </a:rPr>
              <a:t>keeping the team going”</a:t>
            </a:r>
            <a:endParaRPr lang="en-US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39790-6AB0-C846-976A-FC635A336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187575"/>
            <a:ext cx="8515350" cy="4351338"/>
          </a:xfrm>
        </p:spPr>
        <p:txBody>
          <a:bodyPr>
            <a:normAutofit/>
          </a:bodyPr>
          <a:lstStyle/>
          <a:p>
            <a:pPr marL="296863" indent="-284163">
              <a:buNone/>
              <a:tabLst>
                <a:tab pos="3873500" algn="l"/>
              </a:tabLst>
            </a:pPr>
            <a:r>
              <a:rPr lang="en-US" dirty="0"/>
              <a:t>The end of the beginning:</a:t>
            </a:r>
          </a:p>
          <a:p>
            <a:pPr marL="296863" indent="-284163">
              <a:buNone/>
              <a:tabLst>
                <a:tab pos="3873500" algn="l"/>
              </a:tabLst>
            </a:pPr>
            <a:endParaRPr lang="en-US" dirty="0"/>
          </a:p>
          <a:p>
            <a:pPr marL="296863" indent="-284163">
              <a:buNone/>
              <a:tabLst>
                <a:tab pos="3873500" algn="l"/>
              </a:tabLst>
            </a:pPr>
            <a:r>
              <a:rPr lang="en-US" dirty="0"/>
              <a:t>- learned where the difficulties are in pushing out NDN</a:t>
            </a:r>
          </a:p>
          <a:p>
            <a:pPr marL="296863" indent="-284163">
              <a:buNone/>
              <a:tabLst>
                <a:tab pos="3873500" algn="l"/>
              </a:tabLst>
            </a:pPr>
            <a:endParaRPr lang="en-US" dirty="0"/>
          </a:p>
          <a:p>
            <a:pPr marL="296863" indent="-284163">
              <a:buNone/>
              <a:tabLst>
                <a:tab pos="3873500" algn="l"/>
              </a:tabLst>
            </a:pPr>
            <a:r>
              <a:rPr lang="en-US" dirty="0"/>
              <a:t>- and learned how to get there: edge-in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34591-9C15-8A4E-8F18-7BEE6C712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500100"/>
      </p:ext>
    </p:extLst>
  </p:cSld>
  <p:clrMapOvr>
    <a:masterClrMapping/>
  </p:clrMapOvr>
  <p:transition>
    <p:fade thruBlk="1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25B9B-6507-704D-9D5E-332226C9D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End of Panel 3</a:t>
            </a:r>
            <a:br>
              <a:rPr lang="en-US" dirty="0"/>
            </a:br>
            <a:br>
              <a:rPr lang="en-US" dirty="0"/>
            </a:br>
            <a:r>
              <a:rPr lang="en-US" i="1" dirty="0">
                <a:solidFill>
                  <a:srgbClr val="C00000"/>
                </a:solidFill>
              </a:rPr>
              <a:t>Thank you, panelists!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CB0DE-8EBD-864C-A47E-DBE48F3CD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3D3AC-70C9-704A-93A2-2B2C9D15C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B3AB-4E47-0F47-AF51-3BDBAF17BA1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957776"/>
      </p:ext>
    </p:extLst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name="MILCOM18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LCOM18_PPT.potx" id="{4A8613BB-CD76-7A4F-90FB-DC67C5A8D8E0}" vid="{73796CF1-C00A-1D40-8C91-31772BF522C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MILCOM18</Template>
  <TotalTime>477</TotalTime>
  <Words>1662</Words>
  <Application>Microsoft Macintosh PowerPoint</Application>
  <PresentationFormat>On-screen Show (4:3)</PresentationFormat>
  <Paragraphs>181</Paragraphs>
  <Slides>31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Wingdings</vt:lpstr>
      <vt:lpstr>MILCOM18</vt:lpstr>
      <vt:lpstr>Named Data Networking Community Meeting Sep 10-11, 2020 virtual event hosted by NIST</vt:lpstr>
      <vt:lpstr>NDNcomm Panel 3  Lessons Learned Over the Last 10 years</vt:lpstr>
      <vt:lpstr>NDNcomm Panel 3  </vt:lpstr>
      <vt:lpstr>Round 1:  What are highlights of the last ten years? </vt:lpstr>
      <vt:lpstr>Round 1 / "What are highlights of the last ten years?" Van Jacobson, “spiritus rector” / researcher</vt:lpstr>
      <vt:lpstr>Round 1 / "What are highlights of the last ten years?" Jeff Burke “driving NDN through use cases, library dev”</vt:lpstr>
      <vt:lpstr>Round 1 / "What are highlights of the last ten years?" Dave Clark “one of the original designers of the Internet”</vt:lpstr>
      <vt:lpstr>PowerPoint Presentation</vt:lpstr>
      <vt:lpstr>Round 1 / "What are highlights of the last ten years?" Christos Papadopoulos “working with NDN since 2010”</vt:lpstr>
      <vt:lpstr>Round 1 / "What are highlights of the last ten years?" Lan Wang “contributor to NDN architecture development”</vt:lpstr>
      <vt:lpstr>Round 1 / "What are highlights of the last ten years?" Beichuang Zhang “University of Arizona”</vt:lpstr>
      <vt:lpstr>Round 1 / "What are highlights of the last ten years?" Lixia Zhang “orchestrated the original NDN proposal to NSF, lead PI of the NDN project, keeping the team going”</vt:lpstr>
      <vt:lpstr>Round 2:  Where things could be improved </vt:lpstr>
      <vt:lpstr>Round 2 / “where things could be improved” Van Jacobson, “researcher”</vt:lpstr>
      <vt:lpstr>Round 2 / “where things could be improved” Jeff Burke “driving NDN through use cases, library dev”</vt:lpstr>
      <vt:lpstr>Round 2 / “where things could be improved” Dave Clark “one of the original designers of the Internet”</vt:lpstr>
      <vt:lpstr>Round 2 / “where things could be improved” Darleen Fisher “Program Director, Networking Research, NSF”</vt:lpstr>
      <vt:lpstr>Round 2 / “where things could be improved” Christos Papadopoulos “working with NDN since 2010”</vt:lpstr>
      <vt:lpstr>Round 2 / “where things could be improved” Lan Wang “contributor to NDN architecture development”</vt:lpstr>
      <vt:lpstr>Round 2 / “where things could be improved” Beichuang Zhang “University of Arizona”</vt:lpstr>
      <vt:lpstr>Round 2 / “where things could be improved” Lixia Zhang “orchestrated the original NDN proposal to NSF, lead PI of the NDN project”</vt:lpstr>
      <vt:lpstr>Round 3:  Where are we now? (closing statements)</vt:lpstr>
      <vt:lpstr>Round 3 / “where are we now” Van Jacobson, “researcher”</vt:lpstr>
      <vt:lpstr>Round 3 / “where are we now” Jeff Burke “driving NDN through use cases, library dev”</vt:lpstr>
      <vt:lpstr>Round 3 / “where are we now” Dave Clark “one of the original designers of the Internet”</vt:lpstr>
      <vt:lpstr>Round 3 / “where are we now” or closing statement Darleen Fisher “Program Director, Networking Research, NSF”</vt:lpstr>
      <vt:lpstr>Round 3 / “where are we now” Christos Papadopoulos “working with NDN since 2010”</vt:lpstr>
      <vt:lpstr>Round 3 / “where are we now” Lan Wang “contributor to NDN architecture development”</vt:lpstr>
      <vt:lpstr>Round 3 / “where are we now” Beichuang Zhang “University of Arizona”</vt:lpstr>
      <vt:lpstr>Round 3 / “where are we now” Lixia Zhang “orchestrated the original NDN proposal to NSF, lead PI of the NDN project, keeping the team going”</vt:lpstr>
      <vt:lpstr>End of Panel 3  Thank you, panelists!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Panel Input: Lan Wang</dc:title>
  <dc:creator>Lan Wang (lanwang)</dc:creator>
  <cp:lastModifiedBy>Christian Tschudin</cp:lastModifiedBy>
  <cp:revision>30</cp:revision>
  <dcterms:created xsi:type="dcterms:W3CDTF">2020-09-10T13:15:13Z</dcterms:created>
  <dcterms:modified xsi:type="dcterms:W3CDTF">2020-09-11T14:45:46Z</dcterms:modified>
</cp:coreProperties>
</file>