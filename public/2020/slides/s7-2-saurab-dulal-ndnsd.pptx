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Source Code Pr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16">
          <p15:clr>
            <a:srgbClr val="A4A3A4"/>
          </p15:clr>
        </p15:guide>
        <p15:guide id="2" pos="146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2B22E1-0E19-4ECA-9B6C-F40D1DBC5227}">
  <a:tblStyle styleId="{822B22E1-0E19-4ECA-9B6C-F40D1DBC522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16" orient="horz"/>
        <p:guide pos="146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SourceCodePro-regular.fntdata"/><Relationship Id="rId21" Type="http://schemas.openxmlformats.org/officeDocument/2006/relationships/slide" Target="slides/slide15.xml"/><Relationship Id="rId24" Type="http://schemas.openxmlformats.org/officeDocument/2006/relationships/font" Target="fonts/SourceCodePro-italic.fntdata"/><Relationship Id="rId23" Type="http://schemas.openxmlformats.org/officeDocument/2006/relationships/font" Target="fonts/SourceCodePr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SourceCodePr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953deeb70d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953deeb70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972292ea33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972292ea33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595959"/>
                </a:solidFill>
                <a:latin typeface="Times"/>
                <a:ea typeface="Times"/>
                <a:cs typeface="Times"/>
                <a:sym typeface="Times"/>
              </a:rPr>
              <a:t>The ability to register a service under an existing service type or by creating a new one, The ability to query for a service type and receive a list of invocable services in the network, For a service name, the ability to fetch service information that is usable to the client.</a:t>
            </a:r>
            <a:endParaRPr sz="5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953deeb70d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953deeb70d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probably need to remove these refs? they do broadcast instead of flood.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Flooding will not scale to fulfill the need of complex environments.</a:t>
            </a:r>
            <a:endParaRPr sz="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953deeb70d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953deeb70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953deeb70d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953deeb70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953deeb70d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953deeb70d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Group service </a:t>
            </a:r>
            <a:r>
              <a:rPr lang="en-US" sz="1000">
                <a:solidFill>
                  <a:schemeClr val="dk1"/>
                </a:solidFill>
              </a:rPr>
              <a:t>based on their service type. </a:t>
            </a:r>
            <a:br>
              <a:rPr lang="en-US" sz="800">
                <a:solidFill>
                  <a:schemeClr val="dk1"/>
                </a:solidFill>
              </a:rPr>
            </a:b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Grouping different services </a:t>
            </a:r>
            <a:r>
              <a:rPr lang="en-US" sz="800">
                <a:solidFill>
                  <a:schemeClr val="dk1"/>
                </a:solidFill>
              </a:rPr>
              <a:t>lets consumer fetch service information 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from the desired group only, join specific group and fetch or publish service info</a:t>
            </a:r>
            <a:endParaRPr sz="1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953deeb70d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953deeb70d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972292ea33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972292ea33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953deeb70d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953deeb70d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953deeb70d_0_3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953deeb70d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953deeb70d_0_3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953deeb70d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972292ea33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972292ea3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953deeb70d_0_3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953deeb70d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972292ea33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972292ea33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rtl="0"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rtl="0"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rtl="0"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smartthings.com/" TargetMode="External"/><Relationship Id="rId4" Type="http://schemas.openxmlformats.org/officeDocument/2006/relationships/hyperlink" Target="https://aws.amazon.com/iot/" TargetMode="External"/><Relationship Id="rId9" Type="http://schemas.openxmlformats.org/officeDocument/2006/relationships/image" Target="../media/image3.png"/><Relationship Id="rId5" Type="http://schemas.openxmlformats.org/officeDocument/2006/relationships/hyperlink" Target="https://store.google.com/product/chromecast" TargetMode="External"/><Relationship Id="rId6" Type="http://schemas.openxmlformats.org/officeDocument/2006/relationships/hyperlink" Target="https://www.igi-global.com/article/cloudet/148666" TargetMode="External"/><Relationship Id="rId7" Type="http://schemas.openxmlformats.org/officeDocument/2006/relationships/hyperlink" Target="https://azure.microsoft.com/en-us/services/azure-sphere/" TargetMode="External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igi-global.com/article/cloudet/148666" TargetMode="External"/><Relationship Id="rId10" Type="http://schemas.openxmlformats.org/officeDocument/2006/relationships/hyperlink" Target="https://store.google.com/product/chromecast" TargetMode="External"/><Relationship Id="rId12" Type="http://schemas.openxmlformats.org/officeDocument/2006/relationships/hyperlink" Target="https://azure.microsoft.com/en-us/services/azure-sphere/" TargetMode="External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hyperlink" Target="https://aws.amazon.com/iot/" TargetMode="External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hyperlink" Target="https://www.smartthings.com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hyperlink" Target="https://bit.ly/3fg6KWz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dulalsaurab/NDNSD" TargetMode="External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>
                <a:latin typeface="Arial"/>
                <a:ea typeface="Arial"/>
                <a:cs typeface="Arial"/>
                <a:sym typeface="Arial"/>
              </a:rPr>
              <a:t>NDNSD: Service Publishing and Discovery in NDN</a:t>
            </a:r>
            <a:endParaRPr sz="7100"/>
          </a:p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Saurab Dulal, Lan Wang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University of Memphis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NDNcomm, 2020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type="title"/>
          </p:nvPr>
        </p:nvSpPr>
        <p:spPr>
          <a:xfrm>
            <a:off x="2324100" y="39660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Motivation</a:t>
            </a:r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838200" y="6293700"/>
            <a:ext cx="111126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[1] Spyridon et.al. "Towards Service Discovery and Invocation in Data-Centric Edge Networks." 2019 IEEE 27th International Conference on Network Protocols (ICNP). IEEE, 2019.</a:t>
            </a:r>
            <a:br>
              <a:rPr lang="en-US" sz="900">
                <a:solidFill>
                  <a:schemeClr val="dk1"/>
                </a:solidFill>
              </a:rPr>
            </a:br>
            <a:r>
              <a:rPr lang="en-US" sz="900">
                <a:solidFill>
                  <a:schemeClr val="dk1"/>
                </a:solidFill>
              </a:rPr>
              <a:t>[2] Mastorakis, Spyridon, et al. "ICedge: When Edge Computing Meets Information-Centric Networking." IEEE Internet of Things Journal (2020).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Service Discovery is very important for 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modern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 applications IoT, edge, mobile, etc.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177800" lvl="1" marL="520700" rtl="0" algn="l"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e.g. 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discovering printer, computational services, storage services, etc.</a:t>
            </a:r>
            <a:br>
              <a:rPr lang="en-US" sz="2100">
                <a:latin typeface="Arial"/>
                <a:ea typeface="Arial"/>
                <a:cs typeface="Arial"/>
                <a:sym typeface="Arial"/>
              </a:rPr>
            </a:b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Lack of service discovery mechanism in NDN, faced several 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challenges (e.g. manual configuration) while doing BMS/IoT project. 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Existing solutions </a:t>
            </a:r>
            <a:r>
              <a:rPr baseline="30000" lang="en-US" sz="2100">
                <a:latin typeface="Arial"/>
                <a:ea typeface="Arial"/>
                <a:cs typeface="Arial"/>
                <a:sym typeface="Arial"/>
              </a:rPr>
              <a:t>[1][2]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: 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Either centralized or limited to a specific environment 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Absence of 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higher level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 API’s, applications directly interact with lower-level network primitives (face, interest, data, etc)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6792425" y="904775"/>
            <a:ext cx="51009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AA84F"/>
                </a:solidFill>
              </a:rPr>
              <a:t>“NDN future lies in developing API, interfaces and reusable component”</a:t>
            </a:r>
            <a:br>
              <a:rPr b="1" lang="en-US" sz="1100">
                <a:solidFill>
                  <a:srgbClr val="6AA84F"/>
                </a:solidFill>
              </a:rPr>
            </a:br>
            <a:r>
              <a:rPr b="1" lang="en-US" sz="1100">
                <a:solidFill>
                  <a:srgbClr val="6AA84F"/>
                </a:solidFill>
              </a:rPr>
              <a:t> - Mini-Retreat, April 24 </a:t>
            </a:r>
            <a:endParaRPr b="1">
              <a:solidFill>
                <a:srgbClr val="6AA84F"/>
              </a:solidFill>
            </a:endParaRPr>
          </a:p>
        </p:txBody>
      </p:sp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16"/>
          <p:cNvSpPr txBox="1"/>
          <p:nvPr>
            <p:ph type="title"/>
          </p:nvPr>
        </p:nvSpPr>
        <p:spPr>
          <a:xfrm>
            <a:off x="2324100" y="39660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Research Goal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(Primary) Design a general-purpose distributed service discovery protocol for NDN that can support various types of services.  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General-purpose: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covering a wide range of environments e.g. LAN, WAN, IoT, edge, mobile, etc.</a:t>
            </a: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(Secondary) Develop reusable library components, and provide higher-level APIs 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Facilitate application developers to implement their own logic without dealing with low-level network primitives.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2324100" y="404475"/>
            <a:ext cx="62865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Possible Solutions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838200" y="1825625"/>
            <a:ext cx="10515600" cy="167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Flooding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will work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Consumer floods their request to the entire network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Request are served by whoever provides the service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Easy to find the service available in the network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 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  <a:p>
            <a:pPr indent="0" lvl="0" marL="91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  <a:p>
            <a:pPr indent="0" lvl="0" marL="91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17"/>
          <p:cNvGrpSpPr/>
          <p:nvPr/>
        </p:nvGrpSpPr>
        <p:grpSpPr>
          <a:xfrm>
            <a:off x="8209200" y="132400"/>
            <a:ext cx="3579202" cy="2669389"/>
            <a:chOff x="4659625" y="548963"/>
            <a:chExt cx="4848553" cy="3616078"/>
          </a:xfrm>
        </p:grpSpPr>
        <p:grpSp>
          <p:nvGrpSpPr>
            <p:cNvPr id="113" name="Google Shape;113;p17"/>
            <p:cNvGrpSpPr/>
            <p:nvPr/>
          </p:nvGrpSpPr>
          <p:grpSpPr>
            <a:xfrm>
              <a:off x="4711537" y="548963"/>
              <a:ext cx="4796641" cy="3616078"/>
              <a:chOff x="4711537" y="548963"/>
              <a:chExt cx="4796641" cy="3616078"/>
            </a:xfrm>
          </p:grpSpPr>
          <p:grpSp>
            <p:nvGrpSpPr>
              <p:cNvPr id="114" name="Google Shape;114;p17"/>
              <p:cNvGrpSpPr/>
              <p:nvPr/>
            </p:nvGrpSpPr>
            <p:grpSpPr>
              <a:xfrm>
                <a:off x="4711537" y="548963"/>
                <a:ext cx="4796641" cy="3497762"/>
                <a:chOff x="4711537" y="548963"/>
                <a:chExt cx="4796641" cy="3497762"/>
              </a:xfrm>
            </p:grpSpPr>
            <p:grpSp>
              <p:nvGrpSpPr>
                <p:cNvPr id="115" name="Google Shape;115;p17"/>
                <p:cNvGrpSpPr/>
                <p:nvPr/>
              </p:nvGrpSpPr>
              <p:grpSpPr>
                <a:xfrm>
                  <a:off x="4711537" y="548963"/>
                  <a:ext cx="4120774" cy="3497762"/>
                  <a:chOff x="4711537" y="548963"/>
                  <a:chExt cx="4120774" cy="3497762"/>
                </a:xfrm>
              </p:grpSpPr>
              <p:pic>
                <p:nvPicPr>
                  <p:cNvPr id="116" name="Google Shape;116;p17"/>
                  <p:cNvPicPr preferRelativeResize="0"/>
                  <p:nvPr/>
                </p:nvPicPr>
                <p:blipFill>
                  <a:blip r:embed="rId3">
                    <a:alphaModFix/>
                  </a:blip>
                  <a:stretch>
                    <a:fillRect/>
                  </a:stretch>
                </p:blipFill>
                <p:spPr>
                  <a:xfrm>
                    <a:off x="4711537" y="630325"/>
                    <a:ext cx="4120774" cy="341640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17" name="Google Shape;117;p17"/>
                  <p:cNvSpPr txBox="1"/>
                  <p:nvPr/>
                </p:nvSpPr>
                <p:spPr>
                  <a:xfrm>
                    <a:off x="6330243" y="548963"/>
                    <a:ext cx="1304400" cy="36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i="1" lang="en-US" sz="1000">
                        <a:latin typeface="Times"/>
                        <a:ea typeface="Times"/>
                        <a:cs typeface="Times"/>
                        <a:sym typeface="Times"/>
                      </a:rPr>
                      <a:t>/home/npchat</a:t>
                    </a:r>
                    <a:endParaRPr i="1" sz="1000">
                      <a:latin typeface="Times"/>
                      <a:ea typeface="Times"/>
                      <a:cs typeface="Times"/>
                      <a:sym typeface="Times"/>
                    </a:endParaRPr>
                  </a:p>
                </p:txBody>
              </p:sp>
            </p:grpSp>
            <p:sp>
              <p:nvSpPr>
                <p:cNvPr id="118" name="Google Shape;118;p17"/>
                <p:cNvSpPr txBox="1"/>
                <p:nvPr/>
              </p:nvSpPr>
              <p:spPr>
                <a:xfrm>
                  <a:off x="7585478" y="2993084"/>
                  <a:ext cx="1922700" cy="36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1" lang="en-US" sz="1000">
                      <a:latin typeface="Times"/>
                      <a:ea typeface="Times"/>
                      <a:cs typeface="Times"/>
                      <a:sym typeface="Times"/>
                    </a:rPr>
                    <a:t>/home/bedroom/speaker</a:t>
                  </a:r>
                  <a:endParaRPr i="1" sz="10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</p:grpSp>
          <p:sp>
            <p:nvSpPr>
              <p:cNvPr id="119" name="Google Shape;119;p17"/>
              <p:cNvSpPr txBox="1"/>
              <p:nvPr/>
            </p:nvSpPr>
            <p:spPr>
              <a:xfrm>
                <a:off x="7011123" y="3800241"/>
                <a:ext cx="1922700" cy="36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000">
                    <a:latin typeface="Times"/>
                    <a:ea typeface="Times"/>
                    <a:cs typeface="Times"/>
                    <a:sym typeface="Times"/>
                  </a:rPr>
                  <a:t>/home/saurab-pc</a:t>
                </a:r>
                <a:endParaRPr i="1" sz="10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120" name="Google Shape;120;p17"/>
            <p:cNvSpPr/>
            <p:nvPr/>
          </p:nvSpPr>
          <p:spPr>
            <a:xfrm>
              <a:off x="4659625" y="2550650"/>
              <a:ext cx="1220400" cy="20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/>
                <a:t>Consumer</a:t>
              </a:r>
              <a:endParaRPr sz="800"/>
            </a:p>
          </p:txBody>
        </p:sp>
        <p:sp>
          <p:nvSpPr>
            <p:cNvPr id="121" name="Google Shape;121;p17"/>
            <p:cNvSpPr txBox="1"/>
            <p:nvPr/>
          </p:nvSpPr>
          <p:spPr>
            <a:xfrm>
              <a:off x="5284925" y="2083754"/>
              <a:ext cx="1372800" cy="27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/>
                <a:t>request broadcast</a:t>
              </a:r>
              <a:endParaRPr sz="600"/>
            </a:p>
          </p:txBody>
        </p:sp>
        <p:cxnSp>
          <p:nvCxnSpPr>
            <p:cNvPr id="122" name="Google Shape;122;p17"/>
            <p:cNvCxnSpPr/>
            <p:nvPr/>
          </p:nvCxnSpPr>
          <p:spPr>
            <a:xfrm>
              <a:off x="6970013" y="1017725"/>
              <a:ext cx="1372800" cy="1430100"/>
            </a:xfrm>
            <a:prstGeom prst="straightConnector1">
              <a:avLst/>
            </a:prstGeom>
            <a:noFill/>
            <a:ln cap="flat" cmpd="sng" w="9525">
              <a:solidFill>
                <a:srgbClr val="D9D9D9"/>
              </a:solidFill>
              <a:prstDash val="solid"/>
              <a:round/>
              <a:headEnd len="med" w="med" type="stealth"/>
              <a:tailEnd len="med" w="med" type="stealth"/>
            </a:ln>
          </p:spPr>
        </p:cxnSp>
        <p:cxnSp>
          <p:nvCxnSpPr>
            <p:cNvPr id="123" name="Google Shape;123;p17"/>
            <p:cNvCxnSpPr/>
            <p:nvPr/>
          </p:nvCxnSpPr>
          <p:spPr>
            <a:xfrm flipH="1">
              <a:off x="7634650" y="1810025"/>
              <a:ext cx="675600" cy="1492800"/>
            </a:xfrm>
            <a:prstGeom prst="straightConnector1">
              <a:avLst/>
            </a:prstGeom>
            <a:noFill/>
            <a:ln cap="flat" cmpd="sng" w="9525">
              <a:solidFill>
                <a:srgbClr val="D9D9D9"/>
              </a:solidFill>
              <a:prstDash val="solid"/>
              <a:round/>
              <a:headEnd len="med" w="med" type="stealth"/>
              <a:tailEnd len="med" w="med" type="stealth"/>
            </a:ln>
          </p:spPr>
        </p:cxnSp>
      </p:grpSp>
      <p:pic>
        <p:nvPicPr>
          <p:cNvPr id="124" name="Google Shape;124;p17"/>
          <p:cNvPicPr preferRelativeResize="0"/>
          <p:nvPr/>
        </p:nvPicPr>
        <p:blipFill rotWithShape="1">
          <a:blip r:embed="rId4">
            <a:alphaModFix/>
          </a:blip>
          <a:srcRect b="1057" l="0" r="0" t="1047"/>
          <a:stretch/>
        </p:blipFill>
        <p:spPr>
          <a:xfrm>
            <a:off x="8675550" y="3819600"/>
            <a:ext cx="3043825" cy="273002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10267725" y="2984650"/>
            <a:ext cx="308400" cy="749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838200" y="3733750"/>
            <a:ext cx="7299600" cy="20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But things get complicated once the </a:t>
            </a:r>
            <a:br>
              <a:rPr lang="en-US" sz="2100">
                <a:solidFill>
                  <a:schemeClr val="dk1"/>
                </a:solidFill>
              </a:rPr>
            </a:br>
            <a:r>
              <a:rPr lang="en-US" sz="2100">
                <a:solidFill>
                  <a:schemeClr val="dk1"/>
                </a:solidFill>
              </a:rPr>
              <a:t>size grows (edge, industrial network, mobility, etc)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Flooding w</a:t>
            </a:r>
            <a:r>
              <a:rPr lang="en-US" sz="2100">
                <a:solidFill>
                  <a:schemeClr val="dk1"/>
                </a:solidFill>
              </a:rPr>
              <a:t>ill not scale 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838200" y="4890250"/>
            <a:ext cx="87066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900"/>
            </a:br>
            <a:endParaRPr sz="900"/>
          </a:p>
        </p:txBody>
      </p:sp>
      <p:sp>
        <p:nvSpPr>
          <p:cNvPr id="128" name="Google Shape;128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idx="1" type="body"/>
          </p:nvPr>
        </p:nvSpPr>
        <p:spPr>
          <a:xfrm>
            <a:off x="415650" y="1835462"/>
            <a:ext cx="11360700" cy="4021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Move the discovery to a rendezvous </a:t>
            </a:r>
            <a:r>
              <a:rPr baseline="30000" lang="en-US" sz="2300">
                <a:latin typeface="Arial"/>
                <a:ea typeface="Arial"/>
                <a:cs typeface="Arial"/>
                <a:sym typeface="Arial"/>
              </a:rPr>
              <a:t>[1]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point or to the cloud?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406400" lvl="0" marL="9144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Smart Things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/>
              </a:rPr>
              <a:t>AWS IoT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, </a:t>
            </a:r>
            <a:br>
              <a:rPr lang="en-US" sz="2100">
                <a:latin typeface="Arial"/>
                <a:ea typeface="Arial"/>
                <a:cs typeface="Arial"/>
                <a:sym typeface="Arial"/>
              </a:rPr>
            </a:br>
            <a:r>
              <a:rPr lang="en-US" sz="2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/>
              </a:rPr>
              <a:t>Google Chromecast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/>
              </a:rPr>
              <a:t>Cloudet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, </a:t>
            </a:r>
            <a:br>
              <a:rPr lang="en-US" sz="2100">
                <a:latin typeface="Arial"/>
                <a:ea typeface="Arial"/>
                <a:cs typeface="Arial"/>
                <a:sym typeface="Arial"/>
              </a:rPr>
            </a:br>
            <a:r>
              <a:rPr lang="en-US" sz="2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7"/>
              </a:rPr>
              <a:t>Azure Sphere</a:t>
            </a:r>
            <a:r>
              <a:rPr lang="en-US">
                <a:latin typeface="Times"/>
                <a:ea typeface="Times"/>
                <a:cs typeface="Times"/>
                <a:sym typeface="Times"/>
              </a:rPr>
              <a:t>	 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838200" y="6293700"/>
            <a:ext cx="105774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[1] Arthi Padmanabhan, Lan Wang, and Lixia Zhang. Automated tunneling over ip land: run ndn anywhere. In Proceedings of the 5th ACM Conference on Information-Centric Networking, pages 188–189, 2018.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5" name="Google Shape;135;p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18"/>
          <p:cNvSpPr txBox="1"/>
          <p:nvPr>
            <p:ph type="title"/>
          </p:nvPr>
        </p:nvSpPr>
        <p:spPr>
          <a:xfrm>
            <a:off x="2324100" y="404475"/>
            <a:ext cx="62865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Possible Solutions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" name="Google Shape;137;p18"/>
          <p:cNvGrpSpPr/>
          <p:nvPr/>
        </p:nvGrpSpPr>
        <p:grpSpPr>
          <a:xfrm>
            <a:off x="7199894" y="621258"/>
            <a:ext cx="4555013" cy="5493390"/>
            <a:chOff x="5400055" y="465955"/>
            <a:chExt cx="3416345" cy="4120146"/>
          </a:xfrm>
        </p:grpSpPr>
        <p:pic>
          <p:nvPicPr>
            <p:cNvPr id="138" name="Google Shape;138;p18"/>
            <p:cNvPicPr preferRelativeResize="0"/>
            <p:nvPr/>
          </p:nvPicPr>
          <p:blipFill rotWithShape="1">
            <a:blip r:embed="rId8">
              <a:alphaModFix/>
            </a:blip>
            <a:srcRect b="1057" l="0" r="0" t="1047"/>
            <a:stretch/>
          </p:blipFill>
          <p:spPr>
            <a:xfrm>
              <a:off x="5430850" y="1549600"/>
              <a:ext cx="3385550" cy="30365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9" name="Google Shape;139;p18"/>
            <p:cNvGrpSpPr/>
            <p:nvPr/>
          </p:nvGrpSpPr>
          <p:grpSpPr>
            <a:xfrm>
              <a:off x="5400055" y="465955"/>
              <a:ext cx="1201850" cy="2135694"/>
              <a:chOff x="5294217" y="127473"/>
              <a:chExt cx="1265772" cy="2249283"/>
            </a:xfrm>
          </p:grpSpPr>
          <p:pic>
            <p:nvPicPr>
              <p:cNvPr id="140" name="Google Shape;140;p18"/>
              <p:cNvPicPr preferRelativeResize="0"/>
              <p:nvPr/>
            </p:nvPicPr>
            <p:blipFill rotWithShape="1">
              <a:blip r:embed="rId9">
                <a:alphaModFix/>
              </a:blip>
              <a:srcRect b="13460" l="6148" r="4613" t="7174"/>
              <a:stretch/>
            </p:blipFill>
            <p:spPr>
              <a:xfrm>
                <a:off x="5352109" y="127473"/>
                <a:ext cx="641225" cy="6141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41" name="Google Shape;141;p18"/>
              <p:cNvGrpSpPr/>
              <p:nvPr/>
            </p:nvGrpSpPr>
            <p:grpSpPr>
              <a:xfrm>
                <a:off x="5294217" y="352437"/>
                <a:ext cx="1265772" cy="2024319"/>
                <a:chOff x="5294217" y="352437"/>
                <a:chExt cx="1265772" cy="2024319"/>
              </a:xfrm>
            </p:grpSpPr>
            <p:pic>
              <p:nvPicPr>
                <p:cNvPr id="142" name="Google Shape;142;p18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28145" l="11875" r="5019" t="20976"/>
                <a:stretch/>
              </p:blipFill>
              <p:spPr>
                <a:xfrm>
                  <a:off x="5294217" y="352437"/>
                  <a:ext cx="1265772" cy="77488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143" name="Google Shape;143;p18"/>
                <p:cNvCxnSpPr/>
                <p:nvPr/>
              </p:nvCxnSpPr>
              <p:spPr>
                <a:xfrm rot="10800000">
                  <a:off x="5624804" y="1159356"/>
                  <a:ext cx="36600" cy="1217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144" name="Google Shape;144;p18"/>
                <p:cNvCxnSpPr/>
                <p:nvPr/>
              </p:nvCxnSpPr>
              <p:spPr>
                <a:xfrm rot="10800000">
                  <a:off x="6173850" y="1138675"/>
                  <a:ext cx="54600" cy="297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145" name="Google Shape;145;p18"/>
                <p:cNvCxnSpPr>
                  <a:endCxn id="142" idx="2"/>
                </p:cNvCxnSpPr>
                <p:nvPr/>
              </p:nvCxnSpPr>
              <p:spPr>
                <a:xfrm rot="10800000">
                  <a:off x="5927103" y="1127318"/>
                  <a:ext cx="91500" cy="5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 rot="-2700000">
            <a:off x="10820589" y="482917"/>
            <a:ext cx="948654" cy="1514198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FEFEF">
                <a:alpha val="5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1" name="Google Shape;151;p19"/>
          <p:cNvGrpSpPr/>
          <p:nvPr/>
        </p:nvGrpSpPr>
        <p:grpSpPr>
          <a:xfrm>
            <a:off x="7199894" y="621258"/>
            <a:ext cx="4576685" cy="5493390"/>
            <a:chOff x="7199894" y="621258"/>
            <a:chExt cx="4576685" cy="5493390"/>
          </a:xfrm>
        </p:grpSpPr>
        <p:grpSp>
          <p:nvGrpSpPr>
            <p:cNvPr id="152" name="Google Shape;152;p19"/>
            <p:cNvGrpSpPr/>
            <p:nvPr/>
          </p:nvGrpSpPr>
          <p:grpSpPr>
            <a:xfrm>
              <a:off x="8509984" y="749570"/>
              <a:ext cx="3266594" cy="1020330"/>
              <a:chOff x="5173625" y="93450"/>
              <a:chExt cx="2580248" cy="805948"/>
            </a:xfrm>
          </p:grpSpPr>
          <p:pic>
            <p:nvPicPr>
              <p:cNvPr id="153" name="Google Shape;153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15112" r="15181" t="0"/>
              <a:stretch/>
            </p:blipFill>
            <p:spPr>
              <a:xfrm>
                <a:off x="6964025" y="93450"/>
                <a:ext cx="302426" cy="4338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4" name="Google Shape;154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16097" r="15578" t="0"/>
              <a:stretch/>
            </p:blipFill>
            <p:spPr>
              <a:xfrm>
                <a:off x="7457422" y="476950"/>
                <a:ext cx="296451" cy="3817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" name="Google Shape;155;p19"/>
              <p:cNvSpPr txBox="1"/>
              <p:nvPr/>
            </p:nvSpPr>
            <p:spPr>
              <a:xfrm rot="-329096">
                <a:off x="5672605" y="144252"/>
                <a:ext cx="1023185" cy="2739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/>
                  <a:t>Hey, can we talk? </a:t>
                </a:r>
                <a:endParaRPr sz="900"/>
              </a:p>
            </p:txBody>
          </p:sp>
          <p:cxnSp>
            <p:nvCxnSpPr>
              <p:cNvPr id="156" name="Google Shape;156;p19"/>
              <p:cNvCxnSpPr>
                <a:stCxn id="154" idx="1"/>
              </p:cNvCxnSpPr>
              <p:nvPr/>
            </p:nvCxnSpPr>
            <p:spPr>
              <a:xfrm flipH="1">
                <a:off x="5349922" y="667850"/>
                <a:ext cx="2107500" cy="55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stealth"/>
                <a:tailEnd len="med" w="med" type="stealth"/>
              </a:ln>
            </p:spPr>
          </p:cxnSp>
          <p:sp>
            <p:nvSpPr>
              <p:cNvPr id="157" name="Google Shape;157;p19"/>
              <p:cNvSpPr txBox="1"/>
              <p:nvPr/>
            </p:nvSpPr>
            <p:spPr>
              <a:xfrm>
                <a:off x="5969508" y="625498"/>
                <a:ext cx="1023300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/>
                  <a:t>Can I talk to him?</a:t>
                </a:r>
                <a:endParaRPr sz="900"/>
              </a:p>
            </p:txBody>
          </p:sp>
          <p:cxnSp>
            <p:nvCxnSpPr>
              <p:cNvPr id="158" name="Google Shape;158;p19"/>
              <p:cNvCxnSpPr>
                <a:stCxn id="153" idx="1"/>
              </p:cNvCxnSpPr>
              <p:nvPr/>
            </p:nvCxnSpPr>
            <p:spPr>
              <a:xfrm flipH="1">
                <a:off x="5173625" y="310388"/>
                <a:ext cx="1790400" cy="174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stealth"/>
                <a:tailEnd len="med" w="med" type="stealth"/>
              </a:ln>
            </p:spPr>
          </p:cxnSp>
        </p:grpSp>
        <p:grpSp>
          <p:nvGrpSpPr>
            <p:cNvPr id="159" name="Google Shape;159;p19"/>
            <p:cNvGrpSpPr/>
            <p:nvPr/>
          </p:nvGrpSpPr>
          <p:grpSpPr>
            <a:xfrm>
              <a:off x="7199894" y="621258"/>
              <a:ext cx="4555013" cy="5493390"/>
              <a:chOff x="5400055" y="465955"/>
              <a:chExt cx="3416345" cy="4120146"/>
            </a:xfrm>
          </p:grpSpPr>
          <p:pic>
            <p:nvPicPr>
              <p:cNvPr id="160" name="Google Shape;160;p19"/>
              <p:cNvPicPr preferRelativeResize="0"/>
              <p:nvPr/>
            </p:nvPicPr>
            <p:blipFill rotWithShape="1">
              <a:blip r:embed="rId5">
                <a:alphaModFix/>
              </a:blip>
              <a:srcRect b="1057" l="0" r="0" t="1047"/>
              <a:stretch/>
            </p:blipFill>
            <p:spPr>
              <a:xfrm>
                <a:off x="5430850" y="1549600"/>
                <a:ext cx="3385550" cy="303650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61" name="Google Shape;161;p19"/>
              <p:cNvGrpSpPr/>
              <p:nvPr/>
            </p:nvGrpSpPr>
            <p:grpSpPr>
              <a:xfrm>
                <a:off x="5400055" y="465955"/>
                <a:ext cx="1201850" cy="2135694"/>
                <a:chOff x="5294217" y="127473"/>
                <a:chExt cx="1265772" cy="2249283"/>
              </a:xfrm>
            </p:grpSpPr>
            <p:pic>
              <p:nvPicPr>
                <p:cNvPr id="162" name="Google Shape;162;p19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13460" l="6148" r="4613" t="7174"/>
                <a:stretch/>
              </p:blipFill>
              <p:spPr>
                <a:xfrm>
                  <a:off x="5352109" y="127473"/>
                  <a:ext cx="641225" cy="614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163" name="Google Shape;163;p19"/>
                <p:cNvGrpSpPr/>
                <p:nvPr/>
              </p:nvGrpSpPr>
              <p:grpSpPr>
                <a:xfrm>
                  <a:off x="5294217" y="352437"/>
                  <a:ext cx="1265772" cy="2024319"/>
                  <a:chOff x="5294217" y="352437"/>
                  <a:chExt cx="1265772" cy="2024319"/>
                </a:xfrm>
              </p:grpSpPr>
              <p:pic>
                <p:nvPicPr>
                  <p:cNvPr id="164" name="Google Shape;164;p19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28145" l="11875" r="5019" t="20976"/>
                  <a:stretch/>
                </p:blipFill>
                <p:spPr>
                  <a:xfrm>
                    <a:off x="5294217" y="352437"/>
                    <a:ext cx="1265772" cy="77488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cxnSp>
                <p:nvCxnSpPr>
                  <p:cNvPr id="165" name="Google Shape;165;p19"/>
                  <p:cNvCxnSpPr/>
                  <p:nvPr/>
                </p:nvCxnSpPr>
                <p:spPr>
                  <a:xfrm rot="10800000">
                    <a:off x="5624804" y="1159356"/>
                    <a:ext cx="36600" cy="12174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triangle"/>
                  </a:ln>
                </p:spPr>
              </p:cxnSp>
              <p:cxnSp>
                <p:nvCxnSpPr>
                  <p:cNvPr id="166" name="Google Shape;166;p19"/>
                  <p:cNvCxnSpPr/>
                  <p:nvPr/>
                </p:nvCxnSpPr>
                <p:spPr>
                  <a:xfrm rot="10800000">
                    <a:off x="6173850" y="1138675"/>
                    <a:ext cx="54600" cy="2979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triangle"/>
                  </a:ln>
                </p:spPr>
              </p:cxnSp>
              <p:cxnSp>
                <p:nvCxnSpPr>
                  <p:cNvPr id="167" name="Google Shape;167;p19"/>
                  <p:cNvCxnSpPr>
                    <a:endCxn id="164" idx="2"/>
                  </p:cNvCxnSpPr>
                  <p:nvPr/>
                </p:nvCxnSpPr>
                <p:spPr>
                  <a:xfrm rot="10800000">
                    <a:off x="5927103" y="1127318"/>
                    <a:ext cx="91500" cy="570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none"/>
                    <a:tailEnd len="med" w="med" type="triangle"/>
                  </a:ln>
                </p:spPr>
              </p:cxnSp>
            </p:grpSp>
          </p:grpSp>
        </p:grpSp>
      </p:grpSp>
      <p:sp>
        <p:nvSpPr>
          <p:cNvPr id="168" name="Google Shape;168;p19"/>
          <p:cNvSpPr txBox="1"/>
          <p:nvPr>
            <p:ph idx="1" type="body"/>
          </p:nvPr>
        </p:nvSpPr>
        <p:spPr>
          <a:xfrm>
            <a:off x="415650" y="1835450"/>
            <a:ext cx="6140700" cy="4021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Move the discovery to a rendezvous </a:t>
            </a:r>
            <a:r>
              <a:rPr baseline="30000" lang="en-US" sz="2300">
                <a:latin typeface="Arial"/>
                <a:ea typeface="Arial"/>
                <a:cs typeface="Arial"/>
                <a:sym typeface="Arial"/>
              </a:rPr>
              <a:t>[1]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point or to the cloud?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406400" lvl="0" marL="9144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8"/>
              </a:rPr>
              <a:t>Smart Things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9"/>
              </a:rPr>
              <a:t>AWS IoT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, </a:t>
            </a:r>
            <a:br>
              <a:rPr lang="en-US" sz="2100">
                <a:latin typeface="Arial"/>
                <a:ea typeface="Arial"/>
                <a:cs typeface="Arial"/>
                <a:sym typeface="Arial"/>
              </a:rPr>
            </a:br>
            <a:r>
              <a:rPr lang="en-US" sz="2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0"/>
              </a:rPr>
              <a:t>Google Chromecast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1"/>
              </a:rPr>
              <a:t>Cloudet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, </a:t>
            </a:r>
            <a:br>
              <a:rPr lang="en-US" sz="2100">
                <a:latin typeface="Arial"/>
                <a:ea typeface="Arial"/>
                <a:cs typeface="Arial"/>
                <a:sym typeface="Arial"/>
              </a:rPr>
            </a:br>
            <a:r>
              <a:rPr lang="en-US" sz="2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2"/>
              </a:rPr>
              <a:t>Azure Sphere</a:t>
            </a:r>
            <a:r>
              <a:rPr lang="en-US">
                <a:latin typeface="Times"/>
                <a:ea typeface="Times"/>
                <a:cs typeface="Times"/>
                <a:sym typeface="Times"/>
              </a:rPr>
              <a:t>	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indent="-406400" lvl="0" marL="9144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But, we don’t want centralized solutions,</a:t>
            </a:r>
            <a:br>
              <a:rPr lang="en-US" sz="2100">
                <a:latin typeface="Arial"/>
                <a:ea typeface="Arial"/>
                <a:cs typeface="Arial"/>
                <a:sym typeface="Arial"/>
              </a:rPr>
            </a:br>
            <a:r>
              <a:rPr lang="en-US" sz="2100">
                <a:latin typeface="Arial"/>
                <a:ea typeface="Arial"/>
                <a:cs typeface="Arial"/>
                <a:sym typeface="Arial"/>
              </a:rPr>
              <a:t>single point of failure, extra round trip, </a:t>
            </a:r>
            <a:br>
              <a:rPr lang="en-US" sz="2100">
                <a:latin typeface="Arial"/>
                <a:ea typeface="Arial"/>
                <a:cs typeface="Arial"/>
                <a:sym typeface="Arial"/>
              </a:rPr>
            </a:br>
            <a:r>
              <a:rPr lang="en-US" sz="2100">
                <a:latin typeface="Arial"/>
                <a:ea typeface="Arial"/>
                <a:cs typeface="Arial"/>
                <a:sym typeface="Arial"/>
              </a:rPr>
              <a:t>external dependencies (in some cases)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838200" y="6293700"/>
            <a:ext cx="105774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[1] Arthi Padmanabhan, Lan Wang, and Lixia Zhang. Automated tunneling over ip land: run ndn anywhere. In Proceedings of the 5th ACM Conference on Information-Centric Networking, pages 188–189, 2018.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0" name="Google Shape;170;p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9"/>
          <p:cNvSpPr txBox="1"/>
          <p:nvPr>
            <p:ph type="title"/>
          </p:nvPr>
        </p:nvSpPr>
        <p:spPr>
          <a:xfrm>
            <a:off x="2324100" y="404475"/>
            <a:ext cx="62865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Possible Solutions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2150" y="1221700"/>
            <a:ext cx="5975350" cy="360382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667600" y="1858350"/>
            <a:ext cx="9239400" cy="42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Group services e.g. printers, servers </a:t>
            </a: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Use sync</a:t>
            </a:r>
            <a:r>
              <a:rPr baseline="30000" lang="en-US" sz="1900">
                <a:latin typeface="Arial"/>
                <a:ea typeface="Arial"/>
                <a:cs typeface="Arial"/>
                <a:sym typeface="Arial"/>
              </a:rPr>
              <a:t>[1]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to synchronize metadata </a:t>
            </a: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r>
              <a:rPr lang="en-US" sz="1900">
                <a:latin typeface="Arial"/>
                <a:ea typeface="Arial"/>
                <a:cs typeface="Arial"/>
                <a:sym typeface="Arial"/>
              </a:rPr>
              <a:t>of these services under a common prefix </a:t>
            </a: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r>
              <a:rPr lang="en-US" sz="1900">
                <a:latin typeface="Arial"/>
                <a:ea typeface="Arial"/>
                <a:cs typeface="Arial"/>
                <a:sym typeface="Arial"/>
              </a:rPr>
              <a:t>e.g. </a:t>
            </a:r>
            <a:r>
              <a:rPr i="1" lang="en-US" sz="1900">
                <a:latin typeface="Arial"/>
                <a:ea typeface="Arial"/>
                <a:cs typeface="Arial"/>
                <a:sym typeface="Arial"/>
              </a:rPr>
              <a:t>/discovery/printers, /discovery/servers </a:t>
            </a:r>
            <a:br>
              <a:rPr i="1" lang="en-US" sz="1900">
                <a:latin typeface="Arial"/>
                <a:ea typeface="Arial"/>
                <a:cs typeface="Arial"/>
                <a:sym typeface="Arial"/>
              </a:rPr>
            </a:br>
            <a:endParaRPr i="1"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Provide higher-level well-defined API for Service Discovery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Service Publisher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Service Locator</a:t>
            </a:r>
            <a:br>
              <a:rPr lang="en-US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Why sync? 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Pub-sub simplifies the discovery process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Flexibility to implement application semantic, </a:t>
            </a:r>
            <a:br>
              <a:rPr lang="en-US" sz="1700">
                <a:latin typeface="Arial"/>
                <a:ea typeface="Arial"/>
                <a:cs typeface="Arial"/>
                <a:sym typeface="Arial"/>
              </a:rPr>
            </a:br>
            <a:r>
              <a:rPr lang="en-US" sz="1700">
                <a:latin typeface="Arial"/>
                <a:ea typeface="Arial"/>
                <a:cs typeface="Arial"/>
                <a:sym typeface="Arial"/>
              </a:rPr>
              <a:t>several parties can agree on a common sync group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838200" y="6290975"/>
            <a:ext cx="105156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[1] “Service discovery for IoT devices through PSync FullSync” </a:t>
            </a:r>
            <a:r>
              <a:rPr lang="en-US" sz="9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https://bit.ly/3fg6KWz</a:t>
            </a:r>
            <a:r>
              <a:rPr lang="en-US" sz="900">
                <a:solidFill>
                  <a:schemeClr val="dk1"/>
                </a:solidFill>
              </a:rPr>
              <a:t>.</a:t>
            </a:r>
            <a:endParaRPr sz="1200"/>
          </a:p>
        </p:txBody>
      </p:sp>
      <p:sp>
        <p:nvSpPr>
          <p:cNvPr id="179" name="Google Shape;179;p20"/>
          <p:cNvSpPr txBox="1"/>
          <p:nvPr>
            <p:ph type="title"/>
          </p:nvPr>
        </p:nvSpPr>
        <p:spPr>
          <a:xfrm>
            <a:off x="23241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Our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Solution (NDNSD)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7624158" y="4897682"/>
            <a:ext cx="27294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Fig: NDNSD Flow diagram</a:t>
            </a:r>
            <a:endParaRPr sz="1300"/>
          </a:p>
        </p:txBody>
      </p:sp>
      <p:sp>
        <p:nvSpPr>
          <p:cNvPr id="182" name="Google Shape;182;p20"/>
          <p:cNvSpPr/>
          <p:nvPr/>
        </p:nvSpPr>
        <p:spPr>
          <a:xfrm flipH="1" rot="8365238">
            <a:off x="6473344" y="1486909"/>
            <a:ext cx="850422" cy="3073428"/>
          </a:xfrm>
          <a:prstGeom prst="arc">
            <a:avLst>
              <a:gd fmla="val 16184792" name="adj1"/>
              <a:gd fmla="val 253294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 rot="-9396611">
            <a:off x="10514144" y="-878690"/>
            <a:ext cx="2502111" cy="4348179"/>
          </a:xfrm>
          <a:prstGeom prst="arc">
            <a:avLst>
              <a:gd fmla="val 16200000" name="adj1"/>
              <a:gd fmla="val 20763768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113850" y="4010075"/>
            <a:ext cx="38781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dk1"/>
                </a:solidFill>
              </a:rPr>
              <a:t>e.g. “</a:t>
            </a:r>
            <a:r>
              <a:rPr i="1" lang="en-US">
                <a:solidFill>
                  <a:schemeClr val="dk1"/>
                </a:solidFill>
              </a:rPr>
              <a:t>ndnsd-</a:t>
            </a:r>
            <a:r>
              <a:rPr i="1" lang="en-US">
                <a:solidFill>
                  <a:schemeClr val="dk1"/>
                </a:solidFill>
              </a:rPr>
              <a:t>publisher</a:t>
            </a:r>
            <a:r>
              <a:rPr i="1" lang="en-US">
                <a:solidFill>
                  <a:schemeClr val="dk1"/>
                </a:solidFill>
              </a:rPr>
              <a:t> -c &lt;producer.conf&gt;”</a:t>
            </a:r>
            <a:br>
              <a:rPr lang="en-US" sz="1600">
                <a:solidFill>
                  <a:schemeClr val="dk1"/>
                </a:solidFill>
              </a:rPr>
            </a:br>
            <a:endParaRPr sz="1000"/>
          </a:p>
        </p:txBody>
      </p:sp>
      <p:sp>
        <p:nvSpPr>
          <p:cNvPr id="185" name="Google Shape;185;p20"/>
          <p:cNvSpPr txBox="1"/>
          <p:nvPr/>
        </p:nvSpPr>
        <p:spPr>
          <a:xfrm>
            <a:off x="9648550" y="585250"/>
            <a:ext cx="26196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dk1"/>
                </a:solidFill>
              </a:rPr>
              <a:t>e.g </a:t>
            </a:r>
            <a:r>
              <a:rPr i="1" lang="en-US">
                <a:solidFill>
                  <a:schemeClr val="dk1"/>
                </a:solidFill>
              </a:rPr>
              <a:t>ndnsd-</a:t>
            </a:r>
            <a:r>
              <a:rPr i="1" lang="en-US">
                <a:solidFill>
                  <a:schemeClr val="dk1"/>
                </a:solidFill>
              </a:rPr>
              <a:t>locator</a:t>
            </a:r>
            <a:r>
              <a:rPr i="1" lang="en-US">
                <a:solidFill>
                  <a:schemeClr val="dk1"/>
                </a:solidFill>
              </a:rPr>
              <a:t> -s &lt;printer&gt;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 rot="-9332417">
            <a:off x="11096213" y="-1278175"/>
            <a:ext cx="1804115" cy="4667300"/>
          </a:xfrm>
          <a:prstGeom prst="arc">
            <a:avLst>
              <a:gd fmla="val 16200000" name="adj1"/>
              <a:gd fmla="val 18863753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10490248" y="936535"/>
            <a:ext cx="17964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printer 1, service-info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10503360" y="1163733"/>
            <a:ext cx="17964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printer 2, service-info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/>
          <p:nvPr>
            <p:ph type="title"/>
          </p:nvPr>
        </p:nvSpPr>
        <p:spPr>
          <a:xfrm>
            <a:off x="23241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Design Features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12366" l="0" r="1409" t="5022"/>
          <a:stretch/>
        </p:blipFill>
        <p:spPr>
          <a:xfrm>
            <a:off x="6827773" y="418525"/>
            <a:ext cx="4614500" cy="2995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/>
          <p:cNvPicPr preferRelativeResize="0"/>
          <p:nvPr/>
        </p:nvPicPr>
        <p:blipFill rotWithShape="1">
          <a:blip r:embed="rId4">
            <a:alphaModFix/>
          </a:blip>
          <a:srcRect b="1219" l="0" r="0" t="1229"/>
          <a:stretch/>
        </p:blipFill>
        <p:spPr>
          <a:xfrm>
            <a:off x="8025513" y="3874425"/>
            <a:ext cx="3451625" cy="275767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8544575" y="3413925"/>
            <a:ext cx="31755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"/>
                <a:ea typeface="Times"/>
                <a:cs typeface="Times"/>
                <a:sym typeface="Times"/>
              </a:rPr>
              <a:t>Fig: NDNSD Discovery Namespace Design</a:t>
            </a: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7" name="Google Shape;197;p21"/>
          <p:cNvSpPr txBox="1"/>
          <p:nvPr>
            <p:ph idx="1" type="body"/>
          </p:nvPr>
        </p:nvSpPr>
        <p:spPr>
          <a:xfrm>
            <a:off x="838200" y="1858350"/>
            <a:ext cx="7593300" cy="42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Hierarchical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Namespace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Discovery Prefix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(flexible, based on service-type)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e.g. /uofm/discovery/image-proc</a:t>
            </a:r>
            <a:br>
              <a:rPr lang="en-US" sz="2100">
                <a:latin typeface="Arial"/>
                <a:ea typeface="Arial"/>
                <a:cs typeface="Arial"/>
                <a:sym typeface="Arial"/>
              </a:rPr>
            </a:b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Application Prefix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e.g. /uofm/printer1/service-info, /uofm/net-lab/cygnux/service-info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US" sz="2100">
                <a:latin typeface="Times"/>
                <a:ea typeface="Times"/>
                <a:cs typeface="Times"/>
                <a:sym typeface="Times"/>
              </a:rPr>
            </a:br>
            <a:r>
              <a:rPr lang="en-US" sz="1800">
                <a:latin typeface="Arial"/>
                <a:ea typeface="Arial"/>
                <a:cs typeface="Arial"/>
                <a:sym typeface="Arial"/>
              </a:rPr>
              <a:t>Example: use of prefixes at sync level: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service-group:   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/uofm/discovery/printers/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(sync-group)</a:t>
            </a:r>
            <a:br>
              <a:rPr b="1" lang="en-US" sz="1500">
                <a:latin typeface="Arial"/>
                <a:ea typeface="Arial"/>
                <a:cs typeface="Arial"/>
                <a:sym typeface="Arial"/>
              </a:rPr>
            </a:b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Content: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{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	     /uofm/printer1/service-info/&lt;seq#&gt;,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     /uofm/printer2/service-info/&lt;seq#&gt;,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    …….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}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22"/>
          <p:cNvSpPr txBox="1"/>
          <p:nvPr>
            <p:ph type="title"/>
          </p:nvPr>
        </p:nvSpPr>
        <p:spPr>
          <a:xfrm>
            <a:off x="23241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Design Features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2"/>
          <p:cNvSpPr txBox="1"/>
          <p:nvPr>
            <p:ph idx="1" type="body"/>
          </p:nvPr>
        </p:nvSpPr>
        <p:spPr>
          <a:xfrm>
            <a:off x="838200" y="1858350"/>
            <a:ext cx="6334500" cy="42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Service-info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SzPts val="26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Publisher can specify service-specific details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This generalizes protocol for a wide-range of environment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latin typeface="Arial"/>
                <a:ea typeface="Arial"/>
                <a:cs typeface="Arial"/>
                <a:sym typeface="Arial"/>
              </a:rPr>
              <a:t>IoT, edge, etc.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Measurement Information via the API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SzPts val="26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Round trip time (RTT) to service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(Can be cumulative over a period of time)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e.g. use: to locate the closest gateway or hub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SzPts val="26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Service Stability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Compute by periodic probing the service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SzPts val="26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Retransmission count to fetch service-info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7867780" y="418875"/>
            <a:ext cx="2656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&gt; e.g. publisher conf file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8074605" y="793775"/>
            <a:ext cx="3953700" cy="3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6AA84F"/>
                </a:solidFill>
              </a:rPr>
              <a:t>required</a:t>
            </a:r>
            <a:br>
              <a:rPr lang="en-US" sz="1500">
                <a:solidFill>
                  <a:srgbClr val="6AA84F"/>
                </a:solidFill>
              </a:rPr>
            </a:br>
            <a:r>
              <a:rPr lang="en-US" sz="1500">
                <a:solidFill>
                  <a:srgbClr val="6AA84F"/>
                </a:solidFill>
              </a:rPr>
              <a:t>{</a:t>
            </a:r>
            <a:br>
              <a:rPr lang="en-US" sz="1500">
                <a:solidFill>
                  <a:srgbClr val="6AA84F"/>
                </a:solidFill>
              </a:rPr>
            </a:br>
            <a:r>
              <a:rPr lang="en-US" sz="1500">
                <a:solidFill>
                  <a:srgbClr val="6AA84F"/>
                </a:solidFill>
              </a:rPr>
              <a:t>   serviceName image-proc</a:t>
            </a:r>
            <a:br>
              <a:rPr lang="en-US" sz="1500">
                <a:solidFill>
                  <a:srgbClr val="6AA84F"/>
                </a:solidFill>
              </a:rPr>
            </a:br>
            <a:r>
              <a:rPr lang="en-US" sz="1500">
                <a:solidFill>
                  <a:srgbClr val="6AA84F"/>
                </a:solidFill>
              </a:rPr>
              <a:t>   appPrefix /image-proc/R-CNN/service-info</a:t>
            </a:r>
            <a:br>
              <a:rPr lang="en-US" sz="1500">
                <a:solidFill>
                  <a:srgbClr val="6AA84F"/>
                </a:solidFill>
              </a:rPr>
            </a:br>
            <a:r>
              <a:rPr lang="en-US" sz="1500">
                <a:solidFill>
                  <a:srgbClr val="6AA84F"/>
                </a:solidFill>
              </a:rPr>
              <a:t>}</a:t>
            </a:r>
            <a:endParaRPr sz="15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6AA84F"/>
                </a:solidFill>
              </a:rPr>
              <a:t>; application specific service details </a:t>
            </a:r>
            <a:endParaRPr sz="15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US" sz="1500">
                <a:solidFill>
                  <a:srgbClr val="6AA84F"/>
                </a:solidFill>
              </a:rPr>
            </a:br>
            <a:r>
              <a:rPr lang="en-US" sz="1500">
                <a:solidFill>
                  <a:srgbClr val="6AA84F"/>
                </a:solidFill>
              </a:rPr>
              <a:t>service-detail</a:t>
            </a:r>
            <a:br>
              <a:rPr lang="en-US" sz="1500">
                <a:solidFill>
                  <a:srgbClr val="6AA84F"/>
                </a:solidFill>
              </a:rPr>
            </a:br>
            <a:r>
              <a:rPr lang="en-US" sz="1500">
                <a:solidFill>
                  <a:srgbClr val="6AA84F"/>
                </a:solidFill>
              </a:rPr>
              <a:t>{</a:t>
            </a:r>
            <a:br>
              <a:rPr lang="en-US" sz="1500">
                <a:solidFill>
                  <a:srgbClr val="6AA84F"/>
                </a:solidFill>
              </a:rPr>
            </a:br>
            <a:r>
              <a:rPr lang="en-US" sz="1500">
                <a:solidFill>
                  <a:srgbClr val="6AA84F"/>
                </a:solidFill>
              </a:rPr>
              <a:t>  description Mask R-CNN</a:t>
            </a:r>
            <a:br>
              <a:rPr lang="en-US" sz="1500">
                <a:solidFill>
                  <a:srgbClr val="6AA84F"/>
                </a:solidFill>
              </a:rPr>
            </a:br>
            <a:r>
              <a:rPr lang="en-US" sz="1500">
                <a:solidFill>
                  <a:srgbClr val="6AA84F"/>
                </a:solidFill>
              </a:rPr>
              <a:t>  releases Mask R-CNN 2.1</a:t>
            </a:r>
            <a:br>
              <a:rPr lang="en-US" sz="1500">
                <a:solidFill>
                  <a:srgbClr val="6AA84F"/>
                </a:solidFill>
              </a:rPr>
            </a:br>
            <a:r>
              <a:rPr lang="en-US" sz="1500">
                <a:solidFill>
                  <a:srgbClr val="6AA84F"/>
                </a:solidFill>
              </a:rPr>
              <a:t>  lifetime 50 ; in seconds</a:t>
            </a:r>
            <a:br>
              <a:rPr lang="en-US" sz="1500">
                <a:solidFill>
                  <a:srgbClr val="6AA84F"/>
                </a:solidFill>
              </a:rPr>
            </a:br>
            <a:r>
              <a:rPr lang="en-US" sz="1500">
                <a:solidFill>
                  <a:srgbClr val="6AA84F"/>
                </a:solidFill>
              </a:rPr>
              <a:t>}</a:t>
            </a:r>
            <a:endParaRPr sz="1500">
              <a:solidFill>
                <a:srgbClr val="6AA84F"/>
              </a:solidFill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7943925" y="2622550"/>
            <a:ext cx="1534200" cy="4065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9" name="Google Shape;209;p22"/>
          <p:cNvCxnSpPr>
            <a:endCxn id="208" idx="2"/>
          </p:cNvCxnSpPr>
          <p:nvPr/>
        </p:nvCxnSpPr>
        <p:spPr>
          <a:xfrm>
            <a:off x="6042525" y="2662000"/>
            <a:ext cx="1901400" cy="16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" name="Google Shape;210;p22"/>
          <p:cNvCxnSpPr/>
          <p:nvPr/>
        </p:nvCxnSpPr>
        <p:spPr>
          <a:xfrm>
            <a:off x="8602000" y="3789600"/>
            <a:ext cx="13200" cy="98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" name="Google Shape;211;p22"/>
          <p:cNvSpPr txBox="1"/>
          <p:nvPr/>
        </p:nvSpPr>
        <p:spPr>
          <a:xfrm>
            <a:off x="6965255" y="4708025"/>
            <a:ext cx="4827000" cy="8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(lifetime + publish timestamp is used to compute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service status i.e. active/expired)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idx="1" type="body"/>
          </p:nvPr>
        </p:nvSpPr>
        <p:spPr>
          <a:xfrm>
            <a:off x="554100" y="1859725"/>
            <a:ext cx="11637900" cy="449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25450" lvl="0" marL="609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How to protect some sensitive service being displayed to an unauthorized audience? 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196850" lvl="1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E.g.  /netlab/server/cygnux/info should only be visible to the netlab members. </a:t>
            </a:r>
            <a:br>
              <a:rPr lang="en-US" sz="2100">
                <a:latin typeface="Arial"/>
                <a:ea typeface="Arial"/>
                <a:cs typeface="Arial"/>
                <a:sym typeface="Arial"/>
              </a:rPr>
            </a:b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425450" lvl="0" marL="609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One who can access the service should only </a:t>
            </a:r>
            <a:br>
              <a:rPr lang="en-US" sz="2100">
                <a:latin typeface="Arial"/>
                <a:ea typeface="Arial"/>
                <a:cs typeface="Arial"/>
                <a:sym typeface="Arial"/>
              </a:rPr>
            </a:br>
            <a:r>
              <a:rPr lang="en-US" sz="2100">
                <a:latin typeface="Arial"/>
                <a:ea typeface="Arial"/>
                <a:cs typeface="Arial"/>
                <a:sym typeface="Arial"/>
              </a:rPr>
              <a:t>be able to view the service</a:t>
            </a:r>
            <a:br>
              <a:rPr lang="en-US" sz="2100">
                <a:latin typeface="Arial"/>
                <a:ea typeface="Arial"/>
                <a:cs typeface="Arial"/>
                <a:sym typeface="Arial"/>
              </a:rPr>
            </a:b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425450" lvl="0" marL="609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Use Name Based Access Control (NAC) </a:t>
            </a:r>
            <a:r>
              <a:rPr baseline="30000" lang="en-US" sz="2100">
                <a:latin typeface="Arial"/>
                <a:ea typeface="Arial"/>
                <a:cs typeface="Arial"/>
                <a:sym typeface="Arial"/>
              </a:rPr>
              <a:t>[1]</a:t>
            </a:r>
            <a:endParaRPr baseline="30000" sz="1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3300" y="2980476"/>
            <a:ext cx="4639676" cy="284914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838200" y="6293700"/>
            <a:ext cx="105774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[1] Yu, Yingdi, Alexander Afanasyev, and Lixia Zhang. "Name-based access control." Named Data Networking Project, Technical Report NDN-0034 (2015)</a:t>
            </a:r>
            <a:endParaRPr sz="1200"/>
          </a:p>
        </p:txBody>
      </p:sp>
      <p:sp>
        <p:nvSpPr>
          <p:cNvPr id="219" name="Google Shape;219;p23"/>
          <p:cNvSpPr txBox="1"/>
          <p:nvPr>
            <p:ph type="title"/>
          </p:nvPr>
        </p:nvSpPr>
        <p:spPr>
          <a:xfrm>
            <a:off x="23241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Service-info Accessibility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838200" y="1690833"/>
            <a:ext cx="113607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8038200" y="531900"/>
            <a:ext cx="39741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e.g. repo g</a:t>
            </a:r>
            <a:r>
              <a:rPr b="1" lang="en-US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roup prefix:</a:t>
            </a:r>
            <a:r>
              <a:rPr lang="en-US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/&lt;prefix&gt;/</a:t>
            </a:r>
            <a:r>
              <a:rPr lang="en-US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discovery/repo/</a:t>
            </a:r>
            <a:endParaRPr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2324100" y="365125"/>
            <a:ext cx="57141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Use Case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9" name="Google Shape;2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4100" y="1408875"/>
            <a:ext cx="8029124" cy="44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4"/>
          <p:cNvSpPr txBox="1"/>
          <p:nvPr/>
        </p:nvSpPr>
        <p:spPr>
          <a:xfrm>
            <a:off x="2227410" y="5951710"/>
            <a:ext cx="8302347" cy="7538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Fig: Simple Building Management System (BMS) architecture highlighting </a:t>
            </a:r>
            <a:br>
              <a:rPr lang="en-US"/>
            </a:br>
            <a:r>
              <a:rPr lang="en-US"/>
              <a:t>the use of discovery service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1663550" y="3456895"/>
            <a:ext cx="17589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/&lt;prefix&gt;/</a:t>
            </a:r>
            <a:r>
              <a:rPr lang="en-US">
                <a:solidFill>
                  <a:schemeClr val="dk1"/>
                </a:solidFill>
              </a:rPr>
              <a:t>sensor1</a:t>
            </a:r>
            <a:endParaRPr/>
          </a:p>
        </p:txBody>
      </p:sp>
      <p:cxnSp>
        <p:nvCxnSpPr>
          <p:cNvPr id="232" name="Google Shape;232;p24"/>
          <p:cNvCxnSpPr/>
          <p:nvPr/>
        </p:nvCxnSpPr>
        <p:spPr>
          <a:xfrm rot="10800000">
            <a:off x="3173300" y="2556850"/>
            <a:ext cx="91800" cy="47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3" name="Google Shape;233;p24"/>
          <p:cNvSpPr/>
          <p:nvPr/>
        </p:nvSpPr>
        <p:spPr>
          <a:xfrm>
            <a:off x="2324100" y="1846454"/>
            <a:ext cx="1635900" cy="891600"/>
          </a:xfrm>
          <a:prstGeom prst="brace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/&lt;prefix&gt;/repo/R1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/&lt;prefix&gt;/repo/R2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/&lt;prefix&gt;/repo/R2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….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34" name="Google Shape;234;p24"/>
          <p:cNvSpPr txBox="1"/>
          <p:nvPr/>
        </p:nvSpPr>
        <p:spPr>
          <a:xfrm>
            <a:off x="9933200" y="1744000"/>
            <a:ext cx="16359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/&lt;prefix&gt;/sensor2</a:t>
            </a:r>
            <a:endParaRPr/>
          </a:p>
        </p:txBody>
      </p:sp>
      <p:sp>
        <p:nvSpPr>
          <p:cNvPr id="235" name="Google Shape;235;p24"/>
          <p:cNvSpPr/>
          <p:nvPr/>
        </p:nvSpPr>
        <p:spPr>
          <a:xfrm>
            <a:off x="8993575" y="4637000"/>
            <a:ext cx="1536300" cy="753900"/>
          </a:xfrm>
          <a:prstGeom prst="brace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/&lt;prefix&gt;/sensor1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/&lt;prefix&gt;/sensor2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….</a:t>
            </a:r>
            <a:endParaRPr sz="1200">
              <a:solidFill>
                <a:schemeClr val="dk1"/>
              </a:solidFill>
            </a:endParaRPr>
          </a:p>
        </p:txBody>
      </p:sp>
      <p:cxnSp>
        <p:nvCxnSpPr>
          <p:cNvPr id="236" name="Google Shape;236;p24"/>
          <p:cNvCxnSpPr>
            <a:endCxn id="235" idx="1"/>
          </p:cNvCxnSpPr>
          <p:nvPr/>
        </p:nvCxnSpPr>
        <p:spPr>
          <a:xfrm flipH="1" rot="10800000">
            <a:off x="8090575" y="5013950"/>
            <a:ext cx="903000" cy="51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7" name="Google Shape;237;p24"/>
          <p:cNvSpPr txBox="1"/>
          <p:nvPr/>
        </p:nvSpPr>
        <p:spPr>
          <a:xfrm>
            <a:off x="1725200" y="1485075"/>
            <a:ext cx="17589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via service-info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 rot="-1854004">
            <a:off x="8077731" y="4771376"/>
            <a:ext cx="1758959" cy="38520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via service-info</a:t>
            </a:r>
            <a:endParaRPr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5"/>
          <p:cNvSpPr txBox="1"/>
          <p:nvPr>
            <p:ph idx="1" type="body"/>
          </p:nvPr>
        </p:nvSpPr>
        <p:spPr>
          <a:xfrm>
            <a:off x="838200" y="1551108"/>
            <a:ext cx="113607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Real-world Experiments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Raspberry PI’s were distributed across Dunn Hall, 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latin typeface="Arial"/>
                <a:ea typeface="Arial"/>
                <a:cs typeface="Arial"/>
                <a:sym typeface="Arial"/>
              </a:rPr>
              <a:t>University of Memphis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Distance: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Delay distribution based on distance 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55600" lvl="2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Congestion: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Delay distribution based on number 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of nodes </a:t>
            </a:r>
            <a:r>
              <a:rPr lang="en-US" sz="1500"/>
              <a:t>(</a:t>
            </a:r>
            <a:r>
              <a:rPr b="1" lang="en-US" sz="1500"/>
              <a:t>C </a:t>
            </a:r>
            <a:r>
              <a:rPr lang="en-US" sz="1500"/>
              <a:t>= Service Consumer, </a:t>
            </a:r>
            <a:r>
              <a:rPr b="1" lang="en-US" sz="1500"/>
              <a:t>P</a:t>
            </a:r>
            <a:r>
              <a:rPr lang="en-US" sz="1500"/>
              <a:t> = Service Publisher)</a:t>
            </a:r>
            <a:br>
              <a:rPr lang="en-US" sz="1600"/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Wired and Wireless emulations using Mini-NDN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	</a:t>
            </a:r>
            <a:br>
              <a:rPr lang="en-US"/>
            </a:b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r>
              <a:rPr lang="en-US" sz="1700">
                <a:latin typeface="Arial"/>
                <a:ea typeface="Arial"/>
                <a:cs typeface="Arial"/>
                <a:sym typeface="Arial"/>
              </a:rPr>
              <a:t>NDNSD is implemented on top of PSync</a:t>
            </a:r>
            <a:r>
              <a:rPr baseline="30000" lang="en-US" sz="1700">
                <a:latin typeface="Arial"/>
                <a:ea typeface="Arial"/>
                <a:cs typeface="Arial"/>
                <a:sym typeface="Arial"/>
              </a:rPr>
              <a:t>[1]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 and Chronosync</a:t>
            </a:r>
            <a:r>
              <a:rPr baseline="30000" lang="en-US" sz="1700">
                <a:latin typeface="Arial"/>
                <a:ea typeface="Arial"/>
                <a:cs typeface="Arial"/>
                <a:sym typeface="Arial"/>
              </a:rPr>
              <a:t>[2]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, can adapt to both of these protocols</a:t>
            </a:r>
            <a:endParaRPr sz="2400"/>
          </a:p>
          <a:p>
            <a:pPr indent="-381000" lvl="1" marL="914400" rtl="0" algn="l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Source</a:t>
            </a:r>
            <a:r>
              <a:rPr lang="en-US" sz="2000"/>
              <a:t>: </a:t>
            </a:r>
            <a:r>
              <a:rPr lang="en-US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https://github.com/dulalsaurab/NDNSD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 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5"/>
          <p:cNvSpPr txBox="1"/>
          <p:nvPr/>
        </p:nvSpPr>
        <p:spPr>
          <a:xfrm>
            <a:off x="838200" y="5988900"/>
            <a:ext cx="105774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[1] </a:t>
            </a: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</a:rPr>
              <a:t>Zhang, Minsheng, Vince Lehman, and Lan Wang. "Scalable name-based data synchronization for named data networking." </a:t>
            </a:r>
            <a:r>
              <a:rPr i="1" lang="en-US" sz="1000">
                <a:solidFill>
                  <a:srgbClr val="222222"/>
                </a:solidFill>
                <a:highlight>
                  <a:srgbClr val="FFFFFF"/>
                </a:highlight>
              </a:rPr>
              <a:t>IEEE INFOCOM 2017-IEEE Conference on Computer Communications</a:t>
            </a: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</a:rPr>
              <a:t>. IEEE, 2017.</a:t>
            </a:r>
            <a:endParaRPr sz="10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</a:rPr>
              <a:t>[2] Zhu, Zhenkai, and Alexander Afanasyev. "Let's chronosync: Decentralized dataset state synchronization in named data networking." </a:t>
            </a:r>
            <a:r>
              <a:rPr i="1" lang="en-US" sz="1000">
                <a:solidFill>
                  <a:srgbClr val="222222"/>
                </a:solidFill>
                <a:highlight>
                  <a:srgbClr val="FFFFFF"/>
                </a:highlight>
              </a:rPr>
              <a:t>2013 21st IEEE International Conference on Network Protocols (ICNP)</a:t>
            </a: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</a:rPr>
              <a:t>. IEEE, 2013.</a:t>
            </a:r>
            <a:endParaRPr sz="10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45" name="Google Shape;245;p25"/>
          <p:cNvSpPr txBox="1"/>
          <p:nvPr>
            <p:ph type="title"/>
          </p:nvPr>
        </p:nvSpPr>
        <p:spPr>
          <a:xfrm>
            <a:off x="2324100" y="37825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Preliminary Evaluation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6" name="Google Shape;246;p25"/>
          <p:cNvGrpSpPr/>
          <p:nvPr/>
        </p:nvGrpSpPr>
        <p:grpSpPr>
          <a:xfrm>
            <a:off x="8431525" y="872579"/>
            <a:ext cx="3744300" cy="3637637"/>
            <a:chOff x="8431525" y="872579"/>
            <a:chExt cx="3744300" cy="3637637"/>
          </a:xfrm>
        </p:grpSpPr>
        <p:pic>
          <p:nvPicPr>
            <p:cNvPr id="247" name="Google Shape;247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431525" y="872579"/>
              <a:ext cx="3668200" cy="3417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5"/>
            <p:cNvSpPr txBox="1"/>
            <p:nvPr/>
          </p:nvSpPr>
          <p:spPr>
            <a:xfrm>
              <a:off x="8507725" y="4162816"/>
              <a:ext cx="36681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</a:rPr>
                <a:t>Fig</a:t>
              </a:r>
              <a:r>
                <a:rPr lang="en-US" sz="1200">
                  <a:solidFill>
                    <a:schemeClr val="dk1"/>
                  </a:solidFill>
                </a:rPr>
                <a:t>: Device distribution at various distances</a:t>
              </a:r>
              <a:endParaRPr sz="1200"/>
            </a:p>
          </p:txBody>
        </p:sp>
      </p:grpSp>
      <p:sp>
        <p:nvSpPr>
          <p:cNvPr id="249" name="Google Shape;249;p2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6"/>
          <p:cNvSpPr txBox="1"/>
          <p:nvPr>
            <p:ph idx="1" type="body"/>
          </p:nvPr>
        </p:nvSpPr>
        <p:spPr>
          <a:xfrm>
            <a:off x="838200" y="1798033"/>
            <a:ext cx="113607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Setup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Tool: 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Mini-NDN (Lightweight NDN emulator)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Service-info u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pdate frequency: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900ms + 200ms jitter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Total number of updates: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300 per producer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Sync: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PSync,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Link-delay: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10ms/link 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6"/>
          <p:cNvSpPr txBox="1"/>
          <p:nvPr>
            <p:ph type="title"/>
          </p:nvPr>
        </p:nvSpPr>
        <p:spPr>
          <a:xfrm>
            <a:off x="23241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Evaluation </a:t>
            </a:r>
            <a:r>
              <a:rPr lang="en-US" sz="3300">
                <a:latin typeface="Arial"/>
                <a:ea typeface="Arial"/>
                <a:cs typeface="Arial"/>
                <a:sym typeface="Arial"/>
              </a:rPr>
              <a:t>(Emulation)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6" name="Google Shape;256;p26"/>
          <p:cNvGrpSpPr/>
          <p:nvPr/>
        </p:nvGrpSpPr>
        <p:grpSpPr>
          <a:xfrm>
            <a:off x="7906939" y="1798022"/>
            <a:ext cx="3939921" cy="2741279"/>
            <a:chOff x="7731600" y="139300"/>
            <a:chExt cx="4286250" cy="2982245"/>
          </a:xfrm>
        </p:grpSpPr>
        <p:pic>
          <p:nvPicPr>
            <p:cNvPr id="257" name="Google Shape;25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731600" y="139300"/>
              <a:ext cx="4286250" cy="2428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6"/>
            <p:cNvSpPr txBox="1"/>
            <p:nvPr/>
          </p:nvSpPr>
          <p:spPr>
            <a:xfrm>
              <a:off x="7731612" y="2450145"/>
              <a:ext cx="4286100" cy="6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dk1"/>
                  </a:solidFill>
                </a:rPr>
                <a:t>Fig: Multi-hop emulation t</a:t>
              </a:r>
              <a:r>
                <a:rPr lang="en-US" sz="1300">
                  <a:solidFill>
                    <a:schemeClr val="dk1"/>
                  </a:solidFill>
                </a:rPr>
                <a:t>opology</a:t>
              </a:r>
              <a:br>
                <a:rPr lang="en-US" sz="1300">
                  <a:solidFill>
                    <a:schemeClr val="dk1"/>
                  </a:solidFill>
                </a:rPr>
              </a:b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r>
                <a:rPr b="1"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 </a:t>
              </a: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= Service Locator, </a:t>
              </a:r>
              <a:r>
                <a:rPr b="1"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= Service Publisher)</a:t>
              </a:r>
              <a:r>
                <a:rPr lang="en-US" sz="1300">
                  <a:solidFill>
                    <a:schemeClr val="dk1"/>
                  </a:solidFill>
                </a:rPr>
                <a:t> </a:t>
              </a:r>
              <a:endParaRPr sz="1100">
                <a:solidFill>
                  <a:schemeClr val="dk1"/>
                </a:solidFill>
              </a:endParaRPr>
            </a:p>
          </p:txBody>
        </p:sp>
      </p:grpSp>
      <p:graphicFrame>
        <p:nvGraphicFramePr>
          <p:cNvPr id="259" name="Google Shape;259;p26"/>
          <p:cNvGraphicFramePr/>
          <p:nvPr/>
        </p:nvGraphicFramePr>
        <p:xfrm>
          <a:off x="3037750" y="341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{822B22E1-0E19-4ECA-9B6C-F40D1DBC5227}</a:tableStyleId>
              </a:tblPr>
              <a:tblGrid>
                <a:gridCol w="1180975"/>
                <a:gridCol w="1472125"/>
                <a:gridCol w="1286800"/>
              </a:tblGrid>
              <a:tr h="293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Hop Count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Median Delay (ms)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Average Delay (ms)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1-hop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25.26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26.51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2-hop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38.22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40.77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3-hop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41.22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46.97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4-hop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52.56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60.08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0" name="Google Shape;260;p2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61" name="Google Shape;261;p26"/>
          <p:cNvGrpSpPr/>
          <p:nvPr/>
        </p:nvGrpSpPr>
        <p:grpSpPr>
          <a:xfrm>
            <a:off x="1752601" y="3383875"/>
            <a:ext cx="5225049" cy="2057650"/>
            <a:chOff x="255451" y="4440025"/>
            <a:chExt cx="5225049" cy="2057650"/>
          </a:xfrm>
        </p:grpSpPr>
        <p:sp>
          <p:nvSpPr>
            <p:cNvPr id="262" name="Google Shape;262;p26"/>
            <p:cNvSpPr txBox="1"/>
            <p:nvPr/>
          </p:nvSpPr>
          <p:spPr>
            <a:xfrm>
              <a:off x="1540600" y="5933375"/>
              <a:ext cx="39399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/>
                <a:t>Table: S</a:t>
              </a:r>
              <a:r>
                <a:rPr lang="en-US" sz="1200"/>
                <a:t>ervice-info retrieval time</a:t>
              </a:r>
              <a:r>
                <a:rPr lang="en-US" sz="1600">
                  <a:solidFill>
                    <a:schemeClr val="dk1"/>
                  </a:solidFill>
                </a:rPr>
                <a:t> </a:t>
              </a:r>
              <a:r>
                <a:rPr lang="en-US" sz="1200"/>
                <a:t>in a multihop environment </a:t>
              </a:r>
              <a:endParaRPr sz="1200"/>
            </a:p>
          </p:txBody>
        </p:sp>
        <p:grpSp>
          <p:nvGrpSpPr>
            <p:cNvPr id="263" name="Google Shape;263;p26"/>
            <p:cNvGrpSpPr/>
            <p:nvPr/>
          </p:nvGrpSpPr>
          <p:grpSpPr>
            <a:xfrm>
              <a:off x="255451" y="4440025"/>
              <a:ext cx="1186899" cy="459600"/>
              <a:chOff x="255451" y="4440025"/>
              <a:chExt cx="1186899" cy="459600"/>
            </a:xfrm>
          </p:grpSpPr>
          <p:cxnSp>
            <p:nvCxnSpPr>
              <p:cNvPr id="264" name="Google Shape;264;p26"/>
              <p:cNvCxnSpPr/>
              <p:nvPr/>
            </p:nvCxnSpPr>
            <p:spPr>
              <a:xfrm>
                <a:off x="1180150" y="4641750"/>
                <a:ext cx="262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65" name="Google Shape;265;p26"/>
              <p:cNvSpPr txBox="1"/>
              <p:nvPr/>
            </p:nvSpPr>
            <p:spPr>
              <a:xfrm>
                <a:off x="255451" y="4440025"/>
                <a:ext cx="1186800" cy="45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/>
                  <a:t>Delay (ms) </a:t>
                </a:r>
                <a:r>
                  <a:rPr lang="en-US" sz="1200"/>
                  <a:t> </a:t>
                </a:r>
                <a:endParaRPr sz="1200"/>
              </a:p>
            </p:txBody>
          </p:sp>
        </p:grpSp>
      </p:grpSp>
      <p:sp>
        <p:nvSpPr>
          <p:cNvPr id="266" name="Google Shape;266;p26"/>
          <p:cNvSpPr txBox="1"/>
          <p:nvPr/>
        </p:nvSpPr>
        <p:spPr>
          <a:xfrm>
            <a:off x="838200" y="6293700"/>
            <a:ext cx="105774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[1] </a:t>
            </a: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</a:rPr>
              <a:t>Zhang, Minsheng, Vince Lehman, and Lan Wang. "Scalable name-based data synchronization for named data networking." </a:t>
            </a:r>
            <a:r>
              <a:rPr i="1" lang="en-US" sz="1000">
                <a:solidFill>
                  <a:srgbClr val="222222"/>
                </a:solidFill>
                <a:highlight>
                  <a:srgbClr val="FFFFFF"/>
                </a:highlight>
              </a:rPr>
              <a:t>IEEE INFOCOM 2017-IEEE Conference on Computer Communications</a:t>
            </a: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</a:rPr>
              <a:t>. IEEE, 2017.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267" name="Google Shape;267;p26"/>
          <p:cNvSpPr txBox="1"/>
          <p:nvPr/>
        </p:nvSpPr>
        <p:spPr>
          <a:xfrm>
            <a:off x="1127700" y="5612275"/>
            <a:ext cx="7553100" cy="8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Caching and sync multicast is helping to reduce the </a:t>
            </a:r>
            <a:r>
              <a:rPr lang="en-US" sz="1600"/>
              <a:t>overall</a:t>
            </a:r>
            <a:r>
              <a:rPr lang="en-US" sz="1600"/>
              <a:t> delay. 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 txBox="1"/>
          <p:nvPr>
            <p:ph type="title"/>
          </p:nvPr>
        </p:nvSpPr>
        <p:spPr>
          <a:xfrm>
            <a:off x="2324100" y="606467"/>
            <a:ext cx="113607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73" name="Google Shape;273;p27"/>
          <p:cNvSpPr txBox="1"/>
          <p:nvPr>
            <p:ph idx="1" type="body"/>
          </p:nvPr>
        </p:nvSpPr>
        <p:spPr>
          <a:xfrm>
            <a:off x="415600" y="1536624"/>
            <a:ext cx="11360700" cy="498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NDNSD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General-purpose, distributed service publishing and discovery mechanism for an NDN 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Well defined pub-sub API for discovery and reusable library components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Preliminary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evaluation and use-case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Challenges and Existing Difficulties 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Real-world setup and experiments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Lack of m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ulticast 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suppression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in NFD, observed an enormous amount of 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unsolicited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data and interest</a:t>
            </a:r>
            <a:br>
              <a:rPr lang="en-US" sz="2100">
                <a:latin typeface="Arial"/>
                <a:ea typeface="Arial"/>
                <a:cs typeface="Arial"/>
                <a:sym typeface="Arial"/>
              </a:rPr>
            </a:b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Future Works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Perform scaling experiments in Mini-NDN, and real-world multi-hop wireless experiment 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Implement/experiment some of the use-case (e.g. BMS)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5200"/>
              <a:t>Thank you! </a:t>
            </a:r>
            <a:endParaRPr sz="5200"/>
          </a:p>
        </p:txBody>
      </p:sp>
      <p:sp>
        <p:nvSpPr>
          <p:cNvPr id="281" name="Google Shape;281;p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2" name="Google Shape;282;p28"/>
          <p:cNvPicPr preferRelativeResize="0"/>
          <p:nvPr/>
        </p:nvPicPr>
        <p:blipFill rotWithShape="1">
          <a:blip r:embed="rId3">
            <a:alphaModFix/>
          </a:blip>
          <a:srcRect b="4420" l="6943" r="28706" t="26935"/>
          <a:stretch/>
        </p:blipFill>
        <p:spPr>
          <a:xfrm>
            <a:off x="8844945" y="1215662"/>
            <a:ext cx="1724615" cy="183961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8082050" y="950225"/>
            <a:ext cx="3791400" cy="11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Source Code Pro"/>
                <a:ea typeface="Source Code Pro"/>
                <a:cs typeface="Source Code Pro"/>
                <a:sym typeface="Source Code Pro"/>
              </a:rPr>
              <a:t>That’s the one I am looking for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84" name="Google Shape;284;p28"/>
          <p:cNvSpPr txBox="1"/>
          <p:nvPr/>
        </p:nvSpPr>
        <p:spPr>
          <a:xfrm>
            <a:off x="9139650" y="1442425"/>
            <a:ext cx="731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NDNSD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