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1" r:id="rId4"/>
    <p:sldId id="258" r:id="rId5"/>
    <p:sldId id="259" r:id="rId6"/>
    <p:sldId id="324" r:id="rId7"/>
    <p:sldId id="325" r:id="rId8"/>
    <p:sldId id="361" r:id="rId9"/>
    <p:sldId id="326" r:id="rId10"/>
    <p:sldId id="262" r:id="rId11"/>
    <p:sldId id="362" r:id="rId12"/>
    <p:sldId id="36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 userDrawn="1">
          <p15:clr>
            <a:srgbClr val="A4A3A4"/>
          </p15:clr>
        </p15:guide>
        <p15:guide id="2" pos="14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125"/>
    <p:restoredTop sz="96327"/>
  </p:normalViewPr>
  <p:slideViewPr>
    <p:cSldViewPr snapToGrid="0" snapToObjects="1" showGuides="1">
      <p:cViewPr varScale="1">
        <p:scale>
          <a:sx n="128" d="100"/>
          <a:sy n="128" d="100"/>
        </p:scale>
        <p:origin x="192" y="176"/>
      </p:cViewPr>
      <p:guideLst>
        <p:guide orient="horz" pos="816"/>
        <p:guide pos="146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379621-009E-A84C-94EB-A677E37775A8}" type="datetimeFigureOut">
              <a:rPr lang="en-US" smtClean="0"/>
              <a:t>9/10/20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A446A5-4D92-B041-84C8-4C237D3DB4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4894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8A405-6B8D-2C4B-AFBB-2E8F772FE9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218A37-BEE0-6C41-94E7-28223DA96A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BBFBF3-6751-AD40-805E-F198088A7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5489F-7F8F-7243-A1E8-5796D358B268}" type="datetime1">
              <a:rPr lang="en-US" smtClean="0"/>
              <a:t>9/10/20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584F2A-F7C7-2B4D-A646-2C7F26419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C625AB-FE61-294C-BCAC-ABE38A4E4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76459-B699-454A-B8F8-A19AA10ED8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756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F4D56-E9B6-384C-A133-8F9D14F9B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7C317F-02A8-4841-B5AD-89006A5746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A0410C-7BD1-714B-95C9-E2B5485AE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F7A81-D5E1-2948-A157-F86B59882E09}" type="datetime1">
              <a:rPr lang="en-US" smtClean="0"/>
              <a:t>9/10/20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58D285-D27D-F848-AFE7-D9DA65D95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8A8EDE-B4BA-E442-9A8C-8419A077A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76459-B699-454A-B8F8-A19AA10ED8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1028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95EA3-5964-F348-96E2-B8E54312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110688-92D6-DC4D-AFEB-AAE72D4C83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E1799D-30C8-A64A-8A22-F64E9D614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B0E33-78F6-A74E-8C76-57D9DF805992}" type="datetime1">
              <a:rPr lang="en-US" smtClean="0"/>
              <a:t>9/10/20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55A2A5-5399-BE4D-B8A1-9C0EC23DB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360595-48AC-0B42-8A88-757F8624C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76459-B699-454A-B8F8-A19AA10ED8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610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3A28B-4AD9-7740-B5BB-0DE41EAEA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ACA09F-DBD7-BA4B-BDB8-ECD7B1BE6B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EC9674-C542-5D4C-A096-64F55D2F05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C874BC-2E16-974F-8272-A1D6F2D18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C7E4C-E1F9-6B49-8FE6-BD8CFF14ADED}" type="datetime1">
              <a:rPr lang="en-US" smtClean="0"/>
              <a:t>9/10/20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CBEF8F-0C4B-BD4D-A604-CB85A3C91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E634B7-0EB2-9145-A2CD-51AFB61FA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76459-B699-454A-B8F8-A19AA10ED8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3120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4B345-56F8-884C-B0C9-196F75A32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E2A11D-1F5B-484B-BAA4-2A44C130DF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726286-E5C3-4C48-B384-005D8E52A9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AA50F9-068B-C14C-908D-B45B68C6C7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706A7B-85F0-1B41-B562-C29C362AA6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6CA284-1DB3-1C44-A826-16C7607E0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CF18C-E9FC-A743-B8B2-ADCBC8E6DA68}" type="datetime1">
              <a:rPr lang="en-US" smtClean="0"/>
              <a:t>9/10/20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47DC8F-4741-8043-9685-5168D5E69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D92E23-9755-EC4B-8C3A-A192B6E70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76459-B699-454A-B8F8-A19AA10ED8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7588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05C68-A6B3-FA40-B33B-973E27E29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58D4C4-29EB-F24D-9408-89220D7C8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77829-AC18-ED4B-8CE1-B5FAEDEE6B2A}" type="datetime1">
              <a:rPr lang="en-US" smtClean="0"/>
              <a:t>9/10/20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5BB507-9210-C840-B7E5-FD9A987EF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920D82-D7F8-9449-9239-68D53F6B6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76459-B699-454A-B8F8-A19AA10ED8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493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D7D9C0-03E6-E74F-A1E0-D5A0CD8AA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DEA5E-6973-4040-A552-26BAC8A1B241}" type="datetime1">
              <a:rPr lang="en-US" smtClean="0"/>
              <a:t>9/10/20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09F146-9451-664E-82CB-8F231854A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24FDE5-11C8-AA4C-9C84-6F2AF06F0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76459-B699-454A-B8F8-A19AA10ED8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222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FEFE7-CD02-1944-BCCE-391BBA536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97AA1E-6881-094E-A3A6-1AC9EE4E0E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38CA46-7A64-0F48-92AE-BFD2001557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37C606-2FB3-A545-99B8-888C4A5B2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FC8AA-3E29-B648-BFA2-DF3253EE2558}" type="datetime1">
              <a:rPr lang="en-US" smtClean="0"/>
              <a:t>9/10/20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579337-540A-EC4C-8DB5-9DEE8C405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069EA6-C5AF-0F41-A5CF-8B0810A86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76459-B699-454A-B8F8-A19AA10ED8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1932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A8889-9F3A-6B47-A7A1-7BB6C0AB8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2679DC-D2EF-1542-8A68-B7298A9D69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E82484-7C87-4A47-9594-71BE85B548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5E57BA-5668-E14B-B9C0-73DAD5BDC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8C5A3-181B-8D47-A24A-86CB7CB7B4C0}" type="datetime1">
              <a:rPr lang="en-US" smtClean="0"/>
              <a:t>9/10/20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6BF053-90B5-3D4A-80EE-EEF8CF1F4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595389-BA8C-FF49-A680-6FCE20122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76459-B699-454A-B8F8-A19AA10ED8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946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9E183-3CD0-EA42-A32E-27F31518F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BEC1CE-E8D0-E049-8F42-307E8560D7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61087A-F22A-6141-9005-5FC081368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08690-CFF1-AC4C-8511-6A6333CC4D0B}" type="datetime1">
              <a:rPr lang="en-US" smtClean="0"/>
              <a:t>9/10/20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2240F8-019A-F749-BCEF-ECB8B60D8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A64E65-D108-1442-A717-8F665220C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76459-B699-454A-B8F8-A19AA10ED8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0577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4705CC-A9DA-1145-B7C1-A3738448DF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CBC4D0-923A-EA44-AB62-8DED95051A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3AC96F-3550-2343-8863-62C04858E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FA0D5-99CF-2449-AC86-043F117CDA5D}" type="datetime1">
              <a:rPr lang="en-US" smtClean="0"/>
              <a:t>9/10/20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809326-99FD-6147-A129-43CC48503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436F72-B231-BC47-A137-BC82BEBDC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76459-B699-454A-B8F8-A19AA10ED8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6043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5885485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D7A802-DDE6-484D-8B10-44C6B2D4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EBFE1-20E7-EE47-8C62-310BE21E84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C7C257-70D5-DA48-87EA-303B9EDA45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CD8B2C-D992-AA4C-90A9-02836113281B}" type="datetime1">
              <a:rPr lang="en-US" smtClean="0"/>
              <a:t>9/10/20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DE1AEA-27DC-D74C-BF12-9B9C58801C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108AF5-BD69-6740-ABAA-400EDE7977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876459-B699-454A-B8F8-A19AA10ED8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252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E5691-5DB8-B147-8A35-8AF7A965466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On the Prefix Granularity Problem in NDN Adaptive Forwarding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AF9F26-20AE-0241-8F13-365190E891A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US" sz="2000" dirty="0"/>
          </a:p>
          <a:p>
            <a:r>
              <a:rPr lang="en-US" sz="2000" dirty="0"/>
              <a:t>Teng Liang</a:t>
            </a:r>
          </a:p>
          <a:p>
            <a:r>
              <a:rPr lang="en-US" sz="2000" dirty="0"/>
              <a:t>Peng Cheng Lab</a:t>
            </a:r>
          </a:p>
          <a:p>
            <a:r>
              <a:rPr lang="en-US" sz="2000" dirty="0"/>
              <a:t>2020/09/11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CA38E6-5EBA-1A40-ACAF-614CCC742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76459-B699-454A-B8F8-A19AA10ED8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925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DFA1C-C7AC-CD4A-973B-DBB9E901B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508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NDN Adaptive Forwarding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7FA645-2124-3C4C-AFFF-D3986E9C85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IP forwarding is stateless and has no adaptability</a:t>
            </a:r>
          </a:p>
          <a:p>
            <a:r>
              <a:rPr lang="en-US" dirty="0"/>
              <a:t>Case study</a:t>
            </a:r>
          </a:p>
          <a:p>
            <a:pPr lvl="1"/>
            <a:r>
              <a:rPr lang="en-US" dirty="0"/>
              <a:t>Link failure: takes up to tens of seconds to detect</a:t>
            </a:r>
          </a:p>
          <a:p>
            <a:r>
              <a:rPr lang="en-US" dirty="0"/>
              <a:t>NDN’s adaptive forwarding </a:t>
            </a:r>
          </a:p>
          <a:p>
            <a:pPr lvl="1"/>
            <a:r>
              <a:rPr lang="en-US" dirty="0"/>
              <a:t>Interest-Data exchange</a:t>
            </a:r>
          </a:p>
          <a:p>
            <a:pPr lvl="1"/>
            <a:r>
              <a:rPr lang="en-US" dirty="0"/>
              <a:t>Stateful</a:t>
            </a:r>
          </a:p>
          <a:p>
            <a:r>
              <a:rPr lang="en-US" dirty="0"/>
              <a:t>Observe past data retrieval measurement on multiple paths</a:t>
            </a:r>
          </a:p>
          <a:p>
            <a:r>
              <a:rPr lang="en-US" dirty="0"/>
              <a:t>And use it to improve forwarding decisions future Interests</a:t>
            </a:r>
          </a:p>
        </p:txBody>
      </p:sp>
      <p:pic>
        <p:nvPicPr>
          <p:cNvPr id="6" name="Picture 5" descr="A screenshot of a cell phone&#10;&#10;Description automatically generated">
            <a:extLst>
              <a:ext uri="{FF2B5EF4-FFF2-40B4-BE49-F238E27FC236}">
                <a16:creationId xmlns:a16="http://schemas.microsoft.com/office/drawing/2014/main" id="{787C42DE-D838-CE4D-A39B-B53A6C7BBB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6528" y="1295400"/>
            <a:ext cx="3827820" cy="2056866"/>
          </a:xfrm>
          <a:prstGeom prst="rect">
            <a:avLst/>
          </a:prstGeom>
        </p:spPr>
      </p:pic>
      <p:pic>
        <p:nvPicPr>
          <p:cNvPr id="8" name="Picture 7" descr="A screenshot of a cell phone&#10;&#10;Description automatically generated">
            <a:extLst>
              <a:ext uri="{FF2B5EF4-FFF2-40B4-BE49-F238E27FC236}">
                <a16:creationId xmlns:a16="http://schemas.microsoft.com/office/drawing/2014/main" id="{01139D0D-D7FD-A443-962B-4A7940DC24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3912" y="2590826"/>
            <a:ext cx="3348088" cy="1676347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B28A96-B1D2-6943-A285-4139A5177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76459-B699-454A-B8F8-A19AA10ED83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352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5BA75CF-0E83-3842-9F42-1F8B94E34F32}"/>
              </a:ext>
            </a:extLst>
          </p:cNvPr>
          <p:cNvSpPr/>
          <p:nvPr/>
        </p:nvSpPr>
        <p:spPr>
          <a:xfrm>
            <a:off x="3833984" y="1835639"/>
            <a:ext cx="4760712" cy="1593361"/>
          </a:xfrm>
          <a:prstGeom prst="roundRect">
            <a:avLst/>
          </a:prstGeom>
          <a:ln w="19050"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FA3CEB-AC05-0A4E-8EF7-B1153DA1E263}"/>
              </a:ext>
            </a:extLst>
          </p:cNvPr>
          <p:cNvSpPr txBox="1"/>
          <p:nvPr/>
        </p:nvSpPr>
        <p:spPr>
          <a:xfrm>
            <a:off x="2846956" y="3359267"/>
            <a:ext cx="11179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/>
              <a:t>Downstream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2FB432-4211-E447-B49B-5DB9B7675566}"/>
              </a:ext>
            </a:extLst>
          </p:cNvPr>
          <p:cNvSpPr txBox="1"/>
          <p:nvPr/>
        </p:nvSpPr>
        <p:spPr>
          <a:xfrm>
            <a:off x="8847049" y="3382454"/>
            <a:ext cx="9031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/>
              <a:t>Upstream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58F678C-CE3C-2E48-95E5-6F04E604212B}"/>
              </a:ext>
            </a:extLst>
          </p:cNvPr>
          <p:cNvSpPr/>
          <p:nvPr/>
        </p:nvSpPr>
        <p:spPr bwMode="auto">
          <a:xfrm>
            <a:off x="4196744" y="2127680"/>
            <a:ext cx="663902" cy="366337"/>
          </a:xfrm>
          <a:prstGeom prst="roundRect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latin typeface="Arial" charset="0"/>
                <a:ea typeface="ＭＳ Ｐゴシック" charset="0"/>
                <a:cs typeface="ＭＳ Ｐゴシック" charset="0"/>
              </a:rPr>
              <a:t>CS</a:t>
            </a: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A6FF84-6411-094F-B618-066AAEB3EC15}"/>
              </a:ext>
            </a:extLst>
          </p:cNvPr>
          <p:cNvSpPr txBox="1"/>
          <p:nvPr/>
        </p:nvSpPr>
        <p:spPr>
          <a:xfrm>
            <a:off x="2833972" y="1927704"/>
            <a:ext cx="8306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Interest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442B0AC-5459-1645-9153-FCC4F4341A8B}"/>
              </a:ext>
            </a:extLst>
          </p:cNvPr>
          <p:cNvCxnSpPr>
            <a:cxnSpLocks/>
            <a:stCxn id="7" idx="3"/>
            <a:endCxn id="18" idx="1"/>
          </p:cNvCxnSpPr>
          <p:nvPr/>
        </p:nvCxnSpPr>
        <p:spPr bwMode="auto">
          <a:xfrm flipV="1">
            <a:off x="4860646" y="2306248"/>
            <a:ext cx="1023441" cy="4601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BF09028-2603-D445-92BC-B3B582A29E20}"/>
              </a:ext>
            </a:extLst>
          </p:cNvPr>
          <p:cNvCxnSpPr>
            <a:cxnSpLocks/>
            <a:stCxn id="18" idx="2"/>
          </p:cNvCxnSpPr>
          <p:nvPr/>
        </p:nvCxnSpPr>
        <p:spPr bwMode="auto">
          <a:xfrm>
            <a:off x="6276067" y="2489416"/>
            <a:ext cx="0" cy="440506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21BF8D5-C265-3E43-A77F-6DD414556DF1}"/>
              </a:ext>
            </a:extLst>
          </p:cNvPr>
          <p:cNvSpPr txBox="1"/>
          <p:nvPr/>
        </p:nvSpPr>
        <p:spPr>
          <a:xfrm>
            <a:off x="7628379" y="2501293"/>
            <a:ext cx="3305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Zapf Dingbats"/>
                <a:ea typeface="Zapf Dingbats"/>
                <a:cs typeface="Zapf Dingbats"/>
                <a:sym typeface="Zapf Dingbats"/>
              </a:rPr>
              <a:t>✗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0B6054-7BD2-6B42-98BD-641A1551E18E}"/>
              </a:ext>
            </a:extLst>
          </p:cNvPr>
          <p:cNvSpPr txBox="1"/>
          <p:nvPr/>
        </p:nvSpPr>
        <p:spPr>
          <a:xfrm>
            <a:off x="8608229" y="1932515"/>
            <a:ext cx="8402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F</a:t>
            </a:r>
            <a:r>
              <a:rPr lang="en-US" dirty="0"/>
              <a:t>orward</a:t>
            </a:r>
          </a:p>
        </p:txBody>
      </p:sp>
      <p:cxnSp>
        <p:nvCxnSpPr>
          <p:cNvPr id="13" name="Elbow Connector 12">
            <a:extLst>
              <a:ext uri="{FF2B5EF4-FFF2-40B4-BE49-F238E27FC236}">
                <a16:creationId xmlns:a16="http://schemas.microsoft.com/office/drawing/2014/main" id="{B0913E5F-0726-794E-B818-78F471B257C6}"/>
              </a:ext>
            </a:extLst>
          </p:cNvPr>
          <p:cNvCxnSpPr>
            <a:cxnSpLocks/>
            <a:stCxn id="7" idx="2"/>
          </p:cNvCxnSpPr>
          <p:nvPr/>
        </p:nvCxnSpPr>
        <p:spPr bwMode="auto">
          <a:xfrm rot="5400000">
            <a:off x="4074991" y="2453883"/>
            <a:ext cx="413570" cy="493839"/>
          </a:xfrm>
          <a:prstGeom prst="bentConnector2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FB355CF2-20CF-7444-A384-E26BF0ED117F}"/>
              </a:ext>
            </a:extLst>
          </p:cNvPr>
          <p:cNvSpPr txBox="1"/>
          <p:nvPr/>
        </p:nvSpPr>
        <p:spPr>
          <a:xfrm>
            <a:off x="4078517" y="2918255"/>
            <a:ext cx="5629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54E2D8-E695-8348-AF55-8FEDF2C0350A}"/>
              </a:ext>
            </a:extLst>
          </p:cNvPr>
          <p:cNvSpPr txBox="1"/>
          <p:nvPr/>
        </p:nvSpPr>
        <p:spPr>
          <a:xfrm>
            <a:off x="4183887" y="2511155"/>
            <a:ext cx="3193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Zapf Dingbats"/>
                <a:ea typeface="Zapf Dingbats"/>
                <a:cs typeface="Zapf Dingbats"/>
                <a:sym typeface="Zapf Dingbats"/>
              </a:rPr>
              <a:t>✓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C39B0E3-124B-D847-937E-1BF80D534E01}"/>
              </a:ext>
            </a:extLst>
          </p:cNvPr>
          <p:cNvSpPr txBox="1"/>
          <p:nvPr/>
        </p:nvSpPr>
        <p:spPr>
          <a:xfrm>
            <a:off x="7241032" y="2860944"/>
            <a:ext cx="10284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NACK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6E86F3D-A087-9142-8E26-B952350E8E80}"/>
              </a:ext>
            </a:extLst>
          </p:cNvPr>
          <p:cNvCxnSpPr>
            <a:cxnSpLocks/>
            <a:stCxn id="7" idx="1"/>
          </p:cNvCxnSpPr>
          <p:nvPr/>
        </p:nvCxnSpPr>
        <p:spPr bwMode="auto">
          <a:xfrm flipH="1">
            <a:off x="3533570" y="2310849"/>
            <a:ext cx="663174" cy="418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arrow" w="med" len="med"/>
            <a:tailEnd type="non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554B519B-0780-AB40-BEF9-D97DABDDC5EA}"/>
              </a:ext>
            </a:extLst>
          </p:cNvPr>
          <p:cNvSpPr/>
          <p:nvPr/>
        </p:nvSpPr>
        <p:spPr bwMode="auto">
          <a:xfrm>
            <a:off x="5884087" y="2123079"/>
            <a:ext cx="783959" cy="366337"/>
          </a:xfrm>
          <a:prstGeom prst="roundRect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solidFill>
                  <a:srgbClr val="FF0000"/>
                </a:solidFill>
                <a:latin typeface="Arial" charset="0"/>
                <a:ea typeface="ＭＳ Ｐゴシック" charset="0"/>
                <a:cs typeface="ＭＳ Ｐゴシック" charset="0"/>
              </a:rPr>
              <a:t>PIT</a:t>
            </a:r>
            <a:endParaRPr lang="en-US" dirty="0">
              <a:solidFill>
                <a:srgbClr val="FF0000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7E311C21-3558-F74F-AAED-FB4549266780}"/>
              </a:ext>
            </a:extLst>
          </p:cNvPr>
          <p:cNvSpPr/>
          <p:nvPr/>
        </p:nvSpPr>
        <p:spPr bwMode="auto">
          <a:xfrm>
            <a:off x="7593240" y="2123079"/>
            <a:ext cx="731358" cy="366337"/>
          </a:xfrm>
          <a:prstGeom prst="roundRect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latin typeface="Arial" charset="0"/>
                <a:ea typeface="ＭＳ Ｐゴシック" charset="0"/>
                <a:cs typeface="ＭＳ Ｐゴシック" charset="0"/>
              </a:rPr>
              <a:t>FIB</a:t>
            </a: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60FBEDA-6C8C-0542-95B5-600250E748EE}"/>
              </a:ext>
            </a:extLst>
          </p:cNvPr>
          <p:cNvSpPr txBox="1"/>
          <p:nvPr/>
        </p:nvSpPr>
        <p:spPr>
          <a:xfrm>
            <a:off x="5801144" y="2870391"/>
            <a:ext cx="9605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Drop</a:t>
            </a:r>
            <a:endParaRPr lang="en-US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5A58FB5-1BF1-7C43-9479-0D75E69233D4}"/>
              </a:ext>
            </a:extLst>
          </p:cNvPr>
          <p:cNvCxnSpPr>
            <a:cxnSpLocks/>
            <a:stCxn id="18" idx="3"/>
            <a:endCxn id="19" idx="1"/>
          </p:cNvCxnSpPr>
          <p:nvPr/>
        </p:nvCxnSpPr>
        <p:spPr bwMode="auto">
          <a:xfrm>
            <a:off x="6668046" y="2306248"/>
            <a:ext cx="925194" cy="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22" name="Elbow Connector 21">
            <a:extLst>
              <a:ext uri="{FF2B5EF4-FFF2-40B4-BE49-F238E27FC236}">
                <a16:creationId xmlns:a16="http://schemas.microsoft.com/office/drawing/2014/main" id="{F68970DD-8403-064B-BBB7-BD0BD86AE7B3}"/>
              </a:ext>
            </a:extLst>
          </p:cNvPr>
          <p:cNvCxnSpPr>
            <a:cxnSpLocks/>
            <a:stCxn id="19" idx="2"/>
          </p:cNvCxnSpPr>
          <p:nvPr/>
        </p:nvCxnSpPr>
        <p:spPr bwMode="auto">
          <a:xfrm rot="5400000">
            <a:off x="7456330" y="2396933"/>
            <a:ext cx="410106" cy="595073"/>
          </a:xfrm>
          <a:prstGeom prst="bentConnector2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9B142F12-5DC5-034A-8284-8D494320B49E}"/>
              </a:ext>
            </a:extLst>
          </p:cNvPr>
          <p:cNvSpPr txBox="1"/>
          <p:nvPr/>
        </p:nvSpPr>
        <p:spPr>
          <a:xfrm>
            <a:off x="4834292" y="1985882"/>
            <a:ext cx="3305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Zapf Dingbats"/>
                <a:ea typeface="Zapf Dingbats"/>
                <a:cs typeface="Zapf Dingbats"/>
                <a:sym typeface="Zapf Dingbats"/>
              </a:rPr>
              <a:t>✗</a:t>
            </a:r>
            <a:endParaRPr lang="en-US" dirty="0"/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758DAEFC-8032-364C-9951-0C13F7DC04E8}"/>
              </a:ext>
            </a:extLst>
          </p:cNvPr>
          <p:cNvSpPr/>
          <p:nvPr/>
        </p:nvSpPr>
        <p:spPr>
          <a:xfrm>
            <a:off x="3833983" y="3646702"/>
            <a:ext cx="4897062" cy="1619329"/>
          </a:xfrm>
          <a:prstGeom prst="roundRect">
            <a:avLst/>
          </a:prstGeom>
          <a:noFill/>
          <a:ln w="19050"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D364681-99CF-4B40-8214-DD16EBE10BFB}"/>
              </a:ext>
            </a:extLst>
          </p:cNvPr>
          <p:cNvCxnSpPr>
            <a:cxnSpLocks/>
            <a:endCxn id="33" idx="1"/>
          </p:cNvCxnSpPr>
          <p:nvPr/>
        </p:nvCxnSpPr>
        <p:spPr bwMode="auto">
          <a:xfrm>
            <a:off x="3505620" y="4071591"/>
            <a:ext cx="3912169" cy="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arrow" w="med" len="med"/>
            <a:tailEnd type="non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2B6E427-3D65-3543-92B0-7A584DFE939C}"/>
              </a:ext>
            </a:extLst>
          </p:cNvPr>
          <p:cNvCxnSpPr>
            <a:cxnSpLocks/>
            <a:stCxn id="33" idx="3"/>
          </p:cNvCxnSpPr>
          <p:nvPr/>
        </p:nvCxnSpPr>
        <p:spPr bwMode="auto">
          <a:xfrm>
            <a:off x="8036112" y="4071591"/>
            <a:ext cx="987027" cy="9047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arrow" w="med" len="med"/>
            <a:tailEnd type="non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4F8AF995-AC88-D544-B2A5-37BE80A88FE7}"/>
              </a:ext>
            </a:extLst>
          </p:cNvPr>
          <p:cNvSpPr txBox="1"/>
          <p:nvPr/>
        </p:nvSpPr>
        <p:spPr>
          <a:xfrm>
            <a:off x="8736842" y="3713034"/>
            <a:ext cx="5725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Data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B42E6F7-85EB-BD4C-B2AD-261D2B238518}"/>
              </a:ext>
            </a:extLst>
          </p:cNvPr>
          <p:cNvSpPr txBox="1"/>
          <p:nvPr/>
        </p:nvSpPr>
        <p:spPr>
          <a:xfrm>
            <a:off x="7454817" y="4801924"/>
            <a:ext cx="5725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Drop</a:t>
            </a:r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AAAD53D-6B56-8D4C-BE42-1C5A28C0C8B1}"/>
              </a:ext>
            </a:extLst>
          </p:cNvPr>
          <p:cNvSpPr txBox="1"/>
          <p:nvPr/>
        </p:nvSpPr>
        <p:spPr>
          <a:xfrm>
            <a:off x="7058191" y="3765381"/>
            <a:ext cx="3193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Zapf Dingbats"/>
                <a:ea typeface="Zapf Dingbats"/>
                <a:cs typeface="Zapf Dingbats"/>
                <a:sym typeface="Zapf Dingbats"/>
              </a:rPr>
              <a:t>✓</a:t>
            </a:r>
            <a:endParaRPr lang="en-US" dirty="0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DF00FFF-6ABA-2C4C-A4AB-DCA9C34393AA}"/>
              </a:ext>
            </a:extLst>
          </p:cNvPr>
          <p:cNvCxnSpPr>
            <a:cxnSpLocks/>
            <a:endCxn id="34" idx="0"/>
          </p:cNvCxnSpPr>
          <p:nvPr/>
        </p:nvCxnSpPr>
        <p:spPr bwMode="auto">
          <a:xfrm>
            <a:off x="6680906" y="4073331"/>
            <a:ext cx="1" cy="612103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1D6F1583-9CA2-3E4E-BD9F-6F3E7159FB91}"/>
              </a:ext>
            </a:extLst>
          </p:cNvPr>
          <p:cNvSpPr txBox="1"/>
          <p:nvPr/>
        </p:nvSpPr>
        <p:spPr>
          <a:xfrm>
            <a:off x="7704737" y="4276445"/>
            <a:ext cx="3305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Zapf Dingbats"/>
                <a:ea typeface="Zapf Dingbats"/>
                <a:cs typeface="Zapf Dingbats"/>
                <a:sym typeface="Zapf Dingbats"/>
              </a:rPr>
              <a:t>✗</a:t>
            </a:r>
            <a:endParaRPr lang="en-US" dirty="0"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BEF11EAE-B243-7841-AF53-E1EF6EEC77B3}"/>
              </a:ext>
            </a:extLst>
          </p:cNvPr>
          <p:cNvSpPr/>
          <p:nvPr/>
        </p:nvSpPr>
        <p:spPr bwMode="auto">
          <a:xfrm>
            <a:off x="7417789" y="3866923"/>
            <a:ext cx="618323" cy="409336"/>
          </a:xfrm>
          <a:prstGeom prst="roundRect">
            <a:avLst/>
          </a:prstGeom>
          <a:solidFill>
            <a:schemeClr val="l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solidFill>
                  <a:srgbClr val="FF0000"/>
                </a:solidFill>
                <a:latin typeface="Arial" charset="0"/>
                <a:ea typeface="ＭＳ Ｐゴシック" charset="0"/>
                <a:cs typeface="ＭＳ Ｐゴシック" charset="0"/>
              </a:rPr>
              <a:t>PIT</a:t>
            </a:r>
            <a:endParaRPr lang="en-US" dirty="0">
              <a:solidFill>
                <a:srgbClr val="FF0000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ECC5812D-8829-EE4F-A19D-120DB255F276}"/>
              </a:ext>
            </a:extLst>
          </p:cNvPr>
          <p:cNvSpPr/>
          <p:nvPr/>
        </p:nvSpPr>
        <p:spPr bwMode="auto">
          <a:xfrm>
            <a:off x="6428323" y="4685434"/>
            <a:ext cx="505167" cy="409336"/>
          </a:xfrm>
          <a:prstGeom prst="roundRect">
            <a:avLst/>
          </a:prstGeom>
          <a:solidFill>
            <a:schemeClr val="l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latin typeface="Arial" charset="0"/>
                <a:ea typeface="ＭＳ Ｐゴシック" charset="0"/>
                <a:cs typeface="ＭＳ Ｐゴシック" charset="0"/>
              </a:rPr>
              <a:t>CS</a:t>
            </a: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62511592-E9F0-F74E-9EDC-6D8E39769CE2}"/>
              </a:ext>
            </a:extLst>
          </p:cNvPr>
          <p:cNvCxnSpPr>
            <a:cxnSpLocks/>
            <a:stCxn id="33" idx="2"/>
          </p:cNvCxnSpPr>
          <p:nvPr/>
        </p:nvCxnSpPr>
        <p:spPr bwMode="auto">
          <a:xfrm>
            <a:off x="7726951" y="4276259"/>
            <a:ext cx="28327" cy="54708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25D69C13-0823-8D41-B9C2-B97BFC801A63}"/>
              </a:ext>
            </a:extLst>
          </p:cNvPr>
          <p:cNvSpPr txBox="1"/>
          <p:nvPr/>
        </p:nvSpPr>
        <p:spPr>
          <a:xfrm>
            <a:off x="3738993" y="3727023"/>
            <a:ext cx="13425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Forward</a:t>
            </a:r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031C3C1-4923-9A44-999B-46EF8663CECC}"/>
              </a:ext>
            </a:extLst>
          </p:cNvPr>
          <p:cNvSpPr txBox="1"/>
          <p:nvPr/>
        </p:nvSpPr>
        <p:spPr>
          <a:xfrm>
            <a:off x="6649682" y="4204173"/>
            <a:ext cx="7024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Cache</a:t>
            </a:r>
            <a:endParaRPr lang="en-US" dirty="0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A1307CD9-92AF-9E42-99A8-CB3588908BFD}"/>
              </a:ext>
            </a:extLst>
          </p:cNvPr>
          <p:cNvGrpSpPr/>
          <p:nvPr/>
        </p:nvGrpSpPr>
        <p:grpSpPr>
          <a:xfrm>
            <a:off x="5035770" y="5647394"/>
            <a:ext cx="2768821" cy="389858"/>
            <a:chOff x="3518859" y="3384316"/>
            <a:chExt cx="2768821" cy="389858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B15D721D-17D9-7F47-9F5C-33DED5FB2C9D}"/>
                </a:ext>
              </a:extLst>
            </p:cNvPr>
            <p:cNvSpPr txBox="1"/>
            <p:nvPr/>
          </p:nvSpPr>
          <p:spPr>
            <a:xfrm>
              <a:off x="3518859" y="3384316"/>
              <a:ext cx="35298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Zapf Dingbats"/>
                  <a:ea typeface="Zapf Dingbats"/>
                  <a:cs typeface="Zapf Dingbats"/>
                  <a:sym typeface="Zapf Dingbats"/>
                </a:rPr>
                <a:t>✗</a:t>
              </a:r>
              <a:endParaRPr lang="en-US" sz="1600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652EC526-1F85-7447-8A3E-4ABA87568DF8}"/>
                </a:ext>
              </a:extLst>
            </p:cNvPr>
            <p:cNvSpPr txBox="1"/>
            <p:nvPr/>
          </p:nvSpPr>
          <p:spPr>
            <a:xfrm>
              <a:off x="3728461" y="3419153"/>
              <a:ext cx="117109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lookup miss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E5276519-045C-894B-9058-C1FFCB75746D}"/>
                </a:ext>
              </a:extLst>
            </p:cNvPr>
            <p:cNvSpPr txBox="1"/>
            <p:nvPr/>
          </p:nvSpPr>
          <p:spPr>
            <a:xfrm>
              <a:off x="5030803" y="3402377"/>
              <a:ext cx="33855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Zapf Dingbats"/>
                  <a:ea typeface="Zapf Dingbats"/>
                  <a:cs typeface="Zapf Dingbats"/>
                  <a:sym typeface="Zapf Dingbats"/>
                </a:rPr>
                <a:t>✓</a:t>
              </a:r>
              <a:endParaRPr lang="en-US" sz="1600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A9B10961-61FE-BE45-8D2E-E71EC231D0C1}"/>
                </a:ext>
              </a:extLst>
            </p:cNvPr>
            <p:cNvSpPr txBox="1"/>
            <p:nvPr/>
          </p:nvSpPr>
          <p:spPr>
            <a:xfrm>
              <a:off x="5264066" y="3435620"/>
              <a:ext cx="102361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lookup hit</a:t>
              </a:r>
            </a:p>
          </p:txBody>
        </p:sp>
      </p:grp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9B041962-F680-A946-A9D8-048BA9ED0651}"/>
              </a:ext>
            </a:extLst>
          </p:cNvPr>
          <p:cNvCxnSpPr>
            <a:cxnSpLocks/>
            <a:stCxn id="19" idx="3"/>
          </p:cNvCxnSpPr>
          <p:nvPr/>
        </p:nvCxnSpPr>
        <p:spPr bwMode="auto">
          <a:xfrm>
            <a:off x="8324598" y="2306248"/>
            <a:ext cx="770241" cy="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82" name="Title 1">
            <a:extLst>
              <a:ext uri="{FF2B5EF4-FFF2-40B4-BE49-F238E27FC236}">
                <a16:creationId xmlns:a16="http://schemas.microsoft.com/office/drawing/2014/main" id="{0B0C0D5C-B06C-AD4F-A307-C547D8FA4ED1}"/>
              </a:ext>
            </a:extLst>
          </p:cNvPr>
          <p:cNvSpPr txBox="1">
            <a:spLocks/>
          </p:cNvSpPr>
          <p:nvPr/>
        </p:nvSpPr>
        <p:spPr>
          <a:xfrm>
            <a:off x="1041747" y="-3548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/>
              <a:t>NDN Adaptive Forwarding</a:t>
            </a:r>
          </a:p>
        </p:txBody>
      </p:sp>
      <p:sp>
        <p:nvSpPr>
          <p:cNvPr id="83" name="Slide Number Placeholder 82">
            <a:extLst>
              <a:ext uri="{FF2B5EF4-FFF2-40B4-BE49-F238E27FC236}">
                <a16:creationId xmlns:a16="http://schemas.microsoft.com/office/drawing/2014/main" id="{AEBB4111-5465-4345-BBE1-7C913B885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76459-B699-454A-B8F8-A19AA10ED83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6199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DFA1C-C7AC-CD4A-973B-DBB9E901B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508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The Prefix Granularity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7FA645-2124-3C4C-AFFF-D3986E9C85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NDN adaptive forwarding assumes </a:t>
            </a:r>
            <a:r>
              <a:rPr lang="en-US" i="1" dirty="0"/>
              <a:t>Interest Routing Locality  </a:t>
            </a:r>
            <a:endParaRPr lang="en-US" dirty="0"/>
          </a:p>
          <a:p>
            <a:r>
              <a:rPr lang="en-US" dirty="0"/>
              <a:t>Interests sharing a longer name prefix is more likely to take the same forwarding path</a:t>
            </a:r>
          </a:p>
          <a:p>
            <a:pPr lvl="1"/>
            <a:r>
              <a:rPr lang="en-US" dirty="0"/>
              <a:t>/a/b/seg=1 and /a/b/seg=2 are two segments of the same file </a:t>
            </a:r>
          </a:p>
          <a:p>
            <a:pPr lvl="1"/>
            <a:r>
              <a:rPr lang="en-US" dirty="0"/>
              <a:t>/a/b/seg=1 and /a/c/seg=1 are segments of two different files</a:t>
            </a:r>
          </a:p>
          <a:p>
            <a:r>
              <a:rPr lang="en-US" dirty="0"/>
              <a:t>Problem: which name prefix length should be used to record path performance measurements?</a:t>
            </a:r>
          </a:p>
          <a:p>
            <a:pPr lvl="1"/>
            <a:r>
              <a:rPr lang="en-US" dirty="0"/>
              <a:t>The longer the name prefix, the better Interest Routing locality</a:t>
            </a:r>
          </a:p>
          <a:p>
            <a:pPr lvl="1"/>
            <a:r>
              <a:rPr lang="en-US" dirty="0"/>
              <a:t>However, the fewer Interests will be covered, the bigger FIB </a:t>
            </a:r>
          </a:p>
          <a:p>
            <a:r>
              <a:rPr lang="en-US" dirty="0"/>
              <a:t>We define it as the </a:t>
            </a:r>
            <a:r>
              <a:rPr lang="en-US" b="1" i="1" dirty="0"/>
              <a:t>Prefix Granularity Problem</a:t>
            </a:r>
            <a:r>
              <a:rPr lang="en-US" dirty="0"/>
              <a:t> </a:t>
            </a:r>
          </a:p>
          <a:p>
            <a:pPr lvl="1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498C78-AD43-F945-9280-C253F47BB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76459-B699-454A-B8F8-A19AA10ED83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024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0B73AB4B-2B21-4842-96FD-34DBFAC310A3}"/>
              </a:ext>
            </a:extLst>
          </p:cNvPr>
          <p:cNvGrpSpPr/>
          <p:nvPr/>
        </p:nvGrpSpPr>
        <p:grpSpPr>
          <a:xfrm>
            <a:off x="4398680" y="2912806"/>
            <a:ext cx="5082048" cy="3161071"/>
            <a:chOff x="6443816" y="3696929"/>
            <a:chExt cx="5082048" cy="3161071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1ED07DC5-363D-1246-8276-3FCC7C4E906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43816" y="3703625"/>
              <a:ext cx="5082048" cy="3154375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84F9AC2-FAD9-524E-BFA5-0F0EA1BE031C}"/>
                </a:ext>
              </a:extLst>
            </p:cNvPr>
            <p:cNvSpPr/>
            <p:nvPr/>
          </p:nvSpPr>
          <p:spPr>
            <a:xfrm>
              <a:off x="6446872" y="3696929"/>
              <a:ext cx="4906928" cy="134232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63DFA1C-C7AC-CD4A-973B-DBB9E901B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016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Existing Solutions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7FA645-2124-3C4C-AFFF-D3986E9C85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Existing designs use a </a:t>
            </a:r>
            <a:r>
              <a:rPr lang="en-US" b="1" dirty="0"/>
              <a:t>static</a:t>
            </a:r>
            <a:r>
              <a:rPr lang="en-US" dirty="0"/>
              <a:t> name prefix</a:t>
            </a:r>
            <a:r>
              <a:rPr lang="zh-CN" altLang="en-US" dirty="0"/>
              <a:t> </a:t>
            </a:r>
            <a:r>
              <a:rPr lang="en-US" dirty="0"/>
              <a:t>to record measurements</a:t>
            </a:r>
          </a:p>
          <a:p>
            <a:pPr lvl="1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70CC58-5C58-2448-B0FB-9AEDBC7B133E}"/>
              </a:ext>
            </a:extLst>
          </p:cNvPr>
          <p:cNvSpPr txBox="1"/>
          <p:nvPr/>
        </p:nvSpPr>
        <p:spPr>
          <a:xfrm>
            <a:off x="4241364" y="3087735"/>
            <a:ext cx="4411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Interest: </a:t>
            </a:r>
            <a:r>
              <a:rPr lang="en-US" dirty="0">
                <a:highlight>
                  <a:srgbClr val="FFFF00"/>
                </a:highlight>
              </a:rPr>
              <a:t>/</a:t>
            </a:r>
            <a:r>
              <a:rPr lang="en-US" dirty="0" err="1">
                <a:highlight>
                  <a:srgbClr val="FFFF00"/>
                </a:highlight>
              </a:rPr>
              <a:t>edu</a:t>
            </a:r>
            <a:r>
              <a:rPr lang="en-US" dirty="0">
                <a:highlight>
                  <a:srgbClr val="FFFF00"/>
                </a:highlight>
              </a:rPr>
              <a:t>/</a:t>
            </a:r>
            <a:r>
              <a:rPr lang="en-US" dirty="0" err="1">
                <a:highlight>
                  <a:srgbClr val="FFFF00"/>
                </a:highlight>
              </a:rPr>
              <a:t>ua</a:t>
            </a:r>
            <a:r>
              <a:rPr lang="en-US" dirty="0"/>
              <a:t>/cs/people/</a:t>
            </a:r>
            <a:r>
              <a:rPr lang="en-US" dirty="0" err="1"/>
              <a:t>teng</a:t>
            </a:r>
            <a:r>
              <a:rPr lang="en-US" dirty="0"/>
              <a:t>/</a:t>
            </a:r>
            <a:r>
              <a:rPr lang="en-US" dirty="0" err="1"/>
              <a:t>index.html</a:t>
            </a:r>
            <a:endParaRPr lang="en-US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E05C465-56A2-8142-B41E-EC5C5CA60E69}"/>
              </a:ext>
            </a:extLst>
          </p:cNvPr>
          <p:cNvCxnSpPr>
            <a:cxnSpLocks/>
          </p:cNvCxnSpPr>
          <p:nvPr/>
        </p:nvCxnSpPr>
        <p:spPr>
          <a:xfrm flipH="1">
            <a:off x="4945626" y="3457067"/>
            <a:ext cx="614518" cy="151805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0" name="Right Brace 9">
            <a:extLst>
              <a:ext uri="{FF2B5EF4-FFF2-40B4-BE49-F238E27FC236}">
                <a16:creationId xmlns:a16="http://schemas.microsoft.com/office/drawing/2014/main" id="{D688D434-17D3-6E46-B01D-4AF55AC2EC82}"/>
              </a:ext>
            </a:extLst>
          </p:cNvPr>
          <p:cNvSpPr/>
          <p:nvPr/>
        </p:nvSpPr>
        <p:spPr>
          <a:xfrm rot="5400000">
            <a:off x="5523271" y="3076067"/>
            <a:ext cx="73742" cy="688258"/>
          </a:xfrm>
          <a:prstGeom prst="righ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4C347A2-8205-2845-84C9-010E3F5B1A1D}"/>
              </a:ext>
            </a:extLst>
          </p:cNvPr>
          <p:cNvSpPr/>
          <p:nvPr/>
        </p:nvSpPr>
        <p:spPr>
          <a:xfrm>
            <a:off x="7561007" y="5703811"/>
            <a:ext cx="501445" cy="454589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0D879C76-974C-CD49-99C2-F25F0576A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76459-B699-454A-B8F8-A19AA10ED83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037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 animBg="1"/>
      <p:bldP spid="1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67C9F7-7065-5640-BFA6-3AC1A364178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6</a:t>
            </a:fld>
            <a:endParaRPr lang="en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77F55F0-432F-CA40-8D25-8413893E2583}"/>
              </a:ext>
            </a:extLst>
          </p:cNvPr>
          <p:cNvSpPr/>
          <p:nvPr/>
        </p:nvSpPr>
        <p:spPr>
          <a:xfrm>
            <a:off x="2264311" y="2166777"/>
            <a:ext cx="651195" cy="626149"/>
          </a:xfrm>
          <a:prstGeom prst="ellips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2400" b="1" dirty="0"/>
              <a:t>C1</a:t>
            </a:r>
            <a:endParaRPr lang="en-US" sz="2400" b="1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E01C1BE5-8CB4-5845-B72C-27508BD37076}"/>
              </a:ext>
            </a:extLst>
          </p:cNvPr>
          <p:cNvSpPr/>
          <p:nvPr/>
        </p:nvSpPr>
        <p:spPr>
          <a:xfrm>
            <a:off x="2264310" y="4065075"/>
            <a:ext cx="651195" cy="626149"/>
          </a:xfrm>
          <a:prstGeom prst="ellips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2400" b="1" dirty="0"/>
              <a:t>C2</a:t>
            </a:r>
            <a:endParaRPr lang="en-US" sz="2400" b="1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5E9E16DB-C01A-194F-9798-8DCC9F7F5334}"/>
              </a:ext>
            </a:extLst>
          </p:cNvPr>
          <p:cNvSpPr/>
          <p:nvPr/>
        </p:nvSpPr>
        <p:spPr>
          <a:xfrm>
            <a:off x="4265289" y="3115926"/>
            <a:ext cx="651195" cy="626149"/>
          </a:xfrm>
          <a:prstGeom prst="ellips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2300" b="1" dirty="0"/>
              <a:t>R1</a:t>
            </a:r>
            <a:endParaRPr lang="en-US" sz="2300" b="1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2D9576CF-2E42-194C-9F0A-1130F149AB67}"/>
              </a:ext>
            </a:extLst>
          </p:cNvPr>
          <p:cNvSpPr/>
          <p:nvPr/>
        </p:nvSpPr>
        <p:spPr>
          <a:xfrm>
            <a:off x="6685401" y="3115925"/>
            <a:ext cx="651195" cy="626149"/>
          </a:xfrm>
          <a:prstGeom prst="ellips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2300" b="1" dirty="0"/>
              <a:t>R2</a:t>
            </a:r>
            <a:endParaRPr lang="en-US" sz="2300" b="1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D01B57C3-B6B4-D941-AAB0-0E38958742B6}"/>
              </a:ext>
            </a:extLst>
          </p:cNvPr>
          <p:cNvSpPr/>
          <p:nvPr/>
        </p:nvSpPr>
        <p:spPr>
          <a:xfrm>
            <a:off x="8835795" y="2166777"/>
            <a:ext cx="651195" cy="626149"/>
          </a:xfrm>
          <a:prstGeom prst="ellips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2400" b="1" dirty="0"/>
              <a:t>P1</a:t>
            </a:r>
            <a:endParaRPr lang="en-US" sz="2400" b="1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DE21C899-B77C-0D4B-856C-72D00C2061BC}"/>
              </a:ext>
            </a:extLst>
          </p:cNvPr>
          <p:cNvSpPr/>
          <p:nvPr/>
        </p:nvSpPr>
        <p:spPr>
          <a:xfrm>
            <a:off x="8835795" y="4065074"/>
            <a:ext cx="651195" cy="626149"/>
          </a:xfrm>
          <a:prstGeom prst="ellips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2400" b="1" dirty="0"/>
              <a:t>P2</a:t>
            </a:r>
            <a:endParaRPr lang="en-US" sz="2400" b="1" dirty="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7A8CE76D-91C5-B14E-9885-5E41F0EE6662}"/>
              </a:ext>
            </a:extLst>
          </p:cNvPr>
          <p:cNvSpPr/>
          <p:nvPr/>
        </p:nvSpPr>
        <p:spPr>
          <a:xfrm>
            <a:off x="8835795" y="5650296"/>
            <a:ext cx="651195" cy="626149"/>
          </a:xfrm>
          <a:prstGeom prst="ellips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2400" b="1" dirty="0"/>
              <a:t>P3</a:t>
            </a:r>
            <a:endParaRPr lang="en-US" sz="2400" b="1" dirty="0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4CD13DBE-3217-624F-BF84-26AB8184A4D1}"/>
              </a:ext>
            </a:extLst>
          </p:cNvPr>
          <p:cNvCxnSpPr>
            <a:cxnSpLocks/>
            <a:stCxn id="5" idx="6"/>
            <a:endCxn id="37" idx="1"/>
          </p:cNvCxnSpPr>
          <p:nvPr/>
        </p:nvCxnSpPr>
        <p:spPr>
          <a:xfrm>
            <a:off x="2915506" y="2479852"/>
            <a:ext cx="1445148" cy="72777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C0072B32-91CE-2943-B4C7-CA3E31261728}"/>
              </a:ext>
            </a:extLst>
          </p:cNvPr>
          <p:cNvCxnSpPr>
            <a:cxnSpLocks/>
            <a:stCxn id="36" idx="6"/>
            <a:endCxn id="37" idx="3"/>
          </p:cNvCxnSpPr>
          <p:nvPr/>
        </p:nvCxnSpPr>
        <p:spPr>
          <a:xfrm flipV="1">
            <a:off x="2915505" y="3650378"/>
            <a:ext cx="1445149" cy="72777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1B91C014-19D9-8544-8522-C28EF1B015BF}"/>
              </a:ext>
            </a:extLst>
          </p:cNvPr>
          <p:cNvCxnSpPr>
            <a:cxnSpLocks/>
            <a:stCxn id="38" idx="2"/>
            <a:endCxn id="37" idx="6"/>
          </p:cNvCxnSpPr>
          <p:nvPr/>
        </p:nvCxnSpPr>
        <p:spPr>
          <a:xfrm flipH="1">
            <a:off x="4916484" y="3429000"/>
            <a:ext cx="1768917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C4AB076E-F15C-7F42-97B7-27BB1C2BB629}"/>
              </a:ext>
            </a:extLst>
          </p:cNvPr>
          <p:cNvCxnSpPr>
            <a:cxnSpLocks/>
            <a:stCxn id="40" idx="2"/>
            <a:endCxn id="38" idx="7"/>
          </p:cNvCxnSpPr>
          <p:nvPr/>
        </p:nvCxnSpPr>
        <p:spPr>
          <a:xfrm flipH="1">
            <a:off x="7241231" y="2479852"/>
            <a:ext cx="1594564" cy="72777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408682EC-C5BA-274D-A99C-BCE4BBC08388}"/>
              </a:ext>
            </a:extLst>
          </p:cNvPr>
          <p:cNvCxnSpPr>
            <a:cxnSpLocks/>
            <a:stCxn id="41" idx="2"/>
            <a:endCxn id="38" idx="5"/>
          </p:cNvCxnSpPr>
          <p:nvPr/>
        </p:nvCxnSpPr>
        <p:spPr>
          <a:xfrm flipH="1" flipV="1">
            <a:off x="7241231" y="3650377"/>
            <a:ext cx="1594564" cy="72777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Elbow Connector 58">
            <a:extLst>
              <a:ext uri="{FF2B5EF4-FFF2-40B4-BE49-F238E27FC236}">
                <a16:creationId xmlns:a16="http://schemas.microsoft.com/office/drawing/2014/main" id="{77E89FF0-4782-2F44-A0DB-A33928BD79CD}"/>
              </a:ext>
            </a:extLst>
          </p:cNvPr>
          <p:cNvCxnSpPr>
            <a:cxnSpLocks/>
            <a:stCxn id="37" idx="4"/>
            <a:endCxn id="42" idx="2"/>
          </p:cNvCxnSpPr>
          <p:nvPr/>
        </p:nvCxnSpPr>
        <p:spPr>
          <a:xfrm rot="16200000" flipH="1">
            <a:off x="5602693" y="2730269"/>
            <a:ext cx="2221296" cy="4244908"/>
          </a:xfrm>
          <a:prstGeom prst="bentConnector2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D09C313B-DC71-684C-ABA6-DCBB407F0D43}"/>
              </a:ext>
            </a:extLst>
          </p:cNvPr>
          <p:cNvSpPr txBox="1"/>
          <p:nvPr/>
        </p:nvSpPr>
        <p:spPr>
          <a:xfrm>
            <a:off x="3917510" y="1925460"/>
            <a:ext cx="24633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52396" indent="0" algn="ctr">
              <a:buNone/>
            </a:pPr>
            <a:r>
              <a:rPr lang="en-US" altLang="zh-CN" sz="2000" dirty="0">
                <a:latin typeface="Monaco" pitchFamily="2" charset="77"/>
                <a:cs typeface="DecoType Naskh" pitchFamily="2" charset="-78"/>
              </a:rPr>
              <a:t>FIB</a:t>
            </a:r>
          </a:p>
          <a:p>
            <a:pPr marL="152396" indent="0" algn="ctr">
              <a:buNone/>
            </a:pPr>
            <a:r>
              <a:rPr lang="en-US" altLang="zh-CN" sz="2000" dirty="0">
                <a:latin typeface="Monaco" pitchFamily="2" charset="77"/>
                <a:cs typeface="DecoType Naskh" pitchFamily="2" charset="-78"/>
              </a:rPr>
              <a:t>/a,</a:t>
            </a:r>
            <a:r>
              <a:rPr lang="zh-CN" altLang="en-US" sz="2000" dirty="0">
                <a:latin typeface="Monaco" pitchFamily="2" charset="77"/>
                <a:cs typeface="DecoType Naskh" pitchFamily="2" charset="-78"/>
              </a:rPr>
              <a:t> </a:t>
            </a:r>
            <a:r>
              <a:rPr lang="en-US" altLang="zh-CN" sz="2000" dirty="0">
                <a:latin typeface="Monaco" pitchFamily="2" charset="77"/>
                <a:cs typeface="DecoType Naskh" pitchFamily="2" charset="-78"/>
              </a:rPr>
              <a:t>(R2,P3)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C137D11-2200-2749-830B-E49EF4907472}"/>
              </a:ext>
            </a:extLst>
          </p:cNvPr>
          <p:cNvSpPr txBox="1"/>
          <p:nvPr/>
        </p:nvSpPr>
        <p:spPr>
          <a:xfrm>
            <a:off x="8133878" y="2866349"/>
            <a:ext cx="1778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52396" indent="0" algn="ctr">
              <a:buNone/>
            </a:pPr>
            <a:r>
              <a:rPr lang="en-US" altLang="zh-CN" dirty="0">
                <a:latin typeface="Monaco" pitchFamily="2" charset="77"/>
                <a:cs typeface="DecoType Naskh" pitchFamily="2" charset="-78"/>
              </a:rPr>
              <a:t>/a/b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C14AF62-A6FE-8440-B0E2-F43EB69654AC}"/>
              </a:ext>
            </a:extLst>
          </p:cNvPr>
          <p:cNvSpPr txBox="1"/>
          <p:nvPr/>
        </p:nvSpPr>
        <p:spPr>
          <a:xfrm>
            <a:off x="8176820" y="4727935"/>
            <a:ext cx="1778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52396" indent="0" algn="ctr">
              <a:buNone/>
            </a:pPr>
            <a:r>
              <a:rPr lang="en-US" altLang="zh-CN" dirty="0">
                <a:latin typeface="Monaco" pitchFamily="2" charset="77"/>
                <a:cs typeface="DecoType Naskh" pitchFamily="2" charset="-78"/>
              </a:rPr>
              <a:t>/a/c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DEDEDF7-6D62-5645-9B8E-75E959E7CD13}"/>
              </a:ext>
            </a:extLst>
          </p:cNvPr>
          <p:cNvSpPr txBox="1"/>
          <p:nvPr/>
        </p:nvSpPr>
        <p:spPr>
          <a:xfrm>
            <a:off x="8272184" y="6331734"/>
            <a:ext cx="1778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52396" indent="0" algn="ctr">
              <a:buNone/>
            </a:pPr>
            <a:r>
              <a:rPr lang="en-US" altLang="zh-CN" dirty="0">
                <a:latin typeface="Monaco" pitchFamily="2" charset="77"/>
                <a:cs typeface="DecoType Naskh" pitchFamily="2" charset="-78"/>
              </a:rPr>
              <a:t>/a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FE219DE-1B7C-6C44-BAE4-39A600D18128}"/>
              </a:ext>
            </a:extLst>
          </p:cNvPr>
          <p:cNvSpPr txBox="1"/>
          <p:nvPr/>
        </p:nvSpPr>
        <p:spPr>
          <a:xfrm>
            <a:off x="5212288" y="6076389"/>
            <a:ext cx="11079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Monaco" pitchFamily="2" charset="77"/>
              </a:rPr>
              <a:t>100</a:t>
            </a:r>
            <a:r>
              <a:rPr lang="zh-CN" altLang="en-US" sz="2000" dirty="0">
                <a:latin typeface="Monaco" pitchFamily="2" charset="77"/>
              </a:rPr>
              <a:t> </a:t>
            </a:r>
            <a:r>
              <a:rPr lang="en-US" altLang="zh-CN" sz="2000" dirty="0" err="1">
                <a:latin typeface="Monaco" pitchFamily="2" charset="77"/>
              </a:rPr>
              <a:t>ms</a:t>
            </a:r>
            <a:endParaRPr lang="en-US" sz="2000" dirty="0">
              <a:latin typeface="Monaco" pitchFamily="2" charset="77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AF8406B-8E5F-F642-931C-C0501EC3D55E}"/>
              </a:ext>
            </a:extLst>
          </p:cNvPr>
          <p:cNvSpPr txBox="1"/>
          <p:nvPr/>
        </p:nvSpPr>
        <p:spPr>
          <a:xfrm>
            <a:off x="5246944" y="3468916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Monaco" pitchFamily="2" charset="77"/>
              </a:rPr>
              <a:t>10</a:t>
            </a:r>
            <a:r>
              <a:rPr lang="zh-CN" altLang="en-US" sz="2000" dirty="0">
                <a:latin typeface="Monaco" pitchFamily="2" charset="77"/>
              </a:rPr>
              <a:t> </a:t>
            </a:r>
            <a:r>
              <a:rPr lang="en-US" altLang="zh-CN" sz="2000" dirty="0" err="1">
                <a:latin typeface="Monaco" pitchFamily="2" charset="77"/>
              </a:rPr>
              <a:t>ms</a:t>
            </a:r>
            <a:endParaRPr lang="en-US" sz="2000" dirty="0">
              <a:latin typeface="Monaco" pitchFamily="2" charset="77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A85E7B1-B09E-BD49-A760-569F1A3997A2}"/>
              </a:ext>
            </a:extLst>
          </p:cNvPr>
          <p:cNvSpPr txBox="1"/>
          <p:nvPr/>
        </p:nvSpPr>
        <p:spPr>
          <a:xfrm>
            <a:off x="7782364" y="3575985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Monaco" pitchFamily="2" charset="77"/>
              </a:rPr>
              <a:t>10</a:t>
            </a:r>
            <a:r>
              <a:rPr lang="zh-CN" altLang="en-US" sz="2000" dirty="0">
                <a:latin typeface="Monaco" pitchFamily="2" charset="77"/>
              </a:rPr>
              <a:t> </a:t>
            </a:r>
            <a:r>
              <a:rPr lang="en-US" altLang="zh-CN" sz="2000" dirty="0" err="1">
                <a:latin typeface="Monaco" pitchFamily="2" charset="77"/>
              </a:rPr>
              <a:t>ms</a:t>
            </a:r>
            <a:endParaRPr lang="en-US" sz="2000" dirty="0">
              <a:latin typeface="Monaco" pitchFamily="2" charset="77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D0B9B0B-6167-ED40-9FEB-38A44998ECC7}"/>
              </a:ext>
            </a:extLst>
          </p:cNvPr>
          <p:cNvSpPr txBox="1"/>
          <p:nvPr/>
        </p:nvSpPr>
        <p:spPr>
          <a:xfrm>
            <a:off x="7500211" y="3034575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Monaco" pitchFamily="2" charset="77"/>
              </a:rPr>
              <a:t>10</a:t>
            </a:r>
            <a:r>
              <a:rPr lang="zh-CN" altLang="en-US" sz="2000" dirty="0">
                <a:latin typeface="Monaco" pitchFamily="2" charset="77"/>
              </a:rPr>
              <a:t> </a:t>
            </a:r>
            <a:r>
              <a:rPr lang="en-US" altLang="zh-CN" sz="2000" dirty="0" err="1">
                <a:latin typeface="Monaco" pitchFamily="2" charset="77"/>
              </a:rPr>
              <a:t>ms</a:t>
            </a:r>
            <a:endParaRPr lang="en-US" sz="2000" dirty="0">
              <a:latin typeface="Monaco" pitchFamily="2" charset="77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E2A14B8-B992-7C43-B07C-0E5768BD7795}"/>
              </a:ext>
            </a:extLst>
          </p:cNvPr>
          <p:cNvSpPr txBox="1"/>
          <p:nvPr/>
        </p:nvSpPr>
        <p:spPr>
          <a:xfrm>
            <a:off x="1586444" y="2941140"/>
            <a:ext cx="2006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52396" indent="0" algn="ctr">
              <a:buNone/>
            </a:pPr>
            <a:r>
              <a:rPr lang="en-US" altLang="zh-CN" dirty="0">
                <a:latin typeface="Monaco" pitchFamily="2" charset="77"/>
                <a:cs typeface="DecoType Naskh" pitchFamily="2" charset="-78"/>
              </a:rPr>
              <a:t>/a/b/&lt;#seq&gt;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CBE35BF-64FC-7249-8E51-D40544247F5D}"/>
              </a:ext>
            </a:extLst>
          </p:cNvPr>
          <p:cNvSpPr txBox="1"/>
          <p:nvPr/>
        </p:nvSpPr>
        <p:spPr>
          <a:xfrm>
            <a:off x="1586444" y="4820468"/>
            <a:ext cx="2006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52396" indent="0" algn="ctr">
              <a:buNone/>
            </a:pPr>
            <a:r>
              <a:rPr lang="en-US" altLang="zh-CN" dirty="0">
                <a:latin typeface="Monaco" pitchFamily="2" charset="77"/>
                <a:cs typeface="DecoType Naskh" pitchFamily="2" charset="-78"/>
              </a:rPr>
              <a:t>/a/c/&lt;#seq&gt;</a:t>
            </a:r>
          </a:p>
        </p:txBody>
      </p:sp>
      <p:sp>
        <p:nvSpPr>
          <p:cNvPr id="74" name="Freeform 73">
            <a:extLst>
              <a:ext uri="{FF2B5EF4-FFF2-40B4-BE49-F238E27FC236}">
                <a16:creationId xmlns:a16="http://schemas.microsoft.com/office/drawing/2014/main" id="{6698ACB2-C92D-934D-A716-C72C6668CA70}"/>
              </a:ext>
            </a:extLst>
          </p:cNvPr>
          <p:cNvSpPr/>
          <p:nvPr/>
        </p:nvSpPr>
        <p:spPr>
          <a:xfrm>
            <a:off x="3062559" y="2144056"/>
            <a:ext cx="5792766" cy="1005667"/>
          </a:xfrm>
          <a:custGeom>
            <a:avLst/>
            <a:gdLst>
              <a:gd name="connsiteX0" fmla="*/ 86910 w 5792766"/>
              <a:gd name="connsiteY0" fmla="*/ 67114 h 1005667"/>
              <a:gd name="connsiteX1" fmla="*/ 160062 w 5792766"/>
              <a:gd name="connsiteY1" fmla="*/ 85402 h 1005667"/>
              <a:gd name="connsiteX2" fmla="*/ 1549950 w 5792766"/>
              <a:gd name="connsiteY2" fmla="*/ 908362 h 1005667"/>
              <a:gd name="connsiteX3" fmla="*/ 3854238 w 5792766"/>
              <a:gd name="connsiteY3" fmla="*/ 890074 h 1005667"/>
              <a:gd name="connsiteX4" fmla="*/ 5792766 w 5792766"/>
              <a:gd name="connsiteY4" fmla="*/ 12250 h 1005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92766" h="1005667">
                <a:moveTo>
                  <a:pt x="86910" y="67114"/>
                </a:moveTo>
                <a:cubicBezTo>
                  <a:pt x="1566" y="6154"/>
                  <a:pt x="-83778" y="-54806"/>
                  <a:pt x="160062" y="85402"/>
                </a:cubicBezTo>
                <a:cubicBezTo>
                  <a:pt x="403902" y="225610"/>
                  <a:pt x="934254" y="774250"/>
                  <a:pt x="1549950" y="908362"/>
                </a:cubicBezTo>
                <a:cubicBezTo>
                  <a:pt x="2165646" y="1042474"/>
                  <a:pt x="3147102" y="1039426"/>
                  <a:pt x="3854238" y="890074"/>
                </a:cubicBezTo>
                <a:cubicBezTo>
                  <a:pt x="4561374" y="740722"/>
                  <a:pt x="5597694" y="33586"/>
                  <a:pt x="5792766" y="12250"/>
                </a:cubicBezTo>
              </a:path>
            </a:pathLst>
          </a:custGeom>
          <a:noFill/>
          <a:ln w="31750">
            <a:solidFill>
              <a:schemeClr val="accent5"/>
            </a:solidFill>
            <a:headEnd type="triangl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Freeform 76">
            <a:extLst>
              <a:ext uri="{FF2B5EF4-FFF2-40B4-BE49-F238E27FC236}">
                <a16:creationId xmlns:a16="http://schemas.microsoft.com/office/drawing/2014/main" id="{824012EF-210D-3A45-9DBF-81AF8B8A828B}"/>
              </a:ext>
            </a:extLst>
          </p:cNvPr>
          <p:cNvSpPr/>
          <p:nvPr/>
        </p:nvSpPr>
        <p:spPr>
          <a:xfrm>
            <a:off x="3167757" y="3827322"/>
            <a:ext cx="5650992" cy="962456"/>
          </a:xfrm>
          <a:custGeom>
            <a:avLst/>
            <a:gdLst>
              <a:gd name="connsiteX0" fmla="*/ 0 w 5650992"/>
              <a:gd name="connsiteY0" fmla="*/ 889304 h 962456"/>
              <a:gd name="connsiteX1" fmla="*/ 1389888 w 5650992"/>
              <a:gd name="connsiteY1" fmla="*/ 102920 h 962456"/>
              <a:gd name="connsiteX2" fmla="*/ 3895344 w 5650992"/>
              <a:gd name="connsiteY2" fmla="*/ 102920 h 962456"/>
              <a:gd name="connsiteX3" fmla="*/ 5650992 w 5650992"/>
              <a:gd name="connsiteY3" fmla="*/ 962456 h 962456"/>
              <a:gd name="connsiteX4" fmla="*/ 5650992 w 5650992"/>
              <a:gd name="connsiteY4" fmla="*/ 962456 h 962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50992" h="962456">
                <a:moveTo>
                  <a:pt x="0" y="889304"/>
                </a:moveTo>
                <a:cubicBezTo>
                  <a:pt x="370332" y="561644"/>
                  <a:pt x="740664" y="233984"/>
                  <a:pt x="1389888" y="102920"/>
                </a:cubicBezTo>
                <a:cubicBezTo>
                  <a:pt x="2039112" y="-28144"/>
                  <a:pt x="3185160" y="-40336"/>
                  <a:pt x="3895344" y="102920"/>
                </a:cubicBezTo>
                <a:cubicBezTo>
                  <a:pt x="4605528" y="246176"/>
                  <a:pt x="5650992" y="962456"/>
                  <a:pt x="5650992" y="962456"/>
                </a:cubicBezTo>
                <a:lnTo>
                  <a:pt x="5650992" y="962456"/>
                </a:lnTo>
              </a:path>
            </a:pathLst>
          </a:custGeom>
          <a:noFill/>
          <a:ln w="31750">
            <a:solidFill>
              <a:schemeClr val="accent6"/>
            </a:solidFill>
            <a:headEnd type="triangl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Multiply 77">
            <a:extLst>
              <a:ext uri="{FF2B5EF4-FFF2-40B4-BE49-F238E27FC236}">
                <a16:creationId xmlns:a16="http://schemas.microsoft.com/office/drawing/2014/main" id="{5AB5828F-6835-BF40-8A81-8EA72880AF26}"/>
              </a:ext>
            </a:extLst>
          </p:cNvPr>
          <p:cNvSpPr/>
          <p:nvPr/>
        </p:nvSpPr>
        <p:spPr>
          <a:xfrm>
            <a:off x="7405933" y="3597077"/>
            <a:ext cx="414670" cy="426631"/>
          </a:xfrm>
          <a:prstGeom prst="mathMultipl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811C54C6-B748-F643-90FA-291BAE2FEB71}"/>
              </a:ext>
            </a:extLst>
          </p:cNvPr>
          <p:cNvSpPr txBox="1">
            <a:spLocks/>
          </p:cNvSpPr>
          <p:nvPr/>
        </p:nvSpPr>
        <p:spPr>
          <a:xfrm>
            <a:off x="838200" y="1407355"/>
            <a:ext cx="10515600" cy="569012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 fontScale="85000" lnSpcReduction="10000"/>
          </a:bodyPr>
          <a:lstStyle>
            <a:lvl1pPr marL="609585" lvl="0" indent="-457189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●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170" lvl="1" indent="-423323" algn="l" defTabSz="914400" rtl="0" eaLnBrk="1" latinLnBrk="0" hangingPunct="1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○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54" lvl="2" indent="-423323" algn="l" defTabSz="914400" rtl="0" eaLnBrk="1" latinLnBrk="0" hangingPunct="1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■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339" lvl="3" indent="-423323" algn="l" defTabSz="914400" rtl="0" eaLnBrk="1" latinLnBrk="0" hangingPunct="1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●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47924" lvl="4" indent="-423323" algn="l" defTabSz="914400" rtl="0" eaLnBrk="1" latinLnBrk="0" hangingPunct="1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○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57509" lvl="5" indent="-423323" algn="l" defTabSz="914400" rtl="0" eaLnBrk="1" latinLnBrk="0" hangingPunct="1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67093" lvl="6" indent="-423323" algn="l" defTabSz="914400" rtl="0" eaLnBrk="1" latinLnBrk="0" hangingPunct="1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●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678" lvl="7" indent="-423323" algn="l" defTabSz="914400" rtl="0" eaLnBrk="1" latinLnBrk="0" hangingPunct="1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○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263" lvl="8" indent="-423323" algn="l" defTabSz="914400" rtl="0" eaLnBrk="1" latinLnBrk="0" hangingPunct="1">
              <a:lnSpc>
                <a:spcPct val="90000"/>
              </a:lnSpc>
              <a:spcBef>
                <a:spcPts val="2133"/>
              </a:spcBef>
              <a:spcAft>
                <a:spcPts val="2133"/>
              </a:spcAft>
              <a:buSzPts val="1400"/>
              <a:buFont typeface="Arial" panose="020B0604020202020204" pitchFamily="34" charset="0"/>
              <a:buChar char="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Existing designs </a:t>
            </a:r>
            <a:r>
              <a:rPr lang="en-US" altLang="zh-CN" dirty="0"/>
              <a:t>cannot</a:t>
            </a:r>
            <a:r>
              <a:rPr lang="zh-CN" altLang="en-US" dirty="0"/>
              <a:t> </a:t>
            </a:r>
            <a:r>
              <a:rPr lang="en-US" altLang="zh-CN" dirty="0"/>
              <a:t>handle</a:t>
            </a:r>
            <a:r>
              <a:rPr lang="zh-CN" altLang="en-US" dirty="0"/>
              <a:t> </a:t>
            </a:r>
            <a:r>
              <a:rPr lang="en-US" altLang="zh-CN" dirty="0"/>
              <a:t>some</a:t>
            </a:r>
            <a:r>
              <a:rPr lang="zh-CN" altLang="en-US" dirty="0"/>
              <a:t> </a:t>
            </a:r>
            <a:r>
              <a:rPr lang="en-US" altLang="zh-CN" dirty="0"/>
              <a:t>scenarios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partial</a:t>
            </a:r>
            <a:r>
              <a:rPr lang="zh-CN" altLang="en-US" dirty="0"/>
              <a:t> </a:t>
            </a:r>
            <a:r>
              <a:rPr lang="en-US" altLang="zh-CN" dirty="0"/>
              <a:t>network</a:t>
            </a:r>
            <a:r>
              <a:rPr lang="zh-CN" altLang="en-US" dirty="0"/>
              <a:t> </a:t>
            </a:r>
            <a:r>
              <a:rPr lang="en-US" altLang="zh-CN" dirty="0"/>
              <a:t>failures</a:t>
            </a:r>
            <a:endParaRPr lang="en-US" dirty="0"/>
          </a:p>
        </p:txBody>
      </p:sp>
      <p:sp>
        <p:nvSpPr>
          <p:cNvPr id="35" name="Title 1">
            <a:extLst>
              <a:ext uri="{FF2B5EF4-FFF2-40B4-BE49-F238E27FC236}">
                <a16:creationId xmlns:a16="http://schemas.microsoft.com/office/drawing/2014/main" id="{4CD45E90-AC7C-8545-8AF1-FD615D437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0163"/>
            <a:ext cx="10515600" cy="1325563"/>
          </a:xfrm>
        </p:spPr>
        <p:txBody>
          <a:bodyPr anchor="ctr">
            <a:normAutofit/>
          </a:bodyPr>
          <a:lstStyle/>
          <a:p>
            <a:pPr algn="ctr"/>
            <a:r>
              <a:rPr lang="en-US" altLang="zh-CN" sz="4000" dirty="0"/>
              <a:t>The</a:t>
            </a:r>
            <a:r>
              <a:rPr lang="zh-CN" altLang="en-US" sz="4000" dirty="0"/>
              <a:t> </a:t>
            </a:r>
            <a:r>
              <a:rPr lang="en-US" altLang="zh-CN" sz="4000" dirty="0"/>
              <a:t>Limits</a:t>
            </a:r>
            <a:r>
              <a:rPr lang="zh-CN" altLang="en-US" sz="4000" dirty="0"/>
              <a:t> </a:t>
            </a:r>
            <a:r>
              <a:rPr lang="en-US" altLang="zh-CN" sz="4000" dirty="0"/>
              <a:t>of</a:t>
            </a:r>
            <a:r>
              <a:rPr lang="zh-CN" altLang="en-US" sz="4000" dirty="0"/>
              <a:t> </a:t>
            </a:r>
            <a:r>
              <a:rPr lang="en-US" altLang="zh-CN" sz="4000" dirty="0"/>
              <a:t>Existing</a:t>
            </a:r>
            <a:r>
              <a:rPr lang="zh-CN" altLang="en-US" sz="4000" dirty="0"/>
              <a:t> </a:t>
            </a:r>
            <a:r>
              <a:rPr lang="en-US" altLang="zh-CN" sz="4000" dirty="0"/>
              <a:t>Designs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741619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6" grpId="0" animBg="1"/>
      <p:bldP spid="37" grpId="0" animBg="1"/>
      <p:bldP spid="38" grpId="0" animBg="1"/>
      <p:bldP spid="40" grpId="0" animBg="1"/>
      <p:bldP spid="41" grpId="0" animBg="1"/>
      <p:bldP spid="42" grpId="0" animBg="1"/>
      <p:bldP spid="62" grpId="0"/>
      <p:bldP spid="63" grpId="0"/>
      <p:bldP spid="64" grpId="0"/>
      <p:bldP spid="65" grpId="0"/>
      <p:bldP spid="66" grpId="0"/>
      <p:bldP spid="67" grpId="0"/>
      <p:bldP spid="68" grpId="0"/>
      <p:bldP spid="69" grpId="0"/>
      <p:bldP spid="71" grpId="0"/>
      <p:bldP spid="72" grpId="0"/>
      <p:bldP spid="74" grpId="0" animBg="1"/>
      <p:bldP spid="77" grpId="0" animBg="1"/>
      <p:bldP spid="7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937036-7EDC-524B-9A0A-B47058235D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620822"/>
            <a:ext cx="5228508" cy="282982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E5D5FB7-BB79-694A-B3B3-8C0EE6630C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8451" y="1754996"/>
            <a:ext cx="4740173" cy="4740173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5A7F471B-E2DF-2645-B39A-1708B049B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0163"/>
            <a:ext cx="10515600" cy="1325563"/>
          </a:xfrm>
        </p:spPr>
        <p:txBody>
          <a:bodyPr anchor="ctr">
            <a:normAutofit/>
          </a:bodyPr>
          <a:lstStyle/>
          <a:p>
            <a:pPr algn="ctr"/>
            <a:r>
              <a:rPr lang="en-US" altLang="zh-CN" sz="4000" dirty="0"/>
              <a:t>Simulation</a:t>
            </a:r>
            <a:r>
              <a:rPr lang="zh-CN" altLang="en-US" sz="4000" dirty="0"/>
              <a:t> </a:t>
            </a:r>
            <a:r>
              <a:rPr lang="en-US" altLang="zh-CN" sz="4000" dirty="0"/>
              <a:t>Results</a:t>
            </a:r>
            <a:endParaRPr lang="en-US" sz="400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0DCC61F-6E78-E847-9098-A6FF04E2644D}"/>
              </a:ext>
            </a:extLst>
          </p:cNvPr>
          <p:cNvSpPr txBox="1">
            <a:spLocks/>
          </p:cNvSpPr>
          <p:nvPr/>
        </p:nvSpPr>
        <p:spPr>
          <a:xfrm>
            <a:off x="838200" y="1407355"/>
            <a:ext cx="10515600" cy="1325563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609585" lvl="0" indent="-457189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●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170" lvl="1" indent="-423323" algn="l" defTabSz="914400" rtl="0" eaLnBrk="1" latinLnBrk="0" hangingPunct="1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○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54" lvl="2" indent="-423323" algn="l" defTabSz="914400" rtl="0" eaLnBrk="1" latinLnBrk="0" hangingPunct="1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■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339" lvl="3" indent="-423323" algn="l" defTabSz="914400" rtl="0" eaLnBrk="1" latinLnBrk="0" hangingPunct="1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●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47924" lvl="4" indent="-423323" algn="l" defTabSz="914400" rtl="0" eaLnBrk="1" latinLnBrk="0" hangingPunct="1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○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57509" lvl="5" indent="-423323" algn="l" defTabSz="914400" rtl="0" eaLnBrk="1" latinLnBrk="0" hangingPunct="1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67093" lvl="6" indent="-423323" algn="l" defTabSz="914400" rtl="0" eaLnBrk="1" latinLnBrk="0" hangingPunct="1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●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678" lvl="7" indent="-423323" algn="l" defTabSz="914400" rtl="0" eaLnBrk="1" latinLnBrk="0" hangingPunct="1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○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263" lvl="8" indent="-423323" algn="l" defTabSz="914400" rtl="0" eaLnBrk="1" latinLnBrk="0" hangingPunct="1">
              <a:lnSpc>
                <a:spcPct val="90000"/>
              </a:lnSpc>
              <a:spcBef>
                <a:spcPts val="2133"/>
              </a:spcBef>
              <a:spcAft>
                <a:spcPts val="2133"/>
              </a:spcAft>
              <a:buSzPts val="1400"/>
              <a:buFont typeface="Arial" panose="020B0604020202020204" pitchFamily="34" charset="0"/>
              <a:buChar char="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scenario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simulated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 err="1"/>
              <a:t>ndnSIM</a:t>
            </a:r>
            <a:endParaRPr lang="en-US" altLang="zh-C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32CE719-B72B-DE45-A8D0-0E83C5A216E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7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679283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67C9F7-7065-5640-BFA6-3AC1A364178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8</a:t>
            </a:fld>
            <a:endParaRPr lang="en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77F55F0-432F-CA40-8D25-8413893E2583}"/>
              </a:ext>
            </a:extLst>
          </p:cNvPr>
          <p:cNvSpPr/>
          <p:nvPr/>
        </p:nvSpPr>
        <p:spPr>
          <a:xfrm>
            <a:off x="2077498" y="1711255"/>
            <a:ext cx="651195" cy="626149"/>
          </a:xfrm>
          <a:prstGeom prst="ellips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2400" b="1" dirty="0"/>
              <a:t>C1</a:t>
            </a:r>
            <a:endParaRPr lang="en-US" sz="2400" b="1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E01C1BE5-8CB4-5845-B72C-27508BD37076}"/>
              </a:ext>
            </a:extLst>
          </p:cNvPr>
          <p:cNvSpPr/>
          <p:nvPr/>
        </p:nvSpPr>
        <p:spPr>
          <a:xfrm>
            <a:off x="2077497" y="3609553"/>
            <a:ext cx="651195" cy="626149"/>
          </a:xfrm>
          <a:prstGeom prst="ellips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2400" b="1" dirty="0"/>
              <a:t>C2</a:t>
            </a:r>
            <a:endParaRPr lang="en-US" sz="2400" b="1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5E9E16DB-C01A-194F-9798-8DCC9F7F5334}"/>
              </a:ext>
            </a:extLst>
          </p:cNvPr>
          <p:cNvSpPr/>
          <p:nvPr/>
        </p:nvSpPr>
        <p:spPr>
          <a:xfrm>
            <a:off x="4078476" y="2660404"/>
            <a:ext cx="651195" cy="626149"/>
          </a:xfrm>
          <a:prstGeom prst="ellips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2300" b="1" dirty="0"/>
              <a:t>R1</a:t>
            </a:r>
            <a:endParaRPr lang="en-US" sz="2300" b="1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2D9576CF-2E42-194C-9F0A-1130F149AB67}"/>
              </a:ext>
            </a:extLst>
          </p:cNvPr>
          <p:cNvSpPr/>
          <p:nvPr/>
        </p:nvSpPr>
        <p:spPr>
          <a:xfrm>
            <a:off x="6498588" y="2660403"/>
            <a:ext cx="651195" cy="626149"/>
          </a:xfrm>
          <a:prstGeom prst="ellips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2300" b="1" dirty="0"/>
              <a:t>R2</a:t>
            </a:r>
            <a:endParaRPr lang="en-US" sz="2300" b="1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D01B57C3-B6B4-D941-AAB0-0E38958742B6}"/>
              </a:ext>
            </a:extLst>
          </p:cNvPr>
          <p:cNvSpPr/>
          <p:nvPr/>
        </p:nvSpPr>
        <p:spPr>
          <a:xfrm>
            <a:off x="8648982" y="1711255"/>
            <a:ext cx="651195" cy="626149"/>
          </a:xfrm>
          <a:prstGeom prst="ellips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2400" b="1" dirty="0"/>
              <a:t>P1</a:t>
            </a:r>
            <a:endParaRPr lang="en-US" sz="2400" b="1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DE21C899-B77C-0D4B-856C-72D00C2061BC}"/>
              </a:ext>
            </a:extLst>
          </p:cNvPr>
          <p:cNvSpPr/>
          <p:nvPr/>
        </p:nvSpPr>
        <p:spPr>
          <a:xfrm>
            <a:off x="8648982" y="3609552"/>
            <a:ext cx="651195" cy="626149"/>
          </a:xfrm>
          <a:prstGeom prst="ellips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2400" b="1" dirty="0"/>
              <a:t>P2</a:t>
            </a:r>
            <a:endParaRPr lang="en-US" sz="2400" b="1" dirty="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7A8CE76D-91C5-B14E-9885-5E41F0EE6662}"/>
              </a:ext>
            </a:extLst>
          </p:cNvPr>
          <p:cNvSpPr/>
          <p:nvPr/>
        </p:nvSpPr>
        <p:spPr>
          <a:xfrm>
            <a:off x="8648982" y="5194774"/>
            <a:ext cx="651195" cy="626149"/>
          </a:xfrm>
          <a:prstGeom prst="ellips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2400" b="1" dirty="0"/>
              <a:t>P3</a:t>
            </a:r>
            <a:endParaRPr lang="en-US" sz="2400" b="1" dirty="0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4CD13DBE-3217-624F-BF84-26AB8184A4D1}"/>
              </a:ext>
            </a:extLst>
          </p:cNvPr>
          <p:cNvCxnSpPr>
            <a:cxnSpLocks/>
            <a:stCxn id="5" idx="6"/>
            <a:endCxn id="37" idx="1"/>
          </p:cNvCxnSpPr>
          <p:nvPr/>
        </p:nvCxnSpPr>
        <p:spPr>
          <a:xfrm>
            <a:off x="2728693" y="2024330"/>
            <a:ext cx="1445148" cy="72777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C0072B32-91CE-2943-B4C7-CA3E31261728}"/>
              </a:ext>
            </a:extLst>
          </p:cNvPr>
          <p:cNvCxnSpPr>
            <a:cxnSpLocks/>
            <a:stCxn id="36" idx="6"/>
            <a:endCxn id="37" idx="3"/>
          </p:cNvCxnSpPr>
          <p:nvPr/>
        </p:nvCxnSpPr>
        <p:spPr>
          <a:xfrm flipV="1">
            <a:off x="2728692" y="3194856"/>
            <a:ext cx="1445149" cy="72777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1B91C014-19D9-8544-8522-C28EF1B015BF}"/>
              </a:ext>
            </a:extLst>
          </p:cNvPr>
          <p:cNvCxnSpPr>
            <a:cxnSpLocks/>
            <a:stCxn id="38" idx="2"/>
            <a:endCxn id="37" idx="6"/>
          </p:cNvCxnSpPr>
          <p:nvPr/>
        </p:nvCxnSpPr>
        <p:spPr>
          <a:xfrm flipH="1">
            <a:off x="4729671" y="2973478"/>
            <a:ext cx="1768917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C4AB076E-F15C-7F42-97B7-27BB1C2BB629}"/>
              </a:ext>
            </a:extLst>
          </p:cNvPr>
          <p:cNvCxnSpPr>
            <a:cxnSpLocks/>
            <a:stCxn id="40" idx="2"/>
            <a:endCxn id="38" idx="7"/>
          </p:cNvCxnSpPr>
          <p:nvPr/>
        </p:nvCxnSpPr>
        <p:spPr>
          <a:xfrm flipH="1">
            <a:off x="7054418" y="2024330"/>
            <a:ext cx="1594564" cy="72777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408682EC-C5BA-274D-A99C-BCE4BBC08388}"/>
              </a:ext>
            </a:extLst>
          </p:cNvPr>
          <p:cNvCxnSpPr>
            <a:cxnSpLocks/>
            <a:stCxn id="41" idx="2"/>
            <a:endCxn id="38" idx="5"/>
          </p:cNvCxnSpPr>
          <p:nvPr/>
        </p:nvCxnSpPr>
        <p:spPr>
          <a:xfrm flipH="1" flipV="1">
            <a:off x="7054418" y="3194855"/>
            <a:ext cx="1594564" cy="72777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Elbow Connector 58">
            <a:extLst>
              <a:ext uri="{FF2B5EF4-FFF2-40B4-BE49-F238E27FC236}">
                <a16:creationId xmlns:a16="http://schemas.microsoft.com/office/drawing/2014/main" id="{77E89FF0-4782-2F44-A0DB-A33928BD79CD}"/>
              </a:ext>
            </a:extLst>
          </p:cNvPr>
          <p:cNvCxnSpPr>
            <a:cxnSpLocks/>
            <a:stCxn id="37" idx="4"/>
            <a:endCxn id="42" idx="2"/>
          </p:cNvCxnSpPr>
          <p:nvPr/>
        </p:nvCxnSpPr>
        <p:spPr>
          <a:xfrm rot="16200000" flipH="1">
            <a:off x="5415880" y="2274747"/>
            <a:ext cx="2221296" cy="4244908"/>
          </a:xfrm>
          <a:prstGeom prst="bentConnector2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D09C313B-DC71-684C-ABA6-DCBB407F0D43}"/>
              </a:ext>
            </a:extLst>
          </p:cNvPr>
          <p:cNvSpPr txBox="1"/>
          <p:nvPr/>
        </p:nvSpPr>
        <p:spPr>
          <a:xfrm>
            <a:off x="3793814" y="1351752"/>
            <a:ext cx="246332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52396" indent="0" algn="ctr">
              <a:buNone/>
            </a:pPr>
            <a:r>
              <a:rPr lang="en-US" altLang="zh-CN" sz="2000" dirty="0">
                <a:latin typeface="Monaco" pitchFamily="2" charset="77"/>
                <a:cs typeface="DecoType Naskh" pitchFamily="2" charset="-78"/>
              </a:rPr>
              <a:t>FIB</a:t>
            </a:r>
          </a:p>
          <a:p>
            <a:pPr marL="152396" indent="0" algn="ctr">
              <a:buNone/>
            </a:pPr>
            <a:r>
              <a:rPr lang="en-US" altLang="zh-CN" sz="2000" dirty="0">
                <a:latin typeface="Monaco" pitchFamily="2" charset="77"/>
                <a:cs typeface="DecoType Naskh" pitchFamily="2" charset="-78"/>
              </a:rPr>
              <a:t>/a,</a:t>
            </a:r>
            <a:r>
              <a:rPr lang="zh-CN" altLang="en-US" sz="2000" dirty="0">
                <a:latin typeface="Monaco" pitchFamily="2" charset="77"/>
                <a:cs typeface="DecoType Naskh" pitchFamily="2" charset="-78"/>
              </a:rPr>
              <a:t> </a:t>
            </a:r>
            <a:r>
              <a:rPr lang="en-US" altLang="zh-CN" sz="2000" dirty="0">
                <a:latin typeface="Monaco" pitchFamily="2" charset="77"/>
                <a:cs typeface="DecoType Naskh" pitchFamily="2" charset="-78"/>
              </a:rPr>
              <a:t>(R2,P3)</a:t>
            </a:r>
          </a:p>
          <a:p>
            <a:pPr marL="152396" indent="0" algn="ctr">
              <a:buNone/>
            </a:pPr>
            <a:r>
              <a:rPr lang="en-US" altLang="zh-CN" sz="2000" dirty="0">
                <a:solidFill>
                  <a:srgbClr val="FF0000"/>
                </a:solidFill>
                <a:latin typeface="Monaco" pitchFamily="2" charset="77"/>
                <a:cs typeface="DecoType Naskh" pitchFamily="2" charset="-78"/>
              </a:rPr>
              <a:t>/a/c,</a:t>
            </a:r>
            <a:r>
              <a:rPr lang="zh-CN" altLang="en-US" sz="2000" dirty="0">
                <a:solidFill>
                  <a:srgbClr val="FF0000"/>
                </a:solidFill>
                <a:latin typeface="Monaco" pitchFamily="2" charset="77"/>
                <a:cs typeface="DecoType Naskh" pitchFamily="2" charset="-78"/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latin typeface="Monaco" pitchFamily="2" charset="77"/>
                <a:cs typeface="DecoType Naskh" pitchFamily="2" charset="-78"/>
              </a:rPr>
              <a:t>(P3,R2)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C137D11-2200-2749-830B-E49EF4907472}"/>
              </a:ext>
            </a:extLst>
          </p:cNvPr>
          <p:cNvSpPr txBox="1"/>
          <p:nvPr/>
        </p:nvSpPr>
        <p:spPr>
          <a:xfrm>
            <a:off x="7947065" y="2410827"/>
            <a:ext cx="1778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52396" indent="0" algn="ctr">
              <a:buNone/>
            </a:pPr>
            <a:r>
              <a:rPr lang="en-US" altLang="zh-CN" dirty="0">
                <a:latin typeface="Monaco" pitchFamily="2" charset="77"/>
                <a:cs typeface="DecoType Naskh" pitchFamily="2" charset="-78"/>
              </a:rPr>
              <a:t>/a/b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C14AF62-A6FE-8440-B0E2-F43EB69654AC}"/>
              </a:ext>
            </a:extLst>
          </p:cNvPr>
          <p:cNvSpPr txBox="1"/>
          <p:nvPr/>
        </p:nvSpPr>
        <p:spPr>
          <a:xfrm>
            <a:off x="7990007" y="4272413"/>
            <a:ext cx="1778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52396" indent="0" algn="ctr">
              <a:buNone/>
            </a:pPr>
            <a:r>
              <a:rPr lang="en-US" altLang="zh-CN" dirty="0">
                <a:latin typeface="Monaco" pitchFamily="2" charset="77"/>
                <a:cs typeface="DecoType Naskh" pitchFamily="2" charset="-78"/>
              </a:rPr>
              <a:t>/a/c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DEDEDF7-6D62-5645-9B8E-75E959E7CD13}"/>
              </a:ext>
            </a:extLst>
          </p:cNvPr>
          <p:cNvSpPr txBox="1"/>
          <p:nvPr/>
        </p:nvSpPr>
        <p:spPr>
          <a:xfrm>
            <a:off x="8085371" y="5876212"/>
            <a:ext cx="1778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52396" indent="0" algn="ctr">
              <a:buNone/>
            </a:pPr>
            <a:r>
              <a:rPr lang="en-US" altLang="zh-CN" dirty="0">
                <a:latin typeface="Monaco" pitchFamily="2" charset="77"/>
                <a:cs typeface="DecoType Naskh" pitchFamily="2" charset="-78"/>
              </a:rPr>
              <a:t>/a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FE219DE-1B7C-6C44-BAE4-39A600D18128}"/>
              </a:ext>
            </a:extLst>
          </p:cNvPr>
          <p:cNvSpPr txBox="1"/>
          <p:nvPr/>
        </p:nvSpPr>
        <p:spPr>
          <a:xfrm>
            <a:off x="5025475" y="5620867"/>
            <a:ext cx="11079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Monaco" pitchFamily="2" charset="77"/>
              </a:rPr>
              <a:t>100</a:t>
            </a:r>
            <a:r>
              <a:rPr lang="zh-CN" altLang="en-US" sz="2000" dirty="0">
                <a:latin typeface="Monaco" pitchFamily="2" charset="77"/>
              </a:rPr>
              <a:t> </a:t>
            </a:r>
            <a:r>
              <a:rPr lang="en-US" altLang="zh-CN" sz="2000" dirty="0" err="1">
                <a:latin typeface="Monaco" pitchFamily="2" charset="77"/>
              </a:rPr>
              <a:t>ms</a:t>
            </a:r>
            <a:endParaRPr lang="en-US" sz="2000" dirty="0">
              <a:latin typeface="Monaco" pitchFamily="2" charset="77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AF8406B-8E5F-F642-931C-C0501EC3D55E}"/>
              </a:ext>
            </a:extLst>
          </p:cNvPr>
          <p:cNvSpPr txBox="1"/>
          <p:nvPr/>
        </p:nvSpPr>
        <p:spPr>
          <a:xfrm>
            <a:off x="5060131" y="3013394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Monaco" pitchFamily="2" charset="77"/>
              </a:rPr>
              <a:t>10</a:t>
            </a:r>
            <a:r>
              <a:rPr lang="zh-CN" altLang="en-US" sz="2000" dirty="0">
                <a:latin typeface="Monaco" pitchFamily="2" charset="77"/>
              </a:rPr>
              <a:t> </a:t>
            </a:r>
            <a:r>
              <a:rPr lang="en-US" altLang="zh-CN" sz="2000" dirty="0" err="1">
                <a:latin typeface="Monaco" pitchFamily="2" charset="77"/>
              </a:rPr>
              <a:t>ms</a:t>
            </a:r>
            <a:endParaRPr lang="en-US" sz="2000" dirty="0">
              <a:latin typeface="Monaco" pitchFamily="2" charset="77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A85E7B1-B09E-BD49-A760-569F1A3997A2}"/>
              </a:ext>
            </a:extLst>
          </p:cNvPr>
          <p:cNvSpPr txBox="1"/>
          <p:nvPr/>
        </p:nvSpPr>
        <p:spPr>
          <a:xfrm>
            <a:off x="7595551" y="3120463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Monaco" pitchFamily="2" charset="77"/>
              </a:rPr>
              <a:t>10</a:t>
            </a:r>
            <a:r>
              <a:rPr lang="zh-CN" altLang="en-US" sz="2000" dirty="0">
                <a:latin typeface="Monaco" pitchFamily="2" charset="77"/>
              </a:rPr>
              <a:t> </a:t>
            </a:r>
            <a:r>
              <a:rPr lang="en-US" altLang="zh-CN" sz="2000" dirty="0" err="1">
                <a:latin typeface="Monaco" pitchFamily="2" charset="77"/>
              </a:rPr>
              <a:t>ms</a:t>
            </a:r>
            <a:endParaRPr lang="en-US" sz="2000" dirty="0">
              <a:latin typeface="Monaco" pitchFamily="2" charset="77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D0B9B0B-6167-ED40-9FEB-38A44998ECC7}"/>
              </a:ext>
            </a:extLst>
          </p:cNvPr>
          <p:cNvSpPr txBox="1"/>
          <p:nvPr/>
        </p:nvSpPr>
        <p:spPr>
          <a:xfrm>
            <a:off x="7313398" y="2579053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Monaco" pitchFamily="2" charset="77"/>
              </a:rPr>
              <a:t>10</a:t>
            </a:r>
            <a:r>
              <a:rPr lang="zh-CN" altLang="en-US" sz="2000" dirty="0">
                <a:latin typeface="Monaco" pitchFamily="2" charset="77"/>
              </a:rPr>
              <a:t> </a:t>
            </a:r>
            <a:r>
              <a:rPr lang="en-US" altLang="zh-CN" sz="2000" dirty="0" err="1">
                <a:latin typeface="Monaco" pitchFamily="2" charset="77"/>
              </a:rPr>
              <a:t>ms</a:t>
            </a:r>
            <a:endParaRPr lang="en-US" sz="2000" dirty="0">
              <a:latin typeface="Monaco" pitchFamily="2" charset="77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E2A14B8-B992-7C43-B07C-0E5768BD7795}"/>
              </a:ext>
            </a:extLst>
          </p:cNvPr>
          <p:cNvSpPr txBox="1"/>
          <p:nvPr/>
        </p:nvSpPr>
        <p:spPr>
          <a:xfrm>
            <a:off x="1399631" y="2485618"/>
            <a:ext cx="2006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52396" indent="0" algn="ctr">
              <a:buNone/>
            </a:pPr>
            <a:r>
              <a:rPr lang="en-US" altLang="zh-CN" dirty="0">
                <a:latin typeface="Monaco" pitchFamily="2" charset="77"/>
                <a:cs typeface="DecoType Naskh" pitchFamily="2" charset="-78"/>
              </a:rPr>
              <a:t>/a/b/&lt;#seq&gt;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CBE35BF-64FC-7249-8E51-D40544247F5D}"/>
              </a:ext>
            </a:extLst>
          </p:cNvPr>
          <p:cNvSpPr txBox="1"/>
          <p:nvPr/>
        </p:nvSpPr>
        <p:spPr>
          <a:xfrm>
            <a:off x="1399631" y="4364946"/>
            <a:ext cx="2006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52396" indent="0" algn="ctr">
              <a:buNone/>
            </a:pPr>
            <a:r>
              <a:rPr lang="en-US" altLang="zh-CN" dirty="0">
                <a:latin typeface="Monaco" pitchFamily="2" charset="77"/>
                <a:cs typeface="DecoType Naskh" pitchFamily="2" charset="-78"/>
              </a:rPr>
              <a:t>/a/c/&lt;#seq&gt;</a:t>
            </a:r>
          </a:p>
        </p:txBody>
      </p:sp>
      <p:sp>
        <p:nvSpPr>
          <p:cNvPr id="74" name="Freeform 73">
            <a:extLst>
              <a:ext uri="{FF2B5EF4-FFF2-40B4-BE49-F238E27FC236}">
                <a16:creationId xmlns:a16="http://schemas.microsoft.com/office/drawing/2014/main" id="{6698ACB2-C92D-934D-A716-C72C6668CA70}"/>
              </a:ext>
            </a:extLst>
          </p:cNvPr>
          <p:cNvSpPr/>
          <p:nvPr/>
        </p:nvSpPr>
        <p:spPr>
          <a:xfrm>
            <a:off x="2875746" y="1688534"/>
            <a:ext cx="5792766" cy="1005667"/>
          </a:xfrm>
          <a:custGeom>
            <a:avLst/>
            <a:gdLst>
              <a:gd name="connsiteX0" fmla="*/ 86910 w 5792766"/>
              <a:gd name="connsiteY0" fmla="*/ 67114 h 1005667"/>
              <a:gd name="connsiteX1" fmla="*/ 160062 w 5792766"/>
              <a:gd name="connsiteY1" fmla="*/ 85402 h 1005667"/>
              <a:gd name="connsiteX2" fmla="*/ 1549950 w 5792766"/>
              <a:gd name="connsiteY2" fmla="*/ 908362 h 1005667"/>
              <a:gd name="connsiteX3" fmla="*/ 3854238 w 5792766"/>
              <a:gd name="connsiteY3" fmla="*/ 890074 h 1005667"/>
              <a:gd name="connsiteX4" fmla="*/ 5792766 w 5792766"/>
              <a:gd name="connsiteY4" fmla="*/ 12250 h 1005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92766" h="1005667">
                <a:moveTo>
                  <a:pt x="86910" y="67114"/>
                </a:moveTo>
                <a:cubicBezTo>
                  <a:pt x="1566" y="6154"/>
                  <a:pt x="-83778" y="-54806"/>
                  <a:pt x="160062" y="85402"/>
                </a:cubicBezTo>
                <a:cubicBezTo>
                  <a:pt x="403902" y="225610"/>
                  <a:pt x="934254" y="774250"/>
                  <a:pt x="1549950" y="908362"/>
                </a:cubicBezTo>
                <a:cubicBezTo>
                  <a:pt x="2165646" y="1042474"/>
                  <a:pt x="3147102" y="1039426"/>
                  <a:pt x="3854238" y="890074"/>
                </a:cubicBezTo>
                <a:cubicBezTo>
                  <a:pt x="4561374" y="740722"/>
                  <a:pt x="5597694" y="33586"/>
                  <a:pt x="5792766" y="12250"/>
                </a:cubicBezTo>
              </a:path>
            </a:pathLst>
          </a:custGeom>
          <a:noFill/>
          <a:ln w="31750">
            <a:solidFill>
              <a:schemeClr val="accent5"/>
            </a:solidFill>
            <a:headEnd type="triangl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Freeform 76">
            <a:extLst>
              <a:ext uri="{FF2B5EF4-FFF2-40B4-BE49-F238E27FC236}">
                <a16:creationId xmlns:a16="http://schemas.microsoft.com/office/drawing/2014/main" id="{824012EF-210D-3A45-9DBF-81AF8B8A828B}"/>
              </a:ext>
            </a:extLst>
          </p:cNvPr>
          <p:cNvSpPr/>
          <p:nvPr/>
        </p:nvSpPr>
        <p:spPr>
          <a:xfrm>
            <a:off x="2980944" y="3371800"/>
            <a:ext cx="5650992" cy="962456"/>
          </a:xfrm>
          <a:custGeom>
            <a:avLst/>
            <a:gdLst>
              <a:gd name="connsiteX0" fmla="*/ 0 w 5650992"/>
              <a:gd name="connsiteY0" fmla="*/ 889304 h 962456"/>
              <a:gd name="connsiteX1" fmla="*/ 1389888 w 5650992"/>
              <a:gd name="connsiteY1" fmla="*/ 102920 h 962456"/>
              <a:gd name="connsiteX2" fmla="*/ 3895344 w 5650992"/>
              <a:gd name="connsiteY2" fmla="*/ 102920 h 962456"/>
              <a:gd name="connsiteX3" fmla="*/ 5650992 w 5650992"/>
              <a:gd name="connsiteY3" fmla="*/ 962456 h 962456"/>
              <a:gd name="connsiteX4" fmla="*/ 5650992 w 5650992"/>
              <a:gd name="connsiteY4" fmla="*/ 962456 h 962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50992" h="962456">
                <a:moveTo>
                  <a:pt x="0" y="889304"/>
                </a:moveTo>
                <a:cubicBezTo>
                  <a:pt x="370332" y="561644"/>
                  <a:pt x="740664" y="233984"/>
                  <a:pt x="1389888" y="102920"/>
                </a:cubicBezTo>
                <a:cubicBezTo>
                  <a:pt x="2039112" y="-28144"/>
                  <a:pt x="3185160" y="-40336"/>
                  <a:pt x="3895344" y="102920"/>
                </a:cubicBezTo>
                <a:cubicBezTo>
                  <a:pt x="4605528" y="246176"/>
                  <a:pt x="5650992" y="962456"/>
                  <a:pt x="5650992" y="962456"/>
                </a:cubicBezTo>
                <a:lnTo>
                  <a:pt x="5650992" y="962456"/>
                </a:lnTo>
              </a:path>
            </a:pathLst>
          </a:custGeom>
          <a:noFill/>
          <a:ln w="31750">
            <a:solidFill>
              <a:schemeClr val="accent6"/>
            </a:solidFill>
            <a:headEnd type="triangl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Multiply 77">
            <a:extLst>
              <a:ext uri="{FF2B5EF4-FFF2-40B4-BE49-F238E27FC236}">
                <a16:creationId xmlns:a16="http://schemas.microsoft.com/office/drawing/2014/main" id="{5AB5828F-6835-BF40-8A81-8EA72880AF26}"/>
              </a:ext>
            </a:extLst>
          </p:cNvPr>
          <p:cNvSpPr/>
          <p:nvPr/>
        </p:nvSpPr>
        <p:spPr>
          <a:xfrm>
            <a:off x="7219120" y="3141555"/>
            <a:ext cx="414670" cy="426631"/>
          </a:xfrm>
          <a:prstGeom prst="mathMultipl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5405F754-7040-1F4B-9237-F8FF223EC7AB}"/>
              </a:ext>
            </a:extLst>
          </p:cNvPr>
          <p:cNvSpPr/>
          <p:nvPr/>
        </p:nvSpPr>
        <p:spPr>
          <a:xfrm>
            <a:off x="2889504" y="3468818"/>
            <a:ext cx="5504688" cy="2246543"/>
          </a:xfrm>
          <a:custGeom>
            <a:avLst/>
            <a:gdLst>
              <a:gd name="connsiteX0" fmla="*/ 0 w 5504688"/>
              <a:gd name="connsiteY0" fmla="*/ 645982 h 2246543"/>
              <a:gd name="connsiteX1" fmla="*/ 1243584 w 5504688"/>
              <a:gd name="connsiteY1" fmla="*/ 60766 h 2246543"/>
              <a:gd name="connsiteX2" fmla="*/ 1901952 w 5504688"/>
              <a:gd name="connsiteY2" fmla="*/ 1944430 h 2246543"/>
              <a:gd name="connsiteX3" fmla="*/ 5504688 w 5504688"/>
              <a:gd name="connsiteY3" fmla="*/ 2218750 h 2246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04688" h="2246543">
                <a:moveTo>
                  <a:pt x="0" y="645982"/>
                </a:moveTo>
                <a:cubicBezTo>
                  <a:pt x="463296" y="245170"/>
                  <a:pt x="926592" y="-155642"/>
                  <a:pt x="1243584" y="60766"/>
                </a:cubicBezTo>
                <a:cubicBezTo>
                  <a:pt x="1560576" y="277174"/>
                  <a:pt x="1191768" y="1584766"/>
                  <a:pt x="1901952" y="1944430"/>
                </a:cubicBezTo>
                <a:cubicBezTo>
                  <a:pt x="2612136" y="2304094"/>
                  <a:pt x="4058412" y="2261422"/>
                  <a:pt x="5504688" y="2218750"/>
                </a:cubicBezTo>
              </a:path>
            </a:pathLst>
          </a:custGeom>
          <a:noFill/>
          <a:ln w="28575">
            <a:solidFill>
              <a:schemeClr val="accent6"/>
            </a:solidFill>
            <a:headEnd type="triangl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itle 1">
            <a:extLst>
              <a:ext uri="{FF2B5EF4-FFF2-40B4-BE49-F238E27FC236}">
                <a16:creationId xmlns:a16="http://schemas.microsoft.com/office/drawing/2014/main" id="{BA23DC8B-2E78-BE42-803E-34A07FE3DDF8}"/>
              </a:ext>
            </a:extLst>
          </p:cNvPr>
          <p:cNvSpPr txBox="1">
            <a:spLocks/>
          </p:cNvSpPr>
          <p:nvPr/>
        </p:nvSpPr>
        <p:spPr>
          <a:xfrm>
            <a:off x="838200" y="-15082"/>
            <a:ext cx="10515600" cy="1325563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 algn="ctr"/>
            <a:r>
              <a:rPr lang="en-US" altLang="zh-CN" sz="4000" dirty="0"/>
              <a:t>Dynamic</a:t>
            </a:r>
            <a:r>
              <a:rPr lang="zh-CN" altLang="en-US" sz="4000" dirty="0"/>
              <a:t> </a:t>
            </a:r>
            <a:r>
              <a:rPr lang="en-US" altLang="zh-CN" sz="4000" dirty="0"/>
              <a:t>FIB</a:t>
            </a:r>
            <a:r>
              <a:rPr lang="zh-CN" altLang="en-US" sz="4000" dirty="0"/>
              <a:t> </a:t>
            </a:r>
            <a:r>
              <a:rPr lang="en-US" altLang="zh-CN" sz="4000" dirty="0"/>
              <a:t>Expanding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121886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 animBg="1"/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DFA1C-C7AC-CD4A-973B-DBB9E901B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508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CN" sz="4000" dirty="0"/>
              <a:t>Dynamic</a:t>
            </a:r>
            <a:r>
              <a:rPr lang="zh-CN" altLang="en-US" sz="4000" dirty="0"/>
              <a:t> </a:t>
            </a:r>
            <a:r>
              <a:rPr lang="en-US" altLang="zh-CN" sz="4000" dirty="0"/>
              <a:t>FIB</a:t>
            </a:r>
            <a:r>
              <a:rPr lang="zh-CN" altLang="en-US" sz="4000" dirty="0"/>
              <a:t> </a:t>
            </a:r>
            <a:r>
              <a:rPr lang="en-US" altLang="zh-CN" sz="4000" dirty="0"/>
              <a:t>Expanding</a:t>
            </a:r>
            <a:endParaRPr lang="en-US" sz="400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E2B5307-C120-7143-9B1B-2D957F9809C9}"/>
              </a:ext>
            </a:extLst>
          </p:cNvPr>
          <p:cNvSpPr txBox="1">
            <a:spLocks/>
          </p:cNvSpPr>
          <p:nvPr/>
        </p:nvSpPr>
        <p:spPr>
          <a:xfrm>
            <a:off x="838200" y="1407354"/>
            <a:ext cx="10515600" cy="5003277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609585" lvl="0" indent="-457189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●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170" lvl="1" indent="-423323" algn="l" defTabSz="914400" rtl="0" eaLnBrk="1" latinLnBrk="0" hangingPunct="1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○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54" lvl="2" indent="-423323" algn="l" defTabSz="914400" rtl="0" eaLnBrk="1" latinLnBrk="0" hangingPunct="1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■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339" lvl="3" indent="-423323" algn="l" defTabSz="914400" rtl="0" eaLnBrk="1" latinLnBrk="0" hangingPunct="1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●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47924" lvl="4" indent="-423323" algn="l" defTabSz="914400" rtl="0" eaLnBrk="1" latinLnBrk="0" hangingPunct="1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○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57509" lvl="5" indent="-423323" algn="l" defTabSz="914400" rtl="0" eaLnBrk="1" latinLnBrk="0" hangingPunct="1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67093" lvl="6" indent="-423323" algn="l" defTabSz="914400" rtl="0" eaLnBrk="1" latinLnBrk="0" hangingPunct="1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●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678" lvl="7" indent="-423323" algn="l" defTabSz="914400" rtl="0" eaLnBrk="1" latinLnBrk="0" hangingPunct="1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○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263" lvl="8" indent="-423323" algn="l" defTabSz="914400" rtl="0" eaLnBrk="1" latinLnBrk="0" hangingPunct="1">
              <a:lnSpc>
                <a:spcPct val="90000"/>
              </a:lnSpc>
              <a:spcBef>
                <a:spcPts val="2133"/>
              </a:spcBef>
              <a:spcAft>
                <a:spcPts val="2133"/>
              </a:spcAft>
              <a:buSzPts val="1400"/>
              <a:buFont typeface="Arial" panose="020B0604020202020204" pitchFamily="34" charset="0"/>
              <a:buChar char="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Triggering:</a:t>
            </a:r>
            <a:r>
              <a:rPr lang="zh-CN" altLang="en-US" dirty="0"/>
              <a:t> </a:t>
            </a:r>
            <a:r>
              <a:rPr lang="en-US" altLang="zh-CN" dirty="0"/>
              <a:t>when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new</a:t>
            </a:r>
            <a:r>
              <a:rPr lang="zh-CN" altLang="en-US" dirty="0"/>
              <a:t> </a:t>
            </a:r>
            <a:r>
              <a:rPr lang="en-US" altLang="zh-CN" dirty="0"/>
              <a:t>ranking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next</a:t>
            </a:r>
            <a:r>
              <a:rPr lang="zh-CN" altLang="en-US" dirty="0"/>
              <a:t> </a:t>
            </a:r>
            <a:r>
              <a:rPr lang="en-US" altLang="zh-CN" dirty="0"/>
              <a:t>hops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measured</a:t>
            </a:r>
          </a:p>
          <a:p>
            <a:r>
              <a:rPr lang="en-US" altLang="zh-CN" dirty="0"/>
              <a:t>Strategies:</a:t>
            </a:r>
          </a:p>
          <a:p>
            <a:pPr lvl="1"/>
            <a:r>
              <a:rPr lang="en-US" altLang="zh-CN" dirty="0"/>
              <a:t>Top-down:</a:t>
            </a:r>
            <a:r>
              <a:rPr lang="zh-CN" altLang="en-US" dirty="0"/>
              <a:t> </a:t>
            </a:r>
            <a:r>
              <a:rPr lang="en-US" altLang="zh-CN" dirty="0"/>
              <a:t>start</a:t>
            </a:r>
            <a:r>
              <a:rPr lang="zh-CN" altLang="en-US" dirty="0"/>
              <a:t> </a:t>
            </a:r>
            <a:r>
              <a:rPr lang="en-US" altLang="zh-CN" dirty="0"/>
              <a:t>from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FIB</a:t>
            </a:r>
            <a:r>
              <a:rPr lang="zh-CN" altLang="en-US" dirty="0"/>
              <a:t> </a:t>
            </a:r>
            <a:r>
              <a:rPr lang="en-US" altLang="zh-CN" dirty="0"/>
              <a:t>name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expand</a:t>
            </a:r>
            <a:r>
              <a:rPr lang="zh-CN" altLang="en-US" dirty="0"/>
              <a:t> </a:t>
            </a:r>
            <a:r>
              <a:rPr lang="en-US" altLang="zh-CN" dirty="0"/>
              <a:t>one</a:t>
            </a:r>
            <a:r>
              <a:rPr lang="zh-CN" altLang="en-US" dirty="0"/>
              <a:t> </a:t>
            </a:r>
            <a:r>
              <a:rPr lang="en-US" altLang="zh-CN" dirty="0"/>
              <a:t>level</a:t>
            </a:r>
            <a:r>
              <a:rPr lang="zh-CN" altLang="en-US" dirty="0"/>
              <a:t> </a:t>
            </a:r>
            <a:r>
              <a:rPr lang="en-US" altLang="zh-CN" dirty="0"/>
              <a:t>down</a:t>
            </a:r>
          </a:p>
          <a:p>
            <a:pPr lvl="1"/>
            <a:r>
              <a:rPr lang="en-US" altLang="zh-CN" dirty="0"/>
              <a:t>Bottom-up:</a:t>
            </a:r>
            <a:r>
              <a:rPr lang="zh-CN" altLang="en-US" dirty="0"/>
              <a:t> </a:t>
            </a:r>
            <a:r>
              <a:rPr lang="en-US" altLang="zh-CN" dirty="0"/>
              <a:t>start</a:t>
            </a:r>
            <a:r>
              <a:rPr lang="zh-CN" altLang="en-US" dirty="0"/>
              <a:t> </a:t>
            </a:r>
            <a:r>
              <a:rPr lang="en-US" altLang="zh-CN" dirty="0"/>
              <a:t>from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Data</a:t>
            </a:r>
            <a:r>
              <a:rPr lang="zh-CN" altLang="en-US" dirty="0"/>
              <a:t> </a:t>
            </a:r>
            <a:r>
              <a:rPr lang="en-US" altLang="zh-CN" dirty="0"/>
              <a:t>name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expand</a:t>
            </a:r>
            <a:r>
              <a:rPr lang="zh-CN" altLang="en-US" dirty="0"/>
              <a:t> </a:t>
            </a:r>
            <a:r>
              <a:rPr lang="en-US" altLang="zh-CN" dirty="0"/>
              <a:t>one</a:t>
            </a:r>
            <a:r>
              <a:rPr lang="zh-CN" altLang="en-US" dirty="0"/>
              <a:t> </a:t>
            </a:r>
            <a:r>
              <a:rPr lang="en-US" altLang="zh-CN" dirty="0"/>
              <a:t>level</a:t>
            </a:r>
            <a:r>
              <a:rPr lang="zh-CN" altLang="en-US" dirty="0"/>
              <a:t> </a:t>
            </a:r>
            <a:r>
              <a:rPr lang="en-US" altLang="zh-CN" dirty="0"/>
              <a:t>up</a:t>
            </a:r>
          </a:p>
          <a:p>
            <a:pPr lvl="1"/>
            <a:r>
              <a:rPr lang="en-US" altLang="zh-CN" dirty="0"/>
              <a:t>Find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Shortest</a:t>
            </a:r>
            <a:r>
              <a:rPr lang="zh-CN" altLang="en-US" dirty="0"/>
              <a:t> </a:t>
            </a:r>
            <a:r>
              <a:rPr lang="en-US" altLang="zh-CN" dirty="0"/>
              <a:t>Name</a:t>
            </a:r>
            <a:r>
              <a:rPr lang="zh-CN" altLang="en-US" dirty="0"/>
              <a:t> </a:t>
            </a:r>
            <a:r>
              <a:rPr lang="en-US" altLang="zh-CN" dirty="0"/>
              <a:t>Prefix</a:t>
            </a:r>
            <a:r>
              <a:rPr lang="zh-CN" altLang="en-US" dirty="0"/>
              <a:t> </a:t>
            </a:r>
            <a:r>
              <a:rPr lang="en-US" altLang="zh-CN" dirty="0"/>
              <a:t>with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Solo</a:t>
            </a:r>
            <a:r>
              <a:rPr lang="zh-CN" altLang="en-US" dirty="0"/>
              <a:t> </a:t>
            </a:r>
            <a:r>
              <a:rPr lang="en-US" altLang="zh-CN" dirty="0"/>
              <a:t>Ranking</a:t>
            </a:r>
            <a:r>
              <a:rPr lang="zh-CN" altLang="en-US" dirty="0"/>
              <a:t> </a:t>
            </a:r>
            <a:r>
              <a:rPr lang="en-US" altLang="zh-CN" dirty="0"/>
              <a:t>(SS)</a:t>
            </a:r>
          </a:p>
          <a:p>
            <a:r>
              <a:rPr lang="en-US" altLang="zh-CN" dirty="0"/>
              <a:t>Strategy</a:t>
            </a:r>
            <a:r>
              <a:rPr lang="zh-CN" altLang="en-US" dirty="0"/>
              <a:t> </a:t>
            </a:r>
            <a:r>
              <a:rPr lang="en-US" altLang="zh-CN" dirty="0"/>
              <a:t>evaluation:</a:t>
            </a:r>
          </a:p>
          <a:p>
            <a:pPr lvl="1"/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number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names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be</a:t>
            </a:r>
            <a:r>
              <a:rPr lang="zh-CN" altLang="en-US" dirty="0"/>
              <a:t> </a:t>
            </a:r>
            <a:r>
              <a:rPr lang="en-US" altLang="zh-CN" dirty="0"/>
              <a:t>inserted</a:t>
            </a:r>
          </a:p>
          <a:p>
            <a:pPr lvl="1"/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length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newly</a:t>
            </a:r>
            <a:r>
              <a:rPr lang="zh-CN" altLang="en-US" dirty="0"/>
              <a:t> </a:t>
            </a:r>
            <a:r>
              <a:rPr lang="en-US" altLang="zh-CN" dirty="0"/>
              <a:t>inserted</a:t>
            </a:r>
            <a:r>
              <a:rPr lang="zh-CN" altLang="en-US" dirty="0"/>
              <a:t> </a:t>
            </a:r>
            <a:r>
              <a:rPr lang="en-US" altLang="zh-CN" dirty="0"/>
              <a:t>names</a:t>
            </a:r>
          </a:p>
          <a:p>
            <a:r>
              <a:rPr lang="en-US" altLang="zh-CN" dirty="0"/>
              <a:t>Dynamic</a:t>
            </a:r>
            <a:r>
              <a:rPr lang="zh-CN" altLang="en-US" dirty="0"/>
              <a:t> </a:t>
            </a:r>
            <a:r>
              <a:rPr lang="en-US" altLang="zh-CN" dirty="0"/>
              <a:t>FIB</a:t>
            </a:r>
            <a:r>
              <a:rPr lang="zh-CN" altLang="en-US" dirty="0"/>
              <a:t> </a:t>
            </a:r>
            <a:r>
              <a:rPr lang="en-US" altLang="zh-CN" dirty="0"/>
              <a:t>Collapsing</a:t>
            </a:r>
            <a:r>
              <a:rPr lang="zh-CN" altLang="en-US" dirty="0"/>
              <a:t> </a:t>
            </a:r>
            <a:r>
              <a:rPr lang="en-US" altLang="zh-CN" dirty="0"/>
              <a:t>mechanisms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60F5226-9332-F748-9B71-34D2FA63D568}"/>
              </a:ext>
            </a:extLst>
          </p:cNvPr>
          <p:cNvSpPr txBox="1"/>
          <p:nvPr/>
        </p:nvSpPr>
        <p:spPr>
          <a:xfrm>
            <a:off x="7407351" y="4297102"/>
            <a:ext cx="4411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Interest: </a:t>
            </a:r>
            <a:r>
              <a:rPr lang="en-US" dirty="0">
                <a:highlight>
                  <a:srgbClr val="FFFF00"/>
                </a:highlight>
              </a:rPr>
              <a:t>/</a:t>
            </a:r>
            <a:r>
              <a:rPr lang="en-US" dirty="0" err="1">
                <a:highlight>
                  <a:srgbClr val="FFFF00"/>
                </a:highlight>
              </a:rPr>
              <a:t>edu</a:t>
            </a:r>
            <a:r>
              <a:rPr lang="en-US" dirty="0">
                <a:highlight>
                  <a:srgbClr val="FFFF00"/>
                </a:highlight>
              </a:rPr>
              <a:t>/</a:t>
            </a:r>
            <a:r>
              <a:rPr lang="en-US" dirty="0" err="1">
                <a:highlight>
                  <a:srgbClr val="FFFF00"/>
                </a:highlight>
              </a:rPr>
              <a:t>ua</a:t>
            </a:r>
            <a:r>
              <a:rPr lang="en-US" dirty="0"/>
              <a:t>/cs/people/</a:t>
            </a:r>
            <a:r>
              <a:rPr lang="en-US" dirty="0" err="1"/>
              <a:t>teng</a:t>
            </a:r>
            <a:r>
              <a:rPr lang="en-US" dirty="0"/>
              <a:t>/</a:t>
            </a:r>
            <a:r>
              <a:rPr lang="en-US" dirty="0" err="1"/>
              <a:t>index.html</a:t>
            </a:r>
            <a:endParaRPr lang="en-US" dirty="0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D5AE0062-B9FB-8A4A-AA58-42B87724F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76459-B699-454A-B8F8-A19AA10ED83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490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54A03-5C42-B54A-8586-AABF4C5A6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4101" y="-19911"/>
            <a:ext cx="77343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CN" sz="4000" dirty="0"/>
              <a:t>Optimize</a:t>
            </a:r>
            <a:r>
              <a:rPr lang="zh-CN" altLang="en-US" sz="4000" dirty="0"/>
              <a:t> </a:t>
            </a:r>
            <a:r>
              <a:rPr lang="en-US" sz="4000" dirty="0"/>
              <a:t>NDN Adaptive Forwarding</a:t>
            </a:r>
            <a:r>
              <a:rPr lang="zh-CN" altLang="en-US" sz="4000" dirty="0"/>
              <a:t> </a:t>
            </a:r>
            <a:r>
              <a:rPr lang="en-US" altLang="zh-CN" sz="4000" dirty="0"/>
              <a:t>Processing</a:t>
            </a:r>
            <a:endParaRPr lang="en-US" sz="4000" dirty="0"/>
          </a:p>
        </p:txBody>
      </p:sp>
      <p:grpSp>
        <p:nvGrpSpPr>
          <p:cNvPr id="99" name="Group 98">
            <a:extLst>
              <a:ext uri="{FF2B5EF4-FFF2-40B4-BE49-F238E27FC236}">
                <a16:creationId xmlns:a16="http://schemas.microsoft.com/office/drawing/2014/main" id="{4CE2A39A-565A-F74D-A835-6F36E0A4693D}"/>
              </a:ext>
            </a:extLst>
          </p:cNvPr>
          <p:cNvGrpSpPr/>
          <p:nvPr/>
        </p:nvGrpSpPr>
        <p:grpSpPr>
          <a:xfrm>
            <a:off x="2930012" y="1482418"/>
            <a:ext cx="7227402" cy="2325187"/>
            <a:chOff x="2595716" y="1443090"/>
            <a:chExt cx="7227402" cy="2325187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A1307CD9-92AF-9E42-99A8-CB3588908BFD}"/>
                </a:ext>
              </a:extLst>
            </p:cNvPr>
            <p:cNvGrpSpPr/>
            <p:nvPr/>
          </p:nvGrpSpPr>
          <p:grpSpPr>
            <a:xfrm>
              <a:off x="4295710" y="1443090"/>
              <a:ext cx="2768821" cy="389858"/>
              <a:chOff x="3518859" y="3384316"/>
              <a:chExt cx="2768821" cy="389858"/>
            </a:xfrm>
          </p:grpSpPr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B15D721D-17D9-7F47-9F5C-33DED5FB2C9D}"/>
                  </a:ext>
                </a:extLst>
              </p:cNvPr>
              <p:cNvSpPr txBox="1"/>
              <p:nvPr/>
            </p:nvSpPr>
            <p:spPr>
              <a:xfrm>
                <a:off x="3518859" y="3384316"/>
                <a:ext cx="35298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latin typeface="Zapf Dingbats"/>
                    <a:ea typeface="Zapf Dingbats"/>
                    <a:cs typeface="Zapf Dingbats"/>
                    <a:sym typeface="Zapf Dingbats"/>
                  </a:rPr>
                  <a:t>✗</a:t>
                </a:r>
                <a:endParaRPr lang="en-US" sz="1600" dirty="0"/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52EC526-1F85-7447-8A3E-4ABA87568DF8}"/>
                  </a:ext>
                </a:extLst>
              </p:cNvPr>
              <p:cNvSpPr txBox="1"/>
              <p:nvPr/>
            </p:nvSpPr>
            <p:spPr>
              <a:xfrm>
                <a:off x="3728461" y="3419153"/>
                <a:ext cx="117109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lookup miss</a:t>
                </a: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E5276519-045C-894B-9058-C1FFCB75746D}"/>
                  </a:ext>
                </a:extLst>
              </p:cNvPr>
              <p:cNvSpPr txBox="1"/>
              <p:nvPr/>
            </p:nvSpPr>
            <p:spPr>
              <a:xfrm>
                <a:off x="5030803" y="3402377"/>
                <a:ext cx="33855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latin typeface="Zapf Dingbats"/>
                    <a:ea typeface="Zapf Dingbats"/>
                    <a:cs typeface="Zapf Dingbats"/>
                    <a:sym typeface="Zapf Dingbats"/>
                  </a:rPr>
                  <a:t>✓</a:t>
                </a:r>
                <a:endParaRPr lang="en-US" sz="1600" dirty="0"/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A9B10961-61FE-BE45-8D2E-E71EC231D0C1}"/>
                  </a:ext>
                </a:extLst>
              </p:cNvPr>
              <p:cNvSpPr txBox="1"/>
              <p:nvPr/>
            </p:nvSpPr>
            <p:spPr>
              <a:xfrm>
                <a:off x="5264066" y="3435620"/>
                <a:ext cx="102361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lookup hit</a:t>
                </a:r>
              </a:p>
            </p:txBody>
          </p:sp>
        </p:grpSp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D1CB755D-AAB5-0440-A752-BA2BB87D69E8}"/>
                </a:ext>
              </a:extLst>
            </p:cNvPr>
            <p:cNvGrpSpPr/>
            <p:nvPr/>
          </p:nvGrpSpPr>
          <p:grpSpPr>
            <a:xfrm>
              <a:off x="2595716" y="1965881"/>
              <a:ext cx="7227402" cy="1802396"/>
              <a:chOff x="2595716" y="1965881"/>
              <a:chExt cx="7227402" cy="1802396"/>
            </a:xfrm>
          </p:grpSpPr>
          <p:sp>
            <p:nvSpPr>
              <p:cNvPr id="25" name="Rounded Rectangle 24">
                <a:extLst>
                  <a:ext uri="{FF2B5EF4-FFF2-40B4-BE49-F238E27FC236}">
                    <a16:creationId xmlns:a16="http://schemas.microsoft.com/office/drawing/2014/main" id="{758DAEFC-8032-364C-9951-0C13F7DC04E8}"/>
                  </a:ext>
                </a:extLst>
              </p:cNvPr>
              <p:cNvSpPr/>
              <p:nvPr/>
            </p:nvSpPr>
            <p:spPr>
              <a:xfrm>
                <a:off x="2861186" y="1965881"/>
                <a:ext cx="6065127" cy="1802396"/>
              </a:xfrm>
              <a:prstGeom prst="roundRect">
                <a:avLst/>
              </a:prstGeom>
              <a:noFill/>
              <a:ln w="19050">
                <a:prstDash val="dash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CD364681-99CF-4B40-8214-DD16EBE10BFB}"/>
                  </a:ext>
                </a:extLst>
              </p:cNvPr>
              <p:cNvCxnSpPr>
                <a:cxnSpLocks/>
                <a:endCxn id="33" idx="1"/>
              </p:cNvCxnSpPr>
              <p:nvPr/>
            </p:nvCxnSpPr>
            <p:spPr bwMode="auto">
              <a:xfrm flipV="1">
                <a:off x="2595716" y="2341458"/>
                <a:ext cx="4733582" cy="20342"/>
              </a:xfrm>
              <a:prstGeom prst="straightConnector1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arrow" w="med" len="med"/>
                <a:tailEnd type="none"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F2B6E427-3D65-3543-92B0-7A584DFE939C}"/>
                  </a:ext>
                </a:extLst>
              </p:cNvPr>
              <p:cNvCxnSpPr>
                <a:cxnSpLocks/>
                <a:stCxn id="33" idx="3"/>
                <a:endCxn id="28" idx="1"/>
              </p:cNvCxnSpPr>
              <p:nvPr/>
            </p:nvCxnSpPr>
            <p:spPr bwMode="auto">
              <a:xfrm>
                <a:off x="7947621" y="2341458"/>
                <a:ext cx="1302904" cy="0"/>
              </a:xfrm>
              <a:prstGeom prst="straightConnector1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arrow" w="med" len="med"/>
                <a:tailEnd type="none"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F8AF995-AC88-D544-B2A5-37BE80A88FE7}"/>
                  </a:ext>
                </a:extLst>
              </p:cNvPr>
              <p:cNvSpPr txBox="1"/>
              <p:nvPr/>
            </p:nvSpPr>
            <p:spPr>
              <a:xfrm>
                <a:off x="9250525" y="2187569"/>
                <a:ext cx="57259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Data</a:t>
                </a: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B42E6F7-85EB-BD4C-B2AD-261D2B238518}"/>
                  </a:ext>
                </a:extLst>
              </p:cNvPr>
              <p:cNvSpPr txBox="1"/>
              <p:nvPr/>
            </p:nvSpPr>
            <p:spPr>
              <a:xfrm>
                <a:off x="7366326" y="3081623"/>
                <a:ext cx="57259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Drop</a:t>
                </a:r>
                <a:endParaRPr lang="en-US" dirty="0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AAAD53D-6B56-8D4C-BE42-1C5A28C0C8B1}"/>
                  </a:ext>
                </a:extLst>
              </p:cNvPr>
              <p:cNvSpPr txBox="1"/>
              <p:nvPr/>
            </p:nvSpPr>
            <p:spPr>
              <a:xfrm>
                <a:off x="6969700" y="2045080"/>
                <a:ext cx="31931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Zapf Dingbats"/>
                    <a:ea typeface="Zapf Dingbats"/>
                    <a:cs typeface="Zapf Dingbats"/>
                    <a:sym typeface="Zapf Dingbats"/>
                  </a:rPr>
                  <a:t>✓</a:t>
                </a:r>
                <a:endParaRPr lang="en-US" dirty="0"/>
              </a:p>
            </p:txBody>
          </p:sp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id="{EDF00FFF-6ABA-2C4C-A4AB-DCA9C34393AA}"/>
                  </a:ext>
                </a:extLst>
              </p:cNvPr>
              <p:cNvCxnSpPr>
                <a:cxnSpLocks/>
                <a:endCxn id="34" idx="0"/>
              </p:cNvCxnSpPr>
              <p:nvPr/>
            </p:nvCxnSpPr>
            <p:spPr bwMode="auto">
              <a:xfrm>
                <a:off x="6592415" y="2353030"/>
                <a:ext cx="1" cy="612103"/>
              </a:xfrm>
              <a:prstGeom prst="straightConnector1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arrow"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1D6F1583-9CA2-3E4E-BD9F-6F3E7159FB91}"/>
                  </a:ext>
                </a:extLst>
              </p:cNvPr>
              <p:cNvSpPr txBox="1"/>
              <p:nvPr/>
            </p:nvSpPr>
            <p:spPr>
              <a:xfrm>
                <a:off x="7616246" y="2556144"/>
                <a:ext cx="33054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Zapf Dingbats"/>
                    <a:ea typeface="Zapf Dingbats"/>
                    <a:cs typeface="Zapf Dingbats"/>
                    <a:sym typeface="Zapf Dingbats"/>
                  </a:rPr>
                  <a:t>✗</a:t>
                </a:r>
                <a:endParaRPr lang="en-US" dirty="0"/>
              </a:p>
            </p:txBody>
          </p:sp>
          <p:sp>
            <p:nvSpPr>
              <p:cNvPr id="33" name="Rounded Rectangle 32">
                <a:extLst>
                  <a:ext uri="{FF2B5EF4-FFF2-40B4-BE49-F238E27FC236}">
                    <a16:creationId xmlns:a16="http://schemas.microsoft.com/office/drawing/2014/main" id="{BEF11EAE-B243-7841-AF53-E1EF6EEC77B3}"/>
                  </a:ext>
                </a:extLst>
              </p:cNvPr>
              <p:cNvSpPr/>
              <p:nvPr/>
            </p:nvSpPr>
            <p:spPr bwMode="auto">
              <a:xfrm>
                <a:off x="7329298" y="2136790"/>
                <a:ext cx="618323" cy="409336"/>
              </a:xfrm>
              <a:prstGeom prst="roundRect">
                <a:avLst/>
              </a:prstGeom>
              <a:solidFill>
                <a:schemeClr val="l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68580" tIns="34290" rIns="68580" bIns="3429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dirty="0">
                    <a:latin typeface="Arial" charset="0"/>
                    <a:ea typeface="ＭＳ Ｐゴシック" charset="0"/>
                    <a:cs typeface="ＭＳ Ｐゴシック" charset="0"/>
                  </a:rPr>
                  <a:t>PIT</a:t>
                </a:r>
                <a:endParaRPr lang="en-US" dirty="0"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34" name="Rounded Rectangle 33">
                <a:extLst>
                  <a:ext uri="{FF2B5EF4-FFF2-40B4-BE49-F238E27FC236}">
                    <a16:creationId xmlns:a16="http://schemas.microsoft.com/office/drawing/2014/main" id="{ECC5812D-8829-EE4F-A19D-120DB255F276}"/>
                  </a:ext>
                </a:extLst>
              </p:cNvPr>
              <p:cNvSpPr/>
              <p:nvPr/>
            </p:nvSpPr>
            <p:spPr bwMode="auto">
              <a:xfrm>
                <a:off x="6339832" y="2965133"/>
                <a:ext cx="505167" cy="409336"/>
              </a:xfrm>
              <a:prstGeom prst="roundRect">
                <a:avLst/>
              </a:prstGeom>
              <a:solidFill>
                <a:schemeClr val="l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68580" tIns="34290" rIns="68580" bIns="3429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dirty="0">
                    <a:latin typeface="Arial" charset="0"/>
                    <a:ea typeface="ＭＳ Ｐゴシック" charset="0"/>
                    <a:cs typeface="ＭＳ Ｐゴシック" charset="0"/>
                  </a:rPr>
                  <a:t>CS</a:t>
                </a:r>
                <a:endParaRPr lang="en-US" dirty="0"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62511592-E9F0-F74E-9EDC-6D8E39769CE2}"/>
                  </a:ext>
                </a:extLst>
              </p:cNvPr>
              <p:cNvCxnSpPr>
                <a:cxnSpLocks/>
                <a:stCxn id="33" idx="2"/>
              </p:cNvCxnSpPr>
              <p:nvPr/>
            </p:nvCxnSpPr>
            <p:spPr bwMode="auto">
              <a:xfrm>
                <a:off x="7638460" y="2546126"/>
                <a:ext cx="28327" cy="547080"/>
              </a:xfrm>
              <a:prstGeom prst="straightConnector1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arrow"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4D033505-2172-3649-AA1F-60212D84CA75}"/>
                  </a:ext>
                </a:extLst>
              </p:cNvPr>
              <p:cNvCxnSpPr>
                <a:cxnSpLocks/>
                <a:endCxn id="45" idx="0"/>
              </p:cNvCxnSpPr>
              <p:nvPr/>
            </p:nvCxnSpPr>
            <p:spPr bwMode="auto">
              <a:xfrm>
                <a:off x="5118044" y="2355340"/>
                <a:ext cx="0" cy="627898"/>
              </a:xfrm>
              <a:prstGeom prst="straightConnector1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arrow"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25D69C13-0823-8D41-B9C2-B97BFC801A63}"/>
                  </a:ext>
                </a:extLst>
              </p:cNvPr>
              <p:cNvSpPr txBox="1"/>
              <p:nvPr/>
            </p:nvSpPr>
            <p:spPr>
              <a:xfrm>
                <a:off x="3650502" y="2006722"/>
                <a:ext cx="134253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dirty="0"/>
                  <a:t>Forward</a:t>
                </a:r>
                <a:endParaRPr lang="en-US" dirty="0"/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A031C3C1-4923-9A44-999B-46EF8663CECC}"/>
                  </a:ext>
                </a:extLst>
              </p:cNvPr>
              <p:cNvSpPr txBox="1"/>
              <p:nvPr/>
            </p:nvSpPr>
            <p:spPr>
              <a:xfrm>
                <a:off x="6561191" y="2483872"/>
                <a:ext cx="70243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Cache</a:t>
                </a:r>
                <a:endParaRPr lang="en-US" dirty="0"/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8775B138-33EB-BE4A-8A8D-D68F905AE449}"/>
                  </a:ext>
                </a:extLst>
              </p:cNvPr>
              <p:cNvSpPr txBox="1"/>
              <p:nvPr/>
            </p:nvSpPr>
            <p:spPr>
              <a:xfrm>
                <a:off x="5010473" y="2451866"/>
                <a:ext cx="11107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F0000"/>
                    </a:solidFill>
                  </a:rPr>
                  <a:t>Update</a:t>
                </a:r>
                <a:endParaRPr lang="en-US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45" name="Rounded Rectangle 44">
                <a:extLst>
                  <a:ext uri="{FF2B5EF4-FFF2-40B4-BE49-F238E27FC236}">
                    <a16:creationId xmlns:a16="http://schemas.microsoft.com/office/drawing/2014/main" id="{B7204CCD-A7C1-FC40-9ADE-9CADB74E5D5D}"/>
                  </a:ext>
                </a:extLst>
              </p:cNvPr>
              <p:cNvSpPr/>
              <p:nvPr/>
            </p:nvSpPr>
            <p:spPr bwMode="auto">
              <a:xfrm>
                <a:off x="4286979" y="2983238"/>
                <a:ext cx="1662129" cy="424266"/>
              </a:xfrm>
              <a:prstGeom prst="roundRect">
                <a:avLst/>
              </a:prstGeom>
              <a:noFill/>
              <a:ln w="25400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1400" dirty="0">
                    <a:solidFill>
                      <a:srgbClr val="C00000"/>
                    </a:solidFill>
                    <a:latin typeface="Arial" charset="0"/>
                    <a:ea typeface="ＭＳ Ｐゴシック" charset="0"/>
                    <a:cs typeface="ＭＳ Ｐゴシック" charset="0"/>
                  </a:rPr>
                  <a:t>FIB/Measurement</a:t>
                </a:r>
                <a:endParaRPr lang="en-US" sz="1400" dirty="0">
                  <a:solidFill>
                    <a:srgbClr val="C00000"/>
                  </a:solidFill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</p:grp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2904C1DD-85FA-9446-9E7E-8A664F608151}"/>
              </a:ext>
            </a:extLst>
          </p:cNvPr>
          <p:cNvGrpSpPr/>
          <p:nvPr/>
        </p:nvGrpSpPr>
        <p:grpSpPr>
          <a:xfrm>
            <a:off x="2930012" y="4298690"/>
            <a:ext cx="7235260" cy="1802396"/>
            <a:chOff x="2595716" y="4131546"/>
            <a:chExt cx="7235260" cy="1802396"/>
          </a:xfrm>
        </p:grpSpPr>
        <p:sp>
          <p:nvSpPr>
            <p:cNvPr id="59" name="Rounded Rectangle 58">
              <a:extLst>
                <a:ext uri="{FF2B5EF4-FFF2-40B4-BE49-F238E27FC236}">
                  <a16:creationId xmlns:a16="http://schemas.microsoft.com/office/drawing/2014/main" id="{386A6E0F-00A3-824C-8389-AFF6B6502500}"/>
                </a:ext>
              </a:extLst>
            </p:cNvPr>
            <p:cNvSpPr/>
            <p:nvPr/>
          </p:nvSpPr>
          <p:spPr>
            <a:xfrm>
              <a:off x="2861187" y="4131546"/>
              <a:ext cx="6065127" cy="1802396"/>
            </a:xfrm>
            <a:prstGeom prst="roundRect">
              <a:avLst/>
            </a:prstGeom>
            <a:noFill/>
            <a:ln w="19050"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7A9AEE85-2D48-9F4A-9E05-4735F60B60AB}"/>
                </a:ext>
              </a:extLst>
            </p:cNvPr>
            <p:cNvCxnSpPr>
              <a:cxnSpLocks/>
              <a:endCxn id="67" idx="1"/>
            </p:cNvCxnSpPr>
            <p:nvPr/>
          </p:nvCxnSpPr>
          <p:spPr bwMode="auto">
            <a:xfrm flipV="1">
              <a:off x="2595716" y="4546603"/>
              <a:ext cx="4741440" cy="11399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arrow" w="med" len="med"/>
              <a:tailEnd type="none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658075CB-9BFA-DB43-A521-5AC875A06890}"/>
                </a:ext>
              </a:extLst>
            </p:cNvPr>
            <p:cNvCxnSpPr>
              <a:cxnSpLocks/>
              <a:stCxn id="67" idx="3"/>
              <a:endCxn id="62" idx="1"/>
            </p:cNvCxnSpPr>
            <p:nvPr/>
          </p:nvCxnSpPr>
          <p:spPr bwMode="auto">
            <a:xfrm>
              <a:off x="7955479" y="4546603"/>
              <a:ext cx="1302904" cy="0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arrow" w="med" len="med"/>
              <a:tailEnd type="none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D40F9C34-516E-8843-A0D5-DE286D8E66C9}"/>
                </a:ext>
              </a:extLst>
            </p:cNvPr>
            <p:cNvSpPr txBox="1"/>
            <p:nvPr/>
          </p:nvSpPr>
          <p:spPr>
            <a:xfrm>
              <a:off x="9258383" y="4392714"/>
              <a:ext cx="57259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Data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CA065B76-E932-B548-B504-5741EF86F6CC}"/>
                </a:ext>
              </a:extLst>
            </p:cNvPr>
            <p:cNvSpPr txBox="1"/>
            <p:nvPr/>
          </p:nvSpPr>
          <p:spPr>
            <a:xfrm>
              <a:off x="7374184" y="5286768"/>
              <a:ext cx="57259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Drop</a:t>
              </a:r>
              <a:endParaRPr lang="en-US" dirty="0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544D20C3-6F84-DE4E-848D-ED2C6E796B3D}"/>
                </a:ext>
              </a:extLst>
            </p:cNvPr>
            <p:cNvSpPr txBox="1"/>
            <p:nvPr/>
          </p:nvSpPr>
          <p:spPr>
            <a:xfrm>
              <a:off x="6977558" y="4250225"/>
              <a:ext cx="3193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Zapf Dingbats"/>
                  <a:ea typeface="Zapf Dingbats"/>
                  <a:cs typeface="Zapf Dingbats"/>
                  <a:sym typeface="Zapf Dingbats"/>
                </a:rPr>
                <a:t>✓</a:t>
              </a:r>
              <a:endParaRPr lang="en-US" dirty="0"/>
            </a:p>
          </p:txBody>
        </p: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9764C33A-8B3E-B145-9B28-37AC8E69684B}"/>
                </a:ext>
              </a:extLst>
            </p:cNvPr>
            <p:cNvCxnSpPr>
              <a:cxnSpLocks/>
              <a:endCxn id="68" idx="0"/>
            </p:cNvCxnSpPr>
            <p:nvPr/>
          </p:nvCxnSpPr>
          <p:spPr bwMode="auto">
            <a:xfrm>
              <a:off x="6600273" y="4558175"/>
              <a:ext cx="1" cy="612103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2F5F793B-0DCA-AA4F-8E3E-ACDED9C9BAB9}"/>
                </a:ext>
              </a:extLst>
            </p:cNvPr>
            <p:cNvSpPr txBox="1"/>
            <p:nvPr/>
          </p:nvSpPr>
          <p:spPr>
            <a:xfrm>
              <a:off x="7624104" y="4761289"/>
              <a:ext cx="33054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Zapf Dingbats"/>
                  <a:ea typeface="Zapf Dingbats"/>
                  <a:cs typeface="Zapf Dingbats"/>
                  <a:sym typeface="Zapf Dingbats"/>
                </a:rPr>
                <a:t>✗</a:t>
              </a:r>
              <a:endParaRPr lang="en-US" dirty="0"/>
            </a:p>
          </p:txBody>
        </p:sp>
        <p:sp>
          <p:nvSpPr>
            <p:cNvPr id="67" name="Rounded Rectangle 66">
              <a:extLst>
                <a:ext uri="{FF2B5EF4-FFF2-40B4-BE49-F238E27FC236}">
                  <a16:creationId xmlns:a16="http://schemas.microsoft.com/office/drawing/2014/main" id="{0B73F38D-8610-B94A-87E7-B4D41611112C}"/>
                </a:ext>
              </a:extLst>
            </p:cNvPr>
            <p:cNvSpPr/>
            <p:nvPr/>
          </p:nvSpPr>
          <p:spPr bwMode="auto">
            <a:xfrm>
              <a:off x="7337156" y="4341935"/>
              <a:ext cx="618323" cy="409336"/>
            </a:xfrm>
            <a:prstGeom prst="roundRect">
              <a:avLst/>
            </a:prstGeom>
            <a:solidFill>
              <a:schemeClr val="l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dirty="0">
                  <a:latin typeface="Arial" charset="0"/>
                  <a:ea typeface="ＭＳ Ｐゴシック" charset="0"/>
                  <a:cs typeface="ＭＳ Ｐゴシック" charset="0"/>
                </a:rPr>
                <a:t>PIT</a:t>
              </a:r>
              <a:endParaRPr lang="en-US" dirty="0"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68" name="Rounded Rectangle 67">
              <a:extLst>
                <a:ext uri="{FF2B5EF4-FFF2-40B4-BE49-F238E27FC236}">
                  <a16:creationId xmlns:a16="http://schemas.microsoft.com/office/drawing/2014/main" id="{A471F697-6FCB-894A-90DF-DF71453E5C91}"/>
                </a:ext>
              </a:extLst>
            </p:cNvPr>
            <p:cNvSpPr/>
            <p:nvPr/>
          </p:nvSpPr>
          <p:spPr bwMode="auto">
            <a:xfrm>
              <a:off x="6347690" y="5170278"/>
              <a:ext cx="505167" cy="409336"/>
            </a:xfrm>
            <a:prstGeom prst="roundRect">
              <a:avLst/>
            </a:prstGeom>
            <a:solidFill>
              <a:schemeClr val="l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dirty="0">
                  <a:latin typeface="Arial" charset="0"/>
                  <a:ea typeface="ＭＳ Ｐゴシック" charset="0"/>
                  <a:cs typeface="ＭＳ Ｐゴシック" charset="0"/>
                </a:rPr>
                <a:t>CS</a:t>
              </a:r>
              <a:endParaRPr lang="en-US" dirty="0"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CA14D72A-9702-6041-B8FF-5D20D1BEE3A1}"/>
                </a:ext>
              </a:extLst>
            </p:cNvPr>
            <p:cNvCxnSpPr>
              <a:cxnSpLocks/>
              <a:stCxn id="67" idx="2"/>
            </p:cNvCxnSpPr>
            <p:nvPr/>
          </p:nvCxnSpPr>
          <p:spPr bwMode="auto">
            <a:xfrm>
              <a:off x="7646318" y="4751271"/>
              <a:ext cx="28327" cy="547080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70" name="Straight Arrow Connector 69">
              <a:extLst>
                <a:ext uri="{FF2B5EF4-FFF2-40B4-BE49-F238E27FC236}">
                  <a16:creationId xmlns:a16="http://schemas.microsoft.com/office/drawing/2014/main" id="{364BD069-A516-BA48-9FEB-93AFB3CCA1B7}"/>
                </a:ext>
              </a:extLst>
            </p:cNvPr>
            <p:cNvCxnSpPr>
              <a:cxnSpLocks/>
              <a:endCxn id="74" idx="0"/>
            </p:cNvCxnSpPr>
            <p:nvPr/>
          </p:nvCxnSpPr>
          <p:spPr bwMode="auto">
            <a:xfrm>
              <a:off x="5332540" y="4519644"/>
              <a:ext cx="0" cy="650635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5700F351-E12C-C64F-A6B9-8DF6C4A3A9E5}"/>
                </a:ext>
              </a:extLst>
            </p:cNvPr>
            <p:cNvSpPr txBox="1"/>
            <p:nvPr/>
          </p:nvSpPr>
          <p:spPr>
            <a:xfrm>
              <a:off x="3658360" y="4211867"/>
              <a:ext cx="134253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/>
                <a:t>Forward</a:t>
              </a:r>
              <a:endParaRPr lang="en-US" dirty="0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8A4BFC35-7EAC-8E4D-84C1-6983EE3B103C}"/>
                </a:ext>
              </a:extLst>
            </p:cNvPr>
            <p:cNvSpPr txBox="1"/>
            <p:nvPr/>
          </p:nvSpPr>
          <p:spPr>
            <a:xfrm>
              <a:off x="6569049" y="4689017"/>
              <a:ext cx="70243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Cache</a:t>
              </a:r>
              <a:endParaRPr lang="en-US" dirty="0"/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F46A9C8F-A662-594F-99A1-8A1DBB467308}"/>
                </a:ext>
              </a:extLst>
            </p:cNvPr>
            <p:cNvSpPr txBox="1"/>
            <p:nvPr/>
          </p:nvSpPr>
          <p:spPr>
            <a:xfrm>
              <a:off x="3892401" y="4824238"/>
              <a:ext cx="83498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solidFill>
                    <a:srgbClr val="FF0000"/>
                  </a:solidFill>
                </a:rPr>
                <a:t>Filter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p:sp>
          <p:nvSpPr>
            <p:cNvPr id="74" name="Rounded Rectangle 73">
              <a:extLst>
                <a:ext uri="{FF2B5EF4-FFF2-40B4-BE49-F238E27FC236}">
                  <a16:creationId xmlns:a16="http://schemas.microsoft.com/office/drawing/2014/main" id="{06D9973E-B319-BC40-A64E-CAF764412058}"/>
                </a:ext>
              </a:extLst>
            </p:cNvPr>
            <p:cNvSpPr/>
            <p:nvPr/>
          </p:nvSpPr>
          <p:spPr bwMode="auto">
            <a:xfrm>
              <a:off x="4505025" y="5170279"/>
              <a:ext cx="1655029" cy="424266"/>
            </a:xfrm>
            <a:prstGeom prst="roundRect">
              <a:avLst/>
            </a:prstGeom>
            <a:noFill/>
            <a:ln w="254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00" dirty="0">
                  <a:solidFill>
                    <a:srgbClr val="C00000"/>
                  </a:solidFill>
                  <a:latin typeface="Arial" charset="0"/>
                  <a:ea typeface="ＭＳ Ｐゴシック" charset="0"/>
                  <a:cs typeface="ＭＳ Ｐゴシック" charset="0"/>
                </a:rPr>
                <a:t>PIT/Measurement</a:t>
              </a:r>
              <a:endParaRPr lang="en-US" sz="1400" dirty="0">
                <a:solidFill>
                  <a:srgbClr val="C00000"/>
                </a:solidFill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77" name="Rounded Rectangle 76">
              <a:extLst>
                <a:ext uri="{FF2B5EF4-FFF2-40B4-BE49-F238E27FC236}">
                  <a16:creationId xmlns:a16="http://schemas.microsoft.com/office/drawing/2014/main" id="{7BAC024C-60D9-9C4D-9620-88356FD01E5F}"/>
                </a:ext>
              </a:extLst>
            </p:cNvPr>
            <p:cNvSpPr/>
            <p:nvPr/>
          </p:nvSpPr>
          <p:spPr bwMode="auto">
            <a:xfrm>
              <a:off x="3182496" y="5170279"/>
              <a:ext cx="903900" cy="424266"/>
            </a:xfrm>
            <a:prstGeom prst="roundRect">
              <a:avLst/>
            </a:prstGeom>
            <a:noFill/>
            <a:ln w="254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00" dirty="0">
                  <a:solidFill>
                    <a:srgbClr val="C00000"/>
                  </a:solidFill>
                  <a:latin typeface="Arial" charset="0"/>
                  <a:ea typeface="ＭＳ Ｐゴシック" charset="0"/>
                  <a:cs typeface="ＭＳ Ｐゴシック" charset="0"/>
                </a:rPr>
                <a:t>FIB</a:t>
              </a:r>
              <a:endParaRPr lang="en-US" sz="1400" dirty="0">
                <a:solidFill>
                  <a:srgbClr val="C00000"/>
                </a:solidFill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5039E2DE-8E60-2242-AAF9-6FD01E21B457}"/>
                </a:ext>
              </a:extLst>
            </p:cNvPr>
            <p:cNvCxnSpPr>
              <a:cxnSpLocks/>
              <a:stCxn id="74" idx="1"/>
              <a:endCxn id="77" idx="3"/>
            </p:cNvCxnSpPr>
            <p:nvPr/>
          </p:nvCxnSpPr>
          <p:spPr bwMode="auto">
            <a:xfrm flipH="1">
              <a:off x="4086396" y="5382412"/>
              <a:ext cx="418629" cy="0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8E1E4D40-614D-D14F-8C5F-777EE15C7D67}"/>
                </a:ext>
              </a:extLst>
            </p:cNvPr>
            <p:cNvSpPr txBox="1"/>
            <p:nvPr/>
          </p:nvSpPr>
          <p:spPr>
            <a:xfrm>
              <a:off x="5217357" y="4679560"/>
              <a:ext cx="11107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solidFill>
                    <a:srgbClr val="FF0000"/>
                  </a:solidFill>
                </a:rPr>
                <a:t>Update</a:t>
              </a:r>
              <a:endParaRPr lang="en-US" dirty="0">
                <a:solidFill>
                  <a:srgbClr val="FF0000"/>
                </a:solidFill>
              </a:endParaRPr>
            </a:p>
          </p:txBody>
        </p:sp>
      </p:grpSp>
      <p:sp>
        <p:nvSpPr>
          <p:cNvPr id="100" name="TextBox 99">
            <a:extLst>
              <a:ext uri="{FF2B5EF4-FFF2-40B4-BE49-F238E27FC236}">
                <a16:creationId xmlns:a16="http://schemas.microsoft.com/office/drawing/2014/main" id="{8B257197-3096-F946-9CA3-5EE926D6446A}"/>
              </a:ext>
            </a:extLst>
          </p:cNvPr>
          <p:cNvSpPr txBox="1"/>
          <p:nvPr/>
        </p:nvSpPr>
        <p:spPr>
          <a:xfrm>
            <a:off x="1459378" y="2605796"/>
            <a:ext cx="15815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Existing</a:t>
            </a:r>
            <a:r>
              <a:rPr lang="zh-CN" altLang="en-US" dirty="0"/>
              <a:t> </a:t>
            </a:r>
            <a:r>
              <a:rPr lang="en-US" altLang="zh-CN" dirty="0"/>
              <a:t>Design</a:t>
            </a:r>
            <a:endParaRPr lang="en-US" dirty="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64F7C431-9FCD-084C-A23C-46ED992D20B4}"/>
              </a:ext>
            </a:extLst>
          </p:cNvPr>
          <p:cNvSpPr txBox="1"/>
          <p:nvPr/>
        </p:nvSpPr>
        <p:spPr>
          <a:xfrm>
            <a:off x="1544000" y="4859118"/>
            <a:ext cx="14088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Our</a:t>
            </a:r>
            <a:r>
              <a:rPr lang="zh-CN" altLang="en-US" dirty="0"/>
              <a:t> </a:t>
            </a:r>
            <a:r>
              <a:rPr lang="en-US" altLang="zh-CN" dirty="0"/>
              <a:t>proposal</a:t>
            </a:r>
            <a:endParaRPr lang="en-US" dirty="0"/>
          </a:p>
        </p:txBody>
      </p:sp>
      <p:sp>
        <p:nvSpPr>
          <p:cNvPr id="102" name="Slide Number Placeholder 101">
            <a:extLst>
              <a:ext uri="{FF2B5EF4-FFF2-40B4-BE49-F238E27FC236}">
                <a16:creationId xmlns:a16="http://schemas.microsoft.com/office/drawing/2014/main" id="{3EA071C4-7EF9-D347-8237-83173BF13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76459-B699-454A-B8F8-A19AA10ED83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804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" grpId="0"/>
      <p:bldP spid="10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>
            <a:extLst>
              <a:ext uri="{FF2B5EF4-FFF2-40B4-BE49-F238E27FC236}">
                <a16:creationId xmlns:a16="http://schemas.microsoft.com/office/drawing/2014/main" id="{7855C97B-76B4-CC45-875C-6692A7C7499F}"/>
              </a:ext>
            </a:extLst>
          </p:cNvPr>
          <p:cNvSpPr txBox="1">
            <a:spLocks/>
          </p:cNvSpPr>
          <p:nvPr/>
        </p:nvSpPr>
        <p:spPr>
          <a:xfrm>
            <a:off x="838200" y="-15082"/>
            <a:ext cx="10515600" cy="1325563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 algn="ctr"/>
            <a:r>
              <a:rPr lang="en-US" altLang="zh-CN" sz="4000" dirty="0"/>
              <a:t>Summary</a:t>
            </a:r>
            <a:endParaRPr lang="en-US" sz="4000" dirty="0"/>
          </a:p>
        </p:txBody>
      </p:sp>
      <p:sp>
        <p:nvSpPr>
          <p:cNvPr id="52" name="Content Placeholder 2">
            <a:extLst>
              <a:ext uri="{FF2B5EF4-FFF2-40B4-BE49-F238E27FC236}">
                <a16:creationId xmlns:a16="http://schemas.microsoft.com/office/drawing/2014/main" id="{AC0DD3D6-B98D-164D-B215-5CC8EC35DFAC}"/>
              </a:ext>
            </a:extLst>
          </p:cNvPr>
          <p:cNvSpPr txBox="1">
            <a:spLocks/>
          </p:cNvSpPr>
          <p:nvPr/>
        </p:nvSpPr>
        <p:spPr>
          <a:xfrm>
            <a:off x="838200" y="1407354"/>
            <a:ext cx="10515600" cy="5003277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609585" lvl="0" indent="-457189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●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170" lvl="1" indent="-423323" algn="l" defTabSz="914400" rtl="0" eaLnBrk="1" latinLnBrk="0" hangingPunct="1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○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54" lvl="2" indent="-423323" algn="l" defTabSz="914400" rtl="0" eaLnBrk="1" latinLnBrk="0" hangingPunct="1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■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339" lvl="3" indent="-423323" algn="l" defTabSz="914400" rtl="0" eaLnBrk="1" latinLnBrk="0" hangingPunct="1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●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47924" lvl="4" indent="-423323" algn="l" defTabSz="914400" rtl="0" eaLnBrk="1" latinLnBrk="0" hangingPunct="1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○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57509" lvl="5" indent="-423323" algn="l" defTabSz="914400" rtl="0" eaLnBrk="1" latinLnBrk="0" hangingPunct="1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67093" lvl="6" indent="-423323" algn="l" defTabSz="914400" rtl="0" eaLnBrk="1" latinLnBrk="0" hangingPunct="1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●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678" lvl="7" indent="-423323" algn="l" defTabSz="914400" rtl="0" eaLnBrk="1" latinLnBrk="0" hangingPunct="1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○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263" lvl="8" indent="-423323" algn="l" defTabSz="914400" rtl="0" eaLnBrk="1" latinLnBrk="0" hangingPunct="1">
              <a:lnSpc>
                <a:spcPct val="90000"/>
              </a:lnSpc>
              <a:spcBef>
                <a:spcPts val="2133"/>
              </a:spcBef>
              <a:spcAft>
                <a:spcPts val="2133"/>
              </a:spcAft>
              <a:buSzPts val="1400"/>
              <a:buFont typeface="Arial" panose="020B0604020202020204" pitchFamily="34" charset="0"/>
              <a:buChar char="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Prefix</a:t>
            </a:r>
            <a:r>
              <a:rPr lang="zh-CN" altLang="en-US" dirty="0"/>
              <a:t> </a:t>
            </a:r>
            <a:r>
              <a:rPr lang="en-US" altLang="zh-CN" dirty="0"/>
              <a:t>Granularity</a:t>
            </a:r>
            <a:r>
              <a:rPr lang="zh-CN" altLang="en-US" dirty="0"/>
              <a:t> </a:t>
            </a:r>
            <a:r>
              <a:rPr lang="en-US" altLang="zh-CN" dirty="0"/>
              <a:t>Problem:</a:t>
            </a:r>
          </a:p>
          <a:p>
            <a:pPr lvl="1"/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balance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trade-offs</a:t>
            </a:r>
            <a:r>
              <a:rPr lang="zh-CN" altLang="en-US" dirty="0"/>
              <a:t> </a:t>
            </a:r>
            <a:r>
              <a:rPr lang="en-US" altLang="zh-CN" dirty="0"/>
              <a:t>between</a:t>
            </a:r>
            <a:r>
              <a:rPr lang="zh-CN" altLang="en-US" dirty="0"/>
              <a:t> </a:t>
            </a:r>
            <a:r>
              <a:rPr lang="en-US" altLang="zh-CN" dirty="0"/>
              <a:t>Interest</a:t>
            </a:r>
            <a:r>
              <a:rPr lang="zh-CN" altLang="en-US" dirty="0"/>
              <a:t> </a:t>
            </a:r>
            <a:r>
              <a:rPr lang="en-US" altLang="zh-CN" dirty="0"/>
              <a:t>routing</a:t>
            </a:r>
            <a:r>
              <a:rPr lang="zh-CN" altLang="en-US" dirty="0"/>
              <a:t> </a:t>
            </a:r>
            <a:r>
              <a:rPr lang="en-US" altLang="zh-CN" dirty="0"/>
              <a:t>locality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FIB</a:t>
            </a:r>
            <a:r>
              <a:rPr lang="zh-CN" altLang="en-US" dirty="0"/>
              <a:t> </a:t>
            </a:r>
            <a:r>
              <a:rPr lang="en-US" altLang="zh-CN" dirty="0"/>
              <a:t>size</a:t>
            </a:r>
          </a:p>
          <a:p>
            <a:pPr lvl="1"/>
            <a:endParaRPr lang="en-US" altLang="zh-CN" dirty="0"/>
          </a:p>
          <a:p>
            <a:r>
              <a:rPr lang="en-US" altLang="zh-CN" dirty="0"/>
              <a:t>Key</a:t>
            </a:r>
            <a:r>
              <a:rPr lang="zh-CN" altLang="en-US" dirty="0"/>
              <a:t> </a:t>
            </a:r>
            <a:r>
              <a:rPr lang="en-US" altLang="zh-CN" dirty="0"/>
              <a:t>ideas:</a:t>
            </a:r>
          </a:p>
          <a:p>
            <a:pPr lvl="1"/>
            <a:r>
              <a:rPr lang="en-US" altLang="zh-CN" dirty="0"/>
              <a:t>Dynamic</a:t>
            </a:r>
            <a:r>
              <a:rPr lang="zh-CN" altLang="en-US" dirty="0"/>
              <a:t> </a:t>
            </a:r>
            <a:r>
              <a:rPr lang="en-US" altLang="zh-CN" dirty="0"/>
              <a:t>FIB</a:t>
            </a:r>
            <a:r>
              <a:rPr lang="zh-CN" altLang="en-US" dirty="0"/>
              <a:t> </a:t>
            </a:r>
            <a:r>
              <a:rPr lang="en-US" altLang="zh-CN" dirty="0"/>
              <a:t>Expanding:</a:t>
            </a:r>
            <a:r>
              <a:rPr lang="zh-CN" altLang="en-US" dirty="0"/>
              <a:t> </a:t>
            </a:r>
            <a:r>
              <a:rPr lang="en-US" altLang="zh-CN" dirty="0"/>
              <a:t>disaggregating</a:t>
            </a:r>
            <a:r>
              <a:rPr lang="zh-CN" altLang="en-US" dirty="0"/>
              <a:t> </a:t>
            </a:r>
            <a:r>
              <a:rPr lang="en-US" altLang="zh-CN" dirty="0"/>
              <a:t>FIB</a:t>
            </a:r>
            <a:r>
              <a:rPr lang="zh-CN" altLang="en-US" dirty="0"/>
              <a:t> </a:t>
            </a:r>
            <a:r>
              <a:rPr lang="en-US" altLang="zh-CN" dirty="0"/>
              <a:t>names</a:t>
            </a:r>
          </a:p>
          <a:p>
            <a:pPr lvl="1"/>
            <a:r>
              <a:rPr lang="en-US" altLang="zh-CN" dirty="0"/>
              <a:t>Dynamic</a:t>
            </a:r>
            <a:r>
              <a:rPr lang="zh-CN" altLang="en-US" dirty="0"/>
              <a:t> </a:t>
            </a:r>
            <a:r>
              <a:rPr lang="en-US" altLang="zh-CN" dirty="0"/>
              <a:t>FIB</a:t>
            </a:r>
            <a:r>
              <a:rPr lang="zh-CN" altLang="en-US" dirty="0"/>
              <a:t> </a:t>
            </a:r>
            <a:r>
              <a:rPr lang="en-US" altLang="zh-CN" dirty="0"/>
              <a:t>Collapsing:</a:t>
            </a:r>
            <a:r>
              <a:rPr lang="zh-CN" altLang="en-US" dirty="0"/>
              <a:t> </a:t>
            </a:r>
            <a:r>
              <a:rPr lang="en-US" altLang="zh-CN" dirty="0"/>
              <a:t>aggregating</a:t>
            </a:r>
            <a:r>
              <a:rPr lang="zh-CN" altLang="en-US" dirty="0"/>
              <a:t> </a:t>
            </a:r>
            <a:r>
              <a:rPr lang="en-US" altLang="zh-CN" dirty="0"/>
              <a:t>FIB</a:t>
            </a:r>
            <a:r>
              <a:rPr lang="zh-CN" altLang="en-US" dirty="0"/>
              <a:t> </a:t>
            </a:r>
            <a:r>
              <a:rPr lang="en-US" altLang="zh-CN" dirty="0"/>
              <a:t>names</a:t>
            </a:r>
          </a:p>
          <a:p>
            <a:pPr lvl="1"/>
            <a:endParaRPr lang="en-US" altLang="zh-CN" dirty="0"/>
          </a:p>
          <a:p>
            <a:r>
              <a:rPr lang="en-US" altLang="zh-CN" dirty="0"/>
              <a:t>Optimizing</a:t>
            </a:r>
            <a:r>
              <a:rPr lang="zh-CN" altLang="en-US" dirty="0"/>
              <a:t> </a:t>
            </a:r>
            <a:r>
              <a:rPr lang="en-US" altLang="zh-CN" dirty="0"/>
              <a:t>measurement</a:t>
            </a:r>
            <a:r>
              <a:rPr lang="zh-CN" altLang="en-US" dirty="0"/>
              <a:t> </a:t>
            </a:r>
            <a:r>
              <a:rPr lang="en-US" altLang="zh-CN" dirty="0"/>
              <a:t>management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Data</a:t>
            </a:r>
            <a:r>
              <a:rPr lang="zh-CN" altLang="en-US" dirty="0"/>
              <a:t> </a:t>
            </a:r>
            <a:r>
              <a:rPr lang="en-US" altLang="zh-CN" dirty="0"/>
              <a:t>processing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reduce</a:t>
            </a:r>
            <a:r>
              <a:rPr lang="zh-CN" altLang="en-US" dirty="0"/>
              <a:t> </a:t>
            </a:r>
            <a:r>
              <a:rPr lang="en-US" altLang="zh-CN" dirty="0"/>
              <a:t>FIB</a:t>
            </a:r>
            <a:r>
              <a:rPr lang="zh-CN" altLang="en-US" dirty="0"/>
              <a:t> </a:t>
            </a:r>
            <a:r>
              <a:rPr lang="en-US" altLang="zh-CN" dirty="0"/>
              <a:t>lookups.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1540B1-D09E-C342-8EB3-3C2E58907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76459-B699-454A-B8F8-A19AA10ED83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809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>
            <a:extLst>
              <a:ext uri="{FF2B5EF4-FFF2-40B4-BE49-F238E27FC236}">
                <a16:creationId xmlns:a16="http://schemas.microsoft.com/office/drawing/2014/main" id="{7855C97B-76B4-CC45-875C-6692A7C7499F}"/>
              </a:ext>
            </a:extLst>
          </p:cNvPr>
          <p:cNvSpPr txBox="1">
            <a:spLocks/>
          </p:cNvSpPr>
          <p:nvPr/>
        </p:nvSpPr>
        <p:spPr>
          <a:xfrm>
            <a:off x="838200" y="-15082"/>
            <a:ext cx="10515600" cy="1325563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 algn="ctr"/>
            <a:r>
              <a:rPr lang="en-US" altLang="zh-CN" sz="4000" dirty="0"/>
              <a:t>Q/A</a:t>
            </a:r>
            <a:endParaRPr lang="en-US" sz="4000" dirty="0"/>
          </a:p>
        </p:txBody>
      </p:sp>
      <p:sp>
        <p:nvSpPr>
          <p:cNvPr id="52" name="Content Placeholder 2">
            <a:extLst>
              <a:ext uri="{FF2B5EF4-FFF2-40B4-BE49-F238E27FC236}">
                <a16:creationId xmlns:a16="http://schemas.microsoft.com/office/drawing/2014/main" id="{AC0DD3D6-B98D-164D-B215-5CC8EC35DFAC}"/>
              </a:ext>
            </a:extLst>
          </p:cNvPr>
          <p:cNvSpPr txBox="1">
            <a:spLocks/>
          </p:cNvSpPr>
          <p:nvPr/>
        </p:nvSpPr>
        <p:spPr>
          <a:xfrm>
            <a:off x="838200" y="1407354"/>
            <a:ext cx="10515600" cy="5003277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609585" lvl="0" indent="-457189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●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170" lvl="1" indent="-423323" algn="l" defTabSz="914400" rtl="0" eaLnBrk="1" latinLnBrk="0" hangingPunct="1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○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54" lvl="2" indent="-423323" algn="l" defTabSz="914400" rtl="0" eaLnBrk="1" latinLnBrk="0" hangingPunct="1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■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339" lvl="3" indent="-423323" algn="l" defTabSz="914400" rtl="0" eaLnBrk="1" latinLnBrk="0" hangingPunct="1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●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47924" lvl="4" indent="-423323" algn="l" defTabSz="914400" rtl="0" eaLnBrk="1" latinLnBrk="0" hangingPunct="1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○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57509" lvl="5" indent="-423323" algn="l" defTabSz="914400" rtl="0" eaLnBrk="1" latinLnBrk="0" hangingPunct="1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67093" lvl="6" indent="-423323" algn="l" defTabSz="914400" rtl="0" eaLnBrk="1" latinLnBrk="0" hangingPunct="1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●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678" lvl="7" indent="-423323" algn="l" defTabSz="914400" rtl="0" eaLnBrk="1" latinLnBrk="0" hangingPunct="1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○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263" lvl="8" indent="-423323" algn="l" defTabSz="914400" rtl="0" eaLnBrk="1" latinLnBrk="0" hangingPunct="1">
              <a:lnSpc>
                <a:spcPct val="90000"/>
              </a:lnSpc>
              <a:spcBef>
                <a:spcPts val="2133"/>
              </a:spcBef>
              <a:spcAft>
                <a:spcPts val="2133"/>
              </a:spcAft>
              <a:buSzPts val="1400"/>
              <a:buFont typeface="Arial" panose="020B0604020202020204" pitchFamily="34" charset="0"/>
              <a:buChar char="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2396" indent="0" algn="ctr">
              <a:buNone/>
            </a:pPr>
            <a:r>
              <a:rPr lang="en-US" altLang="zh-CN" dirty="0"/>
              <a:t>Thanks!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A06354A-2C23-CF46-B72C-5D997E9AE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76459-B699-454A-B8F8-A19AA10ED83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551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326</TotalTime>
  <Words>562</Words>
  <Application>Microsoft Macintosh PowerPoint</Application>
  <PresentationFormat>Widescreen</PresentationFormat>
  <Paragraphs>157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Zapf Dingbats</vt:lpstr>
      <vt:lpstr>Arial</vt:lpstr>
      <vt:lpstr>Calibri</vt:lpstr>
      <vt:lpstr>Calibri Light</vt:lpstr>
      <vt:lpstr>Monaco</vt:lpstr>
      <vt:lpstr>Office Theme</vt:lpstr>
      <vt:lpstr>On the Prefix Granularity Problem in NDN Adaptive Forwarding</vt:lpstr>
      <vt:lpstr>NDN Adaptive Forwarding</vt:lpstr>
      <vt:lpstr>PowerPoint Presentation</vt:lpstr>
      <vt:lpstr>The Prefix Granularity Problem</vt:lpstr>
      <vt:lpstr>Existing Solutions</vt:lpstr>
      <vt:lpstr>The Limits of Existing Designs</vt:lpstr>
      <vt:lpstr>Simulation Results</vt:lpstr>
      <vt:lpstr>PowerPoint Presentation</vt:lpstr>
      <vt:lpstr>Dynamic FIB Expanding</vt:lpstr>
      <vt:lpstr>Optimize NDN Adaptive Forwarding Processing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Pillitteri, Victoria Yan (Fed)</dc:creator>
  <cp:lastModifiedBy>Liang, Teng - (philoliang)</cp:lastModifiedBy>
  <cp:revision>77</cp:revision>
  <dcterms:created xsi:type="dcterms:W3CDTF">2020-04-22T14:06:19Z</dcterms:created>
  <dcterms:modified xsi:type="dcterms:W3CDTF">2020-09-10T03:24:58Z</dcterms:modified>
</cp:coreProperties>
</file>