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68" r:id="rId4"/>
    <p:sldId id="267" r:id="rId5"/>
    <p:sldId id="258" r:id="rId6"/>
    <p:sldId id="260" r:id="rId7"/>
    <p:sldId id="272" r:id="rId8"/>
    <p:sldId id="275" r:id="rId9"/>
    <p:sldId id="269" r:id="rId10"/>
    <p:sldId id="271" r:id="rId11"/>
    <p:sldId id="259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7DD6"/>
    <a:srgbClr val="2F528F"/>
    <a:srgbClr val="004479"/>
    <a:srgbClr val="727272"/>
    <a:srgbClr val="007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D318A6-BF0A-4A67-BCAF-3162DB8EBD57}">
  <a:tblStyle styleId="{D4D318A6-BF0A-4A67-BCAF-3162DB8EBD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35"/>
    <p:restoredTop sz="93611"/>
  </p:normalViewPr>
  <p:slideViewPr>
    <p:cSldViewPr snapToGrid="0">
      <p:cViewPr varScale="1">
        <p:scale>
          <a:sx n="109" d="100"/>
          <a:sy n="109" d="100"/>
        </p:scale>
        <p:origin x="808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96e3bd6abf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96e3bd6abf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latin typeface="NimbusRomNo9L"/>
              </a:rPr>
              <a:t>Thanks to rapid growth in sensors embedded in smartphones, wearables, and environments, the quantity and richness of health-related sensor data is exploding, enabling researchers to investigate a wide range of health and wellness issues such as smoking, overeating, stress, congestive heart failure, oral health, cocaine use, opioid use, chronic pain, behavior change, and workplace performance. 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96e3bd6a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96e3bd6a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96e3bd6abf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96e3bd6abf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96e3bd6abf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96e3bd6abf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ct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158631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sz="3600" dirty="0" err="1">
                <a:latin typeface="Times New Roman"/>
                <a:ea typeface="Times New Roman"/>
                <a:cs typeface="Times New Roman"/>
                <a:sym typeface="Times New Roman"/>
              </a:rPr>
              <a:t>mGuard</a:t>
            </a:r>
            <a:r>
              <a:rPr lang="en" sz="3600" dirty="0">
                <a:latin typeface="Times New Roman"/>
                <a:ea typeface="Times New Roman"/>
                <a:cs typeface="Times New Roman"/>
                <a:sym typeface="Times New Roman"/>
              </a:rPr>
              <a:t>: A Secure Real-time Data Distribution System with Fine-Grained Access Control for </a:t>
            </a:r>
            <a:r>
              <a:rPr lang="en" sz="3600" dirty="0" err="1">
                <a:latin typeface="Times New Roman"/>
                <a:ea typeface="Times New Roman"/>
                <a:cs typeface="Times New Roman"/>
                <a:sym typeface="Times New Roman"/>
              </a:rPr>
              <a:t>mHealth</a:t>
            </a:r>
            <a:r>
              <a:rPr lang="en" sz="3600" dirty="0">
                <a:latin typeface="Times New Roman"/>
                <a:ea typeface="Times New Roman"/>
                <a:cs typeface="Times New Roman"/>
                <a:sym typeface="Times New Roman"/>
              </a:rPr>
              <a:t> Research</a:t>
            </a:r>
            <a:endParaRPr sz="3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15611" y="2932987"/>
            <a:ext cx="11360800" cy="293072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2800" dirty="0"/>
              <a:t>Lan Wang, U. Memphis </a:t>
            </a:r>
          </a:p>
          <a:p>
            <a:pPr marL="0" indent="0"/>
            <a:r>
              <a:rPr lang="en-US" sz="2800" dirty="0"/>
              <a:t>Santosh Kumar, U. Memphis</a:t>
            </a:r>
          </a:p>
          <a:p>
            <a:pPr marL="0" indent="0"/>
            <a:r>
              <a:rPr lang="en-US" sz="2800" dirty="0" err="1"/>
              <a:t>Lixia</a:t>
            </a:r>
            <a:r>
              <a:rPr lang="en-US" sz="2800" dirty="0"/>
              <a:t> Zhang, UCLA</a:t>
            </a:r>
          </a:p>
          <a:p>
            <a:pPr marL="0" indent="0"/>
            <a:endParaRPr lang="en-US" sz="2800" dirty="0"/>
          </a:p>
          <a:p>
            <a:pPr marL="0" indent="0"/>
            <a:r>
              <a:rPr lang="en-US" sz="2800" dirty="0" err="1"/>
              <a:t>NDNComm</a:t>
            </a:r>
            <a:r>
              <a:rPr lang="en-US" sz="2800" dirty="0"/>
              <a:t> 2020</a:t>
            </a:r>
            <a:endParaRPr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31D43E-A65A-8F4A-B336-6C26F68810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</a:t>
            </a:fld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Introduction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63789" y="1534308"/>
            <a:ext cx="5609994" cy="449175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78364" indent="-342900">
              <a:lnSpc>
                <a:spcPct val="100000"/>
              </a:lnSpc>
              <a:buClr>
                <a:srgbClr val="000000"/>
              </a:buClr>
              <a:buSzPts val="2000"/>
            </a:pPr>
            <a:r>
              <a:rPr lang="en-US" sz="2400" dirty="0">
                <a:solidFill>
                  <a:srgbClr val="000000"/>
                </a:solidFill>
              </a:rPr>
              <a:t>Data collected by e</a:t>
            </a:r>
            <a:r>
              <a:rPr lang="en" sz="2400" dirty="0" err="1">
                <a:solidFill>
                  <a:srgbClr val="000000"/>
                </a:solidFill>
              </a:rPr>
              <a:t>mbedded</a:t>
            </a:r>
            <a:r>
              <a:rPr lang="en" sz="2400" dirty="0">
                <a:solidFill>
                  <a:srgbClr val="000000"/>
                </a:solidFill>
              </a:rPr>
              <a:t> and wearable sensors enables research on health and wellness issues.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E09068-8666-8746-9993-1F6EF1A13D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0AE7ED-2272-5F40-8803-172683082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220" y="3118855"/>
            <a:ext cx="3810000" cy="2540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8FDD940-3497-C54C-9506-FEB94538107C}"/>
              </a:ext>
            </a:extLst>
          </p:cNvPr>
          <p:cNvSpPr/>
          <p:nvPr/>
        </p:nvSpPr>
        <p:spPr>
          <a:xfrm>
            <a:off x="5773783" y="1660766"/>
            <a:ext cx="6096000" cy="4032258"/>
          </a:xfrm>
          <a:prstGeom prst="rect">
            <a:avLst/>
          </a:prstGeom>
        </p:spPr>
        <p:txBody>
          <a:bodyPr>
            <a:spAutoFit/>
          </a:bodyPr>
          <a:lstStyle/>
          <a:p>
            <a:pPr marL="478364" indent="-342900">
              <a:buSzPts val="2000"/>
              <a:buFont typeface="Arial" panose="020B0604020202020204" pitchFamily="34" charset="0"/>
              <a:buChar char="•"/>
            </a:pPr>
            <a:r>
              <a:rPr lang="en" sz="2400" dirty="0"/>
              <a:t>Existing mobile health (</a:t>
            </a:r>
            <a:r>
              <a:rPr lang="en" sz="2400" dirty="0" err="1"/>
              <a:t>mHealth</a:t>
            </a:r>
            <a:r>
              <a:rPr lang="en" sz="2400" dirty="0"/>
              <a:t>) data infrastructure lacks support for</a:t>
            </a:r>
          </a:p>
          <a:p>
            <a:pPr marL="1087949" lvl="1" indent="-342900">
              <a:buSzPts val="2000"/>
              <a:buFont typeface="Arial" panose="020B0604020202020204" pitchFamily="34" charset="0"/>
              <a:buChar char="•"/>
            </a:pPr>
            <a:r>
              <a:rPr lang="en-US" sz="2000" dirty="0"/>
              <a:t>Fine-grained access control</a:t>
            </a:r>
          </a:p>
          <a:p>
            <a:pPr marL="1087949" lvl="1" indent="-342900">
              <a:buSzPts val="2000"/>
              <a:buFont typeface="Arial" panose="020B0604020202020204" pitchFamily="34" charset="0"/>
              <a:buChar char="•"/>
            </a:pPr>
            <a:r>
              <a:rPr lang="en-US" sz="2000" dirty="0"/>
              <a:t>Data subscription and notification</a:t>
            </a:r>
          </a:p>
          <a:p>
            <a:pPr marL="1087949" lvl="1" indent="-342900">
              <a:buSzPts val="2000"/>
              <a:buFont typeface="Arial" panose="020B0604020202020204" pitchFamily="34" charset="0"/>
              <a:buChar char="•"/>
            </a:pPr>
            <a:r>
              <a:rPr lang="en-US" sz="2000" dirty="0"/>
              <a:t>Real-time data distribution</a:t>
            </a:r>
            <a:endParaRPr lang="en" sz="2400" dirty="0"/>
          </a:p>
          <a:p>
            <a:pPr marL="478364" indent="-342900">
              <a:buSzPts val="2000"/>
              <a:buFont typeface="Arial" panose="020B0604020202020204" pitchFamily="34" charset="0"/>
              <a:buChar char="•"/>
            </a:pPr>
            <a:endParaRPr lang="en" sz="2400" dirty="0"/>
          </a:p>
          <a:p>
            <a:pPr marL="478364" indent="-342900">
              <a:buSzPts val="2000"/>
              <a:buFont typeface="Arial" panose="020B0604020202020204" pitchFamily="34" charset="0"/>
              <a:buChar char="•"/>
            </a:pPr>
            <a:r>
              <a:rPr lang="en" sz="2400" dirty="0" err="1"/>
              <a:t>mGuard</a:t>
            </a:r>
            <a:r>
              <a:rPr lang="en" sz="2400" dirty="0"/>
              <a:t>: new </a:t>
            </a:r>
            <a:r>
              <a:rPr lang="en" sz="2534" dirty="0"/>
              <a:t>NSF project to</a:t>
            </a:r>
            <a:r>
              <a:rPr lang="en" sz="2467" dirty="0"/>
              <a:t> apply NDN’s name-based data-centric </a:t>
            </a:r>
            <a:r>
              <a:rPr lang="en" sz="2467" dirty="0" err="1"/>
              <a:t>approac</a:t>
            </a:r>
            <a:r>
              <a:rPr lang="en-US" sz="2467" dirty="0"/>
              <a:t>h</a:t>
            </a:r>
            <a:r>
              <a:rPr lang="en" sz="2467" dirty="0"/>
              <a:t> to solve the above problems in collaboration with the NIH MD2K center.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2FE86-98D4-BB46-A6E3-961448BC2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170" y="518416"/>
            <a:ext cx="10493829" cy="763600"/>
          </a:xfrm>
        </p:spPr>
        <p:txBody>
          <a:bodyPr/>
          <a:lstStyle/>
          <a:p>
            <a:r>
              <a:rPr lang="en-US" dirty="0"/>
              <a:t>MD2K (Mobile Sensor Data to Knowledge)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07D7A-3285-F545-B12E-35DA0B0D8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60666"/>
            <a:ext cx="11360800" cy="1191098"/>
          </a:xfrm>
        </p:spPr>
        <p:txBody>
          <a:bodyPr/>
          <a:lstStyle/>
          <a:p>
            <a:r>
              <a:rPr lang="en-US" dirty="0"/>
              <a:t>MD2K: one of 11 national NIH Big Data Centers of Excellence led by Santosh Kumar</a:t>
            </a:r>
          </a:p>
          <a:p>
            <a:r>
              <a:rPr lang="en-US" dirty="0"/>
              <a:t>Develop tools to gather, analyze and interpret health data generated by mobile and wearable sensors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D9A5E-6701-6740-B13B-70C632F5E4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C82296-BC34-C042-BD51-5A2FEC37B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92" y="2639888"/>
            <a:ext cx="5296396" cy="33178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0D2462-3DF7-E84F-A7BE-26347C3B8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191" y="3040083"/>
            <a:ext cx="5298313" cy="29177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3D4769-76FA-8442-BB42-0A5AD839CCF7}"/>
              </a:ext>
            </a:extLst>
          </p:cNvPr>
          <p:cNvSpPr txBox="1"/>
          <p:nvPr/>
        </p:nvSpPr>
        <p:spPr>
          <a:xfrm>
            <a:off x="7576457" y="2651763"/>
            <a:ext cx="256507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Geneva" panose="020B0503030404040204" pitchFamily="34" charset="0"/>
                <a:ea typeface="Geneva" panose="020B0503030404040204" pitchFamily="34" charset="0"/>
              </a:rPr>
              <a:t>MD2K Mission</a:t>
            </a:r>
          </a:p>
        </p:txBody>
      </p:sp>
    </p:spTree>
    <p:extLst>
      <p:ext uri="{BB962C8B-B14F-4D97-AF65-F5344CB8AC3E}">
        <p14:creationId xmlns:p14="http://schemas.microsoft.com/office/powerpoint/2010/main" val="2506369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D6245-01E7-6542-950B-D30DD0181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1265832"/>
          </a:xfrm>
        </p:spPr>
        <p:txBody>
          <a:bodyPr/>
          <a:lstStyle/>
          <a:p>
            <a:r>
              <a:rPr lang="en-US" sz="3200" dirty="0"/>
              <a:t>MD2K’s </a:t>
            </a:r>
            <a:r>
              <a:rPr lang="en-US" sz="3200" dirty="0" err="1"/>
              <a:t>mHealth</a:t>
            </a:r>
            <a:r>
              <a:rPr lang="en-US" sz="3200" dirty="0"/>
              <a:t> Data Collection</a:t>
            </a:r>
            <a:br>
              <a:rPr lang="en-US" sz="3200" dirty="0"/>
            </a:br>
            <a:r>
              <a:rPr lang="en-US" sz="3200" dirty="0"/>
              <a:t> and Distribution Process 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C0E16-6664-824B-AC26-A4C1D5D61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74531" y="5454022"/>
            <a:ext cx="6023850" cy="763601"/>
          </a:xfrm>
        </p:spPr>
        <p:txBody>
          <a:bodyPr/>
          <a:lstStyle/>
          <a:p>
            <a:pPr>
              <a:defRPr sz="6000">
                <a:solidFill>
                  <a:schemeClr val="accent5">
                    <a:hueOff val="-82419"/>
                    <a:satOff val="-9508"/>
                    <a:lumOff val="-16338"/>
                  </a:schemeClr>
                </a:solidFill>
              </a:defRPr>
            </a:pPr>
            <a:r>
              <a:rPr lang="en-US" sz="2000" dirty="0"/>
              <a:t>2,200+ participants, 100,000+ participant-days</a:t>
            </a:r>
          </a:p>
          <a:p>
            <a:pPr>
              <a:defRPr sz="6000">
                <a:solidFill>
                  <a:schemeClr val="accent5">
                    <a:hueOff val="-82419"/>
                    <a:satOff val="-9508"/>
                    <a:lumOff val="-16338"/>
                  </a:schemeClr>
                </a:solidFill>
              </a:defRPr>
            </a:pPr>
            <a:r>
              <a:rPr lang="en-US" sz="2000" dirty="0"/>
              <a:t>4.7 trillion data points, 300TB total data size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D3171-FEE6-FA4D-8A6F-844DFFE43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578" y="1859199"/>
            <a:ext cx="8157484" cy="346903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88FA2-4400-1F4B-B19F-1C85B0E84C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473983-51B5-B049-A47B-C0BDBB1E3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03" y="2524059"/>
            <a:ext cx="2251675" cy="151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23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 err="1"/>
              <a:t>mGuard</a:t>
            </a:r>
            <a:r>
              <a:rPr lang="en" dirty="0"/>
              <a:t> System Overview</a:t>
            </a:r>
            <a:endParaRPr dirty="0"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67" y="1763917"/>
            <a:ext cx="8376968" cy="432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8488433" y="1677367"/>
            <a:ext cx="4011200" cy="45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000" b="1">
                <a:latin typeface="Times New Roman"/>
                <a:ea typeface="Times New Roman"/>
                <a:cs typeface="Times New Roman"/>
                <a:sym typeface="Times New Roman"/>
              </a:rPr>
              <a:t>Existing MD2K components: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585" indent="-414856">
              <a:buSzPts val="1300"/>
              <a:buFont typeface="Times New Roman"/>
              <a:buChar char="➔"/>
            </a:pPr>
            <a:r>
              <a:rPr lang="en" sz="1733" b="1">
                <a:latin typeface="Times New Roman"/>
                <a:ea typeface="Times New Roman"/>
                <a:cs typeface="Times New Roman"/>
                <a:sym typeface="Times New Roman"/>
              </a:rPr>
              <a:t>mCerebrum</a:t>
            </a:r>
            <a:endParaRPr sz="1733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9170" lvl="1" indent="-414856">
              <a:buSzPts val="1300"/>
              <a:buFont typeface="Times New Roman"/>
              <a:buChar char="◆"/>
            </a:pPr>
            <a:r>
              <a:rPr lang="en" sz="1733">
                <a:latin typeface="Times New Roman"/>
                <a:ea typeface="Times New Roman"/>
                <a:cs typeface="Times New Roman"/>
                <a:sym typeface="Times New Roman"/>
              </a:rPr>
              <a:t>data collection platform </a:t>
            </a:r>
            <a:endParaRPr sz="173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585" indent="-414856">
              <a:buSzPts val="1300"/>
              <a:buFont typeface="Times New Roman"/>
              <a:buChar char="➔"/>
            </a:pPr>
            <a:r>
              <a:rPr lang="en" sz="1733" b="1">
                <a:latin typeface="Times New Roman"/>
                <a:ea typeface="Times New Roman"/>
                <a:cs typeface="Times New Roman"/>
                <a:sym typeface="Times New Roman"/>
              </a:rPr>
              <a:t>Cerebral Cortex:</a:t>
            </a:r>
            <a:endParaRPr sz="173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9170" lvl="1" indent="-414856">
              <a:buSzPts val="1300"/>
              <a:buFont typeface="Times New Roman"/>
              <a:buChar char="◆"/>
            </a:pPr>
            <a:r>
              <a:rPr lang="en" sz="1733">
                <a:latin typeface="Times New Roman"/>
                <a:ea typeface="Times New Roman"/>
                <a:cs typeface="Times New Roman"/>
                <a:sym typeface="Times New Roman"/>
              </a:rPr>
              <a:t>cloud-based big data companion of mCereburm</a:t>
            </a:r>
            <a:endParaRPr sz="173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" sz="2000" b="1">
                <a:latin typeface="Times New Roman"/>
                <a:ea typeface="Times New Roman"/>
                <a:cs typeface="Times New Roman"/>
                <a:sym typeface="Times New Roman"/>
              </a:rPr>
              <a:t>mGuard components: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585" indent="-414856">
              <a:buSzPts val="1300"/>
              <a:buFont typeface="Times New Roman"/>
              <a:buChar char="➔"/>
            </a:pPr>
            <a:r>
              <a:rPr lang="en" sz="1733" b="1">
                <a:latin typeface="Times New Roman"/>
                <a:ea typeface="Times New Roman"/>
                <a:cs typeface="Times New Roman"/>
                <a:sym typeface="Times New Roman"/>
              </a:rPr>
              <a:t>ndnDataAdaptor</a:t>
            </a:r>
            <a:endParaRPr sz="1733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585" indent="-414856">
              <a:buSzPts val="1300"/>
              <a:buFont typeface="Times New Roman"/>
              <a:buChar char="➔"/>
            </a:pPr>
            <a:r>
              <a:rPr lang="en" sz="1733" b="1">
                <a:latin typeface="Times New Roman"/>
                <a:ea typeface="Times New Roman"/>
                <a:cs typeface="Times New Roman"/>
                <a:sym typeface="Times New Roman"/>
              </a:rPr>
              <a:t>ndnDataConsumer</a:t>
            </a:r>
            <a:endParaRPr sz="1733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585" indent="-414856">
              <a:buSzPts val="1300"/>
              <a:buFont typeface="Times New Roman"/>
              <a:buChar char="➔"/>
            </a:pPr>
            <a:r>
              <a:rPr lang="en" sz="1733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ResearchApp</a:t>
            </a:r>
            <a:endParaRPr sz="1733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585" indent="-414856">
              <a:buClr>
                <a:schemeClr val="dk1"/>
              </a:buClr>
              <a:buSzPts val="1300"/>
              <a:buFont typeface="Times New Roman"/>
              <a:buChar char="➔"/>
            </a:pPr>
            <a:r>
              <a:rPr lang="en" sz="1733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NDN Repo</a:t>
            </a:r>
            <a:endParaRPr sz="1733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585" indent="-414856">
              <a:buClr>
                <a:schemeClr val="dk1"/>
              </a:buClr>
              <a:buSzPts val="1300"/>
              <a:buFont typeface="Times New Roman"/>
              <a:buChar char="➔"/>
            </a:pPr>
            <a:r>
              <a:rPr lang="en" sz="1733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NDN forwarder</a:t>
            </a:r>
            <a:endParaRPr sz="1733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733"/>
          </a:p>
          <a:p>
            <a:endParaRPr sz="1733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271800-1EB8-4941-BF76-F81D6D53A6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 err="1"/>
              <a:t>mGuard</a:t>
            </a:r>
            <a:r>
              <a:rPr lang="en" dirty="0"/>
              <a:t> Naming Scheme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7442F9-6BF4-D244-923E-99041D3B1D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2A53BE-F182-8748-93F6-1F2C7A9C1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800" y="1257511"/>
            <a:ext cx="4978400" cy="50071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1F0F1-A86C-694F-96FE-B5E27C75F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Trust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42199-7333-A34E-B7F4-00742A2020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25D97-1F98-4B40-8E80-B3D49B43E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1577495"/>
            <a:ext cx="106807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140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6AFB2-F0AA-3145-A12D-A92B92F0D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593367"/>
            <a:ext cx="10798500" cy="763600"/>
          </a:xfrm>
        </p:spPr>
        <p:txBody>
          <a:bodyPr/>
          <a:lstStyle/>
          <a:p>
            <a:r>
              <a:rPr lang="en-US" dirty="0"/>
              <a:t>Real-Time Data Distribution and Access Control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7863C-000C-3640-9F06-9E47F3D53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Consumers use </a:t>
            </a:r>
            <a:r>
              <a:rPr lang="en-US" sz="2800" dirty="0" err="1"/>
              <a:t>PSync</a:t>
            </a:r>
            <a:r>
              <a:rPr lang="en-US" sz="2800" dirty="0"/>
              <a:t> [1] to discover and subscribe to data streams, e.g., /org/md2k/mOral20/gyro</a:t>
            </a:r>
          </a:p>
          <a:p>
            <a:r>
              <a:rPr lang="en-US" sz="2800" dirty="0"/>
              <a:t>Producers use a Name-based Access Control (NAC) [2] scheme to protect the data.</a:t>
            </a:r>
          </a:p>
          <a:p>
            <a:pPr lvl="1"/>
            <a:r>
              <a:rPr lang="en-US" dirty="0"/>
              <a:t>Data is encrypted at production time based on policies, e.g., “users:/</a:t>
            </a:r>
            <a:r>
              <a:rPr lang="en-US" dirty="0" err="1"/>
              <a:t>edu</a:t>
            </a:r>
            <a:r>
              <a:rPr lang="en-US" dirty="0"/>
              <a:t>/</a:t>
            </a:r>
            <a:r>
              <a:rPr lang="en-US" dirty="0" err="1"/>
              <a:t>memphis</a:t>
            </a:r>
            <a:r>
              <a:rPr lang="en-US" dirty="0"/>
              <a:t>/</a:t>
            </a:r>
            <a:r>
              <a:rPr lang="en-US" dirty="0" err="1"/>
              <a:t>lanwang</a:t>
            </a:r>
            <a:r>
              <a:rPr lang="en-US" dirty="0"/>
              <a:t>; datasets:/org/md2k/mOral20/gyro; conditions: timestamp is between 9am and 6pm, location is in office; permissions: read”</a:t>
            </a:r>
          </a:p>
          <a:p>
            <a:pPr lvl="1"/>
            <a:r>
              <a:rPr lang="en-US" dirty="0"/>
              <a:t>Keys are accessible by users with the right access rights.</a:t>
            </a:r>
          </a:p>
          <a:p>
            <a:pPr lvl="1"/>
            <a:r>
              <a:rPr lang="en-US" dirty="0"/>
              <a:t>We have developed a NAC scheme that can enforce </a:t>
            </a:r>
            <a:r>
              <a:rPr lang="en-US" dirty="0" err="1"/>
              <a:t>spatio</a:t>
            </a:r>
            <a:r>
              <a:rPr lang="en-US" dirty="0"/>
              <a:t>-temporal policies (</a:t>
            </a:r>
            <a:r>
              <a:rPr lang="en-US" dirty="0" err="1"/>
              <a:t>Laqin</a:t>
            </a:r>
            <a:r>
              <a:rPr lang="en-US" dirty="0"/>
              <a:t> Fan).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9365A-416F-B743-BCE7-8F077568BA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1324C-EBA4-C04E-896E-69A046ED75D2}"/>
              </a:ext>
            </a:extLst>
          </p:cNvPr>
          <p:cNvSpPr txBox="1"/>
          <p:nvPr/>
        </p:nvSpPr>
        <p:spPr>
          <a:xfrm>
            <a:off x="936644" y="6212536"/>
            <a:ext cx="10881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[1] M. Zhang, V. Lehman, and L. Wang, “Scalable Name-based Data Synchronization for Named Data Networking,” in Proceedings of INFOCOM, May 2017.</a:t>
            </a:r>
          </a:p>
          <a:p>
            <a:r>
              <a:rPr lang="en-US" sz="1200" dirty="0"/>
              <a:t>[2] Z. Zhang, Y. Yu, S. K. Ramani, A. </a:t>
            </a:r>
            <a:r>
              <a:rPr lang="en-US" sz="1200" dirty="0" err="1"/>
              <a:t>Afanasyev</a:t>
            </a:r>
            <a:r>
              <a:rPr lang="en-US" sz="1200" dirty="0"/>
              <a:t>, and L. Zhang, “NAC: Automating access control via Named Data,” in IEEE MILCOM, 2018.</a:t>
            </a:r>
          </a:p>
        </p:txBody>
      </p:sp>
    </p:spTree>
    <p:extLst>
      <p:ext uri="{BB962C8B-B14F-4D97-AF65-F5344CB8AC3E}">
        <p14:creationId xmlns:p14="http://schemas.microsoft.com/office/powerpoint/2010/main" val="335743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5F70E-935B-4A4C-A8C5-272C33300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BBA74-C051-7545-8AB4-2B990CB2F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78364" indent="-342900">
              <a:buClr>
                <a:schemeClr val="dk1"/>
              </a:buClr>
              <a:buSzPts val="2000"/>
            </a:pPr>
            <a:r>
              <a:rPr lang="en-US" sz="2400" dirty="0">
                <a:solidFill>
                  <a:schemeClr val="dk1"/>
                </a:solidFill>
              </a:rPr>
              <a:t>Project will officially start on 10/1/2020.</a:t>
            </a:r>
          </a:p>
          <a:p>
            <a:pPr marL="478364" indent="-342900">
              <a:buClr>
                <a:schemeClr val="dk1"/>
              </a:buClr>
              <a:buSzPts val="2000"/>
            </a:pPr>
            <a:endParaRPr lang="en-US" sz="2400" dirty="0">
              <a:solidFill>
                <a:schemeClr val="dk1"/>
              </a:solidFill>
            </a:endParaRPr>
          </a:p>
          <a:p>
            <a:pPr marL="478364" indent="-342900">
              <a:buClr>
                <a:schemeClr val="dk1"/>
              </a:buClr>
              <a:buSzPts val="2000"/>
            </a:pPr>
            <a:r>
              <a:rPr lang="en-US" sz="2400" dirty="0">
                <a:solidFill>
                  <a:schemeClr val="dk1"/>
                </a:solidFill>
              </a:rPr>
              <a:t>We plan to have trial deployment over the NDN testbed.</a:t>
            </a:r>
          </a:p>
          <a:p>
            <a:pPr marL="478364" indent="-342900">
              <a:buClr>
                <a:schemeClr val="dk1"/>
              </a:buClr>
              <a:buSzPts val="2000"/>
            </a:pPr>
            <a:endParaRPr lang="en-US" sz="2400" dirty="0">
              <a:solidFill>
                <a:schemeClr val="dk1"/>
              </a:solidFill>
            </a:endParaRPr>
          </a:p>
          <a:p>
            <a:pPr marL="478364" indent="-342900">
              <a:buClr>
                <a:schemeClr val="dk1"/>
              </a:buClr>
              <a:buSzPts val="2000"/>
            </a:pPr>
            <a:r>
              <a:rPr lang="en-US" sz="2400" dirty="0">
                <a:solidFill>
                  <a:schemeClr val="dk1"/>
                </a:solidFill>
              </a:rPr>
              <a:t>Team</a:t>
            </a:r>
          </a:p>
          <a:p>
            <a:pPr marL="1121814" lvl="1" indent="-342900"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n-US" sz="2000" dirty="0">
                <a:solidFill>
                  <a:schemeClr val="dk1"/>
                </a:solidFill>
              </a:rPr>
              <a:t>Lan Wang, </a:t>
            </a:r>
            <a:r>
              <a:rPr lang="en-US" sz="2000" dirty="0" err="1">
                <a:solidFill>
                  <a:schemeClr val="dk1"/>
                </a:solidFill>
              </a:rPr>
              <a:t>Laqin</a:t>
            </a:r>
            <a:r>
              <a:rPr lang="en-US" sz="2000" dirty="0">
                <a:solidFill>
                  <a:schemeClr val="dk1"/>
                </a:solidFill>
              </a:rPr>
              <a:t> Fan, </a:t>
            </a:r>
            <a:r>
              <a:rPr lang="en-US" sz="2000" dirty="0" err="1">
                <a:solidFill>
                  <a:schemeClr val="dk1"/>
                </a:solidFill>
              </a:rPr>
              <a:t>Saurab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Dulal</a:t>
            </a:r>
            <a:r>
              <a:rPr lang="en-US" sz="2000" dirty="0">
                <a:solidFill>
                  <a:schemeClr val="dk1"/>
                </a:solidFill>
              </a:rPr>
              <a:t>, </a:t>
            </a:r>
            <a:r>
              <a:rPr lang="en-US" sz="2000" dirty="0" err="1">
                <a:solidFill>
                  <a:schemeClr val="dk1"/>
                </a:solidFill>
              </a:rPr>
              <a:t>Muktadir</a:t>
            </a:r>
            <a:r>
              <a:rPr lang="en-US" sz="2000" dirty="0">
                <a:solidFill>
                  <a:schemeClr val="dk1"/>
                </a:solidFill>
              </a:rPr>
              <a:t> Chowdhury</a:t>
            </a:r>
          </a:p>
          <a:p>
            <a:pPr marL="1121814" lvl="1" indent="-342900"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n-US" sz="2000" dirty="0">
                <a:solidFill>
                  <a:schemeClr val="dk1"/>
                </a:solidFill>
              </a:rPr>
              <a:t>Santosh Kumar, Nasir Ali</a:t>
            </a:r>
          </a:p>
          <a:p>
            <a:pPr marL="1121814" lvl="1" indent="-342900"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n-US" sz="2000" dirty="0" err="1">
                <a:solidFill>
                  <a:schemeClr val="dk1"/>
                </a:solidFill>
              </a:rPr>
              <a:t>Lixia</a:t>
            </a:r>
            <a:r>
              <a:rPr lang="en-US" sz="2000" dirty="0">
                <a:solidFill>
                  <a:schemeClr val="dk1"/>
                </a:solidFill>
              </a:rPr>
              <a:t> Zhang, </a:t>
            </a:r>
            <a:r>
              <a:rPr lang="en-US" sz="2000" dirty="0" err="1">
                <a:solidFill>
                  <a:schemeClr val="dk1"/>
                </a:solidFill>
              </a:rPr>
              <a:t>Zhiyi</a:t>
            </a:r>
            <a:r>
              <a:rPr lang="en-US" sz="2000" dirty="0">
                <a:solidFill>
                  <a:schemeClr val="dk1"/>
                </a:solidFill>
              </a:rPr>
              <a:t> Zhang, </a:t>
            </a:r>
            <a:r>
              <a:rPr lang="en-US" sz="2000" dirty="0" err="1">
                <a:solidFill>
                  <a:schemeClr val="dk1"/>
                </a:solidFill>
              </a:rPr>
              <a:t>Yufeng</a:t>
            </a:r>
            <a:r>
              <a:rPr lang="en-US" sz="2000" dirty="0">
                <a:solidFill>
                  <a:schemeClr val="dk1"/>
                </a:solidFill>
              </a:rPr>
              <a:t> Zhang</a:t>
            </a:r>
            <a:endParaRPr lang="en-US" sz="2066" dirty="0">
              <a:solidFill>
                <a:schemeClr val="dk1"/>
              </a:solidFill>
            </a:endParaRPr>
          </a:p>
          <a:p>
            <a:pPr marL="512229" indent="-342900">
              <a:buClr>
                <a:schemeClr val="dk1"/>
              </a:buClr>
              <a:buSzPts val="1600"/>
            </a:pPr>
            <a:endParaRPr lang="en-US" sz="2400" dirty="0">
              <a:solidFill>
                <a:schemeClr val="dk1"/>
              </a:solidFill>
            </a:endParaRPr>
          </a:p>
          <a:p>
            <a:pPr marL="512229" indent="-342900">
              <a:buClr>
                <a:schemeClr val="dk1"/>
              </a:buClr>
              <a:buSzPts val="1600"/>
            </a:pPr>
            <a:r>
              <a:rPr lang="en-US" sz="2400" dirty="0">
                <a:solidFill>
                  <a:schemeClr val="dk1"/>
                </a:solidFill>
              </a:rPr>
              <a:t>Website: mguard.md2k.org</a:t>
            </a:r>
            <a:endParaRPr lang="en-US" sz="240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FE321-B324-DB42-A9E1-0FECDCBAF9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12806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4733F-4397-5D4F-9972-9F4573358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80D48A-0DF0-8440-A497-AAB64F38F1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82698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 err="1"/>
              <a:t>mGuard</a:t>
            </a:r>
            <a:r>
              <a:rPr lang="en" dirty="0"/>
              <a:t> components</a:t>
            </a:r>
            <a:endParaRPr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415600" y="1426900"/>
            <a:ext cx="11360800" cy="532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-440256">
              <a:lnSpc>
                <a:spcPct val="100000"/>
              </a:lnSpc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 sz="2133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ndnDataAdaptor</a:t>
            </a:r>
            <a:endParaRPr sz="2133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 indent="-440256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" sz="213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retrieves data from Cerebral Cortex, packetizes and encrypts the data in NDN format, and stores the data into a local NDN Repository(repo)</a:t>
            </a:r>
            <a:endParaRPr sz="2133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0256">
              <a:lnSpc>
                <a:spcPct val="100000"/>
              </a:lnSpc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 sz="2133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NDN Repo</a:t>
            </a:r>
            <a:endParaRPr sz="2133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 indent="-440256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" sz="213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stores encrypted and signed data in NDN format</a:t>
            </a:r>
            <a:endParaRPr sz="213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0256">
              <a:lnSpc>
                <a:spcPct val="100000"/>
              </a:lnSpc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2133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ResearchApp</a:t>
            </a:r>
            <a:endParaRPr sz="2133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 indent="-440256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2133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example NDN app that bridges the gap between legacy apps with NDN semantics.</a:t>
            </a:r>
            <a:endParaRPr sz="2133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0256">
              <a:lnSpc>
                <a:spcPct val="100000"/>
              </a:lnSpc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2133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ndnDataConsumer</a:t>
            </a:r>
            <a:endParaRPr sz="2133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 indent="-440256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2133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subscribes to data of interest, and retrieves encrypted data whenever it receives notifications of new data; </a:t>
            </a:r>
            <a:endParaRPr sz="2133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 indent="-440256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2133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presents the decrypted data to the </a:t>
            </a:r>
            <a:r>
              <a:rPr lang="en" sz="2133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ResearchApp</a:t>
            </a:r>
            <a:r>
              <a:rPr lang="en" sz="2133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visualization and analysis.</a:t>
            </a:r>
            <a:endParaRPr sz="2133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 indent="-440256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2133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utilizes NAC to support data access control</a:t>
            </a:r>
            <a:endParaRPr sz="2133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0256">
              <a:lnSpc>
                <a:spcPct val="100000"/>
              </a:lnSpc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 sz="2133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NDN forwarder</a:t>
            </a:r>
            <a:endParaRPr sz="2133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 indent="-440256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" sz="213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runs on server and researcher’s computer as well.</a:t>
            </a:r>
            <a:endParaRPr sz="213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 indent="-440256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" sz="213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utilizes existing NDN overlay network for </a:t>
            </a:r>
            <a:r>
              <a:rPr lang="en" sz="2133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mGuard</a:t>
            </a:r>
            <a:r>
              <a:rPr lang="en" sz="213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deployment and evaluation</a:t>
            </a:r>
            <a:endParaRPr sz="213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lnSpc>
                <a:spcPct val="100000"/>
              </a:lnSpc>
              <a:buNone/>
            </a:pPr>
            <a:endParaRPr sz="1733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FB7582-4FA9-794B-8FCA-B40F84FB18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645</Words>
  <Application>Microsoft Macintosh PowerPoint</Application>
  <PresentationFormat>Widescreen</PresentationFormat>
  <Paragraphs>82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NimbusRomNo9L</vt:lpstr>
      <vt:lpstr>Arial</vt:lpstr>
      <vt:lpstr>Geneva</vt:lpstr>
      <vt:lpstr>Times New Roman</vt:lpstr>
      <vt:lpstr>Simple Light</vt:lpstr>
      <vt:lpstr>mGuard: A Secure Real-time Data Distribution System with Fine-Grained Access Control for mHealth Research</vt:lpstr>
      <vt:lpstr>Introduction</vt:lpstr>
      <vt:lpstr>MD2K (Mobile Sensor Data to Knowledge)</vt:lpstr>
      <vt:lpstr>MD2K’s mHealth Data Collection  and Distribution Process  </vt:lpstr>
      <vt:lpstr>mGuard System Overview</vt:lpstr>
      <vt:lpstr>mGuard Naming Scheme</vt:lpstr>
      <vt:lpstr>Trust Model</vt:lpstr>
      <vt:lpstr>Real-Time Data Distribution and Access Control </vt:lpstr>
      <vt:lpstr>More Information</vt:lpstr>
      <vt:lpstr>Questions?</vt:lpstr>
      <vt:lpstr>mGuard components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mGuard: A Secure Real-time Data Distribution System with Fine-Grained Access Control for mHealth Research</dc:title>
  <cp:lastModifiedBy>Lan Wang (lanwang)</cp:lastModifiedBy>
  <cp:revision>33</cp:revision>
  <dcterms:modified xsi:type="dcterms:W3CDTF">2020-09-10T02:30:15Z</dcterms:modified>
</cp:coreProperties>
</file>