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83" r:id="rId4"/>
    <p:sldId id="261" r:id="rId5"/>
    <p:sldId id="294" r:id="rId6"/>
    <p:sldId id="272" r:id="rId7"/>
    <p:sldId id="260" r:id="rId8"/>
    <p:sldId id="318" r:id="rId9"/>
    <p:sldId id="280" r:id="rId10"/>
    <p:sldId id="31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67752CB-E05F-42C0-88BE-0336BCAA83B4}">
          <p14:sldIdLst>
            <p14:sldId id="256"/>
            <p14:sldId id="258"/>
            <p14:sldId id="283"/>
            <p14:sldId id="261"/>
            <p14:sldId id="294"/>
            <p14:sldId id="272"/>
            <p14:sldId id="260"/>
            <p14:sldId id="318"/>
            <p14:sldId id="280"/>
            <p14:sldId id="31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an" initials="F" lastIdx="7" clrIdx="0">
    <p:extLst>
      <p:ext uri="{19B8F6BF-5375-455C-9EA6-DF929625EA0E}">
        <p15:presenceInfo xmlns:p15="http://schemas.microsoft.com/office/powerpoint/2012/main" userId="Fan" providerId="None"/>
      </p:ext>
    </p:extLst>
  </p:cmAuthor>
  <p:cmAuthor id="2" name="Mohammed  Elbadry" initials="ME" lastIdx="3" clrIdx="1">
    <p:extLst>
      <p:ext uri="{19B8F6BF-5375-455C-9EA6-DF929625EA0E}">
        <p15:presenceInfo xmlns:p15="http://schemas.microsoft.com/office/powerpoint/2012/main" userId="Mohammed  Elbadr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713" autoAdjust="0"/>
    <p:restoredTop sz="85170" autoAdjust="0"/>
  </p:normalViewPr>
  <p:slideViewPr>
    <p:cSldViewPr snapToGrid="0">
      <p:cViewPr varScale="1">
        <p:scale>
          <a:sx n="109" d="100"/>
          <a:sy n="109" d="100"/>
        </p:scale>
        <p:origin x="1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19A6D7-A174-47E8-8897-2CFB11D867A1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24F25B-7896-4D9B-8916-1C46B1B30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81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24F25B-7896-4D9B-8916-1C46B1B309D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0629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24F25B-7896-4D9B-8916-1C46B1B309D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783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24F25B-7896-4D9B-8916-1C46B1B309D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499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24F25B-7896-4D9B-8916-1C46B1B309D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0251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24F25B-7896-4D9B-8916-1C46B1B309D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3278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24F25B-7896-4D9B-8916-1C46B1B309D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90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Producer selection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24F25B-7896-4D9B-8916-1C46B1B309D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5046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Producer selection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24F25B-7896-4D9B-8916-1C46B1B309D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957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B769E-3DD0-4C74-9992-580064ADB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4AB456-D3C1-4364-A209-0D16F5838D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D4451-F318-4853-AA3C-1EF6DE00E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9AEC5-D19F-422D-9C31-13DD28BF45ED}" type="datetime1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968C3-9D0E-4CD0-8B5D-C72B75128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783F7-A834-4BCD-802D-D97C52F27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C977B-77FE-4709-9713-078C1A90B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607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D6AA0-413C-4F07-8472-91A1103D3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04E63-17AD-4884-8378-DF1F30997C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3F3C0B-1EFB-4D01-A669-CF40D6758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B5310-C707-4D72-9F62-A019BE551C96}" type="datetime1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3BCF6-7D5E-4C63-BF02-D7B8D0263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463B2-6E65-43CB-ADF9-15190925E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C977B-77FE-4709-9713-078C1A90B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855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5BDC4-204F-44E6-B8CE-38244DE6E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D8FC5E-3AFA-4381-8EBF-AEC38E0C0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93F40-9C0E-4F2F-9B06-CBF9841CC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7CB53-9E4F-4E6E-961B-65236A652D9B}" type="datetime1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541B0-97EE-498C-BC48-B4DE665FC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DB9E8-97BB-4DAD-AD29-3363588A9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C977B-77FE-4709-9713-078C1A90B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122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C2C02-F548-4957-8E7F-3F7932380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23FB8-FB5D-4B20-9E4C-4E5001767F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E9899-64B9-423F-89EF-CCB2BD9DC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F6E42B-24B2-43C4-B795-824B9166F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4034E-B113-47F3-A178-6187A623EF29}" type="datetime1">
              <a:rPr lang="en-US" smtClean="0"/>
              <a:t>9/9/2020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95A783-E93B-498E-AE98-663F4753F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E71C35-9191-490E-AEE8-C2F3F3EBE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C977B-77FE-4709-9713-078C1A90B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556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7FC34-6298-4C9D-847D-2472BBF65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05193E-904D-4C4D-8358-D614E6F6F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C3BCF6-BA8F-41AF-A7CD-637C66DE5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D97F8A-23D9-46B0-A79D-DCBDC2C486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4F1ED8-A4A3-43D5-9998-8BA90D9BBA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46FAFB-B4B8-474B-8F07-00757FFB2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E84A8-BA29-4D3D-8A10-BF8C5707DC6B}" type="datetime1">
              <a:rPr lang="en-US" smtClean="0"/>
              <a:t>9/9/2020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A55CA0-BB24-46AA-8BEE-70B52AAD6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7FC8AA-4260-412B-9E1C-415A22982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C977B-77FE-4709-9713-078C1A90B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364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ADDAE-09EC-45F7-B0F1-8E469667A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1BF8E2-F4B9-4637-9A6C-A87473FE9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CD955-173F-4A96-9B77-86B81B877538}" type="datetime1">
              <a:rPr lang="en-US" smtClean="0"/>
              <a:t>9/9/2020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B32FEF-7923-43CF-A158-519F7A34E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24F3B-B73C-463A-9BB0-916D06C59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C977B-77FE-4709-9713-078C1A90B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069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701F74-0E47-48DA-81BC-932C9C238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24AA3-F2A5-479B-80FC-56B6CF5AF06F}" type="datetime1">
              <a:rPr lang="en-US" smtClean="0"/>
              <a:t>9/9/2020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FB4A05-D316-4354-868F-8C23F375E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98C3C-106F-4027-AA55-8DD2DADBC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C977B-77FE-4709-9713-078C1A90B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15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F321D-1ABF-48A0-BF96-0019A6E74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99FD1-FE82-4B6F-AB7F-C07D7BE0C2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913A78-8E4F-447D-9601-A558EF60B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BF4C4-703F-43AF-BB7C-CD7C623AC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E388C-B5E5-46CE-9A5B-71A3A744D133}" type="datetime1">
              <a:rPr lang="en-US" smtClean="0"/>
              <a:t>9/9/2020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E2259C-1128-4C7D-A214-BDA16700A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A0AA94-8FE8-4349-9354-6AE6BD7ED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C977B-77FE-4709-9713-078C1A90B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967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0801B-D38F-4B36-83E3-2F90238A0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FCDD43-5EA0-4FEC-BD15-7F6EDA533A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726319-8116-470B-BC38-03406D0AE8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6A9954-BE8C-46AD-9A04-D8B1B8FEE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1B7E0-BF24-4BBA-8D0C-9786EA830071}" type="datetime1">
              <a:rPr lang="en-US" smtClean="0"/>
              <a:t>9/9/2020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037C95-ACDD-4731-8DBD-63B565111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1C152C-D497-447C-83CE-4CE4F5D2D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C977B-77FE-4709-9713-078C1A90B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504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23BB2-CC15-43C3-A444-FCB1297A9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2C5DA-04E1-41DD-8A65-EFD00849A7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4C27D-88BF-4070-A36F-90671CA71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009D5-792A-43B4-A0C8-0FA7D5C00580}" type="datetime1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A101B-2AE5-4ECA-9F0E-7FD35B118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00EDB-9298-490B-AE4D-5D86F2886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C977B-77FE-4709-9713-078C1A90B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50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EDF5AB-DDF5-43BB-A5F2-8D470BC2F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36C72F-BA47-4290-9022-7CBCAEECF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63420-F7CE-44AF-869E-F448B660A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EB8E5-BB6D-4E9D-BBF4-2C762BEE515C}" type="datetime1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E1492-A73A-4673-9887-16FCF057D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ABD95-4480-4B61-9AA5-5BA3F926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C977B-77FE-4709-9713-078C1A90B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27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E2BFD6-2F55-4A2C-B7DF-EB33F5230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E3F3F8-40C0-4842-8D4D-499781DEA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496FC-C5B7-4134-8D6D-85ADE87AE5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29E036-5E9A-41C5-9AAF-A5A79162BC6E}" type="datetime1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22850-5959-4F39-A818-819246DFC3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79355-0B20-45A4-9D19-A5C783616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AC977B-77FE-4709-9713-078C1A90B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215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elbadry97/Full-Data-centric-Stac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93593-4F02-45FC-BB6A-E4691FFD72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656" y="738188"/>
            <a:ext cx="11949344" cy="1909762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+mn-lt"/>
              </a:rPr>
              <a:t>A Full Data-centric Network Stack Integrating V-MAC and NFD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5383F2-AE34-4542-923C-8F6BBD1BA6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38501"/>
            <a:ext cx="9144000" cy="3117850"/>
          </a:xfrm>
        </p:spPr>
        <p:txBody>
          <a:bodyPr>
            <a:normAutofit/>
          </a:bodyPr>
          <a:lstStyle/>
          <a:p>
            <a:r>
              <a:rPr lang="en-US" b="1" dirty="0"/>
              <a:t>Mohammed Elbadry, Fan Ye, Peter Milder, Yuanyuan Yang</a:t>
            </a:r>
          </a:p>
          <a:p>
            <a:r>
              <a:rPr lang="en-US" dirty="0"/>
              <a:t>mohammed.elbadry@stonybrook.edu</a:t>
            </a:r>
          </a:p>
          <a:p>
            <a:r>
              <a:rPr lang="en-US" dirty="0"/>
              <a:t>Electrical and Computer Engineering Department</a:t>
            </a:r>
          </a:p>
          <a:p>
            <a:r>
              <a:rPr lang="en-US" dirty="0"/>
              <a:t>Stony Brook University</a:t>
            </a:r>
          </a:p>
          <a:p>
            <a:r>
              <a:rPr lang="en-US" dirty="0"/>
              <a:t>September 2020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9820D-F966-4FAF-ABC6-238098517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C977B-77FE-4709-9713-078C1A90B95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513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EEAC8-41C5-44D5-A527-525D736E2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099" y="0"/>
            <a:ext cx="9867901" cy="1325563"/>
          </a:xfrm>
        </p:spPr>
        <p:txBody>
          <a:bodyPr/>
          <a:lstStyle/>
          <a:p>
            <a:pPr algn="ctr"/>
            <a:r>
              <a:rPr lang="en-US" b="1" i="1" dirty="0"/>
              <a:t>Current MAC Falls Short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67CFA-8137-4533-A062-16115D5FF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663" y="1543513"/>
            <a:ext cx="10425891" cy="4993295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Network and discovery procedures must be established before any data-centric communication</a:t>
            </a:r>
          </a:p>
          <a:p>
            <a:pPr lvl="1"/>
            <a:r>
              <a:rPr lang="en-US" dirty="0"/>
              <a:t>Beacon sharing among nodes to join address-based network incurs continuous overhead and latency</a:t>
            </a:r>
          </a:p>
          <a:p>
            <a:pPr algn="l"/>
            <a:r>
              <a:rPr lang="en-US" dirty="0"/>
              <a:t>Destination must be determined before transmission</a:t>
            </a:r>
          </a:p>
          <a:p>
            <a:pPr lvl="1"/>
            <a:r>
              <a:rPr lang="en-US" dirty="0"/>
              <a:t>Each frame carries a destination and a group address</a:t>
            </a:r>
          </a:p>
          <a:p>
            <a:r>
              <a:rPr lang="en-US" dirty="0"/>
              <a:t>Multicast support is non-existent</a:t>
            </a:r>
          </a:p>
          <a:p>
            <a:pPr lvl="1"/>
            <a:r>
              <a:rPr lang="en-US" dirty="0"/>
              <a:t>Just broadcast, lowest base rate (1 or 6Mbps)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AE9F4-A5B0-4A64-BA3F-824B73249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C977B-77FE-4709-9713-078C1A90B95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962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A9D71-A5F0-47FD-88BE-1C919D523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18255"/>
            <a:ext cx="9867899" cy="1325563"/>
          </a:xfrm>
        </p:spPr>
        <p:txBody>
          <a:bodyPr/>
          <a:lstStyle/>
          <a:p>
            <a:pPr algn="ctr"/>
            <a:r>
              <a:rPr lang="en-US" b="1" i="1" dirty="0"/>
              <a:t>Data-centric MAC: Challenges and Opportunity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0EB18-09EA-43D1-B020-309A0F1B5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20526" cy="4351338"/>
          </a:xfrm>
        </p:spPr>
        <p:txBody>
          <a:bodyPr>
            <a:normAutofit/>
          </a:bodyPr>
          <a:lstStyle/>
          <a:p>
            <a:r>
              <a:rPr lang="en-US" dirty="0"/>
              <a:t>Wireless medium presents a very different set of challenges</a:t>
            </a:r>
          </a:p>
          <a:p>
            <a:pPr lvl="1"/>
            <a:r>
              <a:rPr lang="en-US" dirty="0"/>
              <a:t>Varying reception qualities at different neighboring receivers</a:t>
            </a:r>
          </a:p>
          <a:p>
            <a:pPr lvl="1"/>
            <a:r>
              <a:rPr lang="en-US" dirty="0"/>
              <a:t>Short contact durations</a:t>
            </a:r>
          </a:p>
          <a:p>
            <a:r>
              <a:rPr lang="en-US" dirty="0"/>
              <a:t>Wireless also presents unique opportunities</a:t>
            </a:r>
          </a:p>
          <a:p>
            <a:pPr lvl="1"/>
            <a:r>
              <a:rPr lang="en-US" dirty="0"/>
              <a:t>Broadcast in nature, thus natural for one to many</a:t>
            </a:r>
          </a:p>
          <a:p>
            <a:pPr lvl="1"/>
            <a:r>
              <a:rPr lang="en-US" dirty="0"/>
              <a:t>Potentiality of Eliminating network discovery</a:t>
            </a:r>
          </a:p>
          <a:p>
            <a:pPr lvl="2"/>
            <a:r>
              <a:rPr lang="en-US" dirty="0"/>
              <a:t>Use data attributes for filtering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99BD3-E72A-4107-BFD6-C04754C53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C977B-77FE-4709-9713-078C1A90B95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843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8748D-3124-4518-83BC-FB255CCBE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-30984"/>
            <a:ext cx="9867900" cy="1325563"/>
          </a:xfrm>
        </p:spPr>
        <p:txBody>
          <a:bodyPr/>
          <a:lstStyle/>
          <a:p>
            <a:pPr algn="ctr"/>
            <a:r>
              <a:rPr lang="en-US" b="1" i="1" dirty="0"/>
              <a:t>V-MAC: Data-Centric Wireless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A3D2A-A4D8-4BE3-A52F-F240F14C3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057" y="1476374"/>
            <a:ext cx="7426037" cy="5245101"/>
          </a:xfrm>
        </p:spPr>
        <p:txBody>
          <a:bodyPr>
            <a:normAutofit/>
          </a:bodyPr>
          <a:lstStyle/>
          <a:p>
            <a:r>
              <a:rPr lang="en-US" dirty="0"/>
              <a:t>Beaconless design</a:t>
            </a:r>
          </a:p>
          <a:p>
            <a:pPr lvl="1"/>
            <a:r>
              <a:rPr lang="en-US" dirty="0"/>
              <a:t>Eliminate discovery/joining latency overhead</a:t>
            </a:r>
          </a:p>
          <a:p>
            <a:r>
              <a:rPr lang="en-US" dirty="0"/>
              <a:t>Pending Encoding Table (PET)</a:t>
            </a:r>
          </a:p>
          <a:p>
            <a:pPr lvl="1"/>
            <a:r>
              <a:rPr lang="en-US" dirty="0"/>
              <a:t>Complete data-centric design from PHY to NFD</a:t>
            </a:r>
          </a:p>
          <a:p>
            <a:r>
              <a:rPr lang="en-US" dirty="0"/>
              <a:t>Best-Effort Robust multicast</a:t>
            </a:r>
          </a:p>
          <a:p>
            <a:pPr lvl="1"/>
            <a:r>
              <a:rPr lang="en-US" dirty="0"/>
              <a:t>Scalable (tested up to 15 receivers) low losses among all receivers with no prior-setup requirements like traditional </a:t>
            </a:r>
            <a:r>
              <a:rPr lang="en-US" dirty="0" err="1"/>
              <a:t>WiFi</a:t>
            </a:r>
            <a:r>
              <a:rPr lang="en-US" dirty="0"/>
              <a:t> communication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7EF86-B824-409B-AE49-894260873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C977B-77FE-4709-9713-078C1A90B95D}" type="slidenum">
              <a:rPr lang="en-US" smtClean="0"/>
              <a:t>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383012-5A8A-4200-B9A5-948361940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7114" y="2711733"/>
            <a:ext cx="3635228" cy="21372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31E1B24-8070-4FD0-8E3E-8545ECCE01D0}"/>
              </a:ext>
            </a:extLst>
          </p:cNvPr>
          <p:cNvSpPr txBox="1"/>
          <p:nvPr/>
        </p:nvSpPr>
        <p:spPr>
          <a:xfrm>
            <a:off x="9344475" y="4964951"/>
            <a:ext cx="2051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Full Stack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1F3CB0-A712-425B-BAC1-AE5D8714B595}"/>
              </a:ext>
            </a:extLst>
          </p:cNvPr>
          <p:cNvSpPr txBox="1"/>
          <p:nvPr/>
        </p:nvSpPr>
        <p:spPr>
          <a:xfrm>
            <a:off x="-1" y="6202461"/>
            <a:ext cx="12192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* For more information, V-MAC paper is to appear at The Fifth ACM/IEEE Symposium on Edge Computing (SEC’20), November 11-13</a:t>
            </a:r>
            <a:r>
              <a:rPr lang="en-US" sz="1400" baseline="30000" dirty="0"/>
              <a:t>th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19320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790C4-190E-4E43-9931-1C24D7C78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-30163"/>
            <a:ext cx="9867900" cy="1325563"/>
          </a:xfrm>
        </p:spPr>
        <p:txBody>
          <a:bodyPr/>
          <a:lstStyle/>
          <a:p>
            <a:pPr algn="ctr"/>
            <a:r>
              <a:rPr lang="en-US" b="1" i="1" dirty="0"/>
              <a:t>Loss Rate with V-MAC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5DBEC4-53DE-4A9D-AC0D-4651837E5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C977B-77FE-4709-9713-078C1A90B95D}" type="slidenum">
              <a:rPr lang="en-US" smtClean="0"/>
              <a:t>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511F55-6546-4488-BB53-6563BCD81D5C}"/>
              </a:ext>
            </a:extLst>
          </p:cNvPr>
          <p:cNvSpPr txBox="1"/>
          <p:nvPr/>
        </p:nvSpPr>
        <p:spPr>
          <a:xfrm>
            <a:off x="212377" y="1954043"/>
            <a:ext cx="6469752" cy="14722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b="1" dirty="0"/>
              <a:t>Stationary</a:t>
            </a:r>
          </a:p>
          <a:p>
            <a:pPr lvl="1"/>
            <a:r>
              <a:rPr lang="en-US" dirty="0"/>
              <a:t>54 </a:t>
            </a:r>
            <a:r>
              <a:rPr lang="en-US" dirty="0" err="1"/>
              <a:t>mbps</a:t>
            </a:r>
            <a:endParaRPr lang="en-US" dirty="0"/>
          </a:p>
          <a:p>
            <a:pPr lvl="1"/>
            <a:r>
              <a:rPr lang="en-US" dirty="0"/>
              <a:t>1 producer – 3, 5, 7, 10, 15 consumers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5422FD-4DB8-4FA2-89D7-74D2E117B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972" y="4101460"/>
            <a:ext cx="5178135" cy="22548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EB2AE6D-9308-4842-8527-1C39BAE988EE}"/>
              </a:ext>
            </a:extLst>
          </p:cNvPr>
          <p:cNvSpPr txBox="1"/>
          <p:nvPr/>
        </p:nvSpPr>
        <p:spPr>
          <a:xfrm>
            <a:off x="6682129" y="3686119"/>
            <a:ext cx="3300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V-MAC Real Vehicles Experiment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724F86-6CB5-4A32-97F4-DC6CB9AC97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77" y="3978669"/>
            <a:ext cx="5206095" cy="22548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BD0A0FB-FDB7-4A07-9214-D465E3EC9D31}"/>
              </a:ext>
            </a:extLst>
          </p:cNvPr>
          <p:cNvSpPr txBox="1"/>
          <p:nvPr/>
        </p:nvSpPr>
        <p:spPr>
          <a:xfrm>
            <a:off x="423392" y="3517813"/>
            <a:ext cx="3331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Scalability Stationary Experiment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D77C4B-A009-43B4-A35D-49C9FDEB8E9C}"/>
              </a:ext>
            </a:extLst>
          </p:cNvPr>
          <p:cNvSpPr txBox="1"/>
          <p:nvPr/>
        </p:nvSpPr>
        <p:spPr>
          <a:xfrm>
            <a:off x="6096000" y="1954042"/>
            <a:ext cx="6469752" cy="147224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b="1" dirty="0"/>
              <a:t>Real Vehicles</a:t>
            </a:r>
          </a:p>
          <a:p>
            <a:pPr lvl="1"/>
            <a:r>
              <a:rPr lang="en-US" dirty="0"/>
              <a:t>54 </a:t>
            </a:r>
            <a:r>
              <a:rPr lang="en-US" dirty="0" err="1"/>
              <a:t>mbps</a:t>
            </a:r>
            <a:endParaRPr lang="en-US" dirty="0"/>
          </a:p>
          <a:p>
            <a:pPr lvl="1"/>
            <a:r>
              <a:rPr lang="en-US" dirty="0"/>
              <a:t>1 producer – 4 consumers Platoon</a:t>
            </a:r>
          </a:p>
          <a:p>
            <a:pPr lvl="1"/>
            <a:r>
              <a:rPr lang="en-US" dirty="0"/>
              <a:t>25 – 35 mph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707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C5672-A6C4-4D2E-9FC0-3B86DC143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12628"/>
            <a:ext cx="9867900" cy="1325563"/>
          </a:xfrm>
        </p:spPr>
        <p:txBody>
          <a:bodyPr/>
          <a:lstStyle/>
          <a:p>
            <a:pPr algn="ctr"/>
            <a:r>
              <a:rPr lang="en-US" b="1" i="1" dirty="0"/>
              <a:t>Application Performance with V-MAC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E2DE3-8350-4D72-85DD-598AE5874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C977B-77FE-4709-9713-078C1A90B95D}" type="slidenum">
              <a:rPr lang="en-US" smtClean="0"/>
              <a:t>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CB27F9-E7DD-4085-AFBC-86821DB9998F}"/>
              </a:ext>
            </a:extLst>
          </p:cNvPr>
          <p:cNvSpPr txBox="1"/>
          <p:nvPr/>
        </p:nvSpPr>
        <p:spPr>
          <a:xfrm>
            <a:off x="385482" y="1690688"/>
            <a:ext cx="7219864" cy="3034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Raspberry Pi + USB </a:t>
            </a:r>
            <a:r>
              <a:rPr lang="en-US" dirty="0" err="1"/>
              <a:t>Wifi</a:t>
            </a:r>
            <a:r>
              <a:rPr lang="en-US" dirty="0"/>
              <a:t> dongle</a:t>
            </a:r>
          </a:p>
          <a:p>
            <a:r>
              <a:rPr lang="en-US" dirty="0"/>
              <a:t>v3: kernel module from scratch with provisioning for NFD Integration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A52E53-0DB9-481C-8E0F-B3ADB715D9B9}"/>
              </a:ext>
            </a:extLst>
          </p:cNvPr>
          <p:cNvSpPr/>
          <p:nvPr/>
        </p:nvSpPr>
        <p:spPr>
          <a:xfrm>
            <a:off x="8462524" y="4386206"/>
            <a:ext cx="214982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/>
              <a:t>Stationary testbed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148410-BC9A-4800-AD21-04A4E7856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8776" y="1585546"/>
            <a:ext cx="3477315" cy="261394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8A5E388-9FAD-4B91-98FC-421266B1E7FE}"/>
              </a:ext>
            </a:extLst>
          </p:cNvPr>
          <p:cNvSpPr txBox="1"/>
          <p:nvPr/>
        </p:nvSpPr>
        <p:spPr>
          <a:xfrm>
            <a:off x="-175846" y="5246305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i="1" dirty="0">
                <a:latin typeface="Calibri" panose="020F0502020204030204" pitchFamily="34" charset="0"/>
                <a:cs typeface="Calibri" panose="020F0502020204030204" pitchFamily="34" charset="0"/>
              </a:rPr>
              <a:t>Kindly Play the video</a:t>
            </a:r>
          </a:p>
        </p:txBody>
      </p:sp>
    </p:spTree>
    <p:extLst>
      <p:ext uri="{BB962C8B-B14F-4D97-AF65-F5344CB8AC3E}">
        <p14:creationId xmlns:p14="http://schemas.microsoft.com/office/powerpoint/2010/main" val="32189390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72F3E-3114-4BF7-AD77-E80765BA3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0"/>
            <a:ext cx="9867900" cy="1325563"/>
          </a:xfrm>
        </p:spPr>
        <p:txBody>
          <a:bodyPr/>
          <a:lstStyle/>
          <a:p>
            <a:pPr algn="ctr"/>
            <a:r>
              <a:rPr lang="en-US" b="1" i="1" dirty="0"/>
              <a:t>VNLP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FD898-5685-4C2A-A678-BDD267096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Full data-centric Stack</a:t>
            </a:r>
          </a:p>
          <a:p>
            <a:r>
              <a:rPr lang="en-US" i="1" dirty="0"/>
              <a:t>MAC Data-centric robustness protocol</a:t>
            </a:r>
          </a:p>
          <a:p>
            <a:pPr lvl="1"/>
            <a:r>
              <a:rPr lang="en-US" dirty="0"/>
              <a:t>10-90% broadcast to 1-5% multicast loss rates stationary and &lt;15% mobile</a:t>
            </a:r>
          </a:p>
          <a:p>
            <a:pPr lvl="1"/>
            <a:r>
              <a:rPr lang="en-US" dirty="0"/>
              <a:t>V-MAC’s latency &lt; 2.5x of broadcast’s</a:t>
            </a:r>
          </a:p>
          <a:p>
            <a:r>
              <a:rPr lang="en-US" dirty="0"/>
              <a:t>60X and 100X latency improvements for cross-stack communications</a:t>
            </a:r>
          </a:p>
          <a:p>
            <a:r>
              <a:rPr lang="en-US" dirty="0"/>
              <a:t>Interoperable with ad-hoc and can co-exist with any regular </a:t>
            </a:r>
            <a:r>
              <a:rPr lang="en-US" dirty="0" err="1"/>
              <a:t>WiFi</a:t>
            </a:r>
            <a:endParaRPr lang="en-US" dirty="0"/>
          </a:p>
          <a:p>
            <a:r>
              <a:rPr lang="en-US" dirty="0"/>
              <a:t>Support of high data rates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i="1" dirty="0"/>
          </a:p>
          <a:p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95F60-8C0C-433F-8110-E75816C08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7E69-E4DD-400A-95A3-62747EF2FD8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092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9CBD-B092-4AAA-BD9A-EDD750595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309"/>
            <a:ext cx="9867900" cy="1325563"/>
          </a:xfrm>
        </p:spPr>
        <p:txBody>
          <a:bodyPr/>
          <a:lstStyle/>
          <a:p>
            <a:pPr algn="ctr"/>
            <a:r>
              <a:rPr lang="en-US" b="1" i="1" dirty="0"/>
              <a:t>VMAC and NFD Full Stack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75FDE-CE99-4AE1-B791-C4FF38FAC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Types of Frames VNLP Supports</a:t>
            </a:r>
          </a:p>
          <a:p>
            <a:pPr lvl="1"/>
            <a:r>
              <a:rPr lang="en-US" dirty="0"/>
              <a:t>Interest</a:t>
            </a:r>
          </a:p>
          <a:p>
            <a:pPr lvl="2"/>
            <a:r>
              <a:rPr lang="en-US" dirty="0"/>
              <a:t>with best-effort DACK multicast support</a:t>
            </a:r>
          </a:p>
          <a:p>
            <a:pPr lvl="2"/>
            <a:r>
              <a:rPr lang="en-US" dirty="0"/>
              <a:t>with no reliability</a:t>
            </a:r>
          </a:p>
          <a:p>
            <a:pPr lvl="1"/>
            <a:r>
              <a:rPr lang="en-US" dirty="0"/>
              <a:t>Data</a:t>
            </a:r>
          </a:p>
          <a:p>
            <a:pPr lvl="1"/>
            <a:r>
              <a:rPr lang="en-US" dirty="0"/>
              <a:t>Announcement</a:t>
            </a:r>
          </a:p>
          <a:p>
            <a:pPr lvl="2"/>
            <a:r>
              <a:rPr lang="en-US" dirty="0"/>
              <a:t>NACK is sent as Announcement to V-MAC</a:t>
            </a:r>
          </a:p>
          <a:p>
            <a:pPr lvl="1"/>
            <a:r>
              <a:rPr lang="en-US" dirty="0"/>
              <a:t>Implicit Interest</a:t>
            </a:r>
          </a:p>
          <a:p>
            <a:pPr lvl="2"/>
            <a:r>
              <a:rPr lang="en-US" dirty="0"/>
              <a:t>with best-effort DACK multicast support</a:t>
            </a:r>
          </a:p>
          <a:p>
            <a:pPr lvl="2"/>
            <a:r>
              <a:rPr lang="en-US" dirty="0"/>
              <a:t>with no reliability</a:t>
            </a:r>
          </a:p>
          <a:p>
            <a:r>
              <a:rPr lang="en-US" dirty="0"/>
              <a:t>Configurable data rates (1 – 65 </a:t>
            </a:r>
            <a:r>
              <a:rPr lang="en-US" dirty="0" err="1"/>
              <a:t>mbps</a:t>
            </a:r>
            <a:r>
              <a:rPr lang="en-US" dirty="0"/>
              <a:t> at 802.11n and up to 900 </a:t>
            </a:r>
            <a:r>
              <a:rPr lang="en-US" dirty="0" err="1"/>
              <a:t>mbps</a:t>
            </a:r>
            <a:r>
              <a:rPr lang="en-US" dirty="0"/>
              <a:t> 802.11ac)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558AA5-E706-4227-AE27-0552BC1D7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C977B-77FE-4709-9713-078C1A90B95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207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0F399-9EA0-449A-A224-2B05298C3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099" y="18255"/>
            <a:ext cx="9803245" cy="1325563"/>
          </a:xfrm>
        </p:spPr>
        <p:txBody>
          <a:bodyPr/>
          <a:lstStyle/>
          <a:p>
            <a:pPr algn="ctr"/>
            <a:r>
              <a:rPr lang="en-US" b="1" i="1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CB074-A70B-40F5-B1A8-0C0F555AB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Finalize Integration and prepare for code-reviews/testing</a:t>
            </a:r>
          </a:p>
          <a:p>
            <a:pPr lvl="1"/>
            <a:r>
              <a:rPr lang="en-US" b="1" dirty="0"/>
              <a:t>Code available to community expected by October given some help from </a:t>
            </a:r>
            <a:r>
              <a:rPr lang="en-US" b="1" dirty="0" err="1"/>
              <a:t>NDNComm</a:t>
            </a:r>
            <a:r>
              <a:rPr lang="en-US" b="1" dirty="0"/>
              <a:t> finalizing integration</a:t>
            </a:r>
          </a:p>
          <a:p>
            <a:pPr lvl="1"/>
            <a:r>
              <a:rPr lang="en-US" b="1" dirty="0">
                <a:hlinkClick r:id="rId3"/>
              </a:rPr>
              <a:t>https://github.com/melbadry97/Full-Data-centric-Stack</a:t>
            </a:r>
            <a:endParaRPr lang="en-US" dirty="0"/>
          </a:p>
          <a:p>
            <a:r>
              <a:rPr lang="en-US" dirty="0"/>
              <a:t>Data-centric Multicast frame rate adaptation</a:t>
            </a:r>
          </a:p>
          <a:p>
            <a:r>
              <a:rPr lang="en-US" dirty="0"/>
              <a:t>Support more hardware chipsets (</a:t>
            </a:r>
            <a:r>
              <a:rPr lang="en-US" dirty="0" err="1"/>
              <a:t>mediatek</a:t>
            </a:r>
            <a:r>
              <a:rPr lang="en-US" dirty="0"/>
              <a:t>, 10k, 9k)</a:t>
            </a:r>
          </a:p>
          <a:p>
            <a:r>
              <a:rPr lang="en-US" i="1" dirty="0"/>
              <a:t>New data-centric research problems</a:t>
            </a:r>
          </a:p>
          <a:p>
            <a:pPr lvl="1"/>
            <a:r>
              <a:rPr lang="en-US" dirty="0"/>
              <a:t>Unique Data-Centric Producer selection</a:t>
            </a:r>
          </a:p>
          <a:p>
            <a:pPr lvl="1"/>
            <a:r>
              <a:rPr lang="en-US" dirty="0"/>
              <a:t>Data-centric beacon needs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CAAC65-4B88-4398-8374-EFE559CA0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C977B-77FE-4709-9713-078C1A90B95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488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0F399-9EA0-449A-A224-2B05298C3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0445"/>
            <a:ext cx="12192000" cy="4287329"/>
          </a:xfrm>
        </p:spPr>
        <p:txBody>
          <a:bodyPr>
            <a:normAutofit/>
          </a:bodyPr>
          <a:lstStyle/>
          <a:p>
            <a:pPr algn="ctr"/>
            <a:r>
              <a:rPr lang="en-US" sz="11500" i="1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CB074-A70B-40F5-B1A8-0C0F555AB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991224"/>
            <a:ext cx="12192000" cy="36512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800" i="1" dirty="0"/>
              <a:t>*Thank you </a:t>
            </a:r>
            <a:r>
              <a:rPr lang="en-US" sz="1800" i="1" dirty="0" err="1"/>
              <a:t>Lixia</a:t>
            </a:r>
            <a:r>
              <a:rPr lang="en-US" sz="1800" i="1" dirty="0"/>
              <a:t> Zhang and </a:t>
            </a:r>
            <a:r>
              <a:rPr lang="en-US" sz="1800" i="1" dirty="0" err="1"/>
              <a:t>Asavari</a:t>
            </a:r>
            <a:r>
              <a:rPr lang="en-US" sz="1800" i="1" dirty="0"/>
              <a:t> Limaye for the support and starting efforts integrating NFD and V-MAC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CAAC65-4B88-4398-8374-EFE559CA0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C977B-77FE-4709-9713-078C1A90B95D}" type="slidenum">
              <a:rPr lang="en-US" smtClean="0"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D02CC3-FA1C-4453-BF74-58F5A7AEA068}"/>
              </a:ext>
            </a:extLst>
          </p:cNvPr>
          <p:cNvSpPr txBox="1"/>
          <p:nvPr/>
        </p:nvSpPr>
        <p:spPr>
          <a:xfrm>
            <a:off x="3314700" y="4396154"/>
            <a:ext cx="5295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i="1" dirty="0"/>
              <a:t>Questions?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876141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900</TotalTime>
  <Words>504</Words>
  <Application>Microsoft Office PowerPoint</Application>
  <PresentationFormat>Widescreen</PresentationFormat>
  <Paragraphs>100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A Full Data-centric Network Stack Integrating V-MAC and NFD</vt:lpstr>
      <vt:lpstr>Current MAC Falls Short</vt:lpstr>
      <vt:lpstr>Data-centric MAC: Challenges and Opportunity</vt:lpstr>
      <vt:lpstr>V-MAC: Data-Centric Wireless Communication</vt:lpstr>
      <vt:lpstr>Loss Rate with V-MAC</vt:lpstr>
      <vt:lpstr>Application Performance with V-MAC</vt:lpstr>
      <vt:lpstr>VNLP Benefits</vt:lpstr>
      <vt:lpstr>VMAC and NFD Full Stack Features</vt:lpstr>
      <vt:lpstr>Future Work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Towards A Data-Centric  Wireless Communication Paradigm</dc:title>
  <dc:creator>Fan Ye</dc:creator>
  <cp:lastModifiedBy>Mohammed Elbadry</cp:lastModifiedBy>
  <cp:revision>247</cp:revision>
  <dcterms:created xsi:type="dcterms:W3CDTF">2019-05-14T16:24:29Z</dcterms:created>
  <dcterms:modified xsi:type="dcterms:W3CDTF">2020-09-09T14:21:47Z</dcterms:modified>
</cp:coreProperties>
</file>