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notesMasterIdLst>
    <p:notesMasterId r:id="rId17"/>
  </p:notesMasterIdLst>
  <p:sldIdLst>
    <p:sldId id="256" r:id="rId2"/>
    <p:sldId id="258" r:id="rId3"/>
    <p:sldId id="274" r:id="rId4"/>
    <p:sldId id="278" r:id="rId5"/>
    <p:sldId id="261" r:id="rId6"/>
    <p:sldId id="270" r:id="rId7"/>
    <p:sldId id="276" r:id="rId8"/>
    <p:sldId id="277" r:id="rId9"/>
    <p:sldId id="259" r:id="rId10"/>
    <p:sldId id="266" r:id="rId11"/>
    <p:sldId id="267" r:id="rId12"/>
    <p:sldId id="269" r:id="rId13"/>
    <p:sldId id="271" r:id="rId14"/>
    <p:sldId id="275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14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09"/>
    <p:restoredTop sz="96327"/>
  </p:normalViewPr>
  <p:slideViewPr>
    <p:cSldViewPr snapToGrid="0" snapToObjects="1" showGuides="1">
      <p:cViewPr varScale="1">
        <p:scale>
          <a:sx n="89" d="100"/>
          <a:sy n="89" d="100"/>
        </p:scale>
        <p:origin x="200" y="632"/>
      </p:cViewPr>
      <p:guideLst>
        <p:guide orient="horz" pos="816"/>
        <p:guide pos="14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0351-D7A9-2B4E-A848-2BDB2897128C}" type="datetimeFigureOut">
              <a:rPr lang="en-US" smtClean="0"/>
              <a:t>9/5/20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F8BB4-B7D0-9144-8BFA-D1ABB4503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15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>
            <a:extLst>
              <a:ext uri="{FF2B5EF4-FFF2-40B4-BE49-F238E27FC236}">
                <a16:creationId xmlns:a16="http://schemas.microsoft.com/office/drawing/2014/main" id="{CBD23E7B-9436-3344-A748-2E64F065AE3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4" name="Text Box 2">
            <a:extLst>
              <a:ext uri="{FF2B5EF4-FFF2-40B4-BE49-F238E27FC236}">
                <a16:creationId xmlns:a16="http://schemas.microsoft.com/office/drawing/2014/main" id="{1946844D-F1DD-5D41-97C8-E7D0C8FBC24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5213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1">
            <a:extLst>
              <a:ext uri="{FF2B5EF4-FFF2-40B4-BE49-F238E27FC236}">
                <a16:creationId xmlns:a16="http://schemas.microsoft.com/office/drawing/2014/main" id="{DF972142-A66F-A640-8192-A371D988FC0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E7C715DC-6B15-C245-A443-7557A0CB3BF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5253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>
            <a:extLst>
              <a:ext uri="{FF2B5EF4-FFF2-40B4-BE49-F238E27FC236}">
                <a16:creationId xmlns:a16="http://schemas.microsoft.com/office/drawing/2014/main" id="{5A3863BC-2C47-0745-A726-996804110E4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78" name="Text Box 2">
            <a:extLst>
              <a:ext uri="{FF2B5EF4-FFF2-40B4-BE49-F238E27FC236}">
                <a16:creationId xmlns:a16="http://schemas.microsoft.com/office/drawing/2014/main" id="{D5898D52-8B6B-FA4D-9F7F-B8C2D3644E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5054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1">
            <a:extLst>
              <a:ext uri="{FF2B5EF4-FFF2-40B4-BE49-F238E27FC236}">
                <a16:creationId xmlns:a16="http://schemas.microsoft.com/office/drawing/2014/main" id="{DF972142-A66F-A640-8192-A371D988FC0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E7C715DC-6B15-C245-A443-7557A0CB3BF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653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>
            <a:extLst>
              <a:ext uri="{FF2B5EF4-FFF2-40B4-BE49-F238E27FC236}">
                <a16:creationId xmlns:a16="http://schemas.microsoft.com/office/drawing/2014/main" id="{5A3863BC-2C47-0745-A726-996804110E4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78" name="Text Box 2">
            <a:extLst>
              <a:ext uri="{FF2B5EF4-FFF2-40B4-BE49-F238E27FC236}">
                <a16:creationId xmlns:a16="http://schemas.microsoft.com/office/drawing/2014/main" id="{D5898D52-8B6B-FA4D-9F7F-B8C2D3644E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853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38FE-6271-9242-A3EA-76F937151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C271D-E6EF-C241-9C15-6DF714376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BBAA5-2416-6E45-A4A9-C997B3DE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FE6C-5492-EB48-8776-F585A06EB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9D294-453D-EA42-9DB7-BC3BF462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PPA - International Conference on Public Policy 4 - Montreal 2019">
            <a:extLst>
              <a:ext uri="{FF2B5EF4-FFF2-40B4-BE49-F238E27FC236}">
                <a16:creationId xmlns:a16="http://schemas.microsoft.com/office/drawing/2014/main" id="{22CD9CDF-52E5-A440-BBFE-3D08D82A36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7474" y="6178771"/>
            <a:ext cx="2628186" cy="65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616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ECFFD-869A-B748-9E88-E74D4F06C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68C6B-F0AC-4947-8537-3A90C361E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D3039-77A0-A741-B10F-54666A50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DE94-87EC-C549-9745-9737FF88A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3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7F6F-434F-9946-A5F0-0187177E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DE538-AC92-B944-8842-71D82C0C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CBBFD-1396-3248-BD08-116831D5B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CF275-8D36-2643-A8D9-28D943C84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0275C-78EB-DA40-A816-EB9A5C03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8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AA6B-01C8-CD41-B52F-E5BB289D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0192E-DF25-674B-B301-64AAC3BBB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88538-89B1-9E4E-B1FC-5054F8A70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76AC7-8F44-0F4A-83B1-C8E744C8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5AB6A-B9BA-0844-BD4A-89152FFD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6C9AD-342E-D146-99F4-E102544C7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08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DAA5-1EDC-694D-9EF5-BD5D05F6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15FD8-E57A-5A4C-BBF6-AFDEB4627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16892-CE4E-F64F-859F-87AF3E328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E9811-039E-BB42-A777-DB3BF6041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ECF71-8D5A-EA43-B860-6A1B4DD45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8CA5D7-5890-4443-ADC4-E9F85769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9378DB-E5F8-B34B-A8F8-DB777137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C5024C-7A60-9243-BA6C-E8858B07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0229-34D5-7A4E-8ABD-B3CDCB0D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53B3CA-2B88-C041-9DE5-672A051C2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D79F9A-5370-654A-AB7C-3ED8412C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43FF7-EEF9-0649-A467-B5ED3E12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72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EE34E4-C394-4A45-857F-6E4197DE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65BDF-0958-BB4A-BBA5-2ECD23399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CBC3F-4DC4-8848-B0AD-DEFF7B6B2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1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E694B-BE9D-1548-98BE-99E17273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8AE30-752A-F346-980B-E2103F7F1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4C989-F61E-3248-ACFF-4A6A8C76F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B2C62-A023-1F4C-92F8-7C89FF7FD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FD03A-5823-EB4D-8D59-367F9FE6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FC30F-9C3D-E84B-9215-A9B66302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6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F2BE-41F3-ED42-9DC4-B69013920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39D58A-E602-5243-8F1B-4AC6F5C23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1454A-5C4A-C640-BAD5-BA1138440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E59AF-9B3D-8043-B3B6-AF13A31E8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280E1-288E-8748-ADE9-C3E834371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38F8D-BF44-A142-AC2C-92306C8D9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4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C49A-67E0-2D41-BA78-A2FC00CE3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0DC8A-C213-3D44-B0DC-1ABBC8AEE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CF0E7-CCFC-7847-9197-EA9AAC2CA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4A5F4-EFCB-1F44-AADA-34B553C2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6DD18-4050-484F-8236-25F2A6DD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96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19C9FC-7332-204C-9419-25E6DF785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9A59F-C762-EB4D-9B05-392CD568F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5E06C-36EC-4446-93C5-A96AE38A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52F94-518B-E64B-810F-ADC8B9176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10656-A807-2045-AEAF-AA9BC7DE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15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6CE68-5B94-454A-935D-A16EFDCF0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77E98-C23C-F649-92C5-E600C9E7A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9BA89-2841-244F-93C0-5AC5DA8D8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53D03-B851-0F4E-A301-ACE6F0F93796}" type="datetimeFigureOut">
              <a:rPr lang="en-US" smtClean="0"/>
              <a:t>9/5/20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9170A-4D0B-724B-BB94-440B84944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5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5691-5DB8-B147-8A35-8AF7A9654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3837"/>
            <a:ext cx="9144000" cy="238760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The Decision Maker:</a:t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NDN concepts for intelligent automation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F9F26-20AE-0241-8F13-365190E89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Marie-José Montpetit</a:t>
            </a:r>
          </a:p>
          <a:p>
            <a:r>
              <a:rPr lang="en-US" dirty="0"/>
              <a:t>Concordia University Montreal</a:t>
            </a:r>
          </a:p>
        </p:txBody>
      </p:sp>
    </p:spTree>
    <p:extLst>
      <p:ext uri="{BB962C8B-B14F-4D97-AF65-F5344CB8AC3E}">
        <p14:creationId xmlns:p14="http://schemas.microsoft.com/office/powerpoint/2010/main" val="37869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493CFF-E43B-4B10-ACE1-C8A124662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3" y="0"/>
            <a:ext cx="4062127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5BE0B-B1D3-4248-B84E-A9F9EA176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650" y="643467"/>
            <a:ext cx="3117850" cy="2556385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Overview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09D93B-6C63-0142-A05D-BE370CDFB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3467"/>
            <a:ext cx="8326173" cy="528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49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22B1-8C9E-DD47-901A-DBFD97CDC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1445494"/>
            <a:ext cx="3616856" cy="43765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challenge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F2AC85-FAA0-4844-813F-83C04D738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636" y="0"/>
            <a:ext cx="7281316" cy="6858000"/>
          </a:xfrm>
          <a:custGeom>
            <a:avLst/>
            <a:gdLst>
              <a:gd name="connsiteX0" fmla="*/ 361354 w 7281316"/>
              <a:gd name="connsiteY0" fmla="*/ 0 h 6858000"/>
              <a:gd name="connsiteX1" fmla="*/ 7281316 w 7281316"/>
              <a:gd name="connsiteY1" fmla="*/ 0 h 6858000"/>
              <a:gd name="connsiteX2" fmla="*/ 7281316 w 7281316"/>
              <a:gd name="connsiteY2" fmla="*/ 6858000 h 6858000"/>
              <a:gd name="connsiteX3" fmla="*/ 696735 w 7281316"/>
              <a:gd name="connsiteY3" fmla="*/ 6858000 h 6858000"/>
              <a:gd name="connsiteX4" fmla="*/ 690849 w 7281316"/>
              <a:gd name="connsiteY4" fmla="*/ 6842426 h 6858000"/>
              <a:gd name="connsiteX5" fmla="*/ 335637 w 7281316"/>
              <a:gd name="connsiteY5" fmla="*/ 947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81316" h="6858000">
                <a:moveTo>
                  <a:pt x="361354" y="0"/>
                </a:moveTo>
                <a:lnTo>
                  <a:pt x="7281316" y="0"/>
                </a:lnTo>
                <a:lnTo>
                  <a:pt x="7281316" y="6858000"/>
                </a:lnTo>
                <a:lnTo>
                  <a:pt x="696735" y="6858000"/>
                </a:lnTo>
                <a:lnTo>
                  <a:pt x="690849" y="6842426"/>
                </a:lnTo>
                <a:cubicBezTo>
                  <a:pt x="-65870" y="4704140"/>
                  <a:pt x="-226206" y="2374054"/>
                  <a:pt x="335637" y="9472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9CC0F1E-BAA2-47B1-8F83-7ECB9FD9E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9558" y="0"/>
            <a:ext cx="6999394" cy="6858000"/>
          </a:xfrm>
          <a:custGeom>
            <a:avLst/>
            <a:gdLst>
              <a:gd name="connsiteX0" fmla="*/ 6999394 w 6999394"/>
              <a:gd name="connsiteY0" fmla="*/ 0 h 6858000"/>
              <a:gd name="connsiteX1" fmla="*/ 6999394 w 6999394"/>
              <a:gd name="connsiteY1" fmla="*/ 6858000 h 6858000"/>
              <a:gd name="connsiteX2" fmla="*/ 717029 w 6999394"/>
              <a:gd name="connsiteY2" fmla="*/ 6858000 h 6858000"/>
              <a:gd name="connsiteX3" fmla="*/ 623642 w 6999394"/>
              <a:gd name="connsiteY3" fmla="*/ 6599363 h 6858000"/>
              <a:gd name="connsiteX4" fmla="*/ 319533 w 6999394"/>
              <a:gd name="connsiteY4" fmla="*/ 193787 h 6858000"/>
              <a:gd name="connsiteX5" fmla="*/ 371685 w 6999394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9394" h="6858000">
                <a:moveTo>
                  <a:pt x="6999394" y="0"/>
                </a:moveTo>
                <a:lnTo>
                  <a:pt x="6999394" y="6858000"/>
                </a:lnTo>
                <a:lnTo>
                  <a:pt x="717029" y="6858000"/>
                </a:lnTo>
                <a:lnTo>
                  <a:pt x="623642" y="6599363"/>
                </a:lnTo>
                <a:cubicBezTo>
                  <a:pt x="-67685" y="4563346"/>
                  <a:pt x="-206622" y="2355719"/>
                  <a:pt x="319533" y="193787"/>
                </a:cubicBezTo>
                <a:lnTo>
                  <a:pt x="371685" y="1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E65E00-0783-D44E-BA23-3542E4A04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99032"/>
            <a:ext cx="5501834" cy="4471416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200" dirty="0">
              <a:solidFill>
                <a:schemeClr val="bg1"/>
              </a:solidFill>
            </a:endParaRPr>
          </a:p>
          <a:p>
            <a:endParaRPr lang="en-US" sz="2200" dirty="0">
              <a:solidFill>
                <a:schemeClr val="bg1"/>
              </a:solidFill>
            </a:endParaRPr>
          </a:p>
          <a:p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dirty="0">
                <a:solidFill>
                  <a:schemeClr val="bg1"/>
                </a:solidFill>
              </a:rPr>
              <a:t>Multisource multi-destination data capture and decision making</a:t>
            </a:r>
          </a:p>
          <a:p>
            <a:r>
              <a:rPr lang="en-US" sz="2200" dirty="0">
                <a:solidFill>
                  <a:schemeClr val="bg1"/>
                </a:solidFill>
              </a:rPr>
              <a:t>Heterogeneous environments, sensors and datasets</a:t>
            </a: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195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22B1-8C9E-DD47-901A-DBFD97CDC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1445494"/>
            <a:ext cx="3616856" cy="43765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Heritage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F2AC85-FAA0-4844-813F-83C04D738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636" y="0"/>
            <a:ext cx="7281316" cy="6858000"/>
          </a:xfrm>
          <a:custGeom>
            <a:avLst/>
            <a:gdLst>
              <a:gd name="connsiteX0" fmla="*/ 361354 w 7281316"/>
              <a:gd name="connsiteY0" fmla="*/ 0 h 6858000"/>
              <a:gd name="connsiteX1" fmla="*/ 7281316 w 7281316"/>
              <a:gd name="connsiteY1" fmla="*/ 0 h 6858000"/>
              <a:gd name="connsiteX2" fmla="*/ 7281316 w 7281316"/>
              <a:gd name="connsiteY2" fmla="*/ 6858000 h 6858000"/>
              <a:gd name="connsiteX3" fmla="*/ 696735 w 7281316"/>
              <a:gd name="connsiteY3" fmla="*/ 6858000 h 6858000"/>
              <a:gd name="connsiteX4" fmla="*/ 690849 w 7281316"/>
              <a:gd name="connsiteY4" fmla="*/ 6842426 h 6858000"/>
              <a:gd name="connsiteX5" fmla="*/ 335637 w 7281316"/>
              <a:gd name="connsiteY5" fmla="*/ 947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81316" h="6858000">
                <a:moveTo>
                  <a:pt x="361354" y="0"/>
                </a:moveTo>
                <a:lnTo>
                  <a:pt x="7281316" y="0"/>
                </a:lnTo>
                <a:lnTo>
                  <a:pt x="7281316" y="6858000"/>
                </a:lnTo>
                <a:lnTo>
                  <a:pt x="696735" y="6858000"/>
                </a:lnTo>
                <a:lnTo>
                  <a:pt x="690849" y="6842426"/>
                </a:lnTo>
                <a:cubicBezTo>
                  <a:pt x="-65870" y="4704140"/>
                  <a:pt x="-226206" y="2374054"/>
                  <a:pt x="335637" y="9472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9CC0F1E-BAA2-47B1-8F83-7ECB9FD9E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9558" y="0"/>
            <a:ext cx="6999394" cy="6858000"/>
          </a:xfrm>
          <a:custGeom>
            <a:avLst/>
            <a:gdLst>
              <a:gd name="connsiteX0" fmla="*/ 6999394 w 6999394"/>
              <a:gd name="connsiteY0" fmla="*/ 0 h 6858000"/>
              <a:gd name="connsiteX1" fmla="*/ 6999394 w 6999394"/>
              <a:gd name="connsiteY1" fmla="*/ 6858000 h 6858000"/>
              <a:gd name="connsiteX2" fmla="*/ 717029 w 6999394"/>
              <a:gd name="connsiteY2" fmla="*/ 6858000 h 6858000"/>
              <a:gd name="connsiteX3" fmla="*/ 623642 w 6999394"/>
              <a:gd name="connsiteY3" fmla="*/ 6599363 h 6858000"/>
              <a:gd name="connsiteX4" fmla="*/ 319533 w 6999394"/>
              <a:gd name="connsiteY4" fmla="*/ 193787 h 6858000"/>
              <a:gd name="connsiteX5" fmla="*/ 371685 w 6999394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9394" h="6858000">
                <a:moveTo>
                  <a:pt x="6999394" y="0"/>
                </a:moveTo>
                <a:lnTo>
                  <a:pt x="6999394" y="6858000"/>
                </a:lnTo>
                <a:lnTo>
                  <a:pt x="717029" y="6858000"/>
                </a:lnTo>
                <a:lnTo>
                  <a:pt x="623642" y="6599363"/>
                </a:lnTo>
                <a:cubicBezTo>
                  <a:pt x="-67685" y="4563346"/>
                  <a:pt x="-206622" y="2355719"/>
                  <a:pt x="319533" y="193787"/>
                </a:cubicBezTo>
                <a:lnTo>
                  <a:pt x="371685" y="1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E65E00-0783-D44E-BA23-3542E4A04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99032"/>
            <a:ext cx="5501834" cy="4471416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endParaRPr lang="en-US" sz="2200" dirty="0">
              <a:solidFill>
                <a:schemeClr val="bg1"/>
              </a:solidFill>
            </a:endParaRPr>
          </a:p>
          <a:p>
            <a:endParaRPr lang="en-US" sz="2200" dirty="0">
              <a:solidFill>
                <a:schemeClr val="bg1"/>
              </a:solidFill>
            </a:endParaRPr>
          </a:p>
          <a:p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dirty="0">
                <a:solidFill>
                  <a:schemeClr val="bg1"/>
                </a:solidFill>
              </a:rPr>
              <a:t>NDN/ICN</a:t>
            </a:r>
          </a:p>
          <a:p>
            <a:r>
              <a:rPr lang="en-US" sz="2200" dirty="0">
                <a:solidFill>
                  <a:schemeClr val="bg1"/>
                </a:solidFill>
              </a:rPr>
              <a:t>CFN/COIN</a:t>
            </a:r>
          </a:p>
          <a:p>
            <a:r>
              <a:rPr lang="en-US" sz="2200" dirty="0">
                <a:solidFill>
                  <a:schemeClr val="bg1"/>
                </a:solidFill>
              </a:rPr>
              <a:t>Distributed AI/ML</a:t>
            </a:r>
          </a:p>
          <a:p>
            <a:r>
              <a:rPr lang="en-US" sz="2200" dirty="0">
                <a:solidFill>
                  <a:schemeClr val="bg1"/>
                </a:solidFill>
              </a:rPr>
              <a:t>Next generation IoT</a:t>
            </a:r>
          </a:p>
          <a:p>
            <a:r>
              <a:rPr lang="en-US" sz="2200" dirty="0">
                <a:solidFill>
                  <a:schemeClr val="bg1"/>
                </a:solidFill>
              </a:rPr>
              <a:t>Edge and cloud computing</a:t>
            </a:r>
          </a:p>
          <a:p>
            <a:r>
              <a:rPr lang="en-US" sz="2200" dirty="0">
                <a:solidFill>
                  <a:schemeClr val="bg1"/>
                </a:solidFill>
              </a:rPr>
              <a:t>Data driven systems</a:t>
            </a:r>
          </a:p>
          <a:p>
            <a:r>
              <a:rPr lang="en-US" sz="2200" dirty="0">
                <a:solidFill>
                  <a:schemeClr val="bg1"/>
                </a:solidFill>
              </a:rPr>
              <a:t>Semantic Web</a:t>
            </a:r>
          </a:p>
          <a:p>
            <a:r>
              <a:rPr lang="en-US" sz="2200" dirty="0">
                <a:solidFill>
                  <a:schemeClr val="bg1"/>
                </a:solidFill>
              </a:rPr>
              <a:t>Distributed networks</a:t>
            </a: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577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533141E6-605F-4E4C-8CB5-3A8BC24149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6B3BAD04-E614-4C16-8360-019FCF004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23809"/>
            <a:ext cx="11016943" cy="2262375"/>
          </a:xfrm>
          <a:custGeom>
            <a:avLst/>
            <a:gdLst>
              <a:gd name="connsiteX0" fmla="*/ 0 w 11016943"/>
              <a:gd name="connsiteY0" fmla="*/ 0 h 2262375"/>
              <a:gd name="connsiteX1" fmla="*/ 9969166 w 11016943"/>
              <a:gd name="connsiteY1" fmla="*/ 0 h 2262375"/>
              <a:gd name="connsiteX2" fmla="*/ 11016943 w 11016943"/>
              <a:gd name="connsiteY2" fmla="*/ 2262375 h 2262375"/>
              <a:gd name="connsiteX3" fmla="*/ 4942050 w 11016943"/>
              <a:gd name="connsiteY3" fmla="*/ 2262375 h 2262375"/>
              <a:gd name="connsiteX4" fmla="*/ 4582160 w 11016943"/>
              <a:gd name="connsiteY4" fmla="*/ 2262375 h 2262375"/>
              <a:gd name="connsiteX5" fmla="*/ 0 w 11016943"/>
              <a:gd name="connsiteY5" fmla="*/ 2262375 h 226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6943" h="2262375">
                <a:moveTo>
                  <a:pt x="0" y="0"/>
                </a:moveTo>
                <a:lnTo>
                  <a:pt x="9969166" y="0"/>
                </a:lnTo>
                <a:lnTo>
                  <a:pt x="11016943" y="2262375"/>
                </a:lnTo>
                <a:lnTo>
                  <a:pt x="4942050" y="2262375"/>
                </a:lnTo>
                <a:lnTo>
                  <a:pt x="4582160" y="2262375"/>
                </a:lnTo>
                <a:lnTo>
                  <a:pt x="0" y="2262375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45" name="Text Box 1">
            <a:extLst>
              <a:ext uri="{FF2B5EF4-FFF2-40B4-BE49-F238E27FC236}">
                <a16:creationId xmlns:a16="http://schemas.microsoft.com/office/drawing/2014/main" id="{52476ACC-D1BF-2F4D-B57A-B5EC5C800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248" y="4199861"/>
            <a:ext cx="8856059" cy="13368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b">
            <a:no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Decision Making Building Blocks</a:t>
            </a:r>
          </a:p>
        </p:txBody>
      </p:sp>
    </p:spTree>
    <p:extLst>
      <p:ext uri="{BB962C8B-B14F-4D97-AF65-F5344CB8AC3E}">
        <p14:creationId xmlns:p14="http://schemas.microsoft.com/office/powerpoint/2010/main" val="36080038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0792D4F-247E-46FE-85FC-881DEFA41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12192000" cy="22855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A8903-30A0-8442-A5CF-A586FA2B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76" y="4892358"/>
            <a:ext cx="3766272" cy="1325563"/>
          </a:xfrm>
        </p:spPr>
        <p:txBody>
          <a:bodyPr>
            <a:norm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</a:rPr>
              <a:t>The Common Data Layer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272F12-AF86-441A-BC1B-C014BBBF8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639665" y="5097939"/>
            <a:ext cx="0" cy="914400"/>
          </a:xfrm>
          <a:prstGeom prst="line">
            <a:avLst/>
          </a:prstGeom>
          <a:ln w="19050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EB237F-925E-4728-95E6-7C9A9A9798C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78784" y="4572457"/>
            <a:ext cx="6673136" cy="2050016"/>
          </a:xfrm>
        </p:spPr>
        <p:txBody>
          <a:bodyPr anchor="ctr">
            <a:normAutofit/>
          </a:bodyPr>
          <a:lstStyle/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Discovery and chaining</a:t>
            </a:r>
          </a:p>
          <a:p>
            <a:r>
              <a:rPr lang="en-US" sz="1800" dirty="0">
                <a:solidFill>
                  <a:schemeClr val="bg1"/>
                </a:solidFill>
              </a:rPr>
              <a:t>Filtering</a:t>
            </a:r>
          </a:p>
          <a:p>
            <a:r>
              <a:rPr lang="en-US" sz="1800" dirty="0">
                <a:solidFill>
                  <a:schemeClr val="bg1"/>
                </a:solidFill>
              </a:rPr>
              <a:t>Processing and orchestration</a:t>
            </a:r>
          </a:p>
          <a:p>
            <a:r>
              <a:rPr lang="en-US" sz="1800" dirty="0">
                <a:solidFill>
                  <a:schemeClr val="bg1"/>
                </a:solidFill>
              </a:rPr>
              <a:t>Local decision-making</a:t>
            </a: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004F59-5344-A94B-82C0-C6C4805EA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705"/>
            <a:ext cx="12192000" cy="370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21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0792D4F-247E-46FE-85FC-881DEFA41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12192000" cy="22855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A8903-30A0-8442-A5CF-A586FA2B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76" y="4892358"/>
            <a:ext cx="3766272" cy="1325563"/>
          </a:xfrm>
        </p:spPr>
        <p:txBody>
          <a:bodyPr>
            <a:norm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Embedded Decision Layer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272F12-AF86-441A-BC1B-C014BBBF8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639665" y="5097939"/>
            <a:ext cx="0" cy="914400"/>
          </a:xfrm>
          <a:prstGeom prst="line">
            <a:avLst/>
          </a:prstGeom>
          <a:ln w="19050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EB237F-925E-4728-95E6-7C9A9A9798C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78784" y="4572457"/>
            <a:ext cx="6673136" cy="2050016"/>
          </a:xfrm>
        </p:spPr>
        <p:txBody>
          <a:bodyPr anchor="ctr">
            <a:normAutofit/>
          </a:bodyPr>
          <a:lstStyle/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“Intelligence layer”</a:t>
            </a:r>
          </a:p>
          <a:p>
            <a:r>
              <a:rPr lang="en-US" sz="1800" dirty="0">
                <a:solidFill>
                  <a:schemeClr val="bg1"/>
                </a:solidFill>
              </a:rPr>
              <a:t>Cloud supported inference</a:t>
            </a:r>
          </a:p>
          <a:p>
            <a:r>
              <a:rPr lang="en-US" sz="1800" dirty="0">
                <a:solidFill>
                  <a:schemeClr val="bg1"/>
                </a:solidFill>
              </a:rPr>
              <a:t>AI/ML</a:t>
            </a:r>
          </a:p>
          <a:p>
            <a:r>
              <a:rPr lang="en-US" sz="1800" dirty="0">
                <a:solidFill>
                  <a:schemeClr val="bg1"/>
                </a:solidFill>
              </a:rPr>
              <a:t>Resource and data discovery is key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C39046-9543-0847-A238-B11CC6E40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4287"/>
            <a:ext cx="10187406" cy="457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20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0792D4F-247E-46FE-85FC-881DEFA41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12192000" cy="22855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A8903-30A0-8442-A5CF-A586FA2B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76" y="4892358"/>
            <a:ext cx="3766272" cy="1325563"/>
          </a:xfrm>
        </p:spPr>
        <p:txBody>
          <a:bodyPr>
            <a:norm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Intelligent Data Gateway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272F12-AF86-441A-BC1B-C014BBBF8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639665" y="5097939"/>
            <a:ext cx="0" cy="914400"/>
          </a:xfrm>
          <a:prstGeom prst="line">
            <a:avLst/>
          </a:prstGeom>
          <a:ln w="19050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EB237F-925E-4728-95E6-7C9A9A9798C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78784" y="4572457"/>
            <a:ext cx="6673136" cy="2050016"/>
          </a:xfrm>
        </p:spPr>
        <p:txBody>
          <a:bodyPr anchor="ctr">
            <a:normAutofit/>
          </a:bodyPr>
          <a:lstStyle/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ICN/IOT heritage</a:t>
            </a:r>
          </a:p>
          <a:p>
            <a:r>
              <a:rPr lang="en-US" sz="1800" dirty="0">
                <a:solidFill>
                  <a:schemeClr val="bg1"/>
                </a:solidFill>
              </a:rPr>
              <a:t>Implementation of the data and intelligence layers</a:t>
            </a:r>
          </a:p>
          <a:p>
            <a:r>
              <a:rPr lang="en-US" sz="1800" dirty="0">
                <a:solidFill>
                  <a:schemeClr val="bg1"/>
                </a:solidFill>
              </a:rPr>
              <a:t>Data driven automation</a:t>
            </a:r>
          </a:p>
          <a:p>
            <a:r>
              <a:rPr lang="en-US" sz="1800" dirty="0">
                <a:solidFill>
                  <a:schemeClr val="bg1"/>
                </a:solidFill>
              </a:rPr>
              <a:t>Pub/sub (MQTT, COAP)</a:t>
            </a: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32CBA1E-9661-F846-AB8E-883AFAC9D2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335" y="235527"/>
            <a:ext cx="6856707" cy="416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9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1AB838-E6B6-F84A-B206-D3091BB2E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669BC-69A4-9543-9F2A-5A3FF7E237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775200" y="1587500"/>
            <a:ext cx="6769100" cy="4597400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Automotive and aerospace</a:t>
            </a:r>
          </a:p>
          <a:p>
            <a:r>
              <a:rPr lang="en-US" dirty="0"/>
              <a:t>Factory automation</a:t>
            </a:r>
          </a:p>
          <a:p>
            <a:r>
              <a:rPr lang="en-US" dirty="0"/>
              <a:t>Home controls</a:t>
            </a:r>
          </a:p>
          <a:p>
            <a:r>
              <a:rPr lang="en-US" dirty="0"/>
              <a:t>Vertical agriculture</a:t>
            </a:r>
          </a:p>
          <a:p>
            <a:r>
              <a:rPr lang="en-US" dirty="0"/>
              <a:t>Network telemetry and management</a:t>
            </a:r>
          </a:p>
          <a:p>
            <a:r>
              <a:rPr lang="en-US" dirty="0"/>
              <a:t>Distributed intelligence</a:t>
            </a:r>
          </a:p>
        </p:txBody>
      </p:sp>
    </p:spTree>
    <p:extLst>
      <p:ext uri="{BB962C8B-B14F-4D97-AF65-F5344CB8AC3E}">
        <p14:creationId xmlns:p14="http://schemas.microsoft.com/office/powerpoint/2010/main" val="1108212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>
            <a:extLst>
              <a:ext uri="{FF2B5EF4-FFF2-40B4-BE49-F238E27FC236}">
                <a16:creationId xmlns:a16="http://schemas.microsoft.com/office/drawing/2014/main" id="{499C081D-5288-F94A-81AB-373C46E0B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29" y="1266578"/>
            <a:ext cx="3505495" cy="16223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 and Manufacturing</a:t>
            </a:r>
          </a:p>
        </p:txBody>
      </p:sp>
      <p:sp>
        <p:nvSpPr>
          <p:cNvPr id="11266" name="Text Box 2">
            <a:extLst>
              <a:ext uri="{FF2B5EF4-FFF2-40B4-BE49-F238E27FC236}">
                <a16:creationId xmlns:a16="http://schemas.microsoft.com/office/drawing/2014/main" id="{ECFC3335-12D0-6144-86ED-B1CADE99A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31" y="3075712"/>
            <a:ext cx="3505494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indent="-228600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+mn-lt"/>
                <a:ea typeface="+mn-ea"/>
              </a:rPr>
              <a:t>Goals: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+mn-lt"/>
                <a:ea typeface="+mn-ea"/>
              </a:rPr>
              <a:t>IoT and digital twins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+mn-lt"/>
                <a:ea typeface="+mn-ea"/>
              </a:rPr>
              <a:t>Data-driven approaches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+mn-lt"/>
                <a:ea typeface="+mn-ea"/>
              </a:rPr>
              <a:t>Tactile/</a:t>
            </a:r>
            <a:r>
              <a:rPr lang="en-US" altLang="en-US" sz="1700" dirty="0" err="1">
                <a:solidFill>
                  <a:schemeClr val="tx1"/>
                </a:solidFill>
                <a:latin typeface="+mn-lt"/>
                <a:ea typeface="+mn-ea"/>
              </a:rPr>
              <a:t>Detnet</a:t>
            </a:r>
            <a:r>
              <a:rPr lang="en-US" altLang="en-US" sz="1700" dirty="0">
                <a:solidFill>
                  <a:schemeClr val="tx1"/>
                </a:solidFill>
                <a:latin typeface="+mn-lt"/>
                <a:ea typeface="+mn-ea"/>
              </a:rPr>
              <a:t> (</a:t>
            </a:r>
            <a:r>
              <a:rPr lang="en-US" altLang="en-US" sz="1700" dirty="0" err="1">
                <a:solidFill>
                  <a:schemeClr val="tx1"/>
                </a:solidFill>
                <a:latin typeface="+mn-lt"/>
                <a:ea typeface="+mn-ea"/>
              </a:rPr>
              <a:t>FlexNGIA</a:t>
            </a:r>
            <a:r>
              <a:rPr lang="en-US" altLang="en-US" sz="1700" dirty="0">
                <a:solidFill>
                  <a:schemeClr val="tx1"/>
                </a:solidFill>
                <a:latin typeface="+mn-lt"/>
                <a:ea typeface="+mn-ea"/>
              </a:rPr>
              <a:t>)</a:t>
            </a:r>
          </a:p>
          <a:p>
            <a:pPr indent="-228600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+mn-lt"/>
                <a:ea typeface="+mn-ea"/>
              </a:rPr>
              <a:t>Building Blocks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+mn-lt"/>
                <a:ea typeface="+mn-ea"/>
              </a:rPr>
              <a:t>Edge/Information Centric Networking for distribution and QoS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+mn-lt"/>
                <a:ea typeface="+mn-ea"/>
              </a:rPr>
              <a:t>AR/VR functionality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+mn-lt"/>
                <a:ea typeface="+mn-ea"/>
              </a:rPr>
              <a:t>Blockchain for end to end provenance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7" name="Picture 3">
            <a:extLst>
              <a:ext uri="{FF2B5EF4-FFF2-40B4-BE49-F238E27FC236}">
                <a16:creationId xmlns:a16="http://schemas.microsoft.com/office/drawing/2014/main" id="{851D8ADD-770E-594E-86C3-E5AEFAD2F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" r="2242"/>
          <a:stretch>
            <a:fillRect/>
          </a:stretch>
        </p:blipFill>
        <p:spPr bwMode="auto">
          <a:xfrm>
            <a:off x="6075865" y="807593"/>
            <a:ext cx="4679324" cy="523956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2242" r="224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01313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1">
            <a:extLst>
              <a:ext uri="{FF2B5EF4-FFF2-40B4-BE49-F238E27FC236}">
                <a16:creationId xmlns:a16="http://schemas.microsoft.com/office/drawing/2014/main" id="{1431D98B-0867-8245-9E1F-920C39E54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29" y="1349705"/>
            <a:ext cx="3505495" cy="16223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Vertical Agriculture</a:t>
            </a:r>
          </a:p>
        </p:txBody>
      </p:sp>
      <p:sp>
        <p:nvSpPr>
          <p:cNvPr id="12290" name="Text Box 2">
            <a:extLst>
              <a:ext uri="{FF2B5EF4-FFF2-40B4-BE49-F238E27FC236}">
                <a16:creationId xmlns:a16="http://schemas.microsoft.com/office/drawing/2014/main" id="{FF7EEA5E-47DD-3C40-8B12-AFC3410C1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30" y="2844514"/>
            <a:ext cx="3505494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indent="-228600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Goals: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Automated climate-proof production</a:t>
            </a:r>
          </a:p>
          <a:p>
            <a:pPr indent="-228600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Building Blocks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Data and resource discovery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Edge sensor data acquisition and analysis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Cloud supported decision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Blockchain for food security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Local Intelligence for detecting diseases</a:t>
            </a:r>
          </a:p>
          <a:p>
            <a:pPr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40" name="Picture 4" descr="LEGO IDEAS - Vegetable Garden">
            <a:extLst>
              <a:ext uri="{FF2B5EF4-FFF2-40B4-BE49-F238E27FC236}">
                <a16:creationId xmlns:a16="http://schemas.microsoft.com/office/drawing/2014/main" id="{13397266-A739-3C43-8815-33CC1F489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528" y="887377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2633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>
            <a:extLst>
              <a:ext uri="{FF2B5EF4-FFF2-40B4-BE49-F238E27FC236}">
                <a16:creationId xmlns:a16="http://schemas.microsoft.com/office/drawing/2014/main" id="{499C081D-5288-F94A-81AB-373C46E0B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29" y="1266578"/>
            <a:ext cx="3505495" cy="16223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Multimedia</a:t>
            </a:r>
          </a:p>
        </p:txBody>
      </p:sp>
      <p:sp>
        <p:nvSpPr>
          <p:cNvPr id="11266" name="Text Box 2">
            <a:extLst>
              <a:ext uri="{FF2B5EF4-FFF2-40B4-BE49-F238E27FC236}">
                <a16:creationId xmlns:a16="http://schemas.microsoft.com/office/drawing/2014/main" id="{ECFC3335-12D0-6144-86ED-B1CADE99A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29" y="2761387"/>
            <a:ext cx="3505494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indent="-228600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Goals: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Give Power to the creators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Enable new monetizing models</a:t>
            </a:r>
          </a:p>
          <a:p>
            <a:pPr indent="-228600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Building Blocks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Edge/Information Centric Networking for distribution and QoS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Artificial Intelligence for detecting trends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Blockchain and smart contracts for trust and monetization via the token economy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BF965B1-CBF8-A347-A718-21ED08AB9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0" r="5380"/>
          <a:stretch>
            <a:fillRect/>
          </a:stretch>
        </p:blipFill>
        <p:spPr bwMode="auto">
          <a:xfrm>
            <a:off x="6077633" y="807593"/>
            <a:ext cx="4675789" cy="523956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380" r="538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7460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1">
            <a:extLst>
              <a:ext uri="{FF2B5EF4-FFF2-40B4-BE49-F238E27FC236}">
                <a16:creationId xmlns:a16="http://schemas.microsoft.com/office/drawing/2014/main" id="{1431D98B-0867-8245-9E1F-920C39E54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29" y="1238872"/>
            <a:ext cx="3505495" cy="16223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Autonomous Systems</a:t>
            </a:r>
          </a:p>
        </p:txBody>
      </p:sp>
      <p:sp>
        <p:nvSpPr>
          <p:cNvPr id="12290" name="Text Box 2">
            <a:extLst>
              <a:ext uri="{FF2B5EF4-FFF2-40B4-BE49-F238E27FC236}">
                <a16:creationId xmlns:a16="http://schemas.microsoft.com/office/drawing/2014/main" id="{FF7EEA5E-47DD-3C40-8B12-AFC3410C1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31" y="3048006"/>
            <a:ext cx="3505494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 lnSpcReduction="10000"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indent="-228600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Goals: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Self-driving vehicles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“Self Drivers” Insurance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“Car as a platform”: </a:t>
            </a:r>
            <a:r>
              <a:rPr lang="en-US" altLang="en-US" sz="2000" dirty="0" err="1">
                <a:solidFill>
                  <a:schemeClr val="tx1"/>
                </a:solidFill>
                <a:latin typeface="+mn-lt"/>
                <a:ea typeface="+mn-ea"/>
              </a:rPr>
              <a:t>softwarization</a:t>
            </a: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 of the car</a:t>
            </a:r>
          </a:p>
          <a:p>
            <a:pPr indent="-228600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Building Blocks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Edge data discovery, acquisition and analysis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Artificial Intelligence for detecting faults</a:t>
            </a:r>
          </a:p>
          <a:p>
            <a:pPr lvl="1"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+mn-ea"/>
              </a:rPr>
              <a:t>AR/VR for rider’s experience</a:t>
            </a:r>
          </a:p>
          <a:p>
            <a:pPr indent="-22860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1" name="Picture 3">
            <a:extLst>
              <a:ext uri="{FF2B5EF4-FFF2-40B4-BE49-F238E27FC236}">
                <a16:creationId xmlns:a16="http://schemas.microsoft.com/office/drawing/2014/main" id="{C49E4C41-0A34-BA4F-AF28-18629B3C1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14" r="25014"/>
          <a:stretch>
            <a:fillRect/>
          </a:stretch>
        </p:blipFill>
        <p:spPr bwMode="auto">
          <a:xfrm>
            <a:off x="6077744" y="807593"/>
            <a:ext cx="4675566" cy="523956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25014" r="2501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45743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2BD55E05-51A2-4173-A7FA-869DE4F71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1345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2D22B1-8C9E-DD47-901A-DBFD97CDC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1792"/>
            <a:ext cx="4795157" cy="5413248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31C89-6174-8446-9038-BA74A80033C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521450" y="621792"/>
            <a:ext cx="4832349" cy="541324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ICN/NDN offers a framework for next generation advanced IoT and data driven automation</a:t>
            </a:r>
          </a:p>
          <a:p>
            <a:r>
              <a:rPr lang="en-US" sz="2400" dirty="0"/>
              <a:t>Combines with embedded edge with cloud support computing and networking and AI/ML</a:t>
            </a:r>
          </a:p>
          <a:p>
            <a:r>
              <a:rPr lang="en-US" sz="2400" dirty="0"/>
              <a:t>Data and intelligence layers provide targeted services and architectures and facilitate application development </a:t>
            </a:r>
          </a:p>
        </p:txBody>
      </p:sp>
    </p:spTree>
    <p:extLst>
      <p:ext uri="{BB962C8B-B14F-4D97-AF65-F5344CB8AC3E}">
        <p14:creationId xmlns:p14="http://schemas.microsoft.com/office/powerpoint/2010/main" val="4020280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D55E05-51A2-4173-A7FA-869DE4F71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1345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224A8-1D7F-6D4C-B712-044849F53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1792"/>
            <a:ext cx="4795157" cy="541324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EA86B-C847-2541-B567-3AB24D9D1C9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521450" y="621792"/>
            <a:ext cx="4832349" cy="541324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Eve Schooler</a:t>
            </a:r>
          </a:p>
          <a:p>
            <a:r>
              <a:rPr lang="en-US" sz="2400" dirty="0"/>
              <a:t>Edgar Ramos</a:t>
            </a:r>
          </a:p>
          <a:p>
            <a:r>
              <a:rPr lang="en-US" sz="2400" dirty="0"/>
              <a:t>Roberto Morabito</a:t>
            </a:r>
          </a:p>
          <a:p>
            <a:r>
              <a:rPr lang="en-US" sz="2400" dirty="0"/>
              <a:t>Alessandro </a:t>
            </a:r>
            <a:r>
              <a:rPr lang="en-US" sz="2400" dirty="0" err="1"/>
              <a:t>Bassi</a:t>
            </a:r>
            <a:endParaRPr lang="en-US" sz="2400" dirty="0"/>
          </a:p>
          <a:p>
            <a:r>
              <a:rPr lang="en-US" sz="2400" dirty="0" err="1"/>
              <a:t>Faten</a:t>
            </a:r>
            <a:r>
              <a:rPr lang="en-US" sz="2400" dirty="0"/>
              <a:t> </a:t>
            </a:r>
            <a:r>
              <a:rPr lang="en-US" sz="2400" dirty="0" err="1"/>
              <a:t>Zhani</a:t>
            </a:r>
            <a:endParaRPr lang="en-US" sz="2400" dirty="0"/>
          </a:p>
          <a:p>
            <a:r>
              <a:rPr lang="en-US" sz="2400" dirty="0" err="1"/>
              <a:t>Winterfarm</a:t>
            </a:r>
            <a:r>
              <a:rPr lang="en-US" sz="2400" dirty="0"/>
              <a:t>, Canada</a:t>
            </a:r>
          </a:p>
          <a:p>
            <a:r>
              <a:rPr lang="en-US" sz="2400" dirty="0"/>
              <a:t>Vertical Irrigation, California</a:t>
            </a:r>
          </a:p>
        </p:txBody>
      </p:sp>
    </p:spTree>
    <p:extLst>
      <p:ext uri="{BB962C8B-B14F-4D97-AF65-F5344CB8AC3E}">
        <p14:creationId xmlns:p14="http://schemas.microsoft.com/office/powerpoint/2010/main" val="3675330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5485</TotalTime>
  <Words>345</Words>
  <Application>Microsoft Macintosh PowerPoint</Application>
  <PresentationFormat>Widescreen</PresentationFormat>
  <Paragraphs>97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Tw Cen MT</vt:lpstr>
      <vt:lpstr>Office Theme</vt:lpstr>
      <vt:lpstr>The Decision Maker: NDN concepts for intelligent automation </vt:lpstr>
      <vt:lpstr>Overview</vt:lpstr>
      <vt:lpstr>The challenge</vt:lpstr>
      <vt:lpstr>Heritage</vt:lpstr>
      <vt:lpstr>PowerPoint Presentation</vt:lpstr>
      <vt:lpstr>The Common Data Layer</vt:lpstr>
      <vt:lpstr>Embedded Decision Layer</vt:lpstr>
      <vt:lpstr>Intelligent Data Gateway</vt:lpstr>
      <vt:lpstr>Use cases</vt:lpstr>
      <vt:lpstr>PowerPoint Presentation</vt:lpstr>
      <vt:lpstr>PowerPoint Presentation</vt:lpstr>
      <vt:lpstr>PowerPoint Presentation</vt:lpstr>
      <vt:lpstr>PowerPoint Presentation</vt:lpstr>
      <vt:lpstr>Conclusion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Decision Maker: NDN concepts for intelligent automation </dc:title>
  <dc:creator>Marie-José Montpetit</dc:creator>
  <cp:lastModifiedBy>Marie-José Montpetit</cp:lastModifiedBy>
  <cp:revision>8</cp:revision>
  <dcterms:created xsi:type="dcterms:W3CDTF">2020-09-03T19:48:24Z</dcterms:created>
  <dcterms:modified xsi:type="dcterms:W3CDTF">2020-09-09T21:28:11Z</dcterms:modified>
</cp:coreProperties>
</file>