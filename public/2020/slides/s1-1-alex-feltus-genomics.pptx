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5" r:id="rId4"/>
    <p:sldId id="264" r:id="rId5"/>
    <p:sldId id="259" r:id="rId6"/>
    <p:sldId id="270" r:id="rId7"/>
    <p:sldId id="266" r:id="rId8"/>
    <p:sldId id="269" r:id="rId9"/>
    <p:sldId id="258" r:id="rId10"/>
    <p:sldId id="271" r:id="rId11"/>
    <p:sldId id="26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 userDrawn="1">
          <p15:clr>
            <a:srgbClr val="A4A3A4"/>
          </p15:clr>
        </p15:guide>
        <p15:guide id="2" pos="14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3814" autoAdjust="0"/>
    <p:restoredTop sz="96327"/>
  </p:normalViewPr>
  <p:slideViewPr>
    <p:cSldViewPr snapToGrid="0" snapToObjects="1" showGuides="1">
      <p:cViewPr varScale="1">
        <p:scale>
          <a:sx n="114" d="100"/>
          <a:sy n="114" d="100"/>
        </p:scale>
        <p:origin x="1218" y="84"/>
      </p:cViewPr>
      <p:guideLst>
        <p:guide orient="horz" pos="816"/>
        <p:guide pos="146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8A405-6B8D-2C4B-AFBB-2E8F772FE9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218A37-BEE0-6C41-94E7-28223DA96A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BBFBF3-6751-AD40-805E-F198088A7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53D03-B851-0F4E-A301-ACE6F0F93796}" type="datetimeFigureOut">
              <a:rPr lang="en-US" smtClean="0"/>
              <a:t>9/8/2020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84F2A-F7C7-2B4D-A646-2C7F26419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625AB-FE61-294C-BCAC-ABE38A4E4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6459-B699-454A-B8F8-A19AA10ED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756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F4D56-E9B6-384C-A133-8F9D14F9B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C317F-02A8-4841-B5AD-89006A5746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A0410C-7BD1-714B-95C9-E2B5485AE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53D03-B851-0F4E-A301-ACE6F0F93796}" type="datetimeFigureOut">
              <a:rPr lang="en-US" smtClean="0"/>
              <a:t>9/8/2020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58D285-D27D-F848-AFE7-D9DA65D95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8A8EDE-B4BA-E442-9A8C-8419A077A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6459-B699-454A-B8F8-A19AA10ED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102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95EA3-5964-F348-96E2-B8E54312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110688-92D6-DC4D-AFEB-AAE72D4C8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E1799D-30C8-A64A-8A22-F64E9D614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53D03-B851-0F4E-A301-ACE6F0F93796}" type="datetimeFigureOut">
              <a:rPr lang="en-US" smtClean="0"/>
              <a:t>9/8/2020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55A2A5-5399-BE4D-B8A1-9C0EC23DB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360595-48AC-0B42-8A88-757F8624C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6459-B699-454A-B8F8-A19AA10ED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61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3A28B-4AD9-7740-B5BB-0DE41EAEA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CA09F-DBD7-BA4B-BDB8-ECD7B1BE6B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EC9674-C542-5D4C-A096-64F55D2F05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C874BC-2E16-974F-8272-A1D6F2D18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53D03-B851-0F4E-A301-ACE6F0F93796}" type="datetimeFigureOut">
              <a:rPr lang="en-US" smtClean="0"/>
              <a:t>9/8/2020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CBEF8F-0C4B-BD4D-A604-CB85A3C91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E634B7-0EB2-9145-A2CD-51AFB61FA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6459-B699-454A-B8F8-A19AA10ED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312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4B345-56F8-884C-B0C9-196F75A32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E2A11D-1F5B-484B-BAA4-2A44C130DF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26286-E5C3-4C48-B384-005D8E52A9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AA50F9-068B-C14C-908D-B45B68C6C7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706A7B-85F0-1B41-B562-C29C362AA6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6CA284-1DB3-1C44-A826-16C7607E0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53D03-B851-0F4E-A301-ACE6F0F93796}" type="datetimeFigureOut">
              <a:rPr lang="en-US" smtClean="0"/>
              <a:t>9/8/2020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47DC8F-4741-8043-9685-5168D5E69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D92E23-9755-EC4B-8C3A-A192B6E70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6459-B699-454A-B8F8-A19AA10ED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758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05C68-A6B3-FA40-B33B-973E27E29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58D4C4-29EB-F24D-9408-89220D7C8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53D03-B851-0F4E-A301-ACE6F0F93796}" type="datetimeFigureOut">
              <a:rPr lang="en-US" smtClean="0"/>
              <a:t>9/8/2020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5BB507-9210-C840-B7E5-FD9A987EF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920D82-D7F8-9449-9239-68D53F6B6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6459-B699-454A-B8F8-A19AA10ED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493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D7D9C0-03E6-E74F-A1E0-D5A0CD8AA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53D03-B851-0F4E-A301-ACE6F0F93796}" type="datetimeFigureOut">
              <a:rPr lang="en-US" smtClean="0"/>
              <a:t>9/8/2020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09F146-9451-664E-82CB-8F231854A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24FDE5-11C8-AA4C-9C84-6F2AF06F0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6459-B699-454A-B8F8-A19AA10ED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222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FEFE7-CD02-1944-BCCE-391BBA536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7AA1E-6881-094E-A3A6-1AC9EE4E0E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38CA46-7A64-0F48-92AE-BFD2001557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37C606-2FB3-A545-99B8-888C4A5B2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53D03-B851-0F4E-A301-ACE6F0F93796}" type="datetimeFigureOut">
              <a:rPr lang="en-US" smtClean="0"/>
              <a:t>9/8/2020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579337-540A-EC4C-8DB5-9DEE8C405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069EA6-C5AF-0F41-A5CF-8B0810A86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6459-B699-454A-B8F8-A19AA10ED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193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A8889-9F3A-6B47-A7A1-7BB6C0AB8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2679DC-D2EF-1542-8A68-B7298A9D69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E82484-7C87-4A47-9594-71BE85B548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5E57BA-5668-E14B-B9C0-73DAD5BDC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53D03-B851-0F4E-A301-ACE6F0F93796}" type="datetimeFigureOut">
              <a:rPr lang="en-US" smtClean="0"/>
              <a:t>9/8/2020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6BF053-90B5-3D4A-80EE-EEF8CF1F4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595389-BA8C-FF49-A680-6FCE20122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6459-B699-454A-B8F8-A19AA10ED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946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9E183-3CD0-EA42-A32E-27F31518F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BEC1CE-E8D0-E049-8F42-307E8560D7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1087A-F22A-6141-9005-5FC081368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53D03-B851-0F4E-A301-ACE6F0F93796}" type="datetimeFigureOut">
              <a:rPr lang="en-US" smtClean="0"/>
              <a:t>9/8/2020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2240F8-019A-F749-BCEF-ECB8B60D8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64E65-D108-1442-A717-8F665220C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6459-B699-454A-B8F8-A19AA10ED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057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4705CC-A9DA-1145-B7C1-A3738448DF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CBC4D0-923A-EA44-AB62-8DED95051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3AC96F-3550-2343-8863-62C04858E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53D03-B851-0F4E-A301-ACE6F0F93796}" type="datetimeFigureOut">
              <a:rPr lang="en-US" smtClean="0"/>
              <a:t>9/8/2020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809326-99FD-6147-A129-43CC48503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36F72-B231-BC47-A137-BC82BEBDC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76459-B699-454A-B8F8-A19AA10ED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604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D7A802-DDE6-484D-8B10-44C6B2D4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EBFE1-20E7-EE47-8C62-310BE21E84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7C257-70D5-DA48-87EA-303B9EDA45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B53D03-B851-0F4E-A301-ACE6F0F93796}" type="datetimeFigureOut">
              <a:rPr lang="en-US" smtClean="0"/>
              <a:t>9/8/2020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DE1AEA-27DC-D74C-BF12-9B9C58801C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08AF5-BD69-6740-ABAA-400EDE7977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876459-B699-454A-B8F8-A19AA10ED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252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hyperlink" Target="https://bluejeans.com/449993504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hyperlink" Target="http://upload.wikimedia.org/wikipedia/en/0/0a/Maize_ear.jpg" TargetMode="External"/><Relationship Id="rId7" Type="http://schemas.openxmlformats.org/officeDocument/2006/relationships/image" Target="../media/image11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eg"/><Relationship Id="rId11" Type="http://schemas.openxmlformats.org/officeDocument/2006/relationships/image" Target="../media/image15.jpeg"/><Relationship Id="rId5" Type="http://schemas.openxmlformats.org/officeDocument/2006/relationships/image" Target="../media/image9.jpeg"/><Relationship Id="rId10" Type="http://schemas.openxmlformats.org/officeDocument/2006/relationships/image" Target="../media/image14.jpeg"/><Relationship Id="rId4" Type="http://schemas.openxmlformats.org/officeDocument/2006/relationships/image" Target="../media/image8.jpeg"/><Relationship Id="rId9" Type="http://schemas.openxmlformats.org/officeDocument/2006/relationships/image" Target="../media/image1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jpeg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5.png"/><Relationship Id="rId7" Type="http://schemas.openxmlformats.org/officeDocument/2006/relationships/image" Target="../media/image3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jpe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jpeg"/><Relationship Id="rId5" Type="http://schemas.openxmlformats.org/officeDocument/2006/relationships/image" Target="../media/image36.jpeg"/><Relationship Id="rId4" Type="http://schemas.openxmlformats.org/officeDocument/2006/relationships/hyperlink" Target="http://www.sciencemag.org/content/339/6120/662.full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cbi.nlm.nih.gov/bioproject/?term=PRJNA301554" TargetMode="External"/><Relationship Id="rId2" Type="http://schemas.openxmlformats.org/officeDocument/2006/relationships/hyperlink" Target="https://www.ncbi.nlm.nih.gov/bioproject/359795" TargetMode="Externa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48.png"/><Relationship Id="rId18" Type="http://schemas.openxmlformats.org/officeDocument/2006/relationships/image" Target="../media/image53.png"/><Relationship Id="rId3" Type="http://schemas.openxmlformats.org/officeDocument/2006/relationships/image" Target="../media/image2.png"/><Relationship Id="rId7" Type="http://schemas.openxmlformats.org/officeDocument/2006/relationships/image" Target="../media/image43.png"/><Relationship Id="rId12" Type="http://schemas.openxmlformats.org/officeDocument/2006/relationships/image" Target="../media/image47.jpeg"/><Relationship Id="rId17" Type="http://schemas.openxmlformats.org/officeDocument/2006/relationships/image" Target="../media/image52.jpeg"/><Relationship Id="rId2" Type="http://schemas.openxmlformats.org/officeDocument/2006/relationships/image" Target="../media/image1.png"/><Relationship Id="rId16" Type="http://schemas.openxmlformats.org/officeDocument/2006/relationships/image" Target="../media/image51.png"/><Relationship Id="rId20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46.gif"/><Relationship Id="rId5" Type="http://schemas.openxmlformats.org/officeDocument/2006/relationships/image" Target="../media/image41.jpeg"/><Relationship Id="rId15" Type="http://schemas.openxmlformats.org/officeDocument/2006/relationships/image" Target="../media/image50.jpeg"/><Relationship Id="rId10" Type="http://schemas.openxmlformats.org/officeDocument/2006/relationships/image" Target="../media/image45.jpeg"/><Relationship Id="rId19" Type="http://schemas.openxmlformats.org/officeDocument/2006/relationships/image" Target="../media/image4.png"/><Relationship Id="rId4" Type="http://schemas.openxmlformats.org/officeDocument/2006/relationships/image" Target="../media/image40.png"/><Relationship Id="rId9" Type="http://schemas.openxmlformats.org/officeDocument/2006/relationships/image" Target="../media/image44.png"/><Relationship Id="rId14" Type="http://schemas.openxmlformats.org/officeDocument/2006/relationships/image" Target="../media/image49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3">
            <a:extLst>
              <a:ext uri="{FF2B5EF4-FFF2-40B4-BE49-F238E27FC236}">
                <a16:creationId xmlns:a16="http://schemas.microsoft.com/office/drawing/2014/main" id="{A075AC74-0A6F-40FE-A7CE-D0D3B30A9E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5230" y="111974"/>
            <a:ext cx="9772825" cy="375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Publishing Genomics Datasets into an NDN Testbed and Integrating with Cloud Workflows</a:t>
            </a:r>
            <a:endParaRPr lang="en-US" sz="28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1E1F5F2-8A36-47A7-88BD-FCCFF24A1E72}"/>
              </a:ext>
            </a:extLst>
          </p:cNvPr>
          <p:cNvSpPr txBox="1"/>
          <p:nvPr/>
        </p:nvSpPr>
        <p:spPr>
          <a:xfrm>
            <a:off x="2942965" y="1754450"/>
            <a:ext cx="8677353" cy="323165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/>
              <a:t> </a:t>
            </a:r>
            <a:r>
              <a:rPr lang="en-US" sz="2800" b="1" dirty="0"/>
              <a:t>F. Alex Feltus, Ph.D.</a:t>
            </a:r>
          </a:p>
          <a:p>
            <a:pPr algn="ctr"/>
            <a:r>
              <a:rPr lang="en-US" sz="2000" b="1" baseline="30000" dirty="0"/>
              <a:t>1</a:t>
            </a:r>
            <a:r>
              <a:rPr lang="en-US" sz="2000" b="1" dirty="0"/>
              <a:t>Clemson Dept. of Genetics &amp; Biochemistry (Professor)</a:t>
            </a:r>
          </a:p>
          <a:p>
            <a:pPr algn="ctr"/>
            <a:r>
              <a:rPr lang="en-US" sz="2000" baseline="30000" dirty="0"/>
              <a:t>2</a:t>
            </a:r>
            <a:r>
              <a:rPr lang="en-US" sz="2000" b="1" dirty="0"/>
              <a:t>CU-MUSC Biomedical Data Science &amp; Informatics Program (Member)</a:t>
            </a:r>
          </a:p>
          <a:p>
            <a:pPr algn="ctr"/>
            <a:r>
              <a:rPr lang="en-US" sz="2000" b="1" dirty="0"/>
              <a:t>*CU Center for Human Genetics (Member)</a:t>
            </a:r>
          </a:p>
          <a:p>
            <a:pPr algn="ctr"/>
            <a:r>
              <a:rPr lang="en-US" sz="2000" b="1" dirty="0"/>
              <a:t>*Praxis AI LLC (co-Founder)</a:t>
            </a:r>
          </a:p>
          <a:p>
            <a:pPr algn="ctr"/>
            <a:r>
              <a:rPr lang="en-US" sz="2000" b="1" dirty="0"/>
              <a:t>*Internet2 Board of Trustees (Member)</a:t>
            </a:r>
          </a:p>
          <a:p>
            <a:pPr algn="ctr"/>
            <a:r>
              <a:rPr lang="en-US" sz="2800" b="1" dirty="0">
                <a:hlinkClick r:id="" action="ppaction://noaction"/>
              </a:rPr>
              <a:t>ffeltus@clemson.edu</a:t>
            </a:r>
            <a:endParaRPr lang="en-US" sz="2800" dirty="0"/>
          </a:p>
          <a:p>
            <a:pPr algn="ctr"/>
            <a:r>
              <a:rPr lang="en-US" sz="2800" dirty="0"/>
              <a:t>NDNcomm2020: 10 September 2020 10.15am</a:t>
            </a:r>
          </a:p>
          <a:p>
            <a:pPr algn="ctr"/>
            <a:r>
              <a:rPr lang="en-US" sz="1800" u="sng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hlinkClick r:id="rId2"/>
              </a:rPr>
              <a:t>https://bluejeans.com/449993504</a:t>
            </a:r>
            <a:endParaRPr lang="en-US" sz="2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088D3C0-4CE8-4DC3-B13A-C2EE1A43F72A}"/>
              </a:ext>
            </a:extLst>
          </p:cNvPr>
          <p:cNvSpPr txBox="1"/>
          <p:nvPr/>
        </p:nvSpPr>
        <p:spPr>
          <a:xfrm>
            <a:off x="2859077" y="493241"/>
            <a:ext cx="8677353" cy="1174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F. Alex Feltus</a:t>
            </a:r>
            <a:r>
              <a:rPr lang="en-US" sz="12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1</a:t>
            </a:r>
            <a:r>
              <a:rPr lang="en-US" sz="1200" baseline="30000" dirty="0">
                <a:latin typeface="Calibri" panose="020F0502020204030204" pitchFamily="34" charset="0"/>
                <a:ea typeface="Calibri" panose="020F0502020204030204" pitchFamily="34" charset="0"/>
              </a:rPr>
              <a:t>,2,</a:t>
            </a:r>
            <a:r>
              <a:rPr lang="en-US" sz="12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*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, Cameron Ogle</a:t>
            </a:r>
            <a:r>
              <a:rPr lang="en-US" sz="12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4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, Rini Pauly</a:t>
            </a:r>
            <a:r>
              <a:rPr lang="en-US" sz="12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2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, David Reddick</a:t>
            </a:r>
            <a:r>
              <a:rPr lang="en-US" sz="12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5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, Coleman McKnight</a:t>
            </a:r>
            <a:r>
              <a:rPr lang="en-US" sz="12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1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, Tyler Biggs</a:t>
            </a:r>
            <a:r>
              <a:rPr lang="en-US" sz="12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6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, Josh Burns</a:t>
            </a:r>
            <a:r>
              <a:rPr lang="en-US" sz="12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6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, Stephen P. Ficklin</a:t>
            </a:r>
            <a:r>
              <a:rPr lang="en-US" sz="12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6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, Susmit Shannigrahi</a:t>
            </a:r>
            <a:r>
              <a:rPr lang="en-US" sz="12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5</a:t>
            </a:r>
            <a:endParaRPr lang="en-US" sz="12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aseline="30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4</a:t>
            </a:r>
            <a:r>
              <a:rPr lang="en-US" sz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Clemson University School of Computing, Clemson, SC 29634, USA</a:t>
            </a:r>
            <a:endParaRPr lang="en-US" sz="12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aseline="30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5</a:t>
            </a:r>
            <a:r>
              <a:rPr lang="en-US" sz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Tennessee Tech University Department of Computer Science, Cookeville, TN38505, USA</a:t>
            </a:r>
            <a:endParaRPr lang="en-US" sz="12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aseline="30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6</a:t>
            </a:r>
            <a:r>
              <a:rPr lang="en-US" sz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Washington State University Department of Horticulture, Pullman, WA 99164, USA</a:t>
            </a:r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7056B4DE-D222-4A3B-A630-7617EF8EDB37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3275899" y="2858549"/>
            <a:ext cx="1369880" cy="1304045"/>
          </a:xfrm>
          <a:prstGeom prst="rect">
            <a:avLst/>
          </a:prstGeom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ECA8E78-C114-4994-9F1A-1DF066D6E2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9226" y="5362737"/>
            <a:ext cx="1183560" cy="113553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 descr="WSU raised over $145 million in 2018 - KXLY">
            <a:extLst>
              <a:ext uri="{FF2B5EF4-FFF2-40B4-BE49-F238E27FC236}">
                <a16:creationId xmlns:a16="http://schemas.microsoft.com/office/drawing/2014/main" id="{758C5AF4-A6B9-444F-8C98-74B1E17A3F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0862" y="5362737"/>
            <a:ext cx="1793356" cy="1008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Tennessee Tech Golden Eagles - Wikipedia">
            <a:extLst>
              <a:ext uri="{FF2B5EF4-FFF2-40B4-BE49-F238E27FC236}">
                <a16:creationId xmlns:a16="http://schemas.microsoft.com/office/drawing/2014/main" id="{FB6786E5-270A-471F-BB92-C6588E3C2D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1280" y="5362736"/>
            <a:ext cx="1492487" cy="1135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Memphis Tigers - Wikipedia">
            <a:extLst>
              <a:ext uri="{FF2B5EF4-FFF2-40B4-BE49-F238E27FC236}">
                <a16:creationId xmlns:a16="http://schemas.microsoft.com/office/drawing/2014/main" id="{DBBF8F10-8DD7-4D87-A186-8CB534D53D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3886" y="5282468"/>
            <a:ext cx="1488375" cy="1296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RENCI - Renaissance Computing Institute at UNC">
            <a:extLst>
              <a:ext uri="{FF2B5EF4-FFF2-40B4-BE49-F238E27FC236}">
                <a16:creationId xmlns:a16="http://schemas.microsoft.com/office/drawing/2014/main" id="{91342DB4-59ED-4429-B5C3-421204CF5B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2380" y="5362737"/>
            <a:ext cx="192405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692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FF07503C-E185-404B-89E1-A434806AC05B}"/>
              </a:ext>
            </a:extLst>
          </p:cNvPr>
          <p:cNvGrpSpPr/>
          <p:nvPr/>
        </p:nvGrpSpPr>
        <p:grpSpPr>
          <a:xfrm>
            <a:off x="2324100" y="806935"/>
            <a:ext cx="8130690" cy="6051065"/>
            <a:chOff x="2959" y="826170"/>
            <a:chExt cx="8130690" cy="605106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B075B75-65B3-445E-802D-08A273F4B5A3}"/>
                </a:ext>
              </a:extLst>
            </p:cNvPr>
            <p:cNvSpPr/>
            <p:nvPr/>
          </p:nvSpPr>
          <p:spPr>
            <a:xfrm>
              <a:off x="1143000" y="4548710"/>
              <a:ext cx="6705600" cy="155240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1141991-2B91-4E13-9906-3AD84A5852DE}"/>
                </a:ext>
              </a:extLst>
            </p:cNvPr>
            <p:cNvSpPr/>
            <p:nvPr/>
          </p:nvSpPr>
          <p:spPr>
            <a:xfrm>
              <a:off x="4651900" y="1370554"/>
              <a:ext cx="2985856" cy="31216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7101595-AB90-4AD8-90F3-DF5520BDBA4B}"/>
                </a:ext>
              </a:extLst>
            </p:cNvPr>
            <p:cNvSpPr/>
            <p:nvPr/>
          </p:nvSpPr>
          <p:spPr>
            <a:xfrm>
              <a:off x="1295400" y="1371600"/>
              <a:ext cx="3289362" cy="31216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7" descr="http://cropwatch.unl.edu/photos/cwphoto/crop04-7sorghum.jpg">
              <a:extLst>
                <a:ext uri="{FF2B5EF4-FFF2-40B4-BE49-F238E27FC236}">
                  <a16:creationId xmlns:a16="http://schemas.microsoft.com/office/drawing/2014/main" id="{1347C360-EB1D-4B38-B840-C38E53067D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56189" y="1421413"/>
              <a:ext cx="1355995" cy="15302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1" name="Picture 9" descr="Image:Maize ear.jpg">
              <a:hlinkClick r:id="rId3"/>
              <a:extLst>
                <a:ext uri="{FF2B5EF4-FFF2-40B4-BE49-F238E27FC236}">
                  <a16:creationId xmlns:a16="http://schemas.microsoft.com/office/drawing/2014/main" id="{86A875A3-C17F-4B17-870B-85A64698FE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34671" y="1439721"/>
              <a:ext cx="1310711" cy="15119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" name="TextBox 23">
              <a:extLst>
                <a:ext uri="{FF2B5EF4-FFF2-40B4-BE49-F238E27FC236}">
                  <a16:creationId xmlns:a16="http://schemas.microsoft.com/office/drawing/2014/main" id="{EF093273-B60C-4C9C-A850-2271782279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12176" y="826170"/>
              <a:ext cx="2400016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3200" b="1" i="1" dirty="0"/>
                <a:t>Angiosperms</a:t>
              </a:r>
            </a:p>
          </p:txBody>
        </p:sp>
        <p:pic>
          <p:nvPicPr>
            <p:cNvPr id="13" name="Picture 6" descr="&amp;Mcy;&amp;ycy;&amp;shcy;&amp;softcy; 2.jpg">
              <a:extLst>
                <a:ext uri="{FF2B5EF4-FFF2-40B4-BE49-F238E27FC236}">
                  <a16:creationId xmlns:a16="http://schemas.microsoft.com/office/drawing/2014/main" id="{42173229-43EE-42B0-A32D-EB120FBDEAF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2887806" y="1516464"/>
              <a:ext cx="1609101" cy="13250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8" descr="Flock of sheep.jpg">
              <a:extLst>
                <a:ext uri="{FF2B5EF4-FFF2-40B4-BE49-F238E27FC236}">
                  <a16:creationId xmlns:a16="http://schemas.microsoft.com/office/drawing/2014/main" id="{3C382504-7F33-48F1-800E-AF41F69CA05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1399802" y="2885234"/>
              <a:ext cx="1389548" cy="15485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0" descr="Image result for chihuahua wiki">
              <a:extLst>
                <a:ext uri="{FF2B5EF4-FFF2-40B4-BE49-F238E27FC236}">
                  <a16:creationId xmlns:a16="http://schemas.microsoft.com/office/drawing/2014/main" id="{AE0BCFDA-4787-4B10-A521-8518ACD830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73818" y="2931369"/>
              <a:ext cx="1623089" cy="14703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TextBox 23">
              <a:extLst>
                <a:ext uri="{FF2B5EF4-FFF2-40B4-BE49-F238E27FC236}">
                  <a16:creationId xmlns:a16="http://schemas.microsoft.com/office/drawing/2014/main" id="{59ADB2E0-801D-44A6-9ACC-C602887983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7446" y="851687"/>
              <a:ext cx="2173031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3200" b="1" i="1" dirty="0"/>
                <a:t>Vertebrates</a:t>
              </a:r>
            </a:p>
          </p:txBody>
        </p:sp>
        <p:pic>
          <p:nvPicPr>
            <p:cNvPr id="17" name="Picture 16" descr="A yellow flower with green leaves&#10;&#10;Description generated with very high confidence">
              <a:extLst>
                <a:ext uri="{FF2B5EF4-FFF2-40B4-BE49-F238E27FC236}">
                  <a16:creationId xmlns:a16="http://schemas.microsoft.com/office/drawing/2014/main" id="{C97BE3C0-E943-4C88-BAD3-A17A5B6CE0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756189" y="2992123"/>
              <a:ext cx="1355996" cy="1405564"/>
            </a:xfrm>
            <a:prstGeom prst="rect">
              <a:avLst/>
            </a:prstGeom>
          </p:spPr>
        </p:pic>
        <p:pic>
          <p:nvPicPr>
            <p:cNvPr id="18" name="Picture 17" descr="A picture containing outdoor, ground, small&#10;&#10;Description generated with high confidence">
              <a:extLst>
                <a:ext uri="{FF2B5EF4-FFF2-40B4-BE49-F238E27FC236}">
                  <a16:creationId xmlns:a16="http://schemas.microsoft.com/office/drawing/2014/main" id="{6ED980AC-AE49-4DAD-8797-5A20FBDA2D1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234451" y="2992123"/>
              <a:ext cx="1310711" cy="1405564"/>
            </a:xfrm>
            <a:prstGeom prst="rect">
              <a:avLst/>
            </a:prstGeom>
          </p:spPr>
        </p:pic>
        <p:pic>
          <p:nvPicPr>
            <p:cNvPr id="19" name="Picture 18" descr="A circuit board&#10;&#10;Description generated with high confidence">
              <a:extLst>
                <a:ext uri="{FF2B5EF4-FFF2-40B4-BE49-F238E27FC236}">
                  <a16:creationId xmlns:a16="http://schemas.microsoft.com/office/drawing/2014/main" id="{619F32BC-2F08-46D4-A11B-266AAD969F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255195" y="4626536"/>
              <a:ext cx="6515169" cy="1376147"/>
            </a:xfrm>
            <a:prstGeom prst="rect">
              <a:avLst/>
            </a:prstGeom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DCD8C07-0655-416E-A0BB-69170587989B}"/>
                </a:ext>
              </a:extLst>
            </p:cNvPr>
            <p:cNvSpPr/>
            <p:nvPr/>
          </p:nvSpPr>
          <p:spPr>
            <a:xfrm>
              <a:off x="1010352" y="5978908"/>
              <a:ext cx="7123297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3600" b="1" i="1" dirty="0"/>
                <a:t>Bioinformatics + Cyberinfrastructure</a:t>
              </a:r>
            </a:p>
          </p:txBody>
        </p:sp>
        <p:pic>
          <p:nvPicPr>
            <p:cNvPr id="21" name="Picture 2" descr="Image result for rosalind franklin">
              <a:extLst>
                <a:ext uri="{FF2B5EF4-FFF2-40B4-BE49-F238E27FC236}">
                  <a16:creationId xmlns:a16="http://schemas.microsoft.com/office/drawing/2014/main" id="{C93D9230-86F4-4ED3-8F5B-1AB04DCC55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99801" y="1482043"/>
              <a:ext cx="1400149" cy="13250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2840676-1AF8-4996-8A5D-3594CF6AEC4A}"/>
                </a:ext>
              </a:extLst>
            </p:cNvPr>
            <p:cNvSpPr txBox="1"/>
            <p:nvPr/>
          </p:nvSpPr>
          <p:spPr>
            <a:xfrm>
              <a:off x="2959" y="6600236"/>
              <a:ext cx="199920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/>
                <a:t>Source: Wikipedia; Feltus Lab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3096AD1C-3FCE-4781-BAE3-07DAC51590F7}"/>
              </a:ext>
            </a:extLst>
          </p:cNvPr>
          <p:cNvSpPr/>
          <p:nvPr/>
        </p:nvSpPr>
        <p:spPr>
          <a:xfrm>
            <a:off x="2743200" y="118402"/>
            <a:ext cx="9144000" cy="55637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glow rad="101600">
              <a:srgbClr val="002060">
                <a:alpha val="6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We Do </a:t>
            </a:r>
            <a:r>
              <a:rPr lang="en-US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Computational Biology Research </a:t>
            </a:r>
          </a:p>
        </p:txBody>
      </p:sp>
    </p:spTree>
    <p:extLst>
      <p:ext uri="{BB962C8B-B14F-4D97-AF65-F5344CB8AC3E}">
        <p14:creationId xmlns:p14="http://schemas.microsoft.com/office/powerpoint/2010/main" val="2097978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632AF9-A143-4719-80B8-B5B1354A1852}"/>
              </a:ext>
            </a:extLst>
          </p:cNvPr>
          <p:cNvSpPr/>
          <p:nvPr/>
        </p:nvSpPr>
        <p:spPr>
          <a:xfrm>
            <a:off x="2743200" y="110013"/>
            <a:ext cx="9144000" cy="55637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glow rad="101600">
              <a:srgbClr val="002060">
                <a:alpha val="6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Active Research Project Examples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FC5F3C-1B8D-47DE-AB2C-69B4DA75D6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2754" y="1449288"/>
            <a:ext cx="2995796" cy="2995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E8FBA1D-681B-4C66-A643-D230E3C2E03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666" r="892" b="31021"/>
          <a:stretch/>
        </p:blipFill>
        <p:spPr>
          <a:xfrm>
            <a:off x="8259332" y="1387005"/>
            <a:ext cx="3890484" cy="13759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EEE433F-EDDB-4240-B9A4-F7B1DF7CFEF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9975" t="25100" r="28291" b="48435"/>
          <a:stretch/>
        </p:blipFill>
        <p:spPr>
          <a:xfrm>
            <a:off x="6283710" y="5062657"/>
            <a:ext cx="3685243" cy="1060405"/>
          </a:xfrm>
          <a:prstGeom prst="rect">
            <a:avLst/>
          </a:prstGeom>
        </p:spPr>
      </p:pic>
      <p:pic>
        <p:nvPicPr>
          <p:cNvPr id="10" name="Picture 4">
            <a:extLst>
              <a:ext uri="{FF2B5EF4-FFF2-40B4-BE49-F238E27FC236}">
                <a16:creationId xmlns:a16="http://schemas.microsoft.com/office/drawing/2014/main" id="{67A4A044-2AA4-4EE1-8399-5D01A19A4E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92" t="21559"/>
          <a:stretch/>
        </p:blipFill>
        <p:spPr bwMode="auto">
          <a:xfrm>
            <a:off x="5545930" y="1387005"/>
            <a:ext cx="2609452" cy="3153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E8CF865-98FC-4831-B731-705F35CD1C4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32373" t="27347" r="32806" b="46258"/>
          <a:stretch/>
        </p:blipFill>
        <p:spPr>
          <a:xfrm>
            <a:off x="2482754" y="4700149"/>
            <a:ext cx="3615824" cy="154169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D667A9A-1AB8-491B-B7CB-CA195FA07E9E}"/>
              </a:ext>
            </a:extLst>
          </p:cNvPr>
          <p:cNvSpPr txBox="1"/>
          <p:nvPr/>
        </p:nvSpPr>
        <p:spPr>
          <a:xfrm>
            <a:off x="2455402" y="897619"/>
            <a:ext cx="2959226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Leverage AI for Precision Medicine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69DDF4-27E4-4717-A734-4704A47CC4D9}"/>
              </a:ext>
            </a:extLst>
          </p:cNvPr>
          <p:cNvSpPr txBox="1"/>
          <p:nvPr/>
        </p:nvSpPr>
        <p:spPr>
          <a:xfrm>
            <a:off x="8259332" y="921202"/>
            <a:ext cx="3890484" cy="3077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Scalable Bioinformatics Training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A2FDDF-39E5-4338-8830-79A10BFF7B25}"/>
              </a:ext>
            </a:extLst>
          </p:cNvPr>
          <p:cNvSpPr txBox="1"/>
          <p:nvPr/>
        </p:nvSpPr>
        <p:spPr>
          <a:xfrm>
            <a:off x="5545930" y="894329"/>
            <a:ext cx="2634581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Find Symbiosis Genes that may Reduce Fertilizer Usage in Agriculture</a:t>
            </a:r>
          </a:p>
        </p:txBody>
      </p:sp>
      <p:pic>
        <p:nvPicPr>
          <p:cNvPr id="2050" name="Picture 2" descr="Praxis AI">
            <a:extLst>
              <a:ext uri="{FF2B5EF4-FFF2-40B4-BE49-F238E27FC236}">
                <a16:creationId xmlns:a16="http://schemas.microsoft.com/office/drawing/2014/main" id="{7CCD8AFA-F4E6-4561-AD09-A90C252B29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3652" y="2762944"/>
            <a:ext cx="2609452" cy="1087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69B608-C9F9-42BC-9BF2-5E44050A4B68}"/>
              </a:ext>
            </a:extLst>
          </p:cNvPr>
          <p:cNvSpPr txBox="1"/>
          <p:nvPr/>
        </p:nvSpPr>
        <p:spPr>
          <a:xfrm>
            <a:off x="9616504" y="3668059"/>
            <a:ext cx="1101905" cy="369332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prxai.com</a:t>
            </a:r>
          </a:p>
        </p:txBody>
      </p:sp>
    </p:spTree>
    <p:extLst>
      <p:ext uri="{BB962C8B-B14F-4D97-AF65-F5344CB8AC3E}">
        <p14:creationId xmlns:p14="http://schemas.microsoft.com/office/powerpoint/2010/main" val="4239051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632AF9-A143-4719-80B8-B5B1354A1852}"/>
              </a:ext>
            </a:extLst>
          </p:cNvPr>
          <p:cNvSpPr/>
          <p:nvPr/>
        </p:nvSpPr>
        <p:spPr>
          <a:xfrm>
            <a:off x="2743200" y="110012"/>
            <a:ext cx="9144000" cy="65084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glow rad="101600">
              <a:srgbClr val="002060">
                <a:alpha val="6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High Resolution DNA Datasets are Stored in NCBI SRA, NASA </a:t>
            </a:r>
            <a:r>
              <a:rPr lang="en-US" sz="24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GeneLab</a:t>
            </a:r>
            <a:r>
              <a:rPr lang="en-US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, Local Disks, and Community Databases </a:t>
            </a:r>
          </a:p>
        </p:txBody>
      </p:sp>
      <p:pic>
        <p:nvPicPr>
          <p:cNvPr id="1026" name="Picture 2" descr="SRA database growth">
            <a:extLst>
              <a:ext uri="{FF2B5EF4-FFF2-40B4-BE49-F238E27FC236}">
                <a16:creationId xmlns:a16="http://schemas.microsoft.com/office/drawing/2014/main" id="{1E3EDB41-3E4B-4B18-A3E1-40D0BD24AA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2194" y="897620"/>
            <a:ext cx="5473817" cy="4105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CC33F02-1226-492E-9E13-2D3FB3491A4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4381" t="8685" r="6009" b="6666"/>
          <a:stretch/>
        </p:blipFill>
        <p:spPr>
          <a:xfrm>
            <a:off x="9001386" y="822121"/>
            <a:ext cx="2390863" cy="5805182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36E42997-F61A-46F5-B9B0-6A498E972202}"/>
              </a:ext>
            </a:extLst>
          </p:cNvPr>
          <p:cNvSpPr/>
          <p:nvPr/>
        </p:nvSpPr>
        <p:spPr>
          <a:xfrm>
            <a:off x="8439323" y="3688010"/>
            <a:ext cx="562063" cy="3250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382F2A-F81D-47AA-B4F4-2FBBFE87F8F7}"/>
              </a:ext>
            </a:extLst>
          </p:cNvPr>
          <p:cNvSpPr txBox="1"/>
          <p:nvPr/>
        </p:nvSpPr>
        <p:spPr>
          <a:xfrm>
            <a:off x="3464653" y="1098958"/>
            <a:ext cx="2416030" cy="369332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1" name="Picture 2" descr="NASA GeneLab | NASA">
            <a:extLst>
              <a:ext uri="{FF2B5EF4-FFF2-40B4-BE49-F238E27FC236}">
                <a16:creationId xmlns:a16="http://schemas.microsoft.com/office/drawing/2014/main" id="{9CF5CFD5-DCCD-4565-835F-1D10C39F2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5077125"/>
            <a:ext cx="1693204" cy="1693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ome">
            <a:extLst>
              <a:ext uri="{FF2B5EF4-FFF2-40B4-BE49-F238E27FC236}">
                <a16:creationId xmlns:a16="http://schemas.microsoft.com/office/drawing/2014/main" id="{A9EDC328-E827-4930-9615-02AFF5923D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8319" y="5987558"/>
            <a:ext cx="1859227" cy="633541"/>
          </a:xfrm>
          <a:prstGeom prst="rect">
            <a:avLst/>
          </a:prstGeom>
          <a:solidFill>
            <a:srgbClr val="92D050"/>
          </a:solidFill>
        </p:spPr>
      </p:pic>
      <p:pic>
        <p:nvPicPr>
          <p:cNvPr id="1030" name="Picture 6" descr="Ensembl 101 has been released! | European Bioinformatics Institute">
            <a:extLst>
              <a:ext uri="{FF2B5EF4-FFF2-40B4-BE49-F238E27FC236}">
                <a16:creationId xmlns:a16="http://schemas.microsoft.com/office/drawing/2014/main" id="{A6C7264E-CCB6-4604-BFB7-D97FF97417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404" y="5056329"/>
            <a:ext cx="1956864" cy="633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19F1C2C3-F730-4E8B-9317-C5B6E4E3B0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2335" y="3113271"/>
            <a:ext cx="926767" cy="1149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A9F8C72E-42BF-4CD5-9024-C760ABD8F5EA}"/>
              </a:ext>
            </a:extLst>
          </p:cNvPr>
          <p:cNvSpPr/>
          <p:nvPr/>
        </p:nvSpPr>
        <p:spPr>
          <a:xfrm>
            <a:off x="8690994" y="6363489"/>
            <a:ext cx="310391" cy="3250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F02B66-4BAB-4320-81DF-F186720A7E76}"/>
              </a:ext>
            </a:extLst>
          </p:cNvPr>
          <p:cNvSpPr txBox="1"/>
          <p:nvPr/>
        </p:nvSpPr>
        <p:spPr>
          <a:xfrm>
            <a:off x="6926210" y="3588936"/>
            <a:ext cx="1446230" cy="523220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chemeClr val="bg1"/>
                </a:solidFill>
              </a:rPr>
              <a:t>44.3 PBs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E3EFC9-14EE-4813-BEBE-6D4BA3EB100B}"/>
              </a:ext>
            </a:extLst>
          </p:cNvPr>
          <p:cNvSpPr txBox="1"/>
          <p:nvPr/>
        </p:nvSpPr>
        <p:spPr>
          <a:xfrm>
            <a:off x="6522193" y="6238768"/>
            <a:ext cx="2117887" cy="523220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478K Species</a:t>
            </a:r>
          </a:p>
        </p:txBody>
      </p:sp>
    </p:spTree>
    <p:extLst>
      <p:ext uri="{BB962C8B-B14F-4D97-AF65-F5344CB8AC3E}">
        <p14:creationId xmlns:p14="http://schemas.microsoft.com/office/powerpoint/2010/main" val="2944278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Magnetic Disk 4">
            <a:extLst>
              <a:ext uri="{FF2B5EF4-FFF2-40B4-BE49-F238E27FC236}">
                <a16:creationId xmlns:a16="http://schemas.microsoft.com/office/drawing/2014/main" id="{9AC9C604-C694-4834-AC29-916F501DEDE2}"/>
              </a:ext>
            </a:extLst>
          </p:cNvPr>
          <p:cNvSpPr/>
          <p:nvPr/>
        </p:nvSpPr>
        <p:spPr>
          <a:xfrm>
            <a:off x="6127242" y="2812703"/>
            <a:ext cx="2180542" cy="646228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Namespace PVC</a:t>
            </a:r>
          </a:p>
        </p:txBody>
      </p:sp>
      <p:sp>
        <p:nvSpPr>
          <p:cNvPr id="6" name="Flowchart: Magnetic Disk 5">
            <a:extLst>
              <a:ext uri="{FF2B5EF4-FFF2-40B4-BE49-F238E27FC236}">
                <a16:creationId xmlns:a16="http://schemas.microsoft.com/office/drawing/2014/main" id="{F16C826E-2192-412E-85FB-280299AB2712}"/>
              </a:ext>
            </a:extLst>
          </p:cNvPr>
          <p:cNvSpPr/>
          <p:nvPr/>
        </p:nvSpPr>
        <p:spPr>
          <a:xfrm>
            <a:off x="9198560" y="2832769"/>
            <a:ext cx="2180542" cy="646228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GitHub/</a:t>
            </a:r>
            <a:r>
              <a:rPr lang="en-US" b="1" dirty="0" err="1">
                <a:solidFill>
                  <a:sysClr val="windowText" lastClr="000000"/>
                </a:solidFill>
              </a:rPr>
              <a:t>DockerHub</a:t>
            </a:r>
            <a:endParaRPr lang="en-US" b="1" dirty="0">
              <a:solidFill>
                <a:sysClr val="windowText" lastClr="000000"/>
              </a:solidFill>
            </a:endParaRPr>
          </a:p>
        </p:txBody>
      </p:sp>
      <p:sp>
        <p:nvSpPr>
          <p:cNvPr id="7" name="Flowchart: Magnetic Disk 6">
            <a:extLst>
              <a:ext uri="{FF2B5EF4-FFF2-40B4-BE49-F238E27FC236}">
                <a16:creationId xmlns:a16="http://schemas.microsoft.com/office/drawing/2014/main" id="{49F44FA3-AF2A-4CD8-95E4-A3022129FB9E}"/>
              </a:ext>
            </a:extLst>
          </p:cNvPr>
          <p:cNvSpPr/>
          <p:nvPr/>
        </p:nvSpPr>
        <p:spPr>
          <a:xfrm>
            <a:off x="9474175" y="4542040"/>
            <a:ext cx="2180542" cy="646228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NCBI-SRA</a:t>
            </a:r>
          </a:p>
        </p:txBody>
      </p:sp>
      <p:sp>
        <p:nvSpPr>
          <p:cNvPr id="9" name="Flowchart: Magnetic Disk 8">
            <a:extLst>
              <a:ext uri="{FF2B5EF4-FFF2-40B4-BE49-F238E27FC236}">
                <a16:creationId xmlns:a16="http://schemas.microsoft.com/office/drawing/2014/main" id="{A4F26D6D-8403-4BED-A769-A8974D60D223}"/>
              </a:ext>
            </a:extLst>
          </p:cNvPr>
          <p:cNvSpPr/>
          <p:nvPr/>
        </p:nvSpPr>
        <p:spPr>
          <a:xfrm>
            <a:off x="9475115" y="5819874"/>
            <a:ext cx="2180542" cy="646228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NASA </a:t>
            </a:r>
            <a:r>
              <a:rPr lang="en-US" b="1" dirty="0" err="1">
                <a:solidFill>
                  <a:sysClr val="windowText" lastClr="000000"/>
                </a:solidFill>
              </a:rPr>
              <a:t>GeneLab</a:t>
            </a:r>
            <a:endParaRPr lang="en-US" b="1" dirty="0">
              <a:solidFill>
                <a:sysClr val="windowText" lastClr="000000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A3AC9EB-C86B-418B-9ED7-3B8C554F684E}"/>
              </a:ext>
            </a:extLst>
          </p:cNvPr>
          <p:cNvGrpSpPr/>
          <p:nvPr/>
        </p:nvGrpSpPr>
        <p:grpSpPr>
          <a:xfrm>
            <a:off x="6195711" y="2017831"/>
            <a:ext cx="1586383" cy="467818"/>
            <a:chOff x="1652632" y="4387442"/>
            <a:chExt cx="1895912" cy="749067"/>
          </a:xfrm>
        </p:grpSpPr>
        <p:sp>
          <p:nvSpPr>
            <p:cNvPr id="54" name="Cube 53">
              <a:extLst>
                <a:ext uri="{FF2B5EF4-FFF2-40B4-BE49-F238E27FC236}">
                  <a16:creationId xmlns:a16="http://schemas.microsoft.com/office/drawing/2014/main" id="{D5513BE9-0A87-42A1-BC8D-0A0107456C64}"/>
                </a:ext>
              </a:extLst>
            </p:cNvPr>
            <p:cNvSpPr/>
            <p:nvPr/>
          </p:nvSpPr>
          <p:spPr>
            <a:xfrm>
              <a:off x="1652632" y="4387442"/>
              <a:ext cx="1895912" cy="749067"/>
            </a:xfrm>
            <a:prstGeom prst="cube">
              <a:avLst/>
            </a:prstGeom>
            <a:noFill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807594E-2F75-4FD2-9C94-E92BF80D7A70}"/>
                </a:ext>
              </a:extLst>
            </p:cNvPr>
            <p:cNvSpPr txBox="1"/>
            <p:nvPr/>
          </p:nvSpPr>
          <p:spPr>
            <a:xfrm>
              <a:off x="1770095" y="4590510"/>
              <a:ext cx="1432420" cy="2900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 dirty="0" err="1"/>
                <a:t>Nextflow</a:t>
              </a:r>
              <a:r>
                <a:rPr lang="en-US" sz="1400" b="1" dirty="0"/>
                <a:t> API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AF8E954-34FD-4700-B272-E1128532B5F5}"/>
              </a:ext>
            </a:extLst>
          </p:cNvPr>
          <p:cNvGrpSpPr/>
          <p:nvPr/>
        </p:nvGrpSpPr>
        <p:grpSpPr>
          <a:xfrm>
            <a:off x="5998958" y="3833131"/>
            <a:ext cx="1449165" cy="476721"/>
            <a:chOff x="1652632" y="5231234"/>
            <a:chExt cx="1895912" cy="749067"/>
          </a:xfrm>
        </p:grpSpPr>
        <p:sp>
          <p:nvSpPr>
            <p:cNvPr id="52" name="Cube 51">
              <a:extLst>
                <a:ext uri="{FF2B5EF4-FFF2-40B4-BE49-F238E27FC236}">
                  <a16:creationId xmlns:a16="http://schemas.microsoft.com/office/drawing/2014/main" id="{9E24588A-44C1-4231-8FB6-0046E94B628A}"/>
                </a:ext>
              </a:extLst>
            </p:cNvPr>
            <p:cNvSpPr/>
            <p:nvPr/>
          </p:nvSpPr>
          <p:spPr>
            <a:xfrm>
              <a:off x="1652632" y="5231234"/>
              <a:ext cx="1895912" cy="749067"/>
            </a:xfrm>
            <a:prstGeom prst="cube">
              <a:avLst/>
            </a:prstGeom>
            <a:noFill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E5DDA286-FA6B-4E48-949C-F5CFFE667AEC}"/>
                </a:ext>
              </a:extLst>
            </p:cNvPr>
            <p:cNvSpPr txBox="1"/>
            <p:nvPr/>
          </p:nvSpPr>
          <p:spPr>
            <a:xfrm>
              <a:off x="1794617" y="5332725"/>
              <a:ext cx="1432420" cy="461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00" b="1" dirty="0"/>
                <a:t>Data Transfer Pod (DTP)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D218706-1F02-43F0-87B4-53C3C1455662}"/>
              </a:ext>
            </a:extLst>
          </p:cNvPr>
          <p:cNvGrpSpPr/>
          <p:nvPr/>
        </p:nvGrpSpPr>
        <p:grpSpPr>
          <a:xfrm>
            <a:off x="6837349" y="5086080"/>
            <a:ext cx="2001067" cy="585542"/>
            <a:chOff x="6847285" y="5019543"/>
            <a:chExt cx="1916930" cy="592893"/>
          </a:xfrm>
        </p:grpSpPr>
        <p:sp>
          <p:nvSpPr>
            <p:cNvPr id="50" name="Cloud 49">
              <a:extLst>
                <a:ext uri="{FF2B5EF4-FFF2-40B4-BE49-F238E27FC236}">
                  <a16:creationId xmlns:a16="http://schemas.microsoft.com/office/drawing/2014/main" id="{FCBFEC5E-EC52-4CDA-881A-F9A38E24D052}"/>
                </a:ext>
              </a:extLst>
            </p:cNvPr>
            <p:cNvSpPr/>
            <p:nvPr/>
          </p:nvSpPr>
          <p:spPr>
            <a:xfrm>
              <a:off x="6847285" y="5019543"/>
              <a:ext cx="1916930" cy="592893"/>
            </a:xfrm>
            <a:prstGeom prst="cloud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684B852F-3E08-46DD-975B-474C3480A0DC}"/>
                </a:ext>
              </a:extLst>
            </p:cNvPr>
            <p:cNvSpPr txBox="1"/>
            <p:nvPr/>
          </p:nvSpPr>
          <p:spPr>
            <a:xfrm>
              <a:off x="7021647" y="5125013"/>
              <a:ext cx="14285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NDN Testbed</a:t>
              </a:r>
            </a:p>
          </p:txBody>
        </p:sp>
      </p:grpSp>
      <p:sp>
        <p:nvSpPr>
          <p:cNvPr id="13" name="Cloud 12">
            <a:extLst>
              <a:ext uri="{FF2B5EF4-FFF2-40B4-BE49-F238E27FC236}">
                <a16:creationId xmlns:a16="http://schemas.microsoft.com/office/drawing/2014/main" id="{C386D6EF-1B12-4B01-8081-5EB5A0AD3178}"/>
              </a:ext>
            </a:extLst>
          </p:cNvPr>
          <p:cNvSpPr/>
          <p:nvPr/>
        </p:nvSpPr>
        <p:spPr>
          <a:xfrm rot="10800000">
            <a:off x="3198314" y="549550"/>
            <a:ext cx="5388636" cy="4964880"/>
          </a:xfrm>
          <a:prstGeom prst="clou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C4D222-8AB7-45BC-9327-575261FDDAC6}"/>
              </a:ext>
            </a:extLst>
          </p:cNvPr>
          <p:cNvSpPr txBox="1"/>
          <p:nvPr/>
        </p:nvSpPr>
        <p:spPr>
          <a:xfrm>
            <a:off x="9102995" y="2478346"/>
            <a:ext cx="2784205" cy="3343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/</a:t>
            </a:r>
            <a:r>
              <a:rPr lang="en-US" sz="1600" dirty="0" err="1"/>
              <a:t>SystemsGenetics</a:t>
            </a:r>
            <a:r>
              <a:rPr lang="en-US" sz="1600" dirty="0"/>
              <a:t>/</a:t>
            </a:r>
            <a:r>
              <a:rPr lang="en-US" sz="1600" dirty="0" err="1"/>
              <a:t>GEMmaker</a:t>
            </a:r>
            <a:endParaRPr lang="en-US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A63AD5-695D-4F64-9975-CB5B5422E195}"/>
              </a:ext>
            </a:extLst>
          </p:cNvPr>
          <p:cNvSpPr txBox="1"/>
          <p:nvPr/>
        </p:nvSpPr>
        <p:spPr>
          <a:xfrm>
            <a:off x="4813381" y="1341063"/>
            <a:ext cx="2634742" cy="364753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Kubernetes (K8s) Cluster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6E57F1-A2A0-497D-A09D-A0ADB3D12EE6}"/>
              </a:ext>
            </a:extLst>
          </p:cNvPr>
          <p:cNvSpPr txBox="1"/>
          <p:nvPr/>
        </p:nvSpPr>
        <p:spPr>
          <a:xfrm>
            <a:off x="4110234" y="3868179"/>
            <a:ext cx="1261247" cy="638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i="1" dirty="0"/>
              <a:t>Workflow</a:t>
            </a:r>
          </a:p>
          <a:p>
            <a:pPr algn="ctr"/>
            <a:r>
              <a:rPr lang="en-US" b="1" i="1" dirty="0"/>
              <a:t>Containers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3565BF3-6FEB-4091-B726-0DF574B274A8}"/>
              </a:ext>
            </a:extLst>
          </p:cNvPr>
          <p:cNvGrpSpPr/>
          <p:nvPr/>
        </p:nvGrpSpPr>
        <p:grpSpPr>
          <a:xfrm>
            <a:off x="4152311" y="2307081"/>
            <a:ext cx="1173512" cy="1562863"/>
            <a:chOff x="1096980" y="5066737"/>
            <a:chExt cx="1124170" cy="1582483"/>
          </a:xfrm>
        </p:grpSpPr>
        <p:sp>
          <p:nvSpPr>
            <p:cNvPr id="34" name="Cube 33">
              <a:extLst>
                <a:ext uri="{FF2B5EF4-FFF2-40B4-BE49-F238E27FC236}">
                  <a16:creationId xmlns:a16="http://schemas.microsoft.com/office/drawing/2014/main" id="{7DB9E83E-ADEC-48D0-AAC4-89A0F9E5ADD3}"/>
                </a:ext>
              </a:extLst>
            </p:cNvPr>
            <p:cNvSpPr/>
            <p:nvPr/>
          </p:nvSpPr>
          <p:spPr>
            <a:xfrm>
              <a:off x="1096980" y="5931787"/>
              <a:ext cx="666970" cy="260233"/>
            </a:xfrm>
            <a:prstGeom prst="cube">
              <a:avLst/>
            </a:prstGeom>
            <a:noFill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Cube 34">
              <a:extLst>
                <a:ext uri="{FF2B5EF4-FFF2-40B4-BE49-F238E27FC236}">
                  <a16:creationId xmlns:a16="http://schemas.microsoft.com/office/drawing/2014/main" id="{36F4A021-F732-421D-ABC7-79D9CC28313E}"/>
                </a:ext>
              </a:extLst>
            </p:cNvPr>
            <p:cNvSpPr/>
            <p:nvPr/>
          </p:nvSpPr>
          <p:spPr>
            <a:xfrm>
              <a:off x="1096980" y="5643437"/>
              <a:ext cx="666970" cy="260233"/>
            </a:xfrm>
            <a:prstGeom prst="cube">
              <a:avLst/>
            </a:prstGeom>
            <a:noFill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Cube 35">
              <a:extLst>
                <a:ext uri="{FF2B5EF4-FFF2-40B4-BE49-F238E27FC236}">
                  <a16:creationId xmlns:a16="http://schemas.microsoft.com/office/drawing/2014/main" id="{FEA23268-192F-42CB-8DAB-6D495FD3C9E9}"/>
                </a:ext>
              </a:extLst>
            </p:cNvPr>
            <p:cNvSpPr/>
            <p:nvPr/>
          </p:nvSpPr>
          <p:spPr>
            <a:xfrm>
              <a:off x="1096980" y="5355087"/>
              <a:ext cx="666970" cy="260233"/>
            </a:xfrm>
            <a:prstGeom prst="cube">
              <a:avLst/>
            </a:prstGeom>
            <a:noFill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Cube 36">
              <a:extLst>
                <a:ext uri="{FF2B5EF4-FFF2-40B4-BE49-F238E27FC236}">
                  <a16:creationId xmlns:a16="http://schemas.microsoft.com/office/drawing/2014/main" id="{659AECAC-1CDD-42EB-BE0E-A82C1B1394E0}"/>
                </a:ext>
              </a:extLst>
            </p:cNvPr>
            <p:cNvSpPr/>
            <p:nvPr/>
          </p:nvSpPr>
          <p:spPr>
            <a:xfrm>
              <a:off x="1096980" y="5066737"/>
              <a:ext cx="666970" cy="260233"/>
            </a:xfrm>
            <a:prstGeom prst="cube">
              <a:avLst/>
            </a:prstGeom>
            <a:noFill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Cube 37">
              <a:extLst>
                <a:ext uri="{FF2B5EF4-FFF2-40B4-BE49-F238E27FC236}">
                  <a16:creationId xmlns:a16="http://schemas.microsoft.com/office/drawing/2014/main" id="{153F72E3-E3FF-4AC1-BBC2-F31DF602EE96}"/>
                </a:ext>
              </a:extLst>
            </p:cNvPr>
            <p:cNvSpPr/>
            <p:nvPr/>
          </p:nvSpPr>
          <p:spPr>
            <a:xfrm>
              <a:off x="1249380" y="6084187"/>
              <a:ext cx="666970" cy="260233"/>
            </a:xfrm>
            <a:prstGeom prst="cube">
              <a:avLst/>
            </a:prstGeom>
            <a:noFill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Cube 38">
              <a:extLst>
                <a:ext uri="{FF2B5EF4-FFF2-40B4-BE49-F238E27FC236}">
                  <a16:creationId xmlns:a16="http://schemas.microsoft.com/office/drawing/2014/main" id="{713EF5FD-29DA-49D6-A8B0-79F5F2A5173E}"/>
                </a:ext>
              </a:extLst>
            </p:cNvPr>
            <p:cNvSpPr/>
            <p:nvPr/>
          </p:nvSpPr>
          <p:spPr>
            <a:xfrm>
              <a:off x="1249380" y="5795837"/>
              <a:ext cx="666970" cy="260233"/>
            </a:xfrm>
            <a:prstGeom prst="cube">
              <a:avLst/>
            </a:prstGeom>
            <a:noFill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Cube 39">
              <a:extLst>
                <a:ext uri="{FF2B5EF4-FFF2-40B4-BE49-F238E27FC236}">
                  <a16:creationId xmlns:a16="http://schemas.microsoft.com/office/drawing/2014/main" id="{E0988D80-63FE-47FC-965A-14586E7CBAC7}"/>
                </a:ext>
              </a:extLst>
            </p:cNvPr>
            <p:cNvSpPr/>
            <p:nvPr/>
          </p:nvSpPr>
          <p:spPr>
            <a:xfrm>
              <a:off x="1249380" y="5507487"/>
              <a:ext cx="666970" cy="260233"/>
            </a:xfrm>
            <a:prstGeom prst="cube">
              <a:avLst/>
            </a:prstGeom>
            <a:noFill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Cube 40">
              <a:extLst>
                <a:ext uri="{FF2B5EF4-FFF2-40B4-BE49-F238E27FC236}">
                  <a16:creationId xmlns:a16="http://schemas.microsoft.com/office/drawing/2014/main" id="{D29AB002-4E2A-4A85-80E7-55B562A9C2CC}"/>
                </a:ext>
              </a:extLst>
            </p:cNvPr>
            <p:cNvSpPr/>
            <p:nvPr/>
          </p:nvSpPr>
          <p:spPr>
            <a:xfrm>
              <a:off x="1249380" y="5219137"/>
              <a:ext cx="666970" cy="260233"/>
            </a:xfrm>
            <a:prstGeom prst="cube">
              <a:avLst/>
            </a:prstGeom>
            <a:noFill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Cube 41">
              <a:extLst>
                <a:ext uri="{FF2B5EF4-FFF2-40B4-BE49-F238E27FC236}">
                  <a16:creationId xmlns:a16="http://schemas.microsoft.com/office/drawing/2014/main" id="{60C8D1C8-3AEB-4509-818C-69F343B9884E}"/>
                </a:ext>
              </a:extLst>
            </p:cNvPr>
            <p:cNvSpPr/>
            <p:nvPr/>
          </p:nvSpPr>
          <p:spPr>
            <a:xfrm>
              <a:off x="1401780" y="6236587"/>
              <a:ext cx="666970" cy="260233"/>
            </a:xfrm>
            <a:prstGeom prst="cube">
              <a:avLst/>
            </a:prstGeom>
            <a:noFill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Cube 42">
              <a:extLst>
                <a:ext uri="{FF2B5EF4-FFF2-40B4-BE49-F238E27FC236}">
                  <a16:creationId xmlns:a16="http://schemas.microsoft.com/office/drawing/2014/main" id="{D3571008-647A-4B13-98F5-144788A7DC62}"/>
                </a:ext>
              </a:extLst>
            </p:cNvPr>
            <p:cNvSpPr/>
            <p:nvPr/>
          </p:nvSpPr>
          <p:spPr>
            <a:xfrm>
              <a:off x="1401780" y="5948237"/>
              <a:ext cx="666970" cy="260233"/>
            </a:xfrm>
            <a:prstGeom prst="cube">
              <a:avLst/>
            </a:prstGeom>
            <a:noFill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Cube 43">
              <a:extLst>
                <a:ext uri="{FF2B5EF4-FFF2-40B4-BE49-F238E27FC236}">
                  <a16:creationId xmlns:a16="http://schemas.microsoft.com/office/drawing/2014/main" id="{BBEAB687-3222-4640-98D5-817B7FDD567F}"/>
                </a:ext>
              </a:extLst>
            </p:cNvPr>
            <p:cNvSpPr/>
            <p:nvPr/>
          </p:nvSpPr>
          <p:spPr>
            <a:xfrm>
              <a:off x="1401780" y="5659887"/>
              <a:ext cx="666970" cy="260233"/>
            </a:xfrm>
            <a:prstGeom prst="cube">
              <a:avLst/>
            </a:prstGeom>
            <a:noFill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Cube 44">
              <a:extLst>
                <a:ext uri="{FF2B5EF4-FFF2-40B4-BE49-F238E27FC236}">
                  <a16:creationId xmlns:a16="http://schemas.microsoft.com/office/drawing/2014/main" id="{3C8F8414-BE9E-4280-ADB3-7A8FB8905099}"/>
                </a:ext>
              </a:extLst>
            </p:cNvPr>
            <p:cNvSpPr/>
            <p:nvPr/>
          </p:nvSpPr>
          <p:spPr>
            <a:xfrm>
              <a:off x="1401780" y="5371537"/>
              <a:ext cx="666970" cy="260233"/>
            </a:xfrm>
            <a:prstGeom prst="cube">
              <a:avLst/>
            </a:prstGeom>
            <a:noFill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Cube 45">
              <a:extLst>
                <a:ext uri="{FF2B5EF4-FFF2-40B4-BE49-F238E27FC236}">
                  <a16:creationId xmlns:a16="http://schemas.microsoft.com/office/drawing/2014/main" id="{7330F6CB-CD2D-4618-BD91-D6041DC4034B}"/>
                </a:ext>
              </a:extLst>
            </p:cNvPr>
            <p:cNvSpPr/>
            <p:nvPr/>
          </p:nvSpPr>
          <p:spPr>
            <a:xfrm>
              <a:off x="1554180" y="6388987"/>
              <a:ext cx="666970" cy="260233"/>
            </a:xfrm>
            <a:prstGeom prst="cube">
              <a:avLst/>
            </a:prstGeom>
            <a:noFill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Cube 46">
              <a:extLst>
                <a:ext uri="{FF2B5EF4-FFF2-40B4-BE49-F238E27FC236}">
                  <a16:creationId xmlns:a16="http://schemas.microsoft.com/office/drawing/2014/main" id="{14CDA912-493E-4632-A69B-E77182645F35}"/>
                </a:ext>
              </a:extLst>
            </p:cNvPr>
            <p:cNvSpPr/>
            <p:nvPr/>
          </p:nvSpPr>
          <p:spPr>
            <a:xfrm>
              <a:off x="1554180" y="6100637"/>
              <a:ext cx="666970" cy="260233"/>
            </a:xfrm>
            <a:prstGeom prst="cube">
              <a:avLst/>
            </a:prstGeom>
            <a:noFill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Cube 47">
              <a:extLst>
                <a:ext uri="{FF2B5EF4-FFF2-40B4-BE49-F238E27FC236}">
                  <a16:creationId xmlns:a16="http://schemas.microsoft.com/office/drawing/2014/main" id="{EB6E5571-0537-4BED-A5B5-4434A2EEE85E}"/>
                </a:ext>
              </a:extLst>
            </p:cNvPr>
            <p:cNvSpPr/>
            <p:nvPr/>
          </p:nvSpPr>
          <p:spPr>
            <a:xfrm>
              <a:off x="1554180" y="5812287"/>
              <a:ext cx="666970" cy="260233"/>
            </a:xfrm>
            <a:prstGeom prst="cube">
              <a:avLst/>
            </a:prstGeom>
            <a:noFill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Cube 48">
              <a:extLst>
                <a:ext uri="{FF2B5EF4-FFF2-40B4-BE49-F238E27FC236}">
                  <a16:creationId xmlns:a16="http://schemas.microsoft.com/office/drawing/2014/main" id="{ABB56AC6-0799-4361-83A5-3B0E71C5CA97}"/>
                </a:ext>
              </a:extLst>
            </p:cNvPr>
            <p:cNvSpPr/>
            <p:nvPr/>
          </p:nvSpPr>
          <p:spPr>
            <a:xfrm>
              <a:off x="1554180" y="5523937"/>
              <a:ext cx="666970" cy="260233"/>
            </a:xfrm>
            <a:prstGeom prst="cube">
              <a:avLst/>
            </a:prstGeom>
            <a:noFill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Arrow: Down 17">
            <a:extLst>
              <a:ext uri="{FF2B5EF4-FFF2-40B4-BE49-F238E27FC236}">
                <a16:creationId xmlns:a16="http://schemas.microsoft.com/office/drawing/2014/main" id="{551BE8AF-86A1-406E-9593-733559279EB1}"/>
              </a:ext>
            </a:extLst>
          </p:cNvPr>
          <p:cNvSpPr/>
          <p:nvPr/>
        </p:nvSpPr>
        <p:spPr>
          <a:xfrm rot="3002894">
            <a:off x="8023963" y="1473132"/>
            <a:ext cx="248551" cy="735190"/>
          </a:xfrm>
          <a:prstGeom prst="downArrow">
            <a:avLst>
              <a:gd name="adj1" fmla="val 33191"/>
              <a:gd name="adj2" fmla="val 44786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48B8B765-24ED-421B-B9D7-72B0D2F503DD}"/>
              </a:ext>
            </a:extLst>
          </p:cNvPr>
          <p:cNvSpPr/>
          <p:nvPr/>
        </p:nvSpPr>
        <p:spPr>
          <a:xfrm rot="5400000">
            <a:off x="8624776" y="2851604"/>
            <a:ext cx="152122" cy="642916"/>
          </a:xfrm>
          <a:prstGeom prst="downArrow">
            <a:avLst>
              <a:gd name="adj1" fmla="val 50000"/>
              <a:gd name="adj2" fmla="val 44786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A9E4A93-3B62-4E67-982C-838D72B5BB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154" t="4159" r="9312" b="7400"/>
          <a:stretch/>
        </p:blipFill>
        <p:spPr>
          <a:xfrm>
            <a:off x="8646506" y="981432"/>
            <a:ext cx="1629316" cy="92911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19853C3-1873-49E2-B13B-D89C4BA8BF5C}"/>
              </a:ext>
            </a:extLst>
          </p:cNvPr>
          <p:cNvSpPr txBox="1"/>
          <p:nvPr/>
        </p:nvSpPr>
        <p:spPr>
          <a:xfrm>
            <a:off x="8764006" y="683551"/>
            <a:ext cx="1394313" cy="3647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User Laptop</a:t>
            </a:r>
          </a:p>
        </p:txBody>
      </p:sp>
      <p:sp>
        <p:nvSpPr>
          <p:cNvPr id="22" name="Arrow: Up-Down 21">
            <a:extLst>
              <a:ext uri="{FF2B5EF4-FFF2-40B4-BE49-F238E27FC236}">
                <a16:creationId xmlns:a16="http://schemas.microsoft.com/office/drawing/2014/main" id="{ECB8623A-B7A7-4F61-86C6-D67CF313409D}"/>
              </a:ext>
            </a:extLst>
          </p:cNvPr>
          <p:cNvSpPr/>
          <p:nvPr/>
        </p:nvSpPr>
        <p:spPr>
          <a:xfrm rot="5400000">
            <a:off x="5602097" y="2980385"/>
            <a:ext cx="167834" cy="362039"/>
          </a:xfrm>
          <a:prstGeom prst="up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0312DF42-B842-4ED0-8CDB-E03096299032}"/>
              </a:ext>
            </a:extLst>
          </p:cNvPr>
          <p:cNvSpPr/>
          <p:nvPr/>
        </p:nvSpPr>
        <p:spPr>
          <a:xfrm rot="11333742">
            <a:off x="6887561" y="3518986"/>
            <a:ext cx="190272" cy="273490"/>
          </a:xfrm>
          <a:prstGeom prst="downArrow">
            <a:avLst>
              <a:gd name="adj1" fmla="val 50000"/>
              <a:gd name="adj2" fmla="val 44786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5520B62F-8408-461E-9344-476A70CF8FF2}"/>
              </a:ext>
            </a:extLst>
          </p:cNvPr>
          <p:cNvSpPr/>
          <p:nvPr/>
        </p:nvSpPr>
        <p:spPr>
          <a:xfrm rot="9337166">
            <a:off x="7513245" y="4409545"/>
            <a:ext cx="115597" cy="635326"/>
          </a:xfrm>
          <a:prstGeom prst="downArrow">
            <a:avLst>
              <a:gd name="adj1" fmla="val 50000"/>
              <a:gd name="adj2" fmla="val 44786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160FED8D-0108-4FC8-9C29-AB930D64E6BB}"/>
              </a:ext>
            </a:extLst>
          </p:cNvPr>
          <p:cNvSpPr/>
          <p:nvPr/>
        </p:nvSpPr>
        <p:spPr>
          <a:xfrm rot="3226484">
            <a:off x="9067804" y="4661241"/>
            <a:ext cx="152122" cy="642916"/>
          </a:xfrm>
          <a:prstGeom prst="downArrow">
            <a:avLst>
              <a:gd name="adj1" fmla="val 50000"/>
              <a:gd name="adj2" fmla="val 44786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079BF867-DEBD-44BB-945A-5E0017B12FBE}"/>
              </a:ext>
            </a:extLst>
          </p:cNvPr>
          <p:cNvSpPr/>
          <p:nvPr/>
        </p:nvSpPr>
        <p:spPr>
          <a:xfrm rot="5965660">
            <a:off x="9053178" y="5269034"/>
            <a:ext cx="152122" cy="642916"/>
          </a:xfrm>
          <a:prstGeom prst="downArrow">
            <a:avLst>
              <a:gd name="adj1" fmla="val 50000"/>
              <a:gd name="adj2" fmla="val 44786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7E58872C-9BEB-4B73-95A1-320D78E292D2}"/>
              </a:ext>
            </a:extLst>
          </p:cNvPr>
          <p:cNvSpPr/>
          <p:nvPr/>
        </p:nvSpPr>
        <p:spPr>
          <a:xfrm rot="6369369">
            <a:off x="8831593" y="5490644"/>
            <a:ext cx="197579" cy="924297"/>
          </a:xfrm>
          <a:prstGeom prst="downArrow">
            <a:avLst>
              <a:gd name="adj1" fmla="val 50000"/>
              <a:gd name="adj2" fmla="val 44786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D895B38E-BB9B-4462-A2DF-E7EE209418DC}"/>
              </a:ext>
            </a:extLst>
          </p:cNvPr>
          <p:cNvSpPr/>
          <p:nvPr/>
        </p:nvSpPr>
        <p:spPr>
          <a:xfrm rot="3002894">
            <a:off x="5645160" y="2178925"/>
            <a:ext cx="248551" cy="735190"/>
          </a:xfrm>
          <a:prstGeom prst="downArrow">
            <a:avLst>
              <a:gd name="adj1" fmla="val 33191"/>
              <a:gd name="adj2" fmla="val 44786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499BB28-AE64-44F1-8BF8-DBD34F27A52B}"/>
              </a:ext>
            </a:extLst>
          </p:cNvPr>
          <p:cNvGrpSpPr/>
          <p:nvPr/>
        </p:nvGrpSpPr>
        <p:grpSpPr>
          <a:xfrm>
            <a:off x="6261433" y="4374168"/>
            <a:ext cx="924213" cy="335742"/>
            <a:chOff x="1652632" y="5231234"/>
            <a:chExt cx="1895912" cy="749067"/>
          </a:xfrm>
        </p:grpSpPr>
        <p:sp>
          <p:nvSpPr>
            <p:cNvPr id="32" name="Cube 31">
              <a:extLst>
                <a:ext uri="{FF2B5EF4-FFF2-40B4-BE49-F238E27FC236}">
                  <a16:creationId xmlns:a16="http://schemas.microsoft.com/office/drawing/2014/main" id="{46DD4126-238C-4D86-9C44-E9F1487B2946}"/>
                </a:ext>
              </a:extLst>
            </p:cNvPr>
            <p:cNvSpPr/>
            <p:nvPr/>
          </p:nvSpPr>
          <p:spPr>
            <a:xfrm>
              <a:off x="1652632" y="5231234"/>
              <a:ext cx="1895912" cy="749067"/>
            </a:xfrm>
            <a:prstGeom prst="cube">
              <a:avLst/>
            </a:prstGeom>
            <a:noFill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B30481D-DB28-4233-B05F-10917E450BFA}"/>
                </a:ext>
              </a:extLst>
            </p:cNvPr>
            <p:cNvSpPr txBox="1"/>
            <p:nvPr/>
          </p:nvSpPr>
          <p:spPr>
            <a:xfrm>
              <a:off x="1794617" y="5332725"/>
              <a:ext cx="1432420" cy="4298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00" b="1" dirty="0"/>
                <a:t>NDN</a:t>
              </a:r>
            </a:p>
          </p:txBody>
        </p:sp>
      </p:grp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A371AF80-DEE9-4F3D-A934-76243B4E611A}"/>
              </a:ext>
            </a:extLst>
          </p:cNvPr>
          <p:cNvCxnSpPr>
            <a:stCxn id="52" idx="2"/>
            <a:endCxn id="32" idx="2"/>
          </p:cNvCxnSpPr>
          <p:nvPr/>
        </p:nvCxnSpPr>
        <p:spPr>
          <a:xfrm rot="10800000" flipH="1" flipV="1">
            <a:off x="5998957" y="4131081"/>
            <a:ext cx="262475" cy="452925"/>
          </a:xfrm>
          <a:prstGeom prst="bentConnector3">
            <a:avLst>
              <a:gd name="adj1" fmla="val -90917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Arrow: Down 30">
            <a:extLst>
              <a:ext uri="{FF2B5EF4-FFF2-40B4-BE49-F238E27FC236}">
                <a16:creationId xmlns:a16="http://schemas.microsoft.com/office/drawing/2014/main" id="{0462B9CA-F146-43BF-8C46-DD1FEDACD916}"/>
              </a:ext>
            </a:extLst>
          </p:cNvPr>
          <p:cNvSpPr/>
          <p:nvPr/>
        </p:nvSpPr>
        <p:spPr>
          <a:xfrm rot="19480914">
            <a:off x="7005345" y="4783079"/>
            <a:ext cx="262717" cy="327003"/>
          </a:xfrm>
          <a:prstGeom prst="downArrow">
            <a:avLst>
              <a:gd name="adj1" fmla="val 37948"/>
              <a:gd name="adj2" fmla="val 44786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6B1E0D-DF92-410D-8F8D-BC2440A611A7}"/>
              </a:ext>
            </a:extLst>
          </p:cNvPr>
          <p:cNvSpPr txBox="1"/>
          <p:nvPr/>
        </p:nvSpPr>
        <p:spPr>
          <a:xfrm>
            <a:off x="4705544" y="1664105"/>
            <a:ext cx="1598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TACC, PRP, GCP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10A81A1-991A-48BC-B1FA-05E56638D0EA}"/>
              </a:ext>
            </a:extLst>
          </p:cNvPr>
          <p:cNvSpPr/>
          <p:nvPr/>
        </p:nvSpPr>
        <p:spPr>
          <a:xfrm>
            <a:off x="2743200" y="110013"/>
            <a:ext cx="9144000" cy="55637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glow rad="101600">
              <a:srgbClr val="002060">
                <a:alpha val="6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Genomic Data Flow Through the Cloud</a:t>
            </a:r>
          </a:p>
        </p:txBody>
      </p:sp>
      <p:pic>
        <p:nvPicPr>
          <p:cNvPr id="2050" name="Picture 2" descr="GEMmaker Logo">
            <a:extLst>
              <a:ext uri="{FF2B5EF4-FFF2-40B4-BE49-F238E27FC236}">
                <a16:creationId xmlns:a16="http://schemas.microsoft.com/office/drawing/2014/main" id="{79A8852A-0BD7-4A55-91D1-6F1909AE13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4021" y="4473326"/>
            <a:ext cx="2600305" cy="500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685F023-E9FE-4F6B-965C-0F1F592EAFF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0098" t="25530" r="70620" b="41226"/>
          <a:stretch/>
        </p:blipFill>
        <p:spPr>
          <a:xfrm>
            <a:off x="3001469" y="2195265"/>
            <a:ext cx="1131679" cy="2279898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76BB2F22-B876-4609-9DEE-BD74629A262F}"/>
              </a:ext>
            </a:extLst>
          </p:cNvPr>
          <p:cNvSpPr txBox="1"/>
          <p:nvPr/>
        </p:nvSpPr>
        <p:spPr>
          <a:xfrm>
            <a:off x="2830142" y="6399460"/>
            <a:ext cx="6098796" cy="374077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https://github.com/SystemsGenetics/GEMmaker</a:t>
            </a:r>
            <a:endParaRPr lang="en-US" sz="1600" b="1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0" name="Flowchart: Magnetic Disk 59">
            <a:extLst>
              <a:ext uri="{FF2B5EF4-FFF2-40B4-BE49-F238E27FC236}">
                <a16:creationId xmlns:a16="http://schemas.microsoft.com/office/drawing/2014/main" id="{1676169F-23BF-4858-83A5-2012B613E13D}"/>
              </a:ext>
            </a:extLst>
          </p:cNvPr>
          <p:cNvSpPr/>
          <p:nvPr/>
        </p:nvSpPr>
        <p:spPr>
          <a:xfrm>
            <a:off x="9500127" y="3866729"/>
            <a:ext cx="2180542" cy="646228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Local Storage</a:t>
            </a:r>
          </a:p>
        </p:txBody>
      </p:sp>
      <p:sp>
        <p:nvSpPr>
          <p:cNvPr id="62" name="Arrow: Down 61">
            <a:extLst>
              <a:ext uri="{FF2B5EF4-FFF2-40B4-BE49-F238E27FC236}">
                <a16:creationId xmlns:a16="http://schemas.microsoft.com/office/drawing/2014/main" id="{03CD38DF-AE7B-4593-B75E-8829156C4615}"/>
              </a:ext>
            </a:extLst>
          </p:cNvPr>
          <p:cNvSpPr/>
          <p:nvPr/>
        </p:nvSpPr>
        <p:spPr>
          <a:xfrm rot="2788669">
            <a:off x="8825474" y="4007506"/>
            <a:ext cx="160255" cy="1216105"/>
          </a:xfrm>
          <a:prstGeom prst="downArrow">
            <a:avLst>
              <a:gd name="adj1" fmla="val 50000"/>
              <a:gd name="adj2" fmla="val 44786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Magnetic Disk 7">
            <a:extLst>
              <a:ext uri="{FF2B5EF4-FFF2-40B4-BE49-F238E27FC236}">
                <a16:creationId xmlns:a16="http://schemas.microsoft.com/office/drawing/2014/main" id="{65FCFE58-3F28-42AD-BCDB-DC864B7711F4}"/>
              </a:ext>
            </a:extLst>
          </p:cNvPr>
          <p:cNvSpPr/>
          <p:nvPr/>
        </p:nvSpPr>
        <p:spPr>
          <a:xfrm>
            <a:off x="9484843" y="5190654"/>
            <a:ext cx="2180542" cy="646228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EBI Ensembl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B8BC3EC-9002-4869-92A0-A5D24B216D3B}"/>
              </a:ext>
            </a:extLst>
          </p:cNvPr>
          <p:cNvSpPr txBox="1"/>
          <p:nvPr/>
        </p:nvSpPr>
        <p:spPr>
          <a:xfrm>
            <a:off x="2817636" y="6063920"/>
            <a:ext cx="6098796" cy="369332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sz="1800" b="1" dirty="0"/>
              <a:t>https://github.com/SciDAS/dtp</a:t>
            </a:r>
          </a:p>
        </p:txBody>
      </p:sp>
    </p:spTree>
    <p:extLst>
      <p:ext uri="{BB962C8B-B14F-4D97-AF65-F5344CB8AC3E}">
        <p14:creationId xmlns:p14="http://schemas.microsoft.com/office/powerpoint/2010/main" val="3930112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632AF9-A143-4719-80B8-B5B1354A1852}"/>
              </a:ext>
            </a:extLst>
          </p:cNvPr>
          <p:cNvSpPr/>
          <p:nvPr/>
        </p:nvSpPr>
        <p:spPr>
          <a:xfrm>
            <a:off x="2743200" y="110013"/>
            <a:ext cx="9144000" cy="55637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glow rad="101600">
              <a:srgbClr val="002060">
                <a:alpha val="6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Genomics Data Problems Addressed With NDN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43EFCF-149C-4AC4-A45E-ABA4ECB8E74A}"/>
              </a:ext>
            </a:extLst>
          </p:cNvPr>
          <p:cNvSpPr txBox="1"/>
          <p:nvPr/>
        </p:nvSpPr>
        <p:spPr>
          <a:xfrm>
            <a:off x="3171038" y="1110734"/>
            <a:ext cx="7698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FAIR</a:t>
            </a:r>
            <a:r>
              <a:rPr lang="en-US" b="1" dirty="0"/>
              <a:t> data principles: Findability, Accessibility, Interoperability, and Reusability.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6F3758B-171A-47F7-9495-82C1A7788DF9}"/>
              </a:ext>
            </a:extLst>
          </p:cNvPr>
          <p:cNvCxnSpPr>
            <a:cxnSpLocks/>
          </p:cNvCxnSpPr>
          <p:nvPr/>
        </p:nvCxnSpPr>
        <p:spPr>
          <a:xfrm>
            <a:off x="5679347" y="1480066"/>
            <a:ext cx="255899" cy="894847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NASA GeneLab | NASA">
            <a:extLst>
              <a:ext uri="{FF2B5EF4-FFF2-40B4-BE49-F238E27FC236}">
                <a16:creationId xmlns:a16="http://schemas.microsoft.com/office/drawing/2014/main" id="{35E69204-9436-4151-8565-6570C9283E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3903" y="2497103"/>
            <a:ext cx="1693204" cy="1693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Home">
            <a:extLst>
              <a:ext uri="{FF2B5EF4-FFF2-40B4-BE49-F238E27FC236}">
                <a16:creationId xmlns:a16="http://schemas.microsoft.com/office/drawing/2014/main" id="{0AD270CC-96A6-4E99-8E68-3A34424304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0116" y="4601764"/>
            <a:ext cx="1859227" cy="633541"/>
          </a:xfrm>
          <a:prstGeom prst="rect">
            <a:avLst/>
          </a:prstGeom>
          <a:solidFill>
            <a:srgbClr val="92D050"/>
          </a:solidFill>
        </p:spPr>
      </p:pic>
      <p:pic>
        <p:nvPicPr>
          <p:cNvPr id="13" name="Picture 6" descr="Ensembl 101 has been released! | European Bioinformatics Institute">
            <a:extLst>
              <a:ext uri="{FF2B5EF4-FFF2-40B4-BE49-F238E27FC236}">
                <a16:creationId xmlns:a16="http://schemas.microsoft.com/office/drawing/2014/main" id="{48634B7A-E47D-40BD-B61A-A03588AB21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8217" y="3968223"/>
            <a:ext cx="1956864" cy="633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8">
            <a:extLst>
              <a:ext uri="{FF2B5EF4-FFF2-40B4-BE49-F238E27FC236}">
                <a16:creationId xmlns:a16="http://schemas.microsoft.com/office/drawing/2014/main" id="{9E6A7B46-778A-4CB1-A01A-8805CC0DC2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4178" y="2716932"/>
            <a:ext cx="926767" cy="1149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FA00E5D-FFEB-42F2-B082-B2E8A45F5A10}"/>
              </a:ext>
            </a:extLst>
          </p:cNvPr>
          <p:cNvSpPr txBox="1"/>
          <p:nvPr/>
        </p:nvSpPr>
        <p:spPr>
          <a:xfrm>
            <a:off x="3171037" y="797229"/>
            <a:ext cx="3971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Datasets are enormous and distributed.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1F38E31-F1DE-45BB-AA33-6B2D50C7630F}"/>
              </a:ext>
            </a:extLst>
          </p:cNvPr>
          <p:cNvGrpSpPr/>
          <p:nvPr/>
        </p:nvGrpSpPr>
        <p:grpSpPr>
          <a:xfrm>
            <a:off x="2455604" y="2693163"/>
            <a:ext cx="1998960" cy="1272958"/>
            <a:chOff x="1778648" y="2121977"/>
            <a:chExt cx="1998960" cy="1272958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4739DB75-09A6-447B-89B2-3E02B8F1E2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78648" y="2121977"/>
              <a:ext cx="1666969" cy="12729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40527AF-47F4-469F-B631-C06AC5ACC97C}"/>
                </a:ext>
              </a:extLst>
            </p:cNvPr>
            <p:cNvSpPr txBox="1"/>
            <p:nvPr/>
          </p:nvSpPr>
          <p:spPr>
            <a:xfrm rot="19398381">
              <a:off x="2331315" y="2951337"/>
              <a:ext cx="14462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Local Storage</a:t>
              </a:r>
            </a:p>
          </p:txBody>
        </p:sp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D5E669B-06DD-497C-A20F-0173C883B0D4}"/>
              </a:ext>
            </a:extLst>
          </p:cNvPr>
          <p:cNvCxnSpPr>
            <a:cxnSpLocks/>
          </p:cNvCxnSpPr>
          <p:nvPr/>
        </p:nvCxnSpPr>
        <p:spPr>
          <a:xfrm flipH="1">
            <a:off x="6585337" y="1480066"/>
            <a:ext cx="313330" cy="894847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F7C3F58A-ABD9-49DD-BFBB-A12BA850458F}"/>
              </a:ext>
            </a:extLst>
          </p:cNvPr>
          <p:cNvSpPr/>
          <p:nvPr/>
        </p:nvSpPr>
        <p:spPr>
          <a:xfrm>
            <a:off x="4112828" y="2346493"/>
            <a:ext cx="4270391" cy="389878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A8A4BFF-B17C-459D-B3A7-0FDBA584CAF3}"/>
              </a:ext>
            </a:extLst>
          </p:cNvPr>
          <p:cNvCxnSpPr>
            <a:cxnSpLocks/>
          </p:cNvCxnSpPr>
          <p:nvPr/>
        </p:nvCxnSpPr>
        <p:spPr>
          <a:xfrm flipH="1">
            <a:off x="3565321" y="1480065"/>
            <a:ext cx="1754698" cy="123686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59DA199-32CE-4E7A-9960-35DAE703D3BD}"/>
              </a:ext>
            </a:extLst>
          </p:cNvPr>
          <p:cNvSpPr txBox="1"/>
          <p:nvPr/>
        </p:nvSpPr>
        <p:spPr>
          <a:xfrm flipH="1">
            <a:off x="5390086" y="5199762"/>
            <a:ext cx="22246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Alternate metadata schemas and APIs</a:t>
            </a:r>
          </a:p>
          <a:p>
            <a:r>
              <a:rPr lang="en-US" dirty="0"/>
              <a:t>APIs may not exist 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50CC60B-225D-4053-84ED-3EBE935EE5CD}"/>
              </a:ext>
            </a:extLst>
          </p:cNvPr>
          <p:cNvCxnSpPr>
            <a:cxnSpLocks/>
          </p:cNvCxnSpPr>
          <p:nvPr/>
        </p:nvCxnSpPr>
        <p:spPr>
          <a:xfrm flipH="1">
            <a:off x="7664060" y="1521595"/>
            <a:ext cx="2160847" cy="1309305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F5F32CF-E225-4F2B-8E6D-C552F6891365}"/>
              </a:ext>
            </a:extLst>
          </p:cNvPr>
          <p:cNvCxnSpPr>
            <a:cxnSpLocks/>
          </p:cNvCxnSpPr>
          <p:nvPr/>
        </p:nvCxnSpPr>
        <p:spPr>
          <a:xfrm flipH="1">
            <a:off x="3565321" y="1458921"/>
            <a:ext cx="6017808" cy="137941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5299633-5F5A-498F-B36B-2F3F9570D1B3}"/>
              </a:ext>
            </a:extLst>
          </p:cNvPr>
          <p:cNvCxnSpPr>
            <a:cxnSpLocks/>
          </p:cNvCxnSpPr>
          <p:nvPr/>
        </p:nvCxnSpPr>
        <p:spPr>
          <a:xfrm>
            <a:off x="8279288" y="1458921"/>
            <a:ext cx="1163314" cy="2381434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A1A357C3-59B8-4295-BC70-CFF9AC6A4EEC}"/>
              </a:ext>
            </a:extLst>
          </p:cNvPr>
          <p:cNvSpPr txBox="1"/>
          <p:nvPr/>
        </p:nvSpPr>
        <p:spPr>
          <a:xfrm flipH="1">
            <a:off x="8529613" y="3930724"/>
            <a:ext cx="3571509" cy="52322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Common File Formats (FASTA, SRA, FASTQ)</a:t>
            </a:r>
          </a:p>
          <a:p>
            <a:r>
              <a:rPr lang="en-US" sz="1400" b="1" dirty="0" err="1">
                <a:solidFill>
                  <a:schemeClr val="bg1"/>
                </a:solidFill>
              </a:rPr>
              <a:t>Preindexed</a:t>
            </a:r>
            <a:r>
              <a:rPr lang="en-US" sz="1400" b="1" dirty="0">
                <a:solidFill>
                  <a:schemeClr val="bg1"/>
                </a:solidFill>
              </a:rPr>
              <a:t> Genomes (</a:t>
            </a:r>
            <a:r>
              <a:rPr lang="en-US" sz="1400" b="1" dirty="0" err="1">
                <a:solidFill>
                  <a:schemeClr val="bg1"/>
                </a:solidFill>
              </a:rPr>
              <a:t>Pynome</a:t>
            </a:r>
            <a:r>
              <a:rPr lang="en-US" sz="1400" b="1" dirty="0">
                <a:solidFill>
                  <a:schemeClr val="bg1"/>
                </a:solidFill>
              </a:rPr>
              <a:t>)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72DDC9F-5AE9-40E5-982D-6114295E1A0E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7142509" y="980556"/>
            <a:ext cx="1136779" cy="1339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68E3A813-F8DD-424E-9588-3C4DF7CFAA09}"/>
              </a:ext>
            </a:extLst>
          </p:cNvPr>
          <p:cNvSpPr txBox="1"/>
          <p:nvPr/>
        </p:nvSpPr>
        <p:spPr>
          <a:xfrm>
            <a:off x="8254351" y="802672"/>
            <a:ext cx="1624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highlight>
                  <a:srgbClr val="00FF00"/>
                </a:highlight>
              </a:rPr>
              <a:t>NDN:::Caching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9F90593-BBA1-431E-B630-87B787C9A72A}"/>
              </a:ext>
            </a:extLst>
          </p:cNvPr>
          <p:cNvSpPr txBox="1"/>
          <p:nvPr/>
        </p:nvSpPr>
        <p:spPr>
          <a:xfrm>
            <a:off x="7345311" y="4861996"/>
            <a:ext cx="42703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00FF00"/>
                </a:highlight>
              </a:rPr>
              <a:t>NDN:::Data Access from Heterogenous Data Sources is Abstracted from the Consumer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699BB1-2EDF-47F5-8596-63C5E6D4FFEB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46402" t="17695" r="12385" b="52415"/>
          <a:stretch/>
        </p:blipFill>
        <p:spPr>
          <a:xfrm>
            <a:off x="9383109" y="5581867"/>
            <a:ext cx="2653387" cy="10824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4D33318-DB2B-4FCE-952A-2735EE72CBFC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46789" t="16391" r="5046" b="5199"/>
          <a:stretch/>
        </p:blipFill>
        <p:spPr>
          <a:xfrm>
            <a:off x="9824907" y="1580627"/>
            <a:ext cx="2307752" cy="211324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1CFA069-70B6-4B82-95C6-E5F8A803AB4E}"/>
              </a:ext>
            </a:extLst>
          </p:cNvPr>
          <p:cNvSpPr txBox="1"/>
          <p:nvPr/>
        </p:nvSpPr>
        <p:spPr>
          <a:xfrm>
            <a:off x="10404783" y="5595092"/>
            <a:ext cx="756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highlight>
                  <a:srgbClr val="FFFF00"/>
                </a:highlight>
              </a:rPr>
              <a:t>In review</a:t>
            </a:r>
          </a:p>
        </p:txBody>
      </p:sp>
    </p:spTree>
    <p:extLst>
      <p:ext uri="{BB962C8B-B14F-4D97-AF65-F5344CB8AC3E}">
        <p14:creationId xmlns:p14="http://schemas.microsoft.com/office/powerpoint/2010/main" val="3079565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632AF9-A143-4719-80B8-B5B1354A1852}"/>
              </a:ext>
            </a:extLst>
          </p:cNvPr>
          <p:cNvSpPr/>
          <p:nvPr/>
        </p:nvSpPr>
        <p:spPr>
          <a:xfrm>
            <a:off x="2743200" y="110013"/>
            <a:ext cx="9144000" cy="55637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glow rad="101600">
              <a:srgbClr val="002060">
                <a:alpha val="6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Genomics Data is Organized by Evolution and Measurement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405B22-FED9-4659-9251-CAB84851E9D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688" t="8440" r="28784" b="25137"/>
          <a:stretch/>
        </p:blipFill>
        <p:spPr>
          <a:xfrm>
            <a:off x="2743200" y="829823"/>
            <a:ext cx="3862865" cy="2599177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881EDB02-359B-4E10-B2C6-4E9A2B0289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7713" y="3533779"/>
            <a:ext cx="3255683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Armadillo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cellular organisms;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Eukaryota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Opisthokonta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Metazoa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Eumetazoa; Bilateria; Deuterostomia; Chordata;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Craniata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Vertebrata; Gnathostomata;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Teleostomi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Euteleostomi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Sarcopterygii;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Dipnotetrapodomorpha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Tetrapoda;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Amniota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Mammalia; Theria;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Eutheria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Xenarthra;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Cingulata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Dasypodidae;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Dasypus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Dasypus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novemcinctus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sng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Human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cellular organisms;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Eukaryota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Opisthokonta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Metazoa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Eumetazoa; Bilateria; Deuterostomia; Chordata;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Craniata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Vertebrata; Gnathostomata;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Teleostomi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Euteleostomi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Sarcopterygii;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Dipnotetrapodomorpha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Tetrapoda;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Amniota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Mammalia; Theria;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Eutheria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030A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Boreoeutheria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030A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Euarchontoglires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Primates;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030A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Haplorrhini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030A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Simiiformes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030A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Catarrhini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030A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Hominoidea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Hominidae;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030A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Homininae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Homo sapiens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1" name="Picture 3">
            <a:extLst>
              <a:ext uri="{FF2B5EF4-FFF2-40B4-BE49-F238E27FC236}">
                <a16:creationId xmlns:a16="http://schemas.microsoft.com/office/drawing/2014/main" id="{98A3087A-DFF9-4B6A-93B6-806FCEA06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765" b="36559"/>
          <a:stretch>
            <a:fillRect/>
          </a:stretch>
        </p:blipFill>
        <p:spPr bwMode="auto">
          <a:xfrm>
            <a:off x="8094556" y="3791203"/>
            <a:ext cx="2295068" cy="1769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7B62268-F581-4B19-9F4C-15ADDC2BE009}"/>
              </a:ext>
            </a:extLst>
          </p:cNvPr>
          <p:cNvSpPr txBox="1"/>
          <p:nvPr/>
        </p:nvSpPr>
        <p:spPr>
          <a:xfrm>
            <a:off x="7644758" y="5740026"/>
            <a:ext cx="375471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u="sng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MA O'Leary et al.  The Placental Mammal Ancestor and the Post–K-Pg Radiation of Placentals. 2013 Vol. 339 no. 6120 pp. 662-667</a:t>
            </a: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). </a:t>
            </a:r>
            <a:endParaRPr lang="en-US" sz="1100" dirty="0"/>
          </a:p>
        </p:txBody>
      </p:sp>
      <p:pic>
        <p:nvPicPr>
          <p:cNvPr id="5125" name="Picture 5">
            <a:extLst>
              <a:ext uri="{FF2B5EF4-FFF2-40B4-BE49-F238E27FC236}">
                <a16:creationId xmlns:a16="http://schemas.microsoft.com/office/drawing/2014/main" id="{5CABBC2E-1832-4616-BDE3-3C78A5218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4949" y="1296994"/>
            <a:ext cx="2316562" cy="1397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EB6BE69-D02C-4EC5-8036-DCA0BEE4782B}"/>
              </a:ext>
            </a:extLst>
          </p:cNvPr>
          <p:cNvSpPr txBox="1"/>
          <p:nvPr/>
        </p:nvSpPr>
        <p:spPr>
          <a:xfrm>
            <a:off x="9264949" y="1021217"/>
            <a:ext cx="243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dirty="0"/>
              <a:t>By http://www.birdphotos.com - Own work, CC BY 3.0, https://commons.wikimedia.org/w/index.php?curid=4325104</a:t>
            </a:r>
          </a:p>
        </p:txBody>
      </p:sp>
      <p:pic>
        <p:nvPicPr>
          <p:cNvPr id="12" name="Picture 2" descr="Image result for rosalind franklin">
            <a:extLst>
              <a:ext uri="{FF2B5EF4-FFF2-40B4-BE49-F238E27FC236}">
                <a16:creationId xmlns:a16="http://schemas.microsoft.com/office/drawing/2014/main" id="{1A3F7B5E-F9E6-4124-9A87-3447C411AC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419" y="1356234"/>
            <a:ext cx="1400149" cy="1325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326759A-89C4-491C-A4AB-854DFB775090}"/>
              </a:ext>
            </a:extLst>
          </p:cNvPr>
          <p:cNvCxnSpPr>
            <a:cxnSpLocks/>
            <a:stCxn id="5121" idx="0"/>
          </p:cNvCxnSpPr>
          <p:nvPr/>
        </p:nvCxnSpPr>
        <p:spPr>
          <a:xfrm flipH="1" flipV="1">
            <a:off x="8727597" y="2702567"/>
            <a:ext cx="514493" cy="10886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BE1D581-8708-4F7B-A458-D58069075EB5}"/>
              </a:ext>
            </a:extLst>
          </p:cNvPr>
          <p:cNvCxnSpPr>
            <a:cxnSpLocks/>
            <a:stCxn id="5121" idx="0"/>
          </p:cNvCxnSpPr>
          <p:nvPr/>
        </p:nvCxnSpPr>
        <p:spPr>
          <a:xfrm flipV="1">
            <a:off x="9242090" y="2681316"/>
            <a:ext cx="211885" cy="11098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41C4EA7-580B-4195-A3C9-E6BD115D8C31}"/>
              </a:ext>
            </a:extLst>
          </p:cNvPr>
          <p:cNvSpPr txBox="1"/>
          <p:nvPr/>
        </p:nvSpPr>
        <p:spPr>
          <a:xfrm>
            <a:off x="9230659" y="3176547"/>
            <a:ext cx="1782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60,000,000 years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AF121EE-E514-4D45-A0BF-F2583A69BB8A}"/>
              </a:ext>
            </a:extLst>
          </p:cNvPr>
          <p:cNvSpPr txBox="1"/>
          <p:nvPr/>
        </p:nvSpPr>
        <p:spPr>
          <a:xfrm>
            <a:off x="2759677" y="6623990"/>
            <a:ext cx="25217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Source: NCBI Taxonomy Browser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ADA398-C9CF-4B0C-88B7-866B35165183}"/>
              </a:ext>
            </a:extLst>
          </p:cNvPr>
          <p:cNvSpPr txBox="1"/>
          <p:nvPr/>
        </p:nvSpPr>
        <p:spPr>
          <a:xfrm>
            <a:off x="9375796" y="2764196"/>
            <a:ext cx="12038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Xenarthra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7A6CDE-351E-45B8-BAEB-02562317021E}"/>
              </a:ext>
            </a:extLst>
          </p:cNvPr>
          <p:cNvSpPr txBox="1"/>
          <p:nvPr/>
        </p:nvSpPr>
        <p:spPr>
          <a:xfrm>
            <a:off x="7390071" y="2764196"/>
            <a:ext cx="15374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7030A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Boreoeutheria</a:t>
            </a:r>
            <a:endParaRPr lang="en-US" dirty="0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6D8FFC4F-3A56-470B-AA38-F7698B589FC2}"/>
              </a:ext>
            </a:extLst>
          </p:cNvPr>
          <p:cNvSpPr/>
          <p:nvPr/>
        </p:nvSpPr>
        <p:spPr>
          <a:xfrm>
            <a:off x="9207800" y="2724335"/>
            <a:ext cx="45719" cy="1097092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376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675E726-E4F5-456F-9D76-ABFD5427C3DA}"/>
              </a:ext>
            </a:extLst>
          </p:cNvPr>
          <p:cNvSpPr/>
          <p:nvPr/>
        </p:nvSpPr>
        <p:spPr>
          <a:xfrm>
            <a:off x="2743200" y="110013"/>
            <a:ext cx="9144000" cy="55637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glow rad="101600">
              <a:srgbClr val="002060">
                <a:alpha val="6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Named Genomics Datasets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1B4601-AB11-4A38-93EC-DE898628289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019" t="45260" r="1949" b="27951"/>
          <a:stretch/>
        </p:blipFill>
        <p:spPr>
          <a:xfrm>
            <a:off x="2667700" y="973135"/>
            <a:ext cx="7545896" cy="22281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00D6570-30EB-48FB-A81A-DBF663762E9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6402" t="17695" r="12385" b="52415"/>
          <a:stretch/>
        </p:blipFill>
        <p:spPr>
          <a:xfrm>
            <a:off x="6991164" y="4443264"/>
            <a:ext cx="5024665" cy="20498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019D528-5222-4FEC-BD10-529BC47425B4}"/>
              </a:ext>
            </a:extLst>
          </p:cNvPr>
          <p:cNvSpPr txBox="1"/>
          <p:nvPr/>
        </p:nvSpPr>
        <p:spPr>
          <a:xfrm>
            <a:off x="8821896" y="4932835"/>
            <a:ext cx="1088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In Review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FFAF58-D667-4E40-94DE-99D88DDDF01A}"/>
              </a:ext>
            </a:extLst>
          </p:cNvPr>
          <p:cNvSpPr txBox="1"/>
          <p:nvPr/>
        </p:nvSpPr>
        <p:spPr>
          <a:xfrm>
            <a:off x="2596391" y="3615303"/>
            <a:ext cx="941943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/BIOLOGY/SRA/9605/9606/</a:t>
            </a:r>
            <a:r>
              <a:rPr lang="en-US" dirty="0" err="1"/>
              <a:t>NaN</a:t>
            </a:r>
            <a:r>
              <a:rPr lang="en-US" dirty="0"/>
              <a:t>/RNA-Seq/ILLUMINA/TRANSCRIPTOMIC/PAIRED/Kidney/PRJNA359795/SRP095950/SRX2458154/SRR5139398/1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17AF2A-72CB-4949-B18D-4B83C4B2D340}"/>
              </a:ext>
            </a:extLst>
          </p:cNvPr>
          <p:cNvSpPr txBox="1"/>
          <p:nvPr/>
        </p:nvSpPr>
        <p:spPr>
          <a:xfrm>
            <a:off x="2667700" y="666383"/>
            <a:ext cx="2287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REFERENCE GENOMES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FEC817-BFA2-4B1A-A51A-72468F7CBA71}"/>
              </a:ext>
            </a:extLst>
          </p:cNvPr>
          <p:cNvSpPr txBox="1"/>
          <p:nvPr/>
        </p:nvSpPr>
        <p:spPr>
          <a:xfrm>
            <a:off x="2596392" y="3268295"/>
            <a:ext cx="2506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RNA Expression Datasets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DAD954-B704-4ECF-9A94-AC90BFB6D58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6720" t="18889" r="5321" b="6544"/>
          <a:stretch/>
        </p:blipFill>
        <p:spPr>
          <a:xfrm>
            <a:off x="3811282" y="4435623"/>
            <a:ext cx="2470284" cy="216046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076463D-3DDA-4BA8-ADB8-1C07404AFDBA}"/>
              </a:ext>
            </a:extLst>
          </p:cNvPr>
          <p:cNvSpPr txBox="1"/>
          <p:nvPr/>
        </p:nvSpPr>
        <p:spPr>
          <a:xfrm>
            <a:off x="5203972" y="721496"/>
            <a:ext cx="4510480" cy="369332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dirty="0"/>
              <a:t>https://github.com/SystemsGenetics/pynome</a:t>
            </a:r>
          </a:p>
        </p:txBody>
      </p:sp>
    </p:spTree>
    <p:extLst>
      <p:ext uri="{BB962C8B-B14F-4D97-AF65-F5344CB8AC3E}">
        <p14:creationId xmlns:p14="http://schemas.microsoft.com/office/powerpoint/2010/main" val="27329328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675E726-E4F5-456F-9D76-ABFD5427C3DA}"/>
              </a:ext>
            </a:extLst>
          </p:cNvPr>
          <p:cNvSpPr/>
          <p:nvPr/>
        </p:nvSpPr>
        <p:spPr>
          <a:xfrm>
            <a:off x="2743200" y="110013"/>
            <a:ext cx="9144000" cy="55637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glow rad="101600">
              <a:srgbClr val="002060">
                <a:alpha val="6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Datasets We Are Moving into NDN Testbed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E3252C-4140-40A5-AFBF-1F75D99F45E6}"/>
              </a:ext>
            </a:extLst>
          </p:cNvPr>
          <p:cNvSpPr txBox="1"/>
          <p:nvPr/>
        </p:nvSpPr>
        <p:spPr>
          <a:xfrm>
            <a:off x="2898395" y="961541"/>
            <a:ext cx="9143999" cy="48156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NCBI-SRA-</a:t>
            </a:r>
            <a:r>
              <a:rPr lang="en-US" sz="1600" dirty="0" err="1">
                <a:solidFill>
                  <a:srgbClr val="000000"/>
                </a:solidFill>
                <a:effectLst/>
                <a:highlight>
                  <a:srgbClr val="00FF00"/>
                </a:highligh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Animal_Example</a:t>
            </a:r>
            <a:r>
              <a:rPr lang="en-US" sz="1600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:(0.16 TB; 36X2 SRA Samples; Human kidney): </a:t>
            </a:r>
            <a:r>
              <a:rPr lang="en-US" sz="1600" dirty="0">
                <a:solidFill>
                  <a:srgbClr val="1155CC"/>
                </a:solidFill>
                <a:effectLst/>
                <a:highlight>
                  <a:srgbClr val="00FF00"/>
                </a:highligh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https://www.ncbi.nlm.nih.gov/bioproject/359795</a:t>
            </a:r>
            <a:endParaRPr lang="en-US" sz="1600" dirty="0">
              <a:effectLst/>
              <a:highlight>
                <a:srgbClr val="00FF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i="1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Transcriptome sequencing (RNA-Seq) of non-tumor kidney tissues from 36 patients undergoing nephrectomy for exploring the metabolic mechanism of sorafenib and identifying the major transcriptional regulation factors in sorafenib metabolism in kidney</a:t>
            </a:r>
            <a:endParaRPr lang="en-US" sz="1600" dirty="0">
              <a:effectLst/>
              <a:highlight>
                <a:srgbClr val="00FF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NCBI-SRA-</a:t>
            </a:r>
            <a:r>
              <a:rPr lang="en-US" sz="1600" dirty="0" err="1">
                <a:solidFill>
                  <a:srgbClr val="000000"/>
                </a:solidFill>
                <a:effectLst/>
                <a:highlight>
                  <a:srgbClr val="00FF00"/>
                </a:highligh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Plant_Example</a:t>
            </a:r>
            <a:r>
              <a:rPr lang="en-US" sz="1600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(1.14 TB; 475X2 SRA Samples; Rice leaves):</a:t>
            </a:r>
            <a:endParaRPr lang="en-US" sz="1600" dirty="0">
              <a:effectLst/>
              <a:highlight>
                <a:srgbClr val="00FF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i="1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Rice gene expression in heat stress and dehydration stress - time series</a:t>
            </a:r>
            <a:endParaRPr lang="en-US" sz="1600" dirty="0">
              <a:effectLst/>
              <a:highlight>
                <a:srgbClr val="00FF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1155CC"/>
                </a:solidFill>
                <a:effectLst/>
                <a:highlight>
                  <a:srgbClr val="00FF00"/>
                </a:highligh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https://www.ncbi.nlm.nih.gov/bioproject/?term=PRJNA301554</a:t>
            </a:r>
            <a:endParaRPr lang="en-US" sz="1600" dirty="0">
              <a:effectLst/>
              <a:highlight>
                <a:srgbClr val="00FF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fontAlgn="base">
              <a:lnSpc>
                <a:spcPct val="107000"/>
              </a:lnSpc>
            </a:pPr>
            <a:r>
              <a:rPr lang="en-US" sz="1600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Indexed Ensembl Genomes (~1000)</a:t>
            </a:r>
            <a:endParaRPr lang="en-US" sz="1600" dirty="0">
              <a:effectLst/>
              <a:highlight>
                <a:srgbClr val="00FF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160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progress…</a:t>
            </a:r>
          </a:p>
          <a:p>
            <a:pPr fontAlgn="base">
              <a:lnSpc>
                <a:spcPct val="107000"/>
              </a:lnSpc>
            </a:pPr>
            <a:r>
              <a:rPr lang="en-US" sz="1600" dirty="0" err="1">
                <a:solidFill>
                  <a:srgbClr val="000000"/>
                </a:solidFill>
                <a:effectLst/>
                <a:highlight>
                  <a:srgbClr val="00FF00"/>
                </a:highligh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Pynome</a:t>
            </a:r>
            <a:r>
              <a:rPr lang="en-US" sz="1600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Indexed Ensembl Genomes (All of them)</a:t>
            </a:r>
            <a:endParaRPr lang="en-US" sz="1600" dirty="0">
              <a:effectLst/>
              <a:highlight>
                <a:srgbClr val="00FF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160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NASA-</a:t>
            </a:r>
            <a:r>
              <a:rPr lang="en-US" sz="16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GeneLab</a:t>
            </a:r>
            <a:r>
              <a:rPr lang="en-US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6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SpacePlants</a:t>
            </a:r>
            <a:r>
              <a:rPr lang="en-US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(ISS grown plants and ground based controls):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1155CC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https://www.ncbi.nlm.nih.gov/bioproject/?term=PRJNA301554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NCBI SRA-Primates-Triggered (40.5 PB; 6,258,789 experiments; 661,303 species)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NASA-</a:t>
            </a:r>
            <a:r>
              <a:rPr lang="en-US" sz="16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Genelab</a:t>
            </a:r>
            <a:r>
              <a:rPr lang="en-US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Space Genomics Datasets (All)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160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6674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E167AD-1733-4D89-8D77-EA6E480C5256}"/>
              </a:ext>
            </a:extLst>
          </p:cNvPr>
          <p:cNvSpPr/>
          <p:nvPr/>
        </p:nvSpPr>
        <p:spPr>
          <a:xfrm>
            <a:off x="2743200" y="110013"/>
            <a:ext cx="9144000" cy="55637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glow rad="101600">
              <a:srgbClr val="002060">
                <a:alpha val="6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Workflow-NDN Testbed Interaction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25E795-F001-4CD2-BD29-929761BE53B6}"/>
              </a:ext>
            </a:extLst>
          </p:cNvPr>
          <p:cNvSpPr txBox="1"/>
          <p:nvPr/>
        </p:nvSpPr>
        <p:spPr>
          <a:xfrm>
            <a:off x="2743200" y="4913056"/>
            <a:ext cx="60987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ndncatchunks</a:t>
            </a:r>
            <a:r>
              <a:rPr lang="en-US" dirty="0"/>
              <a:t> -v -T -D /BIOLOGY/SRA/9605/9606/</a:t>
            </a:r>
            <a:r>
              <a:rPr lang="en-US" dirty="0" err="1"/>
              <a:t>NaN</a:t>
            </a:r>
            <a:r>
              <a:rPr lang="en-US" dirty="0"/>
              <a:t>/RNA-Seq/ILLUMINA/TRANSCRIPTOMIC/PAIRED/Kidney/PRJNA359795/SRP095950/SRX2458154/SRR5139398/1 &gt; SRR5139398_1.fastq.gz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1F0981-1835-43EF-B7BE-1A072B754517}"/>
              </a:ext>
            </a:extLst>
          </p:cNvPr>
          <p:cNvSpPr txBox="1"/>
          <p:nvPr/>
        </p:nvSpPr>
        <p:spPr>
          <a:xfrm>
            <a:off x="2743200" y="4607445"/>
            <a:ext cx="6098796" cy="36933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Pull Data from NDN Test Bed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561224-7B98-4720-A05B-F556931A5D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2729" t="39633" r="13027" b="14373"/>
          <a:stretch/>
        </p:blipFill>
        <p:spPr>
          <a:xfrm>
            <a:off x="2743200" y="1235340"/>
            <a:ext cx="5394121" cy="31542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305CFFB-8152-4B9E-9B69-8C97414454F5}"/>
              </a:ext>
            </a:extLst>
          </p:cNvPr>
          <p:cNvSpPr txBox="1"/>
          <p:nvPr/>
        </p:nvSpPr>
        <p:spPr>
          <a:xfrm>
            <a:off x="2743200" y="866008"/>
            <a:ext cx="6098796" cy="36933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Publish Data to NDN Test Bed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01D971-1895-4675-9DEF-F5F7F3B92E17}"/>
              </a:ext>
            </a:extLst>
          </p:cNvPr>
          <p:cNvSpPr txBox="1"/>
          <p:nvPr/>
        </p:nvSpPr>
        <p:spPr>
          <a:xfrm>
            <a:off x="8958394" y="725049"/>
            <a:ext cx="2107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NDN Tech Report 68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1B3FF525-997B-48F3-A082-C86DA9C66740}"/>
              </a:ext>
            </a:extLst>
          </p:cNvPr>
          <p:cNvSpPr/>
          <p:nvPr/>
        </p:nvSpPr>
        <p:spPr>
          <a:xfrm rot="10800000">
            <a:off x="9448800" y="1104174"/>
            <a:ext cx="1044428" cy="45811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FFE161C-0CFA-4127-9FA7-AA90EBC51B12}"/>
              </a:ext>
            </a:extLst>
          </p:cNvPr>
          <p:cNvGrpSpPr/>
          <p:nvPr/>
        </p:nvGrpSpPr>
        <p:grpSpPr>
          <a:xfrm>
            <a:off x="9255153" y="2350764"/>
            <a:ext cx="2741710" cy="2769990"/>
            <a:chOff x="136033" y="2398202"/>
            <a:chExt cx="2741710" cy="276999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E1D0A67-E478-4179-B670-5AF3D22F88C5}"/>
                </a:ext>
              </a:extLst>
            </p:cNvPr>
            <p:cNvSpPr txBox="1"/>
            <p:nvPr/>
          </p:nvSpPr>
          <p:spPr>
            <a:xfrm>
              <a:off x="136033" y="2398202"/>
              <a:ext cx="2737121" cy="307777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</a:rPr>
                <a:t>K8s Data Transfer Pod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ABDB053-53FA-4015-87EB-F79407BD885F}"/>
                </a:ext>
              </a:extLst>
            </p:cNvPr>
            <p:cNvSpPr txBox="1"/>
            <p:nvPr/>
          </p:nvSpPr>
          <p:spPr>
            <a:xfrm>
              <a:off x="140622" y="2705979"/>
              <a:ext cx="2737121" cy="246221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l">
                <a:buFont typeface="Arial" panose="020B0604020202020204" pitchFamily="34" charset="0"/>
                <a:buChar char="•"/>
              </a:pPr>
              <a:r>
                <a:rPr lang="en-US" sz="1400" b="0" i="0" dirty="0">
                  <a:solidFill>
                    <a:srgbClr val="24292E"/>
                  </a:solidFill>
                  <a:effectLst/>
                  <a:latin typeface="-apple-system"/>
                </a:rPr>
                <a:t>Google Cloud Products</a:t>
              </a:r>
            </a:p>
            <a:p>
              <a:pPr algn="l">
                <a:buFont typeface="Arial" panose="020B0604020202020204" pitchFamily="34" charset="0"/>
                <a:buChar char="•"/>
              </a:pPr>
              <a:r>
                <a:rPr lang="en-US" sz="1400" b="0" i="0" dirty="0">
                  <a:solidFill>
                    <a:srgbClr val="24292E"/>
                  </a:solidFill>
                  <a:effectLst/>
                  <a:latin typeface="-apple-system"/>
                </a:rPr>
                <a:t>Globus Connect Personal</a:t>
              </a:r>
            </a:p>
            <a:p>
              <a:pPr algn="l">
                <a:buFont typeface="Arial" panose="020B0604020202020204" pitchFamily="34" charset="0"/>
                <a:buChar char="•"/>
              </a:pPr>
              <a:r>
                <a:rPr lang="en-US" sz="1400" b="0" i="0" dirty="0" err="1">
                  <a:solidFill>
                    <a:srgbClr val="24292E"/>
                  </a:solidFill>
                  <a:effectLst/>
                  <a:latin typeface="-apple-system"/>
                </a:rPr>
                <a:t>iRODS</a:t>
              </a:r>
              <a:endParaRPr lang="en-US" sz="1400" b="0" i="0" dirty="0">
                <a:solidFill>
                  <a:srgbClr val="24292E"/>
                </a:solidFill>
                <a:effectLst/>
                <a:latin typeface="-apple-system"/>
              </a:endParaRPr>
            </a:p>
            <a:p>
              <a:pPr algn="l">
                <a:buFont typeface="Arial" panose="020B0604020202020204" pitchFamily="34" charset="0"/>
                <a:buChar char="•"/>
              </a:pPr>
              <a:r>
                <a:rPr lang="en-US" sz="1400" b="0" i="0" dirty="0">
                  <a:solidFill>
                    <a:srgbClr val="24292E"/>
                  </a:solidFill>
                  <a:effectLst/>
                  <a:latin typeface="-apple-system"/>
                </a:rPr>
                <a:t>Name-Defined Networking(NDN)</a:t>
              </a:r>
            </a:p>
            <a:p>
              <a:pPr algn="l">
                <a:buFont typeface="Arial" panose="020B0604020202020204" pitchFamily="34" charset="0"/>
                <a:buChar char="•"/>
              </a:pPr>
              <a:r>
                <a:rPr lang="en-US" sz="1400" b="0" i="0" dirty="0">
                  <a:solidFill>
                    <a:srgbClr val="24292E"/>
                  </a:solidFill>
                  <a:effectLst/>
                  <a:latin typeface="-apple-system"/>
                </a:rPr>
                <a:t>Hybrid Information-Centric Networking (</a:t>
              </a:r>
              <a:r>
                <a:rPr lang="en-US" sz="1400" b="0" i="0" dirty="0" err="1">
                  <a:solidFill>
                    <a:srgbClr val="24292E"/>
                  </a:solidFill>
                  <a:effectLst/>
                  <a:latin typeface="-apple-system"/>
                </a:rPr>
                <a:t>hICN</a:t>
              </a:r>
              <a:r>
                <a:rPr lang="en-US" sz="1400" b="0" i="0" dirty="0">
                  <a:solidFill>
                    <a:srgbClr val="24292E"/>
                  </a:solidFill>
                  <a:effectLst/>
                  <a:latin typeface="-apple-system"/>
                </a:rPr>
                <a:t>)</a:t>
              </a:r>
            </a:p>
            <a:p>
              <a:pPr algn="l">
                <a:buFont typeface="Arial" panose="020B0604020202020204" pitchFamily="34" charset="0"/>
                <a:buChar char="•"/>
              </a:pPr>
              <a:r>
                <a:rPr lang="en-US" sz="1400" b="0" i="0" dirty="0">
                  <a:solidFill>
                    <a:srgbClr val="24292E"/>
                  </a:solidFill>
                  <a:effectLst/>
                  <a:latin typeface="-apple-system"/>
                </a:rPr>
                <a:t>Aspera</a:t>
              </a:r>
            </a:p>
            <a:p>
              <a:pPr algn="l">
                <a:buFont typeface="Arial" panose="020B0604020202020204" pitchFamily="34" charset="0"/>
                <a:buChar char="•"/>
              </a:pPr>
              <a:r>
                <a:rPr lang="en-US" sz="1400" b="0" i="0" dirty="0">
                  <a:solidFill>
                    <a:srgbClr val="24292E"/>
                  </a:solidFill>
                  <a:effectLst/>
                  <a:latin typeface="-apple-system"/>
                </a:rPr>
                <a:t>Amazon Web Services</a:t>
              </a:r>
            </a:p>
            <a:p>
              <a:pPr algn="l">
                <a:buFont typeface="Arial" panose="020B0604020202020204" pitchFamily="34" charset="0"/>
                <a:buChar char="•"/>
              </a:pPr>
              <a:r>
                <a:rPr lang="en-US" sz="1400" b="0" i="0" dirty="0" err="1">
                  <a:solidFill>
                    <a:srgbClr val="24292E"/>
                  </a:solidFill>
                  <a:effectLst/>
                  <a:latin typeface="-apple-system"/>
                </a:rPr>
                <a:t>MinIO</a:t>
              </a:r>
              <a:endParaRPr lang="en-US" sz="1400" b="0" i="0" dirty="0">
                <a:solidFill>
                  <a:srgbClr val="24292E"/>
                </a:solidFill>
                <a:effectLst/>
                <a:latin typeface="-apple-system"/>
              </a:endParaRPr>
            </a:p>
            <a:p>
              <a:pPr algn="l">
                <a:buFont typeface="Arial" panose="020B0604020202020204" pitchFamily="34" charset="0"/>
                <a:buChar char="•"/>
              </a:pPr>
              <a:r>
                <a:rPr lang="en-US" sz="1400" b="0" i="0" dirty="0">
                  <a:solidFill>
                    <a:srgbClr val="24292E"/>
                  </a:solidFill>
                  <a:effectLst/>
                  <a:latin typeface="-apple-system"/>
                </a:rPr>
                <a:t>SRA Toolkit(NCBI)</a:t>
              </a:r>
            </a:p>
            <a:p>
              <a:pPr algn="l">
                <a:buFont typeface="Arial" panose="020B0604020202020204" pitchFamily="34" charset="0"/>
                <a:buChar char="•"/>
              </a:pPr>
              <a:r>
                <a:rPr lang="en-US" sz="1400" b="0" i="0" dirty="0">
                  <a:solidFill>
                    <a:srgbClr val="24292E"/>
                  </a:solidFill>
                  <a:effectLst/>
                  <a:latin typeface="-apple-system"/>
                </a:rPr>
                <a:t>Local transfers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08277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632AF9-A143-4719-80B8-B5B1354A1852}"/>
              </a:ext>
            </a:extLst>
          </p:cNvPr>
          <p:cNvSpPr/>
          <p:nvPr/>
        </p:nvSpPr>
        <p:spPr>
          <a:xfrm>
            <a:off x="2743200" y="110013"/>
            <a:ext cx="9144000" cy="55637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glow rad="101600">
              <a:srgbClr val="002060">
                <a:alpha val="6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Acknowledgements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47FA229-FC89-46E6-BB38-B3BC358D93AE}"/>
              </a:ext>
            </a:extLst>
          </p:cNvPr>
          <p:cNvSpPr txBox="1">
            <a:spLocks/>
          </p:cNvSpPr>
          <p:nvPr/>
        </p:nvSpPr>
        <p:spPr>
          <a:xfrm>
            <a:off x="2914102" y="714188"/>
            <a:ext cx="2099288" cy="516019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46292" tIns="23146" rIns="46292" bIns="23146" rtlCol="0">
            <a:noAutofit/>
          </a:bodyPr>
          <a:lstStyle/>
          <a:p>
            <a:pPr defTabSz="462915">
              <a:spcBef>
                <a:spcPct val="20000"/>
              </a:spcBef>
              <a:defRPr/>
            </a:pPr>
            <a:r>
              <a:rPr lang="en-US" sz="1100" b="1" u="sng" dirty="0">
                <a:solidFill>
                  <a:schemeClr val="tx1"/>
                </a:solidFill>
              </a:rPr>
              <a:t>Feltus Lab</a:t>
            </a:r>
          </a:p>
          <a:p>
            <a:r>
              <a:rPr lang="en-US" sz="1100" dirty="0">
                <a:solidFill>
                  <a:schemeClr val="tx1"/>
                </a:solidFill>
              </a:rPr>
              <a:t>Yuqing Hang (&lt;PhD, G&amp;B)</a:t>
            </a:r>
          </a:p>
          <a:p>
            <a:r>
              <a:rPr lang="en-US" sz="1100" dirty="0">
                <a:solidFill>
                  <a:schemeClr val="tx1"/>
                </a:solidFill>
              </a:rPr>
              <a:t>Allison Hickman (&lt;PhD, G&amp;B)</a:t>
            </a:r>
          </a:p>
          <a:p>
            <a:r>
              <a:rPr lang="en-US" sz="1100" dirty="0"/>
              <a:t>Ben Shealy </a:t>
            </a:r>
            <a:r>
              <a:rPr lang="en-US" sz="1100" dirty="0">
                <a:solidFill>
                  <a:schemeClr val="tx1"/>
                </a:solidFill>
              </a:rPr>
              <a:t>(&lt;PhD, </a:t>
            </a:r>
            <a:r>
              <a:rPr lang="en-US" sz="1100" dirty="0"/>
              <a:t>ECE)</a:t>
            </a:r>
          </a:p>
          <a:p>
            <a:r>
              <a:rPr lang="en-US" sz="1100" dirty="0">
                <a:solidFill>
                  <a:schemeClr val="tx1"/>
                </a:solidFill>
              </a:rPr>
              <a:t>Yueyao Gao (&lt;PhD, G&amp;B)</a:t>
            </a:r>
          </a:p>
          <a:p>
            <a:r>
              <a:rPr lang="en-US" sz="1100" dirty="0">
                <a:solidFill>
                  <a:schemeClr val="tx1"/>
                </a:solidFill>
              </a:rPr>
              <a:t>Rini Pauly (&lt;PhD, G&amp;B)</a:t>
            </a:r>
          </a:p>
          <a:p>
            <a:r>
              <a:rPr lang="en-US" sz="1100" dirty="0">
                <a:solidFill>
                  <a:schemeClr val="tx1"/>
                </a:solidFill>
              </a:rPr>
              <a:t>Cole McKnight (Cloud Architect)</a:t>
            </a:r>
          </a:p>
          <a:p>
            <a:r>
              <a:rPr lang="en-US" sz="1100" dirty="0">
                <a:solidFill>
                  <a:schemeClr val="tx1"/>
                </a:solidFill>
              </a:rPr>
              <a:t>Reed Bender (&lt;MSc, </a:t>
            </a:r>
            <a:r>
              <a:rPr lang="en-US" sz="1100" dirty="0" err="1">
                <a:solidFill>
                  <a:schemeClr val="tx1"/>
                </a:solidFill>
              </a:rPr>
              <a:t>BioE</a:t>
            </a:r>
            <a:r>
              <a:rPr lang="en-US" sz="1100" dirty="0">
                <a:solidFill>
                  <a:schemeClr val="tx1"/>
                </a:solidFill>
              </a:rPr>
              <a:t>)</a:t>
            </a:r>
          </a:p>
          <a:p>
            <a:r>
              <a:rPr lang="en-US" sz="1100" dirty="0">
                <a:solidFill>
                  <a:schemeClr val="tx1"/>
                </a:solidFill>
              </a:rPr>
              <a:t>Cameron Ogle (BSc, CS)</a:t>
            </a:r>
          </a:p>
          <a:p>
            <a:r>
              <a:rPr lang="en-US" sz="1100" dirty="0">
                <a:solidFill>
                  <a:schemeClr val="tx1"/>
                </a:solidFill>
              </a:rPr>
              <a:t>Ethan Bensman (&lt;BSc, G&amp;B)</a:t>
            </a:r>
          </a:p>
          <a:p>
            <a:r>
              <a:rPr lang="en-US" sz="1100" dirty="0">
                <a:solidFill>
                  <a:schemeClr val="tx1"/>
                </a:solidFill>
              </a:rPr>
              <a:t>Kaitlyn Gmitro (&lt;BSc, G&amp;B)</a:t>
            </a:r>
          </a:p>
          <a:p>
            <a:r>
              <a:rPr lang="en-US" sz="1100" dirty="0">
                <a:solidFill>
                  <a:schemeClr val="tx1"/>
                </a:solidFill>
              </a:rPr>
              <a:t>Meghan Mobley (&lt;BSc, G&amp;B)</a:t>
            </a:r>
          </a:p>
          <a:p>
            <a:r>
              <a:rPr lang="en-US" sz="1100" dirty="0">
                <a:solidFill>
                  <a:schemeClr val="tx1"/>
                </a:solidFill>
              </a:rPr>
              <a:t>Brad Selee (&lt;BSc, ECE)</a:t>
            </a:r>
          </a:p>
          <a:p>
            <a:r>
              <a:rPr lang="en-US" sz="1100" dirty="0">
                <a:solidFill>
                  <a:schemeClr val="tx1"/>
                </a:solidFill>
              </a:rPr>
              <a:t>Nicole Nelligan (&lt;BSc, G&amp;B)</a:t>
            </a:r>
          </a:p>
          <a:p>
            <a:endParaRPr lang="en-US" sz="1100" i="1" u="sng" dirty="0">
              <a:solidFill>
                <a:schemeClr val="tx1"/>
              </a:solidFill>
            </a:endParaRPr>
          </a:p>
          <a:p>
            <a:r>
              <a:rPr lang="en-US" sz="1100" i="1" u="sng" dirty="0">
                <a:solidFill>
                  <a:schemeClr val="tx1"/>
                </a:solidFill>
              </a:rPr>
              <a:t>Recent alumni</a:t>
            </a:r>
          </a:p>
          <a:p>
            <a:r>
              <a:rPr lang="en-US" sz="1100" i="1" dirty="0">
                <a:solidFill>
                  <a:schemeClr val="tx1"/>
                </a:solidFill>
              </a:rPr>
              <a:t>Benafsh Husain (PhD, BDSI)</a:t>
            </a:r>
          </a:p>
          <a:p>
            <a:r>
              <a:rPr lang="en-US" sz="1100" i="1" dirty="0">
                <a:solidFill>
                  <a:schemeClr val="tx1"/>
                </a:solidFill>
              </a:rPr>
              <a:t>Will Poehlman (PhD, G&amp;B)</a:t>
            </a:r>
          </a:p>
          <a:p>
            <a:r>
              <a:rPr lang="en-US" sz="1100" i="1" dirty="0">
                <a:solidFill>
                  <a:schemeClr val="tx1"/>
                </a:solidFill>
              </a:rPr>
              <a:t>Jordan Little (BSc, G&amp;B)</a:t>
            </a:r>
          </a:p>
          <a:p>
            <a:r>
              <a:rPr lang="en-US" sz="1100" i="1" dirty="0">
                <a:solidFill>
                  <a:schemeClr val="tx1"/>
                </a:solidFill>
              </a:rPr>
              <a:t>Rachel Eimen (</a:t>
            </a:r>
            <a:r>
              <a:rPr lang="en-US" sz="1100" i="1" dirty="0" err="1">
                <a:solidFill>
                  <a:schemeClr val="tx1"/>
                </a:solidFill>
              </a:rPr>
              <a:t>Bsc</a:t>
            </a:r>
            <a:r>
              <a:rPr lang="en-US" sz="1100" i="1" dirty="0">
                <a:solidFill>
                  <a:schemeClr val="tx1"/>
                </a:solidFill>
              </a:rPr>
              <a:t>, ECE)</a:t>
            </a:r>
          </a:p>
          <a:p>
            <a:r>
              <a:rPr lang="en-US" sz="1100" i="1" dirty="0">
                <a:solidFill>
                  <a:schemeClr val="tx1"/>
                </a:solidFill>
              </a:rPr>
              <a:t>Courtney Shearer (BSc, CS)</a:t>
            </a:r>
          </a:p>
          <a:p>
            <a:r>
              <a:rPr lang="en-US" sz="1100" i="1" dirty="0">
                <a:solidFill>
                  <a:schemeClr val="tx1"/>
                </a:solidFill>
              </a:rPr>
              <a:t>Melissa Judge (&lt;BSc, </a:t>
            </a:r>
            <a:r>
              <a:rPr lang="en-US" sz="1100" i="1" dirty="0" err="1">
                <a:solidFill>
                  <a:schemeClr val="tx1"/>
                </a:solidFill>
              </a:rPr>
              <a:t>BioE</a:t>
            </a:r>
            <a:r>
              <a:rPr lang="en-US" sz="1100" i="1" dirty="0">
                <a:solidFill>
                  <a:schemeClr val="tx1"/>
                </a:solidFill>
              </a:rPr>
              <a:t>)</a:t>
            </a:r>
          </a:p>
          <a:p>
            <a:r>
              <a:rPr lang="en-US" sz="1100" i="1" dirty="0"/>
              <a:t>Colin Targonski (MSc, </a:t>
            </a:r>
            <a:r>
              <a:rPr lang="en-US" sz="1100" i="1" dirty="0">
                <a:solidFill>
                  <a:schemeClr val="tx1"/>
                </a:solidFill>
              </a:rPr>
              <a:t>,</a:t>
            </a:r>
            <a:r>
              <a:rPr lang="en-US" sz="1100" i="1" dirty="0"/>
              <a:t> ECE)</a:t>
            </a:r>
            <a:endParaRPr lang="en-US" sz="1100" i="1" dirty="0">
              <a:solidFill>
                <a:schemeClr val="tx1"/>
              </a:solidFill>
            </a:endParaRPr>
          </a:p>
          <a:p>
            <a:r>
              <a:rPr lang="en-US" sz="1100" i="1" dirty="0">
                <a:solidFill>
                  <a:schemeClr val="tx1"/>
                </a:solidFill>
              </a:rPr>
              <a:t>Leland Dunwoodie (&lt;MD, G&amp;B)</a:t>
            </a:r>
          </a:p>
          <a:p>
            <a:r>
              <a:rPr lang="en-US" sz="1100" i="1" dirty="0">
                <a:solidFill>
                  <a:schemeClr val="tx1"/>
                </a:solidFill>
              </a:rPr>
              <a:t>Olivia Feltus (&lt;BSc, Intern)</a:t>
            </a:r>
          </a:p>
          <a:p>
            <a:r>
              <a:rPr lang="en-US" sz="1100" i="1" dirty="0">
                <a:solidFill>
                  <a:schemeClr val="tx1"/>
                </a:solidFill>
              </a:rPr>
              <a:t>Nick Watts (Software Engineer)</a:t>
            </a:r>
          </a:p>
          <a:p>
            <a:r>
              <a:rPr lang="en-US" sz="1100" i="1" dirty="0">
                <a:solidFill>
                  <a:schemeClr val="tx1"/>
                </a:solidFill>
              </a:rPr>
              <a:t>Zach Gerstner (&lt;MS, BDSI)</a:t>
            </a:r>
          </a:p>
          <a:p>
            <a:r>
              <a:rPr lang="en-US" sz="1100" i="1" dirty="0">
                <a:solidFill>
                  <a:schemeClr val="tx1"/>
                </a:solidFill>
              </a:rPr>
              <a:t>Cole Younginer (&lt;MSc, ECE)</a:t>
            </a:r>
          </a:p>
          <a:p>
            <a:endParaRPr lang="en-US" sz="1100" i="1" dirty="0">
              <a:solidFill>
                <a:schemeClr val="tx1"/>
              </a:solidFill>
            </a:endParaRPr>
          </a:p>
          <a:p>
            <a:endParaRPr lang="en-US" sz="1100" i="1" dirty="0">
              <a:solidFill>
                <a:schemeClr val="tx1"/>
              </a:solidFill>
            </a:endParaRPr>
          </a:p>
          <a:p>
            <a:endParaRPr lang="en-US" sz="1100" i="1" dirty="0">
              <a:solidFill>
                <a:schemeClr val="tx1"/>
              </a:solidFill>
            </a:endParaRPr>
          </a:p>
          <a:p>
            <a:endParaRPr lang="en-US" sz="1100" i="1" dirty="0">
              <a:solidFill>
                <a:schemeClr val="tx1"/>
              </a:solidFill>
            </a:endParaRPr>
          </a:p>
          <a:p>
            <a:endParaRPr lang="en-US" sz="1100" dirty="0">
              <a:solidFill>
                <a:schemeClr val="tx1"/>
              </a:solidFill>
            </a:endParaRPr>
          </a:p>
          <a:p>
            <a:endParaRPr lang="en-US" sz="1100" dirty="0">
              <a:solidFill>
                <a:schemeClr val="tx1"/>
              </a:solidFill>
            </a:endParaRPr>
          </a:p>
          <a:p>
            <a:endParaRPr lang="en-US" sz="1100" dirty="0">
              <a:solidFill>
                <a:schemeClr val="tx1"/>
              </a:solidFill>
            </a:endParaRPr>
          </a:p>
          <a:p>
            <a:endParaRPr lang="en-US" sz="1100" dirty="0">
              <a:solidFill>
                <a:schemeClr val="tx1"/>
              </a:solidFill>
            </a:endParaRPr>
          </a:p>
          <a:p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2839B9-0A30-4774-B63A-49A5E407D2F5}"/>
              </a:ext>
            </a:extLst>
          </p:cNvPr>
          <p:cNvSpPr/>
          <p:nvPr/>
        </p:nvSpPr>
        <p:spPr>
          <a:xfrm>
            <a:off x="5125218" y="731010"/>
            <a:ext cx="1961554" cy="2970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u="sng" dirty="0"/>
              <a:t>@ Clemson</a:t>
            </a:r>
          </a:p>
          <a:p>
            <a:r>
              <a:rPr lang="en-US" sz="1100" dirty="0"/>
              <a:t>Melissa Smith (ECE)</a:t>
            </a:r>
          </a:p>
          <a:p>
            <a:r>
              <a:rPr lang="en-US" sz="1100" dirty="0"/>
              <a:t>KC Wang (ECE)</a:t>
            </a:r>
          </a:p>
          <a:p>
            <a:r>
              <a:rPr lang="en-US" sz="1100" dirty="0"/>
              <a:t>Walt Ligon (ECE)</a:t>
            </a:r>
          </a:p>
          <a:p>
            <a:r>
              <a:rPr lang="en-US" sz="1100" dirty="0"/>
              <a:t>Nick Mills (ECE)</a:t>
            </a:r>
          </a:p>
          <a:p>
            <a:r>
              <a:rPr lang="en-US" sz="1100" dirty="0"/>
              <a:t>Jon Calhoun (ECE)</a:t>
            </a:r>
          </a:p>
          <a:p>
            <a:r>
              <a:rPr lang="en-US" sz="1100" dirty="0"/>
              <a:t>Brian Dean (CS)</a:t>
            </a:r>
          </a:p>
          <a:p>
            <a:r>
              <a:rPr lang="en-US" sz="1100" dirty="0"/>
              <a:t>Marc Birtwistle (</a:t>
            </a:r>
            <a:r>
              <a:rPr lang="en-US" sz="1100" dirty="0" err="1"/>
              <a:t>ChemE</a:t>
            </a:r>
            <a:r>
              <a:rPr lang="en-US" sz="1100" dirty="0"/>
              <a:t>)</a:t>
            </a:r>
          </a:p>
          <a:p>
            <a:r>
              <a:rPr lang="en-US" sz="1100" dirty="0"/>
              <a:t>Brian Booth (</a:t>
            </a:r>
            <a:r>
              <a:rPr lang="en-US" sz="1100" dirty="0" err="1"/>
              <a:t>BioE</a:t>
            </a:r>
            <a:r>
              <a:rPr lang="en-US" sz="1100" dirty="0"/>
              <a:t>)</a:t>
            </a:r>
          </a:p>
          <a:p>
            <a:r>
              <a:rPr lang="en-US" sz="1100" dirty="0"/>
              <a:t>Julia Frugoli (G&amp;B)</a:t>
            </a:r>
          </a:p>
          <a:p>
            <a:r>
              <a:rPr lang="en-US" sz="1100" dirty="0"/>
              <a:t>Suchitra Chavan (G&amp;B)</a:t>
            </a:r>
          </a:p>
          <a:p>
            <a:r>
              <a:rPr lang="en-US" sz="1100" dirty="0"/>
              <a:t>Elise Schnabel (G&amp;B)</a:t>
            </a:r>
          </a:p>
          <a:p>
            <a:r>
              <a:rPr lang="en-US" sz="1100" dirty="0"/>
              <a:t>Susan Duckett (AVS)</a:t>
            </a:r>
          </a:p>
          <a:p>
            <a:r>
              <a:rPr lang="en-US" sz="1100" dirty="0"/>
              <a:t>Corey Ferrier (CCIT)</a:t>
            </a:r>
          </a:p>
          <a:p>
            <a:r>
              <a:rPr lang="en-US" sz="1100" dirty="0"/>
              <a:t>Jim Pepin (CCIT)</a:t>
            </a:r>
          </a:p>
          <a:p>
            <a:r>
              <a:rPr lang="en-US" sz="1100" dirty="0"/>
              <a:t>Xizhou Feng (CCIT)</a:t>
            </a:r>
          </a:p>
          <a:p>
            <a:r>
              <a:rPr lang="en-US" sz="1100" dirty="0"/>
              <a:t>Will Robinson (CCIT)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ACB351-714F-4A86-8B31-9BCF27699829}"/>
              </a:ext>
            </a:extLst>
          </p:cNvPr>
          <p:cNvSpPr/>
          <p:nvPr/>
        </p:nvSpPr>
        <p:spPr>
          <a:xfrm>
            <a:off x="6807131" y="714188"/>
            <a:ext cx="1668026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u="sng" dirty="0"/>
              <a:t>@ Earth</a:t>
            </a:r>
          </a:p>
          <a:p>
            <a:r>
              <a:rPr lang="en-US" sz="1100" dirty="0"/>
              <a:t>Stephen </a:t>
            </a:r>
            <a:r>
              <a:rPr lang="en-US" sz="1100" dirty="0" err="1"/>
              <a:t>Ficklin</a:t>
            </a:r>
            <a:r>
              <a:rPr lang="en-US" sz="1100" dirty="0"/>
              <a:t> (WSU)</a:t>
            </a:r>
          </a:p>
          <a:p>
            <a:r>
              <a:rPr lang="en-US" sz="1100" dirty="0"/>
              <a:t>Josh Burns (WSU)</a:t>
            </a:r>
          </a:p>
          <a:p>
            <a:r>
              <a:rPr lang="en-US" sz="1100" dirty="0"/>
              <a:t>Tyler Biggs (WSU)</a:t>
            </a:r>
          </a:p>
          <a:p>
            <a:r>
              <a:rPr lang="en-US" sz="1100" dirty="0" err="1"/>
              <a:t>Dorrie</a:t>
            </a:r>
            <a:r>
              <a:rPr lang="en-US" sz="1100" dirty="0"/>
              <a:t> Main (WSU)</a:t>
            </a:r>
          </a:p>
          <a:p>
            <a:r>
              <a:rPr lang="en-US" sz="1100" dirty="0"/>
              <a:t>Sook Jung (WSU)</a:t>
            </a:r>
          </a:p>
          <a:p>
            <a:r>
              <a:rPr lang="en-US" sz="1100" dirty="0"/>
              <a:t>Joe Breen (Utah)</a:t>
            </a:r>
          </a:p>
          <a:p>
            <a:r>
              <a:rPr lang="en-US" sz="1100" dirty="0"/>
              <a:t>Jill Wegrzyn (UCONN)</a:t>
            </a:r>
          </a:p>
          <a:p>
            <a:r>
              <a:rPr lang="en-US" sz="1100" dirty="0"/>
              <a:t>Meg Staton (UTK)</a:t>
            </a:r>
          </a:p>
          <a:p>
            <a:r>
              <a:rPr lang="en-US" sz="1100" dirty="0"/>
              <a:t>Jim Bottum (Internet2)</a:t>
            </a:r>
          </a:p>
          <a:p>
            <a:r>
              <a:rPr lang="en-US" sz="1100" dirty="0"/>
              <a:t>Dana Brunson (Internet2)</a:t>
            </a:r>
          </a:p>
          <a:p>
            <a:r>
              <a:rPr lang="en-US" sz="1100" dirty="0"/>
              <a:t>John Hicks (Internet2)</a:t>
            </a:r>
          </a:p>
          <a:p>
            <a:r>
              <a:rPr lang="en-US" sz="1100" dirty="0"/>
              <a:t>Marvin Weinstein (Quantum Insights LLC)</a:t>
            </a:r>
          </a:p>
          <a:p>
            <a:r>
              <a:rPr lang="en-US" sz="1100" dirty="0"/>
              <a:t>Ken Matusow (</a:t>
            </a:r>
            <a:r>
              <a:rPr lang="en-US" sz="1100" dirty="0" err="1"/>
              <a:t>Synergity</a:t>
            </a:r>
            <a:r>
              <a:rPr lang="en-US" sz="1100" dirty="0"/>
              <a:t>)</a:t>
            </a:r>
          </a:p>
          <a:p>
            <a:r>
              <a:rPr lang="en-US" sz="1100" dirty="0"/>
              <a:t>Karan Sapra (</a:t>
            </a:r>
            <a:r>
              <a:rPr lang="en-US" sz="1100" dirty="0" err="1"/>
              <a:t>nVidia</a:t>
            </a:r>
            <a:r>
              <a:rPr lang="en-US" sz="1100" dirty="0"/>
              <a:t>)</a:t>
            </a:r>
          </a:p>
          <a:p>
            <a:r>
              <a:rPr lang="en-US" sz="1100" dirty="0"/>
              <a:t>David Clarke (</a:t>
            </a:r>
            <a:r>
              <a:rPr lang="en-US" sz="1100" dirty="0" err="1"/>
              <a:t>Toolwire</a:t>
            </a:r>
            <a:r>
              <a:rPr lang="en-US" sz="1100" dirty="0"/>
              <a:t>)</a:t>
            </a:r>
          </a:p>
          <a:p>
            <a:endParaRPr lang="en-US" sz="11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BC0F70-8C2A-4365-B904-0A69CE53872C}"/>
              </a:ext>
            </a:extLst>
          </p:cNvPr>
          <p:cNvSpPr/>
          <p:nvPr/>
        </p:nvSpPr>
        <p:spPr>
          <a:xfrm>
            <a:off x="8616173" y="666383"/>
            <a:ext cx="2525984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u="sng" dirty="0"/>
              <a:t>@ Earth (cont.)</a:t>
            </a:r>
          </a:p>
          <a:p>
            <a:r>
              <a:rPr lang="en-US" sz="1100" dirty="0"/>
              <a:t>Mats Rynge (USC-OSG)</a:t>
            </a:r>
          </a:p>
          <a:p>
            <a:r>
              <a:rPr lang="en-US" sz="1100" dirty="0"/>
              <a:t>Bala Desinghu (U Chicago-OSG)</a:t>
            </a:r>
          </a:p>
          <a:p>
            <a:r>
              <a:rPr lang="en-US" sz="1100" dirty="0"/>
              <a:t>Andrew Paterson (UGA)</a:t>
            </a:r>
          </a:p>
          <a:p>
            <a:r>
              <a:rPr lang="en-US" sz="1100" dirty="0"/>
              <a:t>Claris Castillo (RENCI)</a:t>
            </a:r>
          </a:p>
          <a:p>
            <a:r>
              <a:rPr lang="en-US" sz="1100" dirty="0"/>
              <a:t>Steve Cox (RENCI)</a:t>
            </a:r>
          </a:p>
          <a:p>
            <a:r>
              <a:rPr lang="en-US" sz="1100" dirty="0"/>
              <a:t>Ray Idaszak (RENCI)</a:t>
            </a:r>
          </a:p>
          <a:p>
            <a:r>
              <a:rPr lang="en-US" sz="1100" dirty="0"/>
              <a:t>Paul Ruth (RENCI)</a:t>
            </a:r>
          </a:p>
          <a:p>
            <a:r>
              <a:rPr lang="en-US" sz="1100" dirty="0"/>
              <a:t>Michael </a:t>
            </a:r>
            <a:r>
              <a:rPr lang="en-US" sz="1100" dirty="0" err="1"/>
              <a:t>Stealy</a:t>
            </a:r>
            <a:r>
              <a:rPr lang="en-US" sz="1100" dirty="0"/>
              <a:t> (RENCI)</a:t>
            </a:r>
          </a:p>
          <a:p>
            <a:r>
              <a:rPr lang="en-US" sz="1100" dirty="0"/>
              <a:t>Isma Gilani (RENCI)</a:t>
            </a:r>
          </a:p>
          <a:p>
            <a:r>
              <a:rPr lang="en-US" sz="1100" dirty="0"/>
              <a:t>Fan Jiang (RENCI)</a:t>
            </a:r>
          </a:p>
          <a:p>
            <a:r>
              <a:rPr lang="en-US" sz="1100" dirty="0"/>
              <a:t>Mert Cevik (RENCI)</a:t>
            </a:r>
          </a:p>
          <a:p>
            <a:r>
              <a:rPr lang="en-US" sz="1100" dirty="0"/>
              <a:t>Ananya </a:t>
            </a:r>
            <a:r>
              <a:rPr lang="en-US" sz="1100" dirty="0" err="1"/>
              <a:t>Mukherghee</a:t>
            </a:r>
            <a:r>
              <a:rPr lang="en-US" sz="1100" dirty="0"/>
              <a:t> (RENCI)</a:t>
            </a:r>
          </a:p>
          <a:p>
            <a:r>
              <a:rPr lang="en-US" sz="1100" dirty="0"/>
              <a:t>Emily Casanova (USC-GHS)</a:t>
            </a:r>
          </a:p>
          <a:p>
            <a:r>
              <a:rPr lang="en-US" sz="1100" dirty="0"/>
              <a:t>Manual Casanova (USC-GHS)</a:t>
            </a:r>
          </a:p>
          <a:p>
            <a:r>
              <a:rPr lang="en-US" sz="1100" dirty="0"/>
              <a:t>Alex Bowers (Columbia U.)</a:t>
            </a:r>
          </a:p>
          <a:p>
            <a:r>
              <a:rPr lang="en-US" sz="1100" dirty="0"/>
              <a:t>Josh Vandenbrink (Louisiana Tech)</a:t>
            </a:r>
          </a:p>
          <a:p>
            <a:r>
              <a:rPr lang="en-US" sz="1100" dirty="0"/>
              <a:t>Ann Loraine (UNCC)</a:t>
            </a:r>
          </a:p>
          <a:p>
            <a:r>
              <a:rPr lang="en-US" sz="1100" dirty="0"/>
              <a:t>Colleen Doherty (NCSU)</a:t>
            </a:r>
          </a:p>
          <a:p>
            <a:r>
              <a:rPr lang="en-US" sz="1100" dirty="0"/>
              <a:t>John Graham (UCSD)</a:t>
            </a:r>
          </a:p>
          <a:p>
            <a:r>
              <a:rPr lang="en-US" sz="1100" dirty="0"/>
              <a:t>Wallace Chase (REANNZ)</a:t>
            </a:r>
          </a:p>
          <a:p>
            <a:r>
              <a:rPr lang="en-US" sz="1100" dirty="0"/>
              <a:t>Christos Papadopoulos (Memphis)</a:t>
            </a:r>
          </a:p>
          <a:p>
            <a:r>
              <a:rPr lang="en-US" sz="1100" dirty="0"/>
              <a:t>Susmit Shannigrahi (Tennessee Tech)</a:t>
            </a:r>
          </a:p>
          <a:p>
            <a:r>
              <a:rPr lang="en-US" sz="1100" dirty="0"/>
              <a:t>Chengyu Fan (CSU)</a:t>
            </a:r>
            <a:endParaRPr lang="en-US" sz="11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87B50C-C48E-4023-98CD-8A8D30DDACDE}"/>
              </a:ext>
            </a:extLst>
          </p:cNvPr>
          <p:cNvSpPr/>
          <p:nvPr/>
        </p:nvSpPr>
        <p:spPr>
          <a:xfrm>
            <a:off x="9743842" y="5586274"/>
            <a:ext cx="18697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Many </a:t>
            </a:r>
            <a:r>
              <a:rPr lang="en-US" b="1" dirty="0" err="1"/>
              <a:t>many</a:t>
            </a:r>
            <a:r>
              <a:rPr lang="en-US" b="1" dirty="0"/>
              <a:t> more</a:t>
            </a:r>
            <a:endParaRPr lang="en-US" dirty="0"/>
          </a:p>
        </p:txBody>
      </p:sp>
      <p:pic>
        <p:nvPicPr>
          <p:cNvPr id="10" name="Picture 6">
            <a:extLst>
              <a:ext uri="{FF2B5EF4-FFF2-40B4-BE49-F238E27FC236}">
                <a16:creationId xmlns:a16="http://schemas.microsoft.com/office/drawing/2014/main" id="{6C15CEBA-FD33-4D3C-9E18-A432E76F651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8271392" y="4956558"/>
            <a:ext cx="1548452" cy="1224796"/>
          </a:xfrm>
          <a:prstGeom prst="rect">
            <a:avLst/>
          </a:prstGeom>
          <a:ln>
            <a:noFill/>
          </a:ln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98E094B1-B6ED-4907-9B1C-8E0B91E5D101}"/>
              </a:ext>
            </a:extLst>
          </p:cNvPr>
          <p:cNvGrpSpPr/>
          <p:nvPr/>
        </p:nvGrpSpPr>
        <p:grpSpPr>
          <a:xfrm>
            <a:off x="2858090" y="6151846"/>
            <a:ext cx="9046587" cy="785878"/>
            <a:chOff x="423746" y="5129684"/>
            <a:chExt cx="9046587" cy="785878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FBB0EF4C-0422-41AF-ABB0-44F16204C549}"/>
                </a:ext>
              </a:extLst>
            </p:cNvPr>
            <p:cNvGrpSpPr/>
            <p:nvPr/>
          </p:nvGrpSpPr>
          <p:grpSpPr>
            <a:xfrm>
              <a:off x="423746" y="5129684"/>
              <a:ext cx="8393152" cy="785878"/>
              <a:chOff x="1354974" y="4457467"/>
              <a:chExt cx="6346022" cy="600845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3B15B67A-4361-4A89-905F-2A22C131FDEB}"/>
                  </a:ext>
                </a:extLst>
              </p:cNvPr>
              <p:cNvGrpSpPr/>
              <p:nvPr/>
            </p:nvGrpSpPr>
            <p:grpSpPr>
              <a:xfrm>
                <a:off x="1812209" y="4457467"/>
                <a:ext cx="5364013" cy="600845"/>
                <a:chOff x="2686780" y="5896033"/>
                <a:chExt cx="7152017" cy="801126"/>
              </a:xfrm>
            </p:grpSpPr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9BEAE163-7A4F-4F73-AB4F-84517F777D5A}"/>
                    </a:ext>
                  </a:extLst>
                </p:cNvPr>
                <p:cNvGrpSpPr/>
                <p:nvPr/>
              </p:nvGrpSpPr>
              <p:grpSpPr>
                <a:xfrm>
                  <a:off x="2686780" y="5896033"/>
                  <a:ext cx="6445606" cy="752972"/>
                  <a:chOff x="4038120" y="5841731"/>
                  <a:chExt cx="6445606" cy="752972"/>
                </a:xfrm>
              </p:grpSpPr>
              <p:pic>
                <p:nvPicPr>
                  <p:cNvPr id="19" name="Picture 18">
                    <a:extLst>
                      <a:ext uri="{FF2B5EF4-FFF2-40B4-BE49-F238E27FC236}">
                        <a16:creationId xmlns:a16="http://schemas.microsoft.com/office/drawing/2014/main" id="{93E97EE5-179A-4978-B741-1259BDD761E7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 cstate="screen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4038120" y="5979431"/>
                    <a:ext cx="533400" cy="517478"/>
                  </a:xfrm>
                  <a:prstGeom prst="rect">
                    <a:avLst/>
                  </a:prstGeom>
                  <a:solidFill>
                    <a:srgbClr val="FFC000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pic>
              <p:pic>
                <p:nvPicPr>
                  <p:cNvPr id="20" name="Picture 19">
                    <a:extLst>
                      <a:ext uri="{FF2B5EF4-FFF2-40B4-BE49-F238E27FC236}">
                        <a16:creationId xmlns:a16="http://schemas.microsoft.com/office/drawing/2014/main" id="{8858B964-3C27-455A-87EB-6CD5491FD9E2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4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7527746" y="6020329"/>
                    <a:ext cx="379580" cy="49269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21" name="Picture 20" descr="http://byufootblog.files.wordpress.com/2012/08/wsu-logo.jpg">
                    <a:extLst>
                      <a:ext uri="{FF2B5EF4-FFF2-40B4-BE49-F238E27FC236}">
                        <a16:creationId xmlns:a16="http://schemas.microsoft.com/office/drawing/2014/main" id="{8D956E62-E7ED-45FF-AECF-B90464943200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5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5909584" y="5995548"/>
                    <a:ext cx="498157" cy="517711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22" name="Picture 21" descr="http://upload.wikimedia.org/wikipedia/commons/thumb/a/a5/UT_Volunteers_logo.svg/2000px-UT_Volunteers_logo.svg.png">
                    <a:extLst>
                      <a:ext uri="{FF2B5EF4-FFF2-40B4-BE49-F238E27FC236}">
                        <a16:creationId xmlns:a16="http://schemas.microsoft.com/office/drawing/2014/main" id="{C4831DB9-9E54-4D32-A000-11CAD916E4FC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6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6470387" y="6064541"/>
                    <a:ext cx="472939" cy="454333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23" name="Picture 22" descr="https://cbshartford.files.wordpress.com/2013/04/new-uconn-husky-logo.png?w=600&amp;h=349&amp;crop=1">
                    <a:extLst>
                      <a:ext uri="{FF2B5EF4-FFF2-40B4-BE49-F238E27FC236}">
                        <a16:creationId xmlns:a16="http://schemas.microsoft.com/office/drawing/2014/main" id="{AAF8D788-0538-46E7-B8ED-EC33B51A4D7E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7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6895274" y="6082365"/>
                    <a:ext cx="586914" cy="419594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24" name="Picture 23" descr="http://renci.org/wp-content/themes/renci-theme/images/renci-logo.png">
                    <a:extLst>
                      <a:ext uri="{FF2B5EF4-FFF2-40B4-BE49-F238E27FC236}">
                        <a16:creationId xmlns:a16="http://schemas.microsoft.com/office/drawing/2014/main" id="{B250D091-81CF-4191-82A4-01884C7C42B2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4602843" y="5841731"/>
                    <a:ext cx="1261183" cy="624348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25" name="Picture 24" descr="Image result for unc greensboro">
                    <a:extLst>
                      <a:ext uri="{FF2B5EF4-FFF2-40B4-BE49-F238E27FC236}">
                        <a16:creationId xmlns:a16="http://schemas.microsoft.com/office/drawing/2014/main" id="{6F6FEC6C-926C-4272-AD09-58C57F008026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9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7989474" y="6020329"/>
                    <a:ext cx="561916" cy="552705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26" name="Picture 25" descr="Image result for unc charlotte">
                    <a:extLst>
                      <a:ext uri="{FF2B5EF4-FFF2-40B4-BE49-F238E27FC236}">
                        <a16:creationId xmlns:a16="http://schemas.microsoft.com/office/drawing/2014/main" id="{1B40F606-7C04-4E31-948B-25A242EE6BEE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0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8662351" y="6111297"/>
                    <a:ext cx="679867" cy="385612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27" name="Picture 26" descr="Image result for ncsu">
                    <a:extLst>
                      <a:ext uri="{FF2B5EF4-FFF2-40B4-BE49-F238E27FC236}">
                        <a16:creationId xmlns:a16="http://schemas.microsoft.com/office/drawing/2014/main" id="{15BBB3C8-FDD3-43EA-93D4-5097693F22D7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1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9349732" y="5938651"/>
                    <a:ext cx="536839" cy="656052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28" name="Picture 27" descr="Image result for unc chapel hill">
                    <a:extLst>
                      <a:ext uri="{FF2B5EF4-FFF2-40B4-BE49-F238E27FC236}">
                        <a16:creationId xmlns:a16="http://schemas.microsoft.com/office/drawing/2014/main" id="{CD2D9389-CB13-4A5C-9CED-0560A9AED66E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9925173" y="6020329"/>
                    <a:ext cx="558553" cy="558553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pic>
              <p:nvPicPr>
                <p:cNvPr id="18" name="Picture 17" descr="Image result for columbia university">
                  <a:extLst>
                    <a:ext uri="{FF2B5EF4-FFF2-40B4-BE49-F238E27FC236}">
                      <a16:creationId xmlns:a16="http://schemas.microsoft.com/office/drawing/2014/main" id="{443FA5A7-5EDF-4412-9DE1-49EB1F69EC1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139370" y="6088103"/>
                  <a:ext cx="699427" cy="60905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B56E76B4-A752-42E4-8C21-373790C02B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81460" y="4601520"/>
                <a:ext cx="519536" cy="431140"/>
              </a:xfrm>
              <a:prstGeom prst="rect">
                <a:avLst/>
              </a:prstGeom>
            </p:spPr>
          </p:pic>
          <p:pic>
            <p:nvPicPr>
              <p:cNvPr id="16" name="Picture 7">
                <a:extLst>
                  <a:ext uri="{FF2B5EF4-FFF2-40B4-BE49-F238E27FC236}">
                    <a16:creationId xmlns:a16="http://schemas.microsoft.com/office/drawing/2014/main" id="{7C4C5797-1F22-4748-8A2B-E3C066C7B26A}"/>
                  </a:ext>
                </a:extLst>
              </p:cNvPr>
              <p:cNvPicPr/>
              <p:nvPr/>
            </p:nvPicPr>
            <p:blipFill>
              <a:blip r:embed="rId15"/>
              <a:stretch/>
            </p:blipFill>
            <p:spPr>
              <a:xfrm>
                <a:off x="1354974" y="4591417"/>
                <a:ext cx="450920" cy="388283"/>
              </a:xfrm>
              <a:prstGeom prst="rect">
                <a:avLst/>
              </a:prstGeom>
              <a:ln>
                <a:noFill/>
              </a:ln>
            </p:spPr>
          </p:pic>
        </p:grpSp>
        <p:pic>
          <p:nvPicPr>
            <p:cNvPr id="13" name="Picture 2" descr="Image result for ucsd">
              <a:extLst>
                <a:ext uri="{FF2B5EF4-FFF2-40B4-BE49-F238E27FC236}">
                  <a16:creationId xmlns:a16="http://schemas.microsoft.com/office/drawing/2014/main" id="{231DFC05-92F5-4C30-82B0-098B371196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88149" y="5270022"/>
              <a:ext cx="582184" cy="5821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9" name="Picture 2" descr="https://encrypted-tbn3.gstatic.com/images?q=tbn:ANd9GcTc0E-D-Rssz-1pjYKZ918PZkYG-3rTTgJdns5MEhmAfQQL_bzCvQ">
            <a:extLst>
              <a:ext uri="{FF2B5EF4-FFF2-40B4-BE49-F238E27FC236}">
                <a16:creationId xmlns:a16="http://schemas.microsoft.com/office/drawing/2014/main" id="{1E802F66-EB20-4607-8EC5-229B633650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7038" y="5058126"/>
            <a:ext cx="1312606" cy="904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4" descr="http://ncmir.ucsd.edu/images/doe-logo.png">
            <a:extLst>
              <a:ext uri="{FF2B5EF4-FFF2-40B4-BE49-F238E27FC236}">
                <a16:creationId xmlns:a16="http://schemas.microsoft.com/office/drawing/2014/main" id="{6718F7A9-1B51-48E3-AEDF-DA1264188A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0328" y="4902514"/>
            <a:ext cx="1222068" cy="1215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Tennessee Tech Golden Eagles - Wikipedia">
            <a:extLst>
              <a:ext uri="{FF2B5EF4-FFF2-40B4-BE49-F238E27FC236}">
                <a16:creationId xmlns:a16="http://schemas.microsoft.com/office/drawing/2014/main" id="{E3218F64-810C-404A-81F4-BB754D4E5F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7123" y="5687656"/>
            <a:ext cx="704361" cy="53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6" descr="Memphis Tigers - Wikipedia">
            <a:extLst>
              <a:ext uri="{FF2B5EF4-FFF2-40B4-BE49-F238E27FC236}">
                <a16:creationId xmlns:a16="http://schemas.microsoft.com/office/drawing/2014/main" id="{45CFD5EA-CEA1-47CE-BB97-BD2DE08D14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8188" y="5631925"/>
            <a:ext cx="702420" cy="611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5917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</TotalTime>
  <Words>1352</Words>
  <Application>Microsoft Office PowerPoint</Application>
  <PresentationFormat>Widescreen</PresentationFormat>
  <Paragraphs>199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-apple-system</vt:lpstr>
      <vt:lpstr>Arial</vt:lpstr>
      <vt:lpstr>Calibri</vt:lpstr>
      <vt:lpstr>Calibri Light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Pillitteri, Victoria Yan (Fed)</dc:creator>
  <cp:lastModifiedBy>frank feltus</cp:lastModifiedBy>
  <cp:revision>59</cp:revision>
  <dcterms:created xsi:type="dcterms:W3CDTF">2020-04-22T14:06:19Z</dcterms:created>
  <dcterms:modified xsi:type="dcterms:W3CDTF">2020-09-08T21:07:21Z</dcterms:modified>
</cp:coreProperties>
</file>