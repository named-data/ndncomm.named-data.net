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86" r:id="rId2"/>
    <p:sldId id="485" r:id="rId3"/>
    <p:sldId id="411" r:id="rId4"/>
    <p:sldId id="487" r:id="rId5"/>
    <p:sldId id="502" r:id="rId6"/>
    <p:sldId id="489" r:id="rId7"/>
    <p:sldId id="491" r:id="rId8"/>
    <p:sldId id="492" r:id="rId9"/>
    <p:sldId id="504" r:id="rId10"/>
    <p:sldId id="495" r:id="rId11"/>
    <p:sldId id="503" r:id="rId12"/>
    <p:sldId id="498" r:id="rId13"/>
    <p:sldId id="499" r:id="rId14"/>
    <p:sldId id="496" r:id="rId15"/>
    <p:sldId id="497" r:id="rId16"/>
    <p:sldId id="49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840"/>
    <a:srgbClr val="6CA093"/>
    <a:srgbClr val="D2CDC7"/>
    <a:srgbClr val="B8B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34" autoAdjust="0"/>
    <p:restoredTop sz="85075" autoAdjust="0"/>
  </p:normalViewPr>
  <p:slideViewPr>
    <p:cSldViewPr>
      <p:cViewPr varScale="1">
        <p:scale>
          <a:sx n="98" d="100"/>
          <a:sy n="98" d="100"/>
        </p:scale>
        <p:origin x="243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61" d="100"/>
          <a:sy n="161" d="100"/>
        </p:scale>
        <p:origin x="3552" y="200"/>
      </p:cViewPr>
      <p:guideLst>
        <p:guide orient="horz" pos="2880"/>
        <p:guide pos="216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4E9EF-66CC-3249-A9B6-2155B8AAAFCF}" type="datetimeFigureOut">
              <a:rPr lang="en-US" smtClean="0"/>
              <a:t>9/8/20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7E908-E485-4944-9A36-2B8F7D81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04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BC1D0-289E-4663-AF59-772C0BFD75E1}" type="datetimeFigureOut">
              <a:rPr lang="en-US" smtClean="0"/>
              <a:pPr/>
              <a:t>9/8/20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5100D-73AD-4FC0-8D0D-610C9F974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5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84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8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73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91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67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73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03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91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34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14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5100D-73AD-4FC0-8D0D-610C9F97474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87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594621"/>
            <a:ext cx="9144000" cy="4222523"/>
          </a:xfrm>
          <a:prstGeom prst="rect">
            <a:avLst/>
          </a:prstGeom>
          <a:solidFill>
            <a:srgbClr val="305840"/>
          </a:solidFill>
          <a:ln>
            <a:solidFill>
              <a:srgbClr val="3058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125" y="4825610"/>
            <a:ext cx="7757811" cy="1406955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2290" name="Picture 2" descr="http://www.wustl.edu/assets/images/brookings-seal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16177" y="4203030"/>
            <a:ext cx="3227825" cy="2654970"/>
          </a:xfrm>
          <a:prstGeom prst="rect">
            <a:avLst/>
          </a:prstGeom>
          <a:noFill/>
        </p:spPr>
      </p:pic>
      <p:pic>
        <p:nvPicPr>
          <p:cNvPr id="12294" name="Picture 6" descr="Brookings Hall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78905" y="1"/>
            <a:ext cx="5263291" cy="2238608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4" name="Picture 3" descr="Official_WUSTL-2line-4color-pos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7" y="1404066"/>
            <a:ext cx="3780816" cy="1190555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C414E4C-DC48-D349-809E-5C6F91680CC1}"/>
              </a:ext>
            </a:extLst>
          </p:cNvPr>
          <p:cNvSpPr txBox="1">
            <a:spLocks/>
          </p:cNvSpPr>
          <p:nvPr userDrawn="1"/>
        </p:nvSpPr>
        <p:spPr>
          <a:xfrm>
            <a:off x="1538005" y="6437529"/>
            <a:ext cx="5568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u="none" strike="noStrike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Distribution Statement "A" (Approved for Public Release, Distribution Unlimited)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25" y="3069836"/>
            <a:ext cx="7772400" cy="14700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rookings-circular-1color.eps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23" b="31638"/>
          <a:stretch/>
        </p:blipFill>
        <p:spPr>
          <a:xfrm>
            <a:off x="4116633" y="0"/>
            <a:ext cx="1261872" cy="527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855866"/>
            <a:ext cx="6819900" cy="57026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785" y="1426127"/>
            <a:ext cx="9142195" cy="4824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510221"/>
            <a:ext cx="9144000" cy="268835"/>
          </a:xfrm>
          <a:prstGeom prst="rect">
            <a:avLst/>
          </a:prstGeom>
          <a:solidFill>
            <a:srgbClr val="305840"/>
          </a:solidFill>
          <a:ln>
            <a:solidFill>
              <a:srgbClr val="3058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6589166"/>
            <a:ext cx="9144000" cy="268835"/>
          </a:xfrm>
          <a:prstGeom prst="rect">
            <a:avLst/>
          </a:prstGeom>
          <a:solidFill>
            <a:srgbClr val="305840"/>
          </a:solidFill>
          <a:ln>
            <a:solidFill>
              <a:srgbClr val="3058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fficial_WUSTL-1line-4color-pos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911" y="126171"/>
            <a:ext cx="3686876" cy="3072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0623163-B77B-E94F-8D0B-6917F1D2660F}"/>
              </a:ext>
            </a:extLst>
          </p:cNvPr>
          <p:cNvSpPr txBox="1">
            <a:spLocks/>
          </p:cNvSpPr>
          <p:nvPr userDrawn="1"/>
        </p:nvSpPr>
        <p:spPr>
          <a:xfrm>
            <a:off x="1038740" y="6549266"/>
            <a:ext cx="6298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u="none" strike="noStrike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Distribution Statement "A" (Approved for Public Release, Distribution Unlimited)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359991-86CD-ED4F-930D-76A1C24F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72C5E2-6B18-4CD3-90B2-3F73870FB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510221"/>
            <a:ext cx="9144000" cy="268835"/>
          </a:xfrm>
          <a:prstGeom prst="rect">
            <a:avLst/>
          </a:prstGeom>
          <a:solidFill>
            <a:srgbClr val="305840"/>
          </a:solidFill>
          <a:ln>
            <a:solidFill>
              <a:srgbClr val="3058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6589166"/>
            <a:ext cx="9144000" cy="268835"/>
          </a:xfrm>
          <a:prstGeom prst="rect">
            <a:avLst/>
          </a:prstGeom>
          <a:solidFill>
            <a:srgbClr val="305840"/>
          </a:solidFill>
          <a:ln>
            <a:solidFill>
              <a:srgbClr val="3058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8" descr="http://www.wustl.edu/assets/images/img-wustl-1lin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84011" y="164576"/>
            <a:ext cx="3381375" cy="30480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C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5" y="534660"/>
            <a:ext cx="91421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5" y="1860223"/>
            <a:ext cx="91421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F7AF8-CB0C-C947-88FE-CDD6F9F72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06840" y="6117350"/>
            <a:ext cx="5338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.wustl.edu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9561-27EF-9E40-85E4-D34F8BB76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NDN in DARPA SHARE</a:t>
            </a:r>
            <a:br>
              <a:rPr lang="en-US" dirty="0"/>
            </a:br>
            <a:r>
              <a:rPr lang="en-US" dirty="0"/>
              <a:t>NDNCOMM, Sept. 2020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B0040-6700-D24A-94B9-66978BBE5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DeHart</a:t>
            </a:r>
          </a:p>
          <a:p>
            <a:r>
              <a:rPr lang="en-US" dirty="0" err="1"/>
              <a:t>jdd@wustl.edu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69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57A23-A80B-754A-8DE7-1CFF0170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105" y="818955"/>
            <a:ext cx="6837895" cy="640080"/>
          </a:xfrm>
        </p:spPr>
        <p:txBody>
          <a:bodyPr>
            <a:noAutofit/>
          </a:bodyPr>
          <a:lstStyle/>
          <a:p>
            <a:r>
              <a:rPr lang="en-US" sz="4000" b="1" dirty="0"/>
              <a:t>Statement and 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A8A5B-5545-D945-8C4C-B5C1E280D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1554480"/>
            <a:ext cx="867953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Statement</a:t>
            </a:r>
            <a:r>
              <a:rPr lang="en-US" sz="2400" dirty="0"/>
              <a:t>: This research was developed with funding from the Defense Advanced Research Projects Agency (DARPA).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Disclaimer</a:t>
            </a:r>
            <a:r>
              <a:rPr lang="en-US" sz="2400" dirty="0"/>
              <a:t>: The views, opinions and/or findings expressed are those of the author and should not be interpreted as representing the official views or policies of the Department of Defense or the U.S. Government.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CFAF7-E6AF-FF4F-8044-2EB6AF88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099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510" y="822960"/>
            <a:ext cx="6799490" cy="640080"/>
          </a:xfrm>
        </p:spPr>
        <p:txBody>
          <a:bodyPr>
            <a:noAutofit/>
          </a:bodyPr>
          <a:lstStyle/>
          <a:p>
            <a:r>
              <a:rPr lang="en-US" sz="4000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5" y="1554480"/>
            <a:ext cx="9142195" cy="5034705"/>
          </a:xfrm>
        </p:spPr>
        <p:txBody>
          <a:bodyPr>
            <a:normAutofit/>
          </a:bodyPr>
          <a:lstStyle/>
          <a:p>
            <a:r>
              <a:rPr lang="en-US" sz="2400" dirty="0"/>
              <a:t>Background</a:t>
            </a:r>
          </a:p>
          <a:p>
            <a:r>
              <a:rPr lang="en-US" sz="2400" dirty="0"/>
              <a:t>Team</a:t>
            </a:r>
          </a:p>
          <a:p>
            <a:r>
              <a:rPr lang="en-US" sz="2400" dirty="0"/>
              <a:t>Physical Architecture</a:t>
            </a:r>
          </a:p>
          <a:p>
            <a:r>
              <a:rPr lang="en-US" sz="2400" dirty="0"/>
              <a:t>NDN in DARPA SHARE</a:t>
            </a:r>
          </a:p>
          <a:p>
            <a:pPr lvl="1"/>
            <a:r>
              <a:rPr lang="en-US" sz="2000" dirty="0"/>
              <a:t>Performance Studies</a:t>
            </a:r>
          </a:p>
          <a:p>
            <a:r>
              <a:rPr lang="en-US" sz="2400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CE826-BD6A-0D43-BD85-FD97F5F5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4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A800-7879-AF44-B519-6B9DB36B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105" y="818955"/>
            <a:ext cx="6837895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E88E-5E0D-1F41-A7C6-3C0D7D3FD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5152082"/>
          </a:xfrm>
        </p:spPr>
        <p:txBody>
          <a:bodyPr>
            <a:normAutofit/>
          </a:bodyPr>
          <a:lstStyle/>
          <a:p>
            <a:r>
              <a:rPr lang="en-US" sz="2400" dirty="0"/>
              <a:t>Open Network Lab (ONL) (</a:t>
            </a:r>
            <a:r>
              <a:rPr lang="en-US" sz="2400" dirty="0">
                <a:hlinkClick r:id="rId3"/>
              </a:rPr>
              <a:t>https://onl.wustl.edu/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Internet-accessible network testbed built and hosted at Washington Univ. in St. Louis</a:t>
            </a:r>
          </a:p>
          <a:p>
            <a:pPr lvl="1"/>
            <a:r>
              <a:rPr lang="en-US" sz="2000" dirty="0"/>
              <a:t>Rapid emulation of wide variety of network topologies and conditions.</a:t>
            </a:r>
          </a:p>
          <a:p>
            <a:pPr lvl="1"/>
            <a:r>
              <a:rPr lang="en-US" sz="2000" dirty="0"/>
              <a:t>Capabilities to set network link loss, delay etc.</a:t>
            </a:r>
          </a:p>
          <a:p>
            <a:pPr lvl="1"/>
            <a:r>
              <a:rPr lang="en-US" sz="2000" dirty="0"/>
              <a:t>Monitoring capabilities for immediate visual feedback.</a:t>
            </a:r>
          </a:p>
          <a:p>
            <a:pPr lvl="1"/>
            <a:r>
              <a:rPr lang="en-US" sz="2000" dirty="0"/>
              <a:t>Data collection for post processing analysis.</a:t>
            </a:r>
          </a:p>
          <a:p>
            <a:r>
              <a:rPr lang="en-US" sz="2400" dirty="0"/>
              <a:t>DARPA seedling grant (2016) to look at NDN vs. IP in lossy and intermittent environments.</a:t>
            </a:r>
          </a:p>
          <a:p>
            <a:pPr lvl="1"/>
            <a:r>
              <a:rPr lang="en-US" sz="2000" dirty="0"/>
              <a:t>Demonstrated on the Open Network Lab (ONL) at WUSTL, NDN sync with network intermediate component outperforming IP and VPN/IP in challenged intermittent environments.</a:t>
            </a: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CBA35-B3FA-3C4D-80ED-A82429C0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4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A800-7879-AF44-B519-6B9DB36B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105" y="818955"/>
            <a:ext cx="6837895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Background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E88E-5E0D-1F41-A7C6-3C0D7D3FD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515208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DARPA SHARE (10/17 – present)</a:t>
            </a:r>
          </a:p>
          <a:p>
            <a:pPr lvl="1"/>
            <a:r>
              <a:rPr lang="en-US" sz="1900" b="1" u="sng" dirty="0">
                <a:solidFill>
                  <a:srgbClr val="7030A0"/>
                </a:solidFill>
              </a:rPr>
              <a:t>S</a:t>
            </a:r>
            <a:r>
              <a:rPr lang="en-US" sz="1900" dirty="0"/>
              <a:t>ecure </a:t>
            </a:r>
            <a:r>
              <a:rPr lang="en-US" sz="1900" b="1" u="sng" dirty="0">
                <a:solidFill>
                  <a:srgbClr val="7030A0"/>
                </a:solidFill>
              </a:rPr>
              <a:t>H</a:t>
            </a:r>
            <a:r>
              <a:rPr lang="en-US" sz="1900" dirty="0"/>
              <a:t>andhelds on </a:t>
            </a:r>
            <a:r>
              <a:rPr lang="en-US" sz="1900" b="1" u="sng" dirty="0">
                <a:solidFill>
                  <a:srgbClr val="7030A0"/>
                </a:solidFill>
              </a:rPr>
              <a:t>A</a:t>
            </a:r>
            <a:r>
              <a:rPr lang="en-US" sz="1900" dirty="0"/>
              <a:t>ssured </a:t>
            </a:r>
            <a:r>
              <a:rPr lang="en-US" sz="1900" b="1" u="sng" dirty="0">
                <a:solidFill>
                  <a:srgbClr val="7030A0"/>
                </a:solidFill>
              </a:rPr>
              <a:t>R</a:t>
            </a:r>
            <a:r>
              <a:rPr lang="en-US" sz="1900" dirty="0"/>
              <a:t>esilient networks at the tactical </a:t>
            </a:r>
            <a:r>
              <a:rPr lang="en-US" sz="1900" b="1" u="sng" dirty="0">
                <a:solidFill>
                  <a:srgbClr val="7030A0"/>
                </a:solidFill>
              </a:rPr>
              <a:t>E</a:t>
            </a:r>
            <a:r>
              <a:rPr lang="en-US" sz="1900" dirty="0"/>
              <a:t>dge</a:t>
            </a:r>
          </a:p>
          <a:p>
            <a:pPr lvl="1"/>
            <a:r>
              <a:rPr lang="en-US" sz="1900" dirty="0"/>
              <a:t>Working on team led by Two Six Labs</a:t>
            </a:r>
            <a:endParaRPr lang="en-US" sz="2200" dirty="0"/>
          </a:p>
          <a:p>
            <a:pPr lvl="1"/>
            <a:r>
              <a:rPr lang="en-US" sz="1900" dirty="0"/>
              <a:t>Secure Android handhelds using NDN operating in challenged network environments</a:t>
            </a:r>
          </a:p>
          <a:p>
            <a:pPr lvl="1"/>
            <a:r>
              <a:rPr lang="en-US" sz="1900" dirty="0"/>
              <a:t>Program extended for fourth year to support technology transition</a:t>
            </a:r>
            <a:endParaRPr lang="en-US" sz="1700" dirty="0"/>
          </a:p>
          <a:p>
            <a:r>
              <a:rPr lang="en-US" sz="2400" dirty="0"/>
              <a:t>Challenged network environments:</a:t>
            </a:r>
          </a:p>
          <a:p>
            <a:pPr lvl="1"/>
            <a:r>
              <a:rPr lang="en-US" sz="1900" dirty="0"/>
              <a:t>Low BW links</a:t>
            </a:r>
          </a:p>
          <a:p>
            <a:pPr lvl="1"/>
            <a:r>
              <a:rPr lang="en-US" sz="1900" dirty="0"/>
              <a:t>Lossy and/or intermittent links</a:t>
            </a:r>
          </a:p>
          <a:p>
            <a:pPr lvl="1"/>
            <a:r>
              <a:rPr lang="en-US" sz="1900" dirty="0"/>
              <a:t>Temporarily segmented networks</a:t>
            </a:r>
          </a:p>
          <a:p>
            <a:r>
              <a:rPr lang="en-US" sz="2400" dirty="0"/>
              <a:t>First two years focused on Android over wireless and cellular</a:t>
            </a:r>
          </a:p>
          <a:p>
            <a:r>
              <a:rPr lang="en-US" sz="2400" dirty="0"/>
              <a:t>Third and fourth years:</a:t>
            </a:r>
          </a:p>
          <a:p>
            <a:pPr lvl="1"/>
            <a:r>
              <a:rPr lang="en-US" sz="1900" dirty="0"/>
              <a:t>Expanding to battlefield scenarios</a:t>
            </a:r>
          </a:p>
          <a:p>
            <a:pPr lvl="1"/>
            <a:r>
              <a:rPr lang="en-US" sz="1900" dirty="0"/>
              <a:t>Android phones coupled to tactical radios</a:t>
            </a:r>
          </a:p>
          <a:p>
            <a:pPr lvl="2"/>
            <a:r>
              <a:rPr lang="en-US" sz="1600" dirty="0"/>
              <a:t>How to provide more reliable data transport for tactical apps?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1D282-1C2E-3F46-8C2D-2D0657FE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23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7C51-9136-444F-A832-CB090BF9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105" y="818955"/>
            <a:ext cx="6837895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0D21D-905A-9442-A7E0-84E058D85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4824551"/>
          </a:xfrm>
        </p:spPr>
        <p:txBody>
          <a:bodyPr>
            <a:normAutofit/>
          </a:bodyPr>
          <a:lstStyle/>
          <a:p>
            <a:r>
              <a:rPr lang="en-US" sz="2400" dirty="0"/>
              <a:t>DARPA</a:t>
            </a:r>
          </a:p>
          <a:p>
            <a:pPr lvl="1"/>
            <a:r>
              <a:rPr lang="en-US" sz="2000" dirty="0"/>
              <a:t>Joe Evans: PM for first two years</a:t>
            </a:r>
          </a:p>
          <a:p>
            <a:pPr lvl="1"/>
            <a:r>
              <a:rPr lang="en-US" sz="2000" dirty="0"/>
              <a:t>Paul </a:t>
            </a:r>
            <a:r>
              <a:rPr lang="en-US" sz="2000" dirty="0" err="1"/>
              <a:t>Zablocky</a:t>
            </a:r>
            <a:r>
              <a:rPr lang="en-US" sz="2000" dirty="0"/>
              <a:t>: PM 10/2019 – 4/2020</a:t>
            </a:r>
          </a:p>
          <a:p>
            <a:pPr lvl="1"/>
            <a:r>
              <a:rPr lang="en-US" sz="2000" dirty="0"/>
              <a:t>Mary </a:t>
            </a:r>
            <a:r>
              <a:rPr lang="en-US" sz="2000" dirty="0" err="1"/>
              <a:t>Schurgot</a:t>
            </a:r>
            <a:r>
              <a:rPr lang="en-US" sz="2000" dirty="0"/>
              <a:t>: PM 4/2020 – present</a:t>
            </a:r>
          </a:p>
          <a:p>
            <a:pPr lvl="1"/>
            <a:r>
              <a:rPr lang="en-US" sz="2000" dirty="0"/>
              <a:t>And supporting cast</a:t>
            </a:r>
          </a:p>
          <a:p>
            <a:r>
              <a:rPr lang="en-US" sz="2400" dirty="0" err="1"/>
              <a:t>TwoSix</a:t>
            </a:r>
            <a:r>
              <a:rPr lang="en-US" sz="2400" dirty="0"/>
              <a:t> Labs: Prime Contractor</a:t>
            </a:r>
          </a:p>
          <a:p>
            <a:pPr lvl="1"/>
            <a:r>
              <a:rPr lang="en-US" sz="2000" dirty="0" err="1"/>
              <a:t>Eucleo</a:t>
            </a:r>
            <a:endParaRPr lang="en-US" sz="2000" dirty="0"/>
          </a:p>
          <a:p>
            <a:pPr lvl="1"/>
            <a:r>
              <a:rPr lang="en-US" sz="2000" dirty="0"/>
              <a:t>Washington University</a:t>
            </a:r>
          </a:p>
          <a:p>
            <a:pPr lvl="1"/>
            <a:r>
              <a:rPr lang="en-US" sz="2000" dirty="0"/>
              <a:t>Many other Subcontractors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46689-F04C-014D-931A-F18853E3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0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76A8-D5F0-BA4C-85A7-19A93AD0A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105" y="818955"/>
            <a:ext cx="6837895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Physical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2EBB9-FEFC-254C-B5A7-B33BEFCDE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4824551"/>
          </a:xfrm>
        </p:spPr>
        <p:txBody>
          <a:bodyPr>
            <a:normAutofit/>
          </a:bodyPr>
          <a:lstStyle/>
          <a:p>
            <a:r>
              <a:rPr lang="en-US" sz="2400" dirty="0"/>
              <a:t>Phones</a:t>
            </a:r>
          </a:p>
          <a:p>
            <a:pPr lvl="1"/>
            <a:r>
              <a:rPr lang="en-US" sz="2000" dirty="0"/>
              <a:t>Primary focus has been Android handheld devices</a:t>
            </a:r>
          </a:p>
          <a:p>
            <a:r>
              <a:rPr lang="en-US" sz="2400" dirty="0"/>
              <a:t>Topologies</a:t>
            </a:r>
          </a:p>
          <a:p>
            <a:pPr lvl="1"/>
            <a:r>
              <a:rPr lang="en-US" sz="2000" dirty="0"/>
              <a:t>Initially focused on fixed infrastructure-based networks, such as </a:t>
            </a:r>
            <a:r>
              <a:rPr lang="en-US" sz="2000" dirty="0" err="1"/>
              <a:t>WiFi</a:t>
            </a:r>
            <a:r>
              <a:rPr lang="en-US" sz="2000" dirty="0"/>
              <a:t> and cellular</a:t>
            </a:r>
          </a:p>
          <a:p>
            <a:pPr lvl="1"/>
            <a:r>
              <a:rPr lang="en-US" sz="2000" dirty="0"/>
              <a:t>Recently shifted to networking through tactical radios</a:t>
            </a:r>
          </a:p>
          <a:p>
            <a:pPr lvl="1"/>
            <a:r>
              <a:rPr lang="en-US" sz="2000" dirty="0"/>
              <a:t>Even harsher BW limitations</a:t>
            </a:r>
          </a:p>
          <a:p>
            <a:r>
              <a:rPr lang="en-US" sz="2400" dirty="0"/>
              <a:t>MANET: Mobile Ad Hoc Networks </a:t>
            </a:r>
          </a:p>
          <a:p>
            <a:pPr lvl="1"/>
            <a:r>
              <a:rPr lang="en-US" sz="2000" dirty="0"/>
              <a:t>Mesh networks with shifting connectivity as personnel move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0168C-4951-E247-AF42-95C1C887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3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EC06-C7C8-354C-80FE-E03EE7D7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105" y="818955"/>
            <a:ext cx="6837895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NDN in DARPA SHARE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1B62-6296-9240-A055-2CB9DD96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5075273"/>
          </a:xfrm>
        </p:spPr>
        <p:txBody>
          <a:bodyPr>
            <a:normAutofit/>
          </a:bodyPr>
          <a:lstStyle/>
          <a:p>
            <a:r>
              <a:rPr lang="en-US" sz="2400" dirty="0"/>
              <a:t>Version: 0.6.6</a:t>
            </a:r>
          </a:p>
          <a:p>
            <a:pPr lvl="1"/>
            <a:r>
              <a:rPr lang="en-US" sz="2000" dirty="0"/>
              <a:t>Locked in during 2019 </a:t>
            </a:r>
          </a:p>
          <a:p>
            <a:pPr lvl="2"/>
            <a:r>
              <a:rPr lang="en-US" sz="1800" dirty="0"/>
              <a:t>Discussing how and when to update to current release</a:t>
            </a:r>
          </a:p>
          <a:p>
            <a:r>
              <a:rPr lang="en-US" sz="2400" dirty="0"/>
              <a:t>NDN Strengths and Weaknesses</a:t>
            </a:r>
          </a:p>
          <a:p>
            <a:pPr lvl="1"/>
            <a:r>
              <a:rPr lang="en-US" sz="2000" dirty="0"/>
              <a:t>Weakness: Performance</a:t>
            </a:r>
          </a:p>
          <a:p>
            <a:pPr lvl="1"/>
            <a:r>
              <a:rPr lang="en-US" sz="2000" dirty="0"/>
              <a:t>Strengths: Sync, Strategy layer, Security Model</a:t>
            </a:r>
          </a:p>
          <a:p>
            <a:r>
              <a:rPr lang="en-US" sz="2400" dirty="0"/>
              <a:t>Modifications</a:t>
            </a:r>
          </a:p>
          <a:p>
            <a:pPr lvl="1"/>
            <a:r>
              <a:rPr lang="en-US" sz="2000" dirty="0"/>
              <a:t>Performance (client libraries and some NFD tweaks)</a:t>
            </a:r>
          </a:p>
          <a:p>
            <a:pPr lvl="1"/>
            <a:r>
              <a:rPr lang="en-US" sz="2000" dirty="0"/>
              <a:t>ICT-Sync</a:t>
            </a:r>
          </a:p>
          <a:p>
            <a:pPr lvl="1"/>
            <a:r>
              <a:rPr lang="en-US" sz="2000" dirty="0"/>
              <a:t>Local First Multicast (LFM) Strategy for Sync on MANET</a:t>
            </a:r>
          </a:p>
          <a:p>
            <a:pPr lvl="1"/>
            <a:r>
              <a:rPr lang="en-US" sz="2000" dirty="0" err="1"/>
              <a:t>RandomCast</a:t>
            </a:r>
            <a:r>
              <a:rPr lang="en-US" sz="2000" dirty="0"/>
              <a:t>-N Strategy for Data</a:t>
            </a:r>
          </a:p>
          <a:p>
            <a:pPr lvl="1"/>
            <a:r>
              <a:rPr lang="en-US" sz="2000" dirty="0"/>
              <a:t>Persistent Interests for file transfer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A2DC3-64EB-AD48-989B-D23929AF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35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EC06-C7C8-354C-80FE-E03EE7D7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105" y="818955"/>
            <a:ext cx="6837895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ICT-Sync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1B62-6296-9240-A055-2CB9DD96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485714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Multi-producer</a:t>
            </a:r>
          </a:p>
          <a:p>
            <a:r>
              <a:rPr lang="en-US" sz="2400" dirty="0"/>
              <a:t>Replaces digest with list of tuples in sync name</a:t>
            </a:r>
          </a:p>
          <a:p>
            <a:pPr lvl="1"/>
            <a:r>
              <a:rPr lang="en-US" sz="2000" dirty="0"/>
              <a:t>Tuple: </a:t>
            </a:r>
            <a:r>
              <a:rPr lang="en-US" sz="2000" dirty="0">
                <a:solidFill>
                  <a:srgbClr val="FF0000"/>
                </a:solidFill>
              </a:rPr>
              <a:t>Participant id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70C0"/>
                </a:solidFill>
              </a:rPr>
              <a:t>latest sequence number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published</a:t>
            </a:r>
          </a:p>
          <a:p>
            <a:pPr lvl="1"/>
            <a:r>
              <a:rPr lang="en-US" sz="2000" dirty="0"/>
              <a:t>ICT-Sync name: </a:t>
            </a:r>
            <a:r>
              <a:rPr lang="en-US" sz="1800" dirty="0"/>
              <a:t>/</a:t>
            </a:r>
            <a:r>
              <a:rPr lang="en-US" sz="1800" dirty="0" err="1"/>
              <a:t>ndn</a:t>
            </a:r>
            <a:r>
              <a:rPr lang="en-US" sz="1800" dirty="0"/>
              <a:t>/</a:t>
            </a:r>
            <a:r>
              <a:rPr lang="en-US" sz="1800" b="1" dirty="0"/>
              <a:t>sync</a:t>
            </a:r>
            <a:r>
              <a:rPr lang="en-US" sz="1800" dirty="0"/>
              <a:t>/</a:t>
            </a:r>
            <a:r>
              <a:rPr lang="en-US" sz="1800" dirty="0" err="1"/>
              <a:t>syncId</a:t>
            </a:r>
            <a:r>
              <a:rPr lang="en-US" sz="1800" dirty="0"/>
              <a:t>/[</a:t>
            </a:r>
            <a:r>
              <a:rPr lang="en-US" sz="1800" dirty="0">
                <a:solidFill>
                  <a:srgbClr val="FF0000"/>
                </a:solidFill>
              </a:rPr>
              <a:t>528</a:t>
            </a:r>
            <a:r>
              <a:rPr lang="en-US" sz="1800" dirty="0"/>
              <a:t>:</a:t>
            </a:r>
            <a:r>
              <a:rPr lang="en-US" sz="1800" dirty="0">
                <a:solidFill>
                  <a:srgbClr val="0070C0"/>
                </a:solidFill>
              </a:rPr>
              <a:t>1</a:t>
            </a:r>
            <a:r>
              <a:rPr lang="en-US" sz="1800" dirty="0"/>
              <a:t>][</a:t>
            </a:r>
            <a:r>
              <a:rPr lang="en-US" sz="1800" dirty="0">
                <a:solidFill>
                  <a:srgbClr val="FF0000"/>
                </a:solidFill>
              </a:rPr>
              <a:t>912</a:t>
            </a:r>
            <a:r>
              <a:rPr lang="en-US" sz="1800" dirty="0"/>
              <a:t>:</a:t>
            </a:r>
            <a:r>
              <a:rPr lang="en-US" sz="1800" dirty="0">
                <a:solidFill>
                  <a:srgbClr val="0070C0"/>
                </a:solidFill>
              </a:rPr>
              <a:t>15</a:t>
            </a:r>
            <a:r>
              <a:rPr lang="en-US" sz="1800" dirty="0"/>
              <a:t>][</a:t>
            </a:r>
            <a:r>
              <a:rPr lang="en-US" sz="1800" dirty="0">
                <a:solidFill>
                  <a:srgbClr val="FF0000"/>
                </a:solidFill>
              </a:rPr>
              <a:t>435</a:t>
            </a:r>
            <a:r>
              <a:rPr lang="en-US" sz="1800" dirty="0"/>
              <a:t>:</a:t>
            </a:r>
            <a:r>
              <a:rPr lang="en-US" sz="1800" dirty="0">
                <a:solidFill>
                  <a:srgbClr val="0070C0"/>
                </a:solidFill>
              </a:rPr>
              <a:t>32</a:t>
            </a:r>
            <a:r>
              <a:rPr lang="en-US" sz="1800" dirty="0"/>
              <a:t>]</a:t>
            </a:r>
          </a:p>
          <a:p>
            <a:pPr lvl="1"/>
            <a:endParaRPr lang="en-US" sz="2000" dirty="0"/>
          </a:p>
          <a:p>
            <a:r>
              <a:rPr lang="en-US" sz="2400" dirty="0"/>
              <a:t>Participant receiving sync interest:</a:t>
            </a:r>
          </a:p>
          <a:p>
            <a:pPr lvl="1"/>
            <a:r>
              <a:rPr lang="en-US" sz="2000" dirty="0"/>
              <a:t>Compares its state to state in sync name</a:t>
            </a:r>
          </a:p>
          <a:p>
            <a:pPr lvl="1"/>
            <a:r>
              <a:rPr lang="en-US" sz="2000" dirty="0"/>
              <a:t>Can immediately tell if there is a difference </a:t>
            </a:r>
          </a:p>
          <a:p>
            <a:pPr lvl="1"/>
            <a:r>
              <a:rPr lang="en-US" sz="2000" dirty="0"/>
              <a:t>Can immediately tell what the difference is</a:t>
            </a:r>
          </a:p>
          <a:p>
            <a:pPr lvl="1"/>
            <a:r>
              <a:rPr lang="en-US" sz="2000" dirty="0"/>
              <a:t>Responsible for requesting data in the associated data namespace</a:t>
            </a:r>
          </a:p>
          <a:p>
            <a:pPr lvl="1"/>
            <a:endParaRPr lang="en-US" sz="2000" dirty="0"/>
          </a:p>
          <a:p>
            <a:r>
              <a:rPr lang="en-US" sz="2400" dirty="0"/>
              <a:t>Future work to address scaling challenges related </a:t>
            </a:r>
            <a:br>
              <a:rPr lang="en-US" sz="2400" dirty="0"/>
            </a:br>
            <a:r>
              <a:rPr lang="en-US" sz="2400" dirty="0"/>
              <a:t>to name size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46045-D020-D04E-82CE-8061AAFF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73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EC06-C7C8-354C-80FE-E03EE7D7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332" y="822960"/>
            <a:ext cx="6857668" cy="640080"/>
          </a:xfrm>
        </p:spPr>
        <p:txBody>
          <a:bodyPr>
            <a:noAutofit/>
          </a:bodyPr>
          <a:lstStyle/>
          <a:p>
            <a:r>
              <a:rPr lang="en-US" sz="3200" b="1" dirty="0"/>
              <a:t>Local First Multicast (LFM)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1B62-6296-9240-A055-2CB9DD96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4127117"/>
          </a:xfrm>
        </p:spPr>
        <p:txBody>
          <a:bodyPr>
            <a:normAutofit/>
          </a:bodyPr>
          <a:lstStyle/>
          <a:p>
            <a:r>
              <a:rPr lang="en-US" sz="2000" dirty="0"/>
              <a:t>Using standard multicast in a mesh/MANET topology</a:t>
            </a:r>
          </a:p>
          <a:p>
            <a:pPr lvl="1"/>
            <a:r>
              <a:rPr lang="en-US" sz="1800" dirty="0"/>
              <a:t>Sync interests contributed a lot of traffic</a:t>
            </a:r>
          </a:p>
          <a:p>
            <a:pPr lvl="1"/>
            <a:r>
              <a:rPr lang="en-US" sz="1800" dirty="0"/>
              <a:t>How to make Sync more efficient?</a:t>
            </a:r>
          </a:p>
          <a:p>
            <a:r>
              <a:rPr lang="en-US" sz="2000" dirty="0"/>
              <a:t>Give local Sync process a chance to merge state before multicasting to all neighbor nodes</a:t>
            </a:r>
          </a:p>
          <a:p>
            <a:pPr lvl="1"/>
            <a:r>
              <a:rPr lang="en-US" sz="1800" dirty="0"/>
              <a:t>Interest from remote face, if matched FIB entry </a:t>
            </a:r>
          </a:p>
          <a:p>
            <a:pPr lvl="2"/>
            <a:r>
              <a:rPr lang="en-US" sz="1600" dirty="0"/>
              <a:t>Has a local face (Sync process), send there only</a:t>
            </a:r>
          </a:p>
          <a:p>
            <a:pPr lvl="2"/>
            <a:r>
              <a:rPr lang="en-US" sz="1600" dirty="0"/>
              <a:t>Has no local face, multicast to all remote faces</a:t>
            </a:r>
          </a:p>
          <a:p>
            <a:pPr lvl="1"/>
            <a:r>
              <a:rPr lang="en-US" sz="1800" dirty="0"/>
              <a:t>Interest from local face, multicast to all remote faces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A04D99-3C97-034C-B4EC-6BAEA717FE6D}"/>
              </a:ext>
            </a:extLst>
          </p:cNvPr>
          <p:cNvGrpSpPr/>
          <p:nvPr/>
        </p:nvGrpSpPr>
        <p:grpSpPr>
          <a:xfrm>
            <a:off x="6027386" y="4610106"/>
            <a:ext cx="2001064" cy="1860555"/>
            <a:chOff x="7115799" y="4611145"/>
            <a:chExt cx="2001064" cy="1860555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3397A62-496E-FA4E-BF02-364A9C9A9ACC}"/>
                </a:ext>
              </a:extLst>
            </p:cNvPr>
            <p:cNvCxnSpPr>
              <a:cxnSpLocks/>
            </p:cNvCxnSpPr>
            <p:nvPr/>
          </p:nvCxnSpPr>
          <p:spPr>
            <a:xfrm>
              <a:off x="8198940" y="5686206"/>
              <a:ext cx="0" cy="785494"/>
            </a:xfrm>
            <a:prstGeom prst="line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6CA9AE02-B112-1C43-9A9D-70BA987705BE}"/>
                </a:ext>
              </a:extLst>
            </p:cNvPr>
            <p:cNvSpPr/>
            <p:nvPr/>
          </p:nvSpPr>
          <p:spPr>
            <a:xfrm>
              <a:off x="7787580" y="4611145"/>
              <a:ext cx="640080" cy="375234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666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93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Sync</a:t>
              </a: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DF13EE54-7776-3F4E-9BB6-1C73C2EB1CED}"/>
                </a:ext>
              </a:extLst>
            </p:cNvPr>
            <p:cNvCxnSpPr>
              <a:cxnSpLocks/>
              <a:stCxn id="151" idx="0"/>
              <a:endCxn id="93" idx="2"/>
            </p:cNvCxnSpPr>
            <p:nvPr/>
          </p:nvCxnSpPr>
          <p:spPr>
            <a:xfrm flipH="1" flipV="1">
              <a:off x="8107620" y="4986379"/>
              <a:ext cx="406" cy="32302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895547E3-950F-9140-92AE-8B69AD9C0B2B}"/>
                </a:ext>
              </a:extLst>
            </p:cNvPr>
            <p:cNvCxnSpPr>
              <a:cxnSpLocks/>
              <a:endCxn id="151" idx="3"/>
            </p:cNvCxnSpPr>
            <p:nvPr/>
          </p:nvCxnSpPr>
          <p:spPr>
            <a:xfrm flipV="1">
              <a:off x="7330057" y="5855746"/>
              <a:ext cx="551667" cy="27432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75C6A12-AC08-9F4F-8BFF-463008D0509E}"/>
                </a:ext>
              </a:extLst>
            </p:cNvPr>
            <p:cNvCxnSpPr>
              <a:cxnSpLocks/>
              <a:endCxn id="151" idx="4"/>
            </p:cNvCxnSpPr>
            <p:nvPr/>
          </p:nvCxnSpPr>
          <p:spPr>
            <a:xfrm flipV="1">
              <a:off x="8108026" y="5949484"/>
              <a:ext cx="0" cy="513806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7EB15DE-C90C-3E4B-B518-1DDE2F78B232}"/>
                </a:ext>
              </a:extLst>
            </p:cNvPr>
            <p:cNvCxnSpPr>
              <a:cxnSpLocks/>
              <a:endCxn id="151" idx="5"/>
            </p:cNvCxnSpPr>
            <p:nvPr/>
          </p:nvCxnSpPr>
          <p:spPr>
            <a:xfrm flipH="1" flipV="1">
              <a:off x="8334328" y="5855746"/>
              <a:ext cx="548640" cy="27432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01C75AB-693E-AE4C-9303-40AB66AD3918}"/>
                </a:ext>
              </a:extLst>
            </p:cNvPr>
            <p:cNvSpPr txBox="1"/>
            <p:nvPr/>
          </p:nvSpPr>
          <p:spPr>
            <a:xfrm rot="19996640">
              <a:off x="7115799" y="5646710"/>
              <a:ext cx="941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666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</a:rPr>
                <a:t>Interest</a:t>
              </a:r>
              <a:endParaRPr kumimoji="0" lang="en-US" sz="1400" b="0" i="0" u="none" strike="noStrike" kern="0" cap="none" spc="0" normalizeH="0" baseline="-2500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778E2FA-2E6A-6A46-BBC0-A199E5BE7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2866" y="5794907"/>
              <a:ext cx="661956" cy="335159"/>
            </a:xfrm>
            <a:prstGeom prst="line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arrow" w="med" len="med"/>
              <a:tailEnd type="none" w="med" len="med"/>
            </a:ln>
            <a:effectLst/>
          </p:spPr>
        </p:cxn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92FD97D-2949-A84F-9616-7D034C440038}"/>
                </a:ext>
              </a:extLst>
            </p:cNvPr>
            <p:cNvSpPr txBox="1"/>
            <p:nvPr/>
          </p:nvSpPr>
          <p:spPr>
            <a:xfrm>
              <a:off x="7310228" y="5021395"/>
              <a:ext cx="941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666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</a:rPr>
                <a:t>Interest</a:t>
              </a:r>
              <a:endParaRPr kumimoji="0" lang="en-US" sz="1400" b="0" i="0" u="none" strike="noStrike" kern="0" cap="none" spc="0" normalizeH="0" baseline="-2500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1AEE8094-813F-7240-A635-9D64BCABFE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2224" y="5006147"/>
              <a:ext cx="0" cy="303257"/>
            </a:xfrm>
            <a:prstGeom prst="line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arrow" w="med" len="med"/>
              <a:tailEnd type="none" w="med" len="med"/>
            </a:ln>
            <a:effectLst/>
          </p:spPr>
        </p:cxn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FE74EFBA-8701-2E44-AE8D-D7FF8B08440C}"/>
                </a:ext>
              </a:extLst>
            </p:cNvPr>
            <p:cNvSpPr/>
            <p:nvPr/>
          </p:nvSpPr>
          <p:spPr>
            <a:xfrm>
              <a:off x="7787986" y="5309404"/>
              <a:ext cx="640080" cy="64008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666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93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NFD</a:t>
              </a:r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85E8B50-8F41-4F44-9259-9DB0D2F521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863" y="5948445"/>
              <a:ext cx="0" cy="513806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F947B90-7DCC-1A40-827F-C9D8410B42F6}"/>
                </a:ext>
              </a:extLst>
            </p:cNvPr>
            <p:cNvSpPr txBox="1"/>
            <p:nvPr/>
          </p:nvSpPr>
          <p:spPr>
            <a:xfrm>
              <a:off x="8175695" y="6083604"/>
              <a:ext cx="941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6612"/>
              <a:r>
                <a:rPr lang="en-US" sz="1400" dirty="0">
                  <a:solidFill>
                    <a:srgbClr val="5B9BD5">
                      <a:lumMod val="75000"/>
                    </a:srgbClr>
                  </a:solidFill>
                  <a:latin typeface="Calibri" panose="020F0502020204030204"/>
                </a:rPr>
                <a:t>Interest</a:t>
              </a:r>
              <a:endParaRPr lang="en-US" sz="1400" baseline="-25000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endParaRPr>
            </a:p>
          </p:txBody>
        </p: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A711180F-C8F9-5B4C-A1D3-12D7C6ADD183}"/>
                </a:ext>
              </a:extLst>
            </p:cNvPr>
            <p:cNvCxnSpPr>
              <a:cxnSpLocks/>
            </p:cNvCxnSpPr>
            <p:nvPr/>
          </p:nvCxnSpPr>
          <p:spPr>
            <a:xfrm>
              <a:off x="8400145" y="5797888"/>
              <a:ext cx="594448" cy="302331"/>
            </a:xfrm>
            <a:prstGeom prst="line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9DD6F734-BE28-C747-B4AA-27DD93FD40ED}"/>
                </a:ext>
              </a:extLst>
            </p:cNvPr>
            <p:cNvSpPr txBox="1"/>
            <p:nvPr/>
          </p:nvSpPr>
          <p:spPr>
            <a:xfrm rot="1573770">
              <a:off x="8347792" y="5684968"/>
              <a:ext cx="7658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6612"/>
              <a:r>
                <a:rPr lang="en-US" sz="1400" dirty="0">
                  <a:solidFill>
                    <a:srgbClr val="5B9BD5">
                      <a:lumMod val="75000"/>
                    </a:srgbClr>
                  </a:solidFill>
                  <a:latin typeface="Calibri" panose="020F0502020204030204"/>
                </a:rPr>
                <a:t>Interest</a:t>
              </a:r>
              <a:endParaRPr lang="en-US" sz="1400" baseline="-25000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34FFE4D-FF09-D549-80D2-5F7199B8241E}"/>
              </a:ext>
            </a:extLst>
          </p:cNvPr>
          <p:cNvGrpSpPr/>
          <p:nvPr/>
        </p:nvGrpSpPr>
        <p:grpSpPr>
          <a:xfrm>
            <a:off x="871892" y="4610106"/>
            <a:ext cx="1869748" cy="1852145"/>
            <a:chOff x="227994" y="4619555"/>
            <a:chExt cx="1869748" cy="1852145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12BF8E69-61C4-104C-B42E-A235E93FDBD5}"/>
                </a:ext>
              </a:extLst>
            </p:cNvPr>
            <p:cNvSpPr/>
            <p:nvPr/>
          </p:nvSpPr>
          <p:spPr>
            <a:xfrm>
              <a:off x="1002354" y="4619555"/>
              <a:ext cx="640080" cy="375234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666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93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Sync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8CAE284-FB37-6C4D-ABB8-445BA2B6D0FA}"/>
                </a:ext>
              </a:extLst>
            </p:cNvPr>
            <p:cNvCxnSpPr>
              <a:cxnSpLocks/>
              <a:stCxn id="76" idx="0"/>
              <a:endCxn id="63" idx="2"/>
            </p:cNvCxnSpPr>
            <p:nvPr/>
          </p:nvCxnSpPr>
          <p:spPr>
            <a:xfrm flipH="1" flipV="1">
              <a:off x="1322394" y="4994789"/>
              <a:ext cx="406" cy="32302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B882B2D-2022-EE4E-ADD2-C44F76A55C7E}"/>
                </a:ext>
              </a:extLst>
            </p:cNvPr>
            <p:cNvCxnSpPr>
              <a:cxnSpLocks/>
              <a:endCxn id="76" idx="3"/>
            </p:cNvCxnSpPr>
            <p:nvPr/>
          </p:nvCxnSpPr>
          <p:spPr>
            <a:xfrm flipV="1">
              <a:off x="544831" y="5864156"/>
              <a:ext cx="551667" cy="27432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438C0B0-2423-784B-91D3-51F9E44E28AB}"/>
                </a:ext>
              </a:extLst>
            </p:cNvPr>
            <p:cNvCxnSpPr>
              <a:cxnSpLocks/>
              <a:endCxn id="76" idx="4"/>
            </p:cNvCxnSpPr>
            <p:nvPr/>
          </p:nvCxnSpPr>
          <p:spPr>
            <a:xfrm flipV="1">
              <a:off x="1322800" y="5957894"/>
              <a:ext cx="0" cy="513806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E65F7A5-C0C4-6B4F-8FB5-F19F05A4CE89}"/>
                </a:ext>
              </a:extLst>
            </p:cNvPr>
            <p:cNvCxnSpPr>
              <a:cxnSpLocks/>
              <a:endCxn id="76" idx="5"/>
            </p:cNvCxnSpPr>
            <p:nvPr/>
          </p:nvCxnSpPr>
          <p:spPr>
            <a:xfrm flipH="1" flipV="1">
              <a:off x="1549102" y="5864156"/>
              <a:ext cx="548640" cy="27432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4E9A1E9-6EAA-594A-937C-1B21085A6304}"/>
                </a:ext>
              </a:extLst>
            </p:cNvPr>
            <p:cNvSpPr txBox="1"/>
            <p:nvPr/>
          </p:nvSpPr>
          <p:spPr>
            <a:xfrm rot="19996640">
              <a:off x="227994" y="5710268"/>
              <a:ext cx="941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6612"/>
              <a:r>
                <a:rPr lang="en-US" sz="1400" dirty="0">
                  <a:solidFill>
                    <a:srgbClr val="5B9BD5">
                      <a:lumMod val="75000"/>
                    </a:srgbClr>
                  </a:solidFill>
                  <a:latin typeface="Calibri" panose="020F0502020204030204"/>
                </a:rPr>
                <a:t>Interest</a:t>
              </a:r>
              <a:endParaRPr lang="en-US" sz="1400" baseline="-25000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57A7421-8AC0-954B-8C16-4F9B70B66A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640" y="5803317"/>
              <a:ext cx="661956" cy="335159"/>
            </a:xfrm>
            <a:prstGeom prst="line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A76F6BA-0C9C-1044-9005-6E6E1CD4ABBD}"/>
                </a:ext>
              </a:extLst>
            </p:cNvPr>
            <p:cNvSpPr txBox="1"/>
            <p:nvPr/>
          </p:nvSpPr>
          <p:spPr>
            <a:xfrm>
              <a:off x="525002" y="5029805"/>
              <a:ext cx="941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6612"/>
              <a:r>
                <a:rPr lang="en-US" sz="1400" dirty="0">
                  <a:solidFill>
                    <a:srgbClr val="5B9BD5">
                      <a:lumMod val="75000"/>
                    </a:srgbClr>
                  </a:solidFill>
                  <a:latin typeface="Calibri" panose="020F0502020204030204"/>
                </a:rPr>
                <a:t>Interest</a:t>
              </a:r>
              <a:endParaRPr lang="en-US" sz="1400" baseline="-25000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ECDE676-46D6-574C-9602-444D338B37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6998" y="5014557"/>
              <a:ext cx="0" cy="449186"/>
            </a:xfrm>
            <a:prstGeom prst="line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BA69470-D878-9648-8436-D59621F40804}"/>
                </a:ext>
              </a:extLst>
            </p:cNvPr>
            <p:cNvSpPr/>
            <p:nvPr/>
          </p:nvSpPr>
          <p:spPr>
            <a:xfrm>
              <a:off x="1002760" y="5317814"/>
              <a:ext cx="640080" cy="64008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666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93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NFD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3C8C81F-4D43-7742-B140-9D89CE451767}"/>
                </a:ext>
              </a:extLst>
            </p:cNvPr>
            <p:cNvSpPr txBox="1"/>
            <p:nvPr/>
          </p:nvSpPr>
          <p:spPr>
            <a:xfrm>
              <a:off x="1165561" y="5283628"/>
              <a:ext cx="287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6612"/>
              <a:r>
                <a:rPr lang="en-US" sz="1400" b="1" dirty="0">
                  <a:solidFill>
                    <a:prstClr val="black"/>
                  </a:solidFill>
                  <a:latin typeface="Calibri" panose="020F0502020204030204"/>
                </a:rPr>
                <a:t>✓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564C04A-C9D1-7645-90F1-8DA120228FC4}"/>
              </a:ext>
            </a:extLst>
          </p:cNvPr>
          <p:cNvGrpSpPr/>
          <p:nvPr/>
        </p:nvGrpSpPr>
        <p:grpSpPr>
          <a:xfrm>
            <a:off x="3326082" y="4610106"/>
            <a:ext cx="2116862" cy="1861594"/>
            <a:chOff x="3548340" y="4610106"/>
            <a:chExt cx="2116862" cy="1861594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3B4D4495-A0E9-7D44-9FB7-CE0B0A5F6399}"/>
                </a:ext>
              </a:extLst>
            </p:cNvPr>
            <p:cNvSpPr/>
            <p:nvPr/>
          </p:nvSpPr>
          <p:spPr>
            <a:xfrm>
              <a:off x="4322700" y="4610106"/>
              <a:ext cx="640080" cy="375234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666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93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Sync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3D6681F-408F-9A49-BB14-40738F98B96F}"/>
                </a:ext>
              </a:extLst>
            </p:cNvPr>
            <p:cNvCxnSpPr>
              <a:cxnSpLocks/>
              <a:stCxn id="89" idx="0"/>
              <a:endCxn id="77" idx="2"/>
            </p:cNvCxnSpPr>
            <p:nvPr/>
          </p:nvCxnSpPr>
          <p:spPr>
            <a:xfrm flipH="1" flipV="1">
              <a:off x="4642740" y="4985340"/>
              <a:ext cx="406" cy="32302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6F4DED7-4861-1142-BA48-04389DD63CA4}"/>
                </a:ext>
              </a:extLst>
            </p:cNvPr>
            <p:cNvCxnSpPr>
              <a:cxnSpLocks/>
              <a:endCxn id="89" idx="3"/>
            </p:cNvCxnSpPr>
            <p:nvPr/>
          </p:nvCxnSpPr>
          <p:spPr>
            <a:xfrm flipV="1">
              <a:off x="3865177" y="5854707"/>
              <a:ext cx="551667" cy="27432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AF1D13D-5247-1C49-858C-20D7F6091E04}"/>
                </a:ext>
              </a:extLst>
            </p:cNvPr>
            <p:cNvCxnSpPr>
              <a:cxnSpLocks/>
              <a:endCxn id="89" idx="4"/>
            </p:cNvCxnSpPr>
            <p:nvPr/>
          </p:nvCxnSpPr>
          <p:spPr>
            <a:xfrm flipV="1">
              <a:off x="4643146" y="5948445"/>
              <a:ext cx="0" cy="513806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DE05DCF-81C7-7248-8F09-466274595B23}"/>
                </a:ext>
              </a:extLst>
            </p:cNvPr>
            <p:cNvCxnSpPr>
              <a:cxnSpLocks/>
              <a:endCxn id="89" idx="5"/>
            </p:cNvCxnSpPr>
            <p:nvPr/>
          </p:nvCxnSpPr>
          <p:spPr>
            <a:xfrm flipH="1" flipV="1">
              <a:off x="4869448" y="5854707"/>
              <a:ext cx="548640" cy="27432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213FA8F-1F86-CD4B-926F-816CC19C9ECF}"/>
                </a:ext>
              </a:extLst>
            </p:cNvPr>
            <p:cNvSpPr txBox="1"/>
            <p:nvPr/>
          </p:nvSpPr>
          <p:spPr>
            <a:xfrm rot="19996640">
              <a:off x="3548340" y="5700819"/>
              <a:ext cx="941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6612"/>
              <a:r>
                <a:rPr lang="en-US" sz="1400" dirty="0">
                  <a:solidFill>
                    <a:srgbClr val="5B9BD5">
                      <a:lumMod val="75000"/>
                    </a:srgbClr>
                  </a:solidFill>
                  <a:latin typeface="Calibri" panose="020F0502020204030204"/>
                </a:rPr>
                <a:t>Interest</a:t>
              </a:r>
              <a:endParaRPr lang="en-US" sz="1400" baseline="-25000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7D67A70-35B0-CC4E-AC46-EEB844B873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7986" y="5793868"/>
              <a:ext cx="661956" cy="335159"/>
            </a:xfrm>
            <a:prstGeom prst="line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720C30D-244A-DA48-92BF-03F376E52899}"/>
                </a:ext>
              </a:extLst>
            </p:cNvPr>
            <p:cNvSpPr txBox="1"/>
            <p:nvPr/>
          </p:nvSpPr>
          <p:spPr>
            <a:xfrm>
              <a:off x="4705978" y="6083604"/>
              <a:ext cx="941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6612"/>
              <a:r>
                <a:rPr lang="en-US" sz="1400" dirty="0">
                  <a:solidFill>
                    <a:srgbClr val="5B9BD5">
                      <a:lumMod val="75000"/>
                    </a:srgbClr>
                  </a:solidFill>
                  <a:latin typeface="Calibri" panose="020F0502020204030204"/>
                </a:rPr>
                <a:t>Interest</a:t>
              </a:r>
              <a:endParaRPr lang="en-US" sz="1400" baseline="-25000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2688876-B75F-704C-B33A-E95C4C637925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61" y="5776622"/>
              <a:ext cx="594448" cy="302331"/>
            </a:xfrm>
            <a:prstGeom prst="line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BCD2E07-0B19-404A-BDA6-938599BE2F6E}"/>
                </a:ext>
              </a:extLst>
            </p:cNvPr>
            <p:cNvSpPr txBox="1"/>
            <p:nvPr/>
          </p:nvSpPr>
          <p:spPr>
            <a:xfrm rot="1573770">
              <a:off x="4899341" y="5663702"/>
              <a:ext cx="7658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66612"/>
              <a:r>
                <a:rPr lang="en-US" sz="1400" dirty="0">
                  <a:solidFill>
                    <a:srgbClr val="5B9BD5">
                      <a:lumMod val="75000"/>
                    </a:srgbClr>
                  </a:solidFill>
                  <a:latin typeface="Calibri" panose="020F0502020204030204"/>
                </a:rPr>
                <a:t>Interest</a:t>
              </a:r>
              <a:endParaRPr lang="en-US" sz="1400" baseline="-25000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endParaRP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B67A99D-BF4B-1744-9AD0-EDE4C23C9E48}"/>
                </a:ext>
              </a:extLst>
            </p:cNvPr>
            <p:cNvCxnSpPr>
              <a:cxnSpLocks/>
            </p:cNvCxnSpPr>
            <p:nvPr/>
          </p:nvCxnSpPr>
          <p:spPr>
            <a:xfrm>
              <a:off x="4729223" y="5686206"/>
              <a:ext cx="0" cy="785494"/>
            </a:xfrm>
            <a:prstGeom prst="line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EFD9D8A6-BAEB-C347-9167-9A70B0716124}"/>
                </a:ext>
              </a:extLst>
            </p:cNvPr>
            <p:cNvSpPr/>
            <p:nvPr/>
          </p:nvSpPr>
          <p:spPr>
            <a:xfrm>
              <a:off x="4323106" y="5308365"/>
              <a:ext cx="640080" cy="64008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666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93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NFD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70BDC12-EA8D-894F-9C4D-401750146E2E}"/>
                </a:ext>
              </a:extLst>
            </p:cNvPr>
            <p:cNvSpPr txBox="1"/>
            <p:nvPr/>
          </p:nvSpPr>
          <p:spPr>
            <a:xfrm>
              <a:off x="4471554" y="5241868"/>
              <a:ext cx="365760" cy="36576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defTabSz="966612"/>
              <a:r>
                <a:rPr lang="en-US" sz="1400" b="1" dirty="0">
                  <a:solidFill>
                    <a:prstClr val="black"/>
                  </a:solidFill>
                  <a:latin typeface="Calibri" panose="020F0502020204030204"/>
                </a:rPr>
                <a:t>✕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90D7D-AA09-1E4E-92BA-CD586CD3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66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EC06-C7C8-354C-80FE-E03EE7D7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105" y="822960"/>
            <a:ext cx="6837895" cy="640080"/>
          </a:xfrm>
        </p:spPr>
        <p:txBody>
          <a:bodyPr>
            <a:noAutofit/>
          </a:bodyPr>
          <a:lstStyle/>
          <a:p>
            <a:r>
              <a:rPr lang="en-US" sz="3200" b="1" dirty="0"/>
              <a:t>Performance Studies: LFM for Sync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1B62-6296-9240-A055-2CB9DD96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936883"/>
          </a:xfrm>
        </p:spPr>
        <p:txBody>
          <a:bodyPr>
            <a:noAutofit/>
          </a:bodyPr>
          <a:lstStyle/>
          <a:p>
            <a:r>
              <a:rPr lang="en-US" sz="1600" dirty="0"/>
              <a:t>Local First Multicast (LFM):  Efficient routing strategy for bandwidth-limited networks</a:t>
            </a:r>
          </a:p>
          <a:p>
            <a:r>
              <a:rPr lang="en-US" sz="1600" b="1" dirty="0"/>
              <a:t>Test configuration: 25 nodes, fully connected mesh, 100 chunks, 20 secs (5 Hz)</a:t>
            </a:r>
          </a:p>
          <a:p>
            <a:r>
              <a:rPr lang="en-US" sz="1600" dirty="0"/>
              <a:t>Pulse width: Should be ~20 secs (receive all data in approx. how long it takes to publish it)</a:t>
            </a:r>
          </a:p>
          <a:p>
            <a:r>
              <a:rPr lang="en-US" sz="1600" dirty="0"/>
              <a:t>ONL real time monitoring charts show instantaneous link BW over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DACC4-180C-E04A-BF5E-4B0DF2E087A9}"/>
              </a:ext>
            </a:extLst>
          </p:cNvPr>
          <p:cNvSpPr txBox="1"/>
          <p:nvPr/>
        </p:nvSpPr>
        <p:spPr>
          <a:xfrm>
            <a:off x="3619633" y="2875645"/>
            <a:ext cx="4101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SHARE NDN data strategy multicast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61DB6-DFF4-2C42-9413-6AC5517F646C}"/>
              </a:ext>
            </a:extLst>
          </p:cNvPr>
          <p:cNvSpPr txBox="1"/>
          <p:nvPr/>
        </p:nvSpPr>
        <p:spPr>
          <a:xfrm>
            <a:off x="1675624" y="2875257"/>
            <a:ext cx="1527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Standard NDN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E84E4F6-AEF1-0F40-809C-C2C94DC534A4}"/>
              </a:ext>
            </a:extLst>
          </p:cNvPr>
          <p:cNvGrpSpPr/>
          <p:nvPr/>
        </p:nvGrpSpPr>
        <p:grpSpPr>
          <a:xfrm>
            <a:off x="886233" y="3212887"/>
            <a:ext cx="7154916" cy="1497065"/>
            <a:chOff x="789379" y="2824042"/>
            <a:chExt cx="7154916" cy="1497065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88F7808E-6A44-CA4E-9E5D-FD0758B6B2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33" r="17677" b="6575"/>
            <a:stretch/>
          </p:blipFill>
          <p:spPr bwMode="auto">
            <a:xfrm>
              <a:off x="789379" y="2824578"/>
              <a:ext cx="6586186" cy="14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FF3F86AB-A797-FF44-A78C-4E72A9CD2F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848" t="12633" b="6575"/>
            <a:stretch/>
          </p:blipFill>
          <p:spPr bwMode="auto">
            <a:xfrm>
              <a:off x="7372123" y="2824042"/>
              <a:ext cx="572172" cy="14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084B7C-F6C4-E442-80A8-F8A882D5F6BB}"/>
              </a:ext>
            </a:extLst>
          </p:cNvPr>
          <p:cNvGrpSpPr/>
          <p:nvPr/>
        </p:nvGrpSpPr>
        <p:grpSpPr>
          <a:xfrm>
            <a:off x="886233" y="4778128"/>
            <a:ext cx="7204896" cy="1625581"/>
            <a:chOff x="775765" y="4837414"/>
            <a:chExt cx="7204896" cy="1625581"/>
          </a:xfrm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531F495A-2D92-6445-9127-D1B602D4F3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723" r="30586" b="7129"/>
            <a:stretch/>
          </p:blipFill>
          <p:spPr bwMode="auto">
            <a:xfrm>
              <a:off x="775765" y="4837414"/>
              <a:ext cx="5562866" cy="1625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3">
              <a:extLst>
                <a:ext uri="{FF2B5EF4-FFF2-40B4-BE49-F238E27FC236}">
                  <a16:creationId xmlns:a16="http://schemas.microsoft.com/office/drawing/2014/main" id="{BCE9B573-68A7-0D42-B356-CE3D68F8E4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511" t="11751" b="7101"/>
            <a:stretch/>
          </p:blipFill>
          <p:spPr bwMode="auto">
            <a:xfrm>
              <a:off x="6338631" y="4837414"/>
              <a:ext cx="1642030" cy="1625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3F9AB75-550E-6E43-959D-C08C375A8223}"/>
              </a:ext>
            </a:extLst>
          </p:cNvPr>
          <p:cNvSpPr txBox="1"/>
          <p:nvPr/>
        </p:nvSpPr>
        <p:spPr>
          <a:xfrm rot="16200000">
            <a:off x="-167726" y="3639947"/>
            <a:ext cx="1555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Sync strategy: </a:t>
            </a:r>
          </a:p>
          <a:p>
            <a:pPr algn="ctr"/>
            <a:r>
              <a:rPr lang="en-US" sz="1600" b="1" dirty="0"/>
              <a:t>multicast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125F3-39ED-4046-916B-7A7F1B6C9631}"/>
              </a:ext>
            </a:extLst>
          </p:cNvPr>
          <p:cNvSpPr txBox="1"/>
          <p:nvPr/>
        </p:nvSpPr>
        <p:spPr>
          <a:xfrm rot="16200000">
            <a:off x="-154113" y="5263358"/>
            <a:ext cx="1555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Sync strategy: </a:t>
            </a:r>
          </a:p>
          <a:p>
            <a:pPr algn="ctr"/>
            <a:r>
              <a:rPr lang="en-US" sz="1600" b="1" dirty="0"/>
              <a:t>LFM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6B900-E3C7-C045-88D2-F7141AC20EB0}"/>
              </a:ext>
            </a:extLst>
          </p:cNvPr>
          <p:cNvSpPr txBox="1"/>
          <p:nvPr/>
        </p:nvSpPr>
        <p:spPr>
          <a:xfrm>
            <a:off x="1558049" y="4020921"/>
            <a:ext cx="1701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Pulse: 438.4 sec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FE5F44-E899-9445-9514-D229E0C9F41A}"/>
              </a:ext>
            </a:extLst>
          </p:cNvPr>
          <p:cNvSpPr txBox="1"/>
          <p:nvPr/>
        </p:nvSpPr>
        <p:spPr>
          <a:xfrm>
            <a:off x="4688369" y="3932335"/>
            <a:ext cx="1587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Pulse: 79.4 sec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81FB13-48B9-EC4F-9783-77F1C752E824}"/>
              </a:ext>
            </a:extLst>
          </p:cNvPr>
          <p:cNvSpPr txBox="1"/>
          <p:nvPr/>
        </p:nvSpPr>
        <p:spPr>
          <a:xfrm>
            <a:off x="1954289" y="5576016"/>
            <a:ext cx="1587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Pulse: 33.2 sec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979612-9F8C-1C4F-B729-E41BEF3555B1}"/>
              </a:ext>
            </a:extLst>
          </p:cNvPr>
          <p:cNvSpPr txBox="1"/>
          <p:nvPr/>
        </p:nvSpPr>
        <p:spPr>
          <a:xfrm>
            <a:off x="4063973" y="5544897"/>
            <a:ext cx="1587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Pulse: 23.2 sec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5CD177-F19E-AD4A-812E-A2B3003D249B}"/>
              </a:ext>
            </a:extLst>
          </p:cNvPr>
          <p:cNvCxnSpPr/>
          <p:nvPr/>
        </p:nvCxnSpPr>
        <p:spPr>
          <a:xfrm>
            <a:off x="1404429" y="4270889"/>
            <a:ext cx="1997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D8E598-B8DC-2C4E-A06A-4400F1BF1022}"/>
              </a:ext>
            </a:extLst>
          </p:cNvPr>
          <p:cNvCxnSpPr>
            <a:cxnSpLocks/>
          </p:cNvCxnSpPr>
          <p:nvPr/>
        </p:nvCxnSpPr>
        <p:spPr>
          <a:xfrm>
            <a:off x="3727090" y="2875257"/>
            <a:ext cx="0" cy="352845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D49778B-84E2-B043-8248-98119A825445}"/>
              </a:ext>
            </a:extLst>
          </p:cNvPr>
          <p:cNvSpPr txBox="1"/>
          <p:nvPr/>
        </p:nvSpPr>
        <p:spPr>
          <a:xfrm>
            <a:off x="8313294" y="3118887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8 Mb/s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A9AF6D5-DDD3-1846-A7FB-A7AE6380F2A7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153955" y="3272776"/>
            <a:ext cx="7159339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EF0AD4E-E9D6-584B-AB3E-B6D2C4F52150}"/>
              </a:ext>
            </a:extLst>
          </p:cNvPr>
          <p:cNvSpPr txBox="1"/>
          <p:nvPr/>
        </p:nvSpPr>
        <p:spPr>
          <a:xfrm>
            <a:off x="8313294" y="469421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8 Mb/s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4FB53A-A030-5043-8181-FB4F00C5B1AB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1153955" y="4848103"/>
            <a:ext cx="7159339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D52ED11-8CF9-CC45-ABFD-4C18D568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17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EC06-C7C8-354C-80FE-E03EE7D7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418" y="822960"/>
            <a:ext cx="6815582" cy="640080"/>
          </a:xfrm>
        </p:spPr>
        <p:txBody>
          <a:bodyPr>
            <a:noAutofit/>
          </a:bodyPr>
          <a:lstStyle/>
          <a:p>
            <a:r>
              <a:rPr lang="en-US" sz="2800" b="1" dirty="0"/>
              <a:t>Performance Studies: Neighborhoods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1B62-6296-9240-A055-2CB9DD96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64972" cy="2044585"/>
          </a:xfrm>
        </p:spPr>
        <p:txBody>
          <a:bodyPr>
            <a:noAutofit/>
          </a:bodyPr>
          <a:lstStyle/>
          <a:p>
            <a:r>
              <a:rPr lang="en-US" sz="1600" dirty="0"/>
              <a:t>Emulated evaluation of NDN performance of 25 nodes across a range of MANET topologies</a:t>
            </a:r>
          </a:p>
          <a:p>
            <a:pPr lvl="1"/>
            <a:r>
              <a:rPr lang="en-US" sz="1400" dirty="0"/>
              <a:t>Focus on how various topologies benefit from or get stressed by NDN’s data synchronization</a:t>
            </a:r>
          </a:p>
          <a:p>
            <a:r>
              <a:rPr lang="en-US" sz="1600" dirty="0"/>
              <a:t>Experimentation details – conducted on emulated network in WUSTL’s Open Network Lab</a:t>
            </a:r>
          </a:p>
          <a:p>
            <a:pPr lvl="1"/>
            <a:r>
              <a:rPr lang="en-US" sz="1400" dirty="0"/>
              <a:t>All 25 nodes publish data at 5 Hz (1000 chunks over 200 secs) and consume each other’s data</a:t>
            </a:r>
          </a:p>
          <a:p>
            <a:pPr lvl="1"/>
            <a:r>
              <a:rPr lang="en-US" sz="1400" dirty="0"/>
              <a:t>Each link is rate-limited to 8Mbps (estimate for a particular tactical radio) </a:t>
            </a:r>
            <a:br>
              <a:rPr lang="en-US" sz="1400" dirty="0"/>
            </a:br>
            <a:r>
              <a:rPr lang="en-US" sz="1400" dirty="0"/>
              <a:t>with no loss and nominal delay of 5ms</a:t>
            </a:r>
          </a:p>
          <a:p>
            <a:pPr lvl="1"/>
            <a:r>
              <a:rPr lang="en-US" sz="1400" dirty="0"/>
              <a:t>Each topology divided into “neighborhoods”, where all nodes in a neighborhood </a:t>
            </a:r>
            <a:br>
              <a:rPr lang="en-US" sz="1400" dirty="0"/>
            </a:br>
            <a:r>
              <a:rPr lang="en-US" sz="1400" dirty="0"/>
              <a:t>have next-hops to each other</a:t>
            </a:r>
          </a:p>
          <a:p>
            <a:pPr lvl="1"/>
            <a:r>
              <a:rPr lang="en-US" sz="1400" dirty="0"/>
              <a:t>Instantaneous throughput monitored on select set of nodes (denoted by colored circles in figure below)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712172D-BAE0-FA44-B106-748C3E116894}"/>
              </a:ext>
            </a:extLst>
          </p:cNvPr>
          <p:cNvGrpSpPr/>
          <p:nvPr/>
        </p:nvGrpSpPr>
        <p:grpSpPr>
          <a:xfrm>
            <a:off x="1230765" y="3928265"/>
            <a:ext cx="6067990" cy="2578288"/>
            <a:chOff x="4441553" y="4259473"/>
            <a:chExt cx="7811408" cy="22493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DF56B4A-0AE3-0A40-998C-2E1FE7627DDD}"/>
                </a:ext>
              </a:extLst>
            </p:cNvPr>
            <p:cNvGrpSpPr/>
            <p:nvPr/>
          </p:nvGrpSpPr>
          <p:grpSpPr>
            <a:xfrm>
              <a:off x="4441553" y="4259473"/>
              <a:ext cx="7811408" cy="400907"/>
              <a:chOff x="4441553" y="4259473"/>
              <a:chExt cx="7811408" cy="400907"/>
            </a:xfrm>
          </p:grpSpPr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94C0BFD9-0563-0C48-BC56-D2495184ACDB}"/>
                  </a:ext>
                </a:extLst>
              </p:cNvPr>
              <p:cNvGrpSpPr/>
              <p:nvPr/>
            </p:nvGrpSpPr>
            <p:grpSpPr>
              <a:xfrm>
                <a:off x="4741875" y="4381621"/>
                <a:ext cx="7138606" cy="153211"/>
                <a:chOff x="352909" y="3041272"/>
                <a:chExt cx="12712311" cy="315547"/>
              </a:xfrm>
            </p:grpSpPr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23A6BA2A-0C80-FF44-84D9-7630586F2380}"/>
                    </a:ext>
                  </a:extLst>
                </p:cNvPr>
                <p:cNvGrpSpPr/>
                <p:nvPr/>
              </p:nvGrpSpPr>
              <p:grpSpPr>
                <a:xfrm>
                  <a:off x="352909" y="3045636"/>
                  <a:ext cx="313359" cy="290957"/>
                  <a:chOff x="356084" y="3020236"/>
                  <a:chExt cx="313359" cy="290957"/>
                </a:xfrm>
              </p:grpSpPr>
              <p:sp>
                <p:nvSpPr>
                  <p:cNvPr id="219" name="Oval 218">
                    <a:extLst>
                      <a:ext uri="{FF2B5EF4-FFF2-40B4-BE49-F238E27FC236}">
                        <a16:creationId xmlns:a16="http://schemas.microsoft.com/office/drawing/2014/main" id="{E6C93219-65BA-CC49-B19C-7C124AB06458}"/>
                      </a:ext>
                    </a:extLst>
                  </p:cNvPr>
                  <p:cNvSpPr/>
                  <p:nvPr/>
                </p:nvSpPr>
                <p:spPr>
                  <a:xfrm>
                    <a:off x="356084" y="3028896"/>
                    <a:ext cx="303069" cy="282297"/>
                  </a:xfrm>
                  <a:prstGeom prst="ellipse">
                    <a:avLst/>
                  </a:prstGeom>
                  <a:solidFill>
                    <a:srgbClr val="0066FF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0" name="Oval 219">
                    <a:extLst>
                      <a:ext uri="{FF2B5EF4-FFF2-40B4-BE49-F238E27FC236}">
                        <a16:creationId xmlns:a16="http://schemas.microsoft.com/office/drawing/2014/main" id="{AFFE747E-ABE1-5847-A1F1-DE39018D25FE}"/>
                      </a:ext>
                    </a:extLst>
                  </p:cNvPr>
                  <p:cNvSpPr/>
                  <p:nvPr/>
                </p:nvSpPr>
                <p:spPr>
                  <a:xfrm>
                    <a:off x="366374" y="302023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1EE69D99-5838-624D-B3B3-2397E107F09A}"/>
                    </a:ext>
                  </a:extLst>
                </p:cNvPr>
                <p:cNvGrpSpPr/>
                <p:nvPr/>
              </p:nvGrpSpPr>
              <p:grpSpPr>
                <a:xfrm>
                  <a:off x="2429758" y="3049326"/>
                  <a:ext cx="307059" cy="283095"/>
                  <a:chOff x="2429758" y="2966776"/>
                  <a:chExt cx="307059" cy="283095"/>
                </a:xfrm>
              </p:grpSpPr>
              <p:sp>
                <p:nvSpPr>
                  <p:cNvPr id="217" name="Oval 216">
                    <a:extLst>
                      <a:ext uri="{FF2B5EF4-FFF2-40B4-BE49-F238E27FC236}">
                        <a16:creationId xmlns:a16="http://schemas.microsoft.com/office/drawing/2014/main" id="{44A194DA-56A9-2B4A-A536-6687271A2B73}"/>
                      </a:ext>
                    </a:extLst>
                  </p:cNvPr>
                  <p:cNvSpPr/>
                  <p:nvPr/>
                </p:nvSpPr>
                <p:spPr>
                  <a:xfrm>
                    <a:off x="2429758" y="2967574"/>
                    <a:ext cx="303069" cy="282297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8" name="Oval 217">
                    <a:extLst>
                      <a:ext uri="{FF2B5EF4-FFF2-40B4-BE49-F238E27FC236}">
                        <a16:creationId xmlns:a16="http://schemas.microsoft.com/office/drawing/2014/main" id="{CB01A4A0-4256-5243-B270-D6CA174777D3}"/>
                      </a:ext>
                    </a:extLst>
                  </p:cNvPr>
                  <p:cNvSpPr/>
                  <p:nvPr/>
                </p:nvSpPr>
                <p:spPr>
                  <a:xfrm>
                    <a:off x="2433748" y="296677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A02C389D-DDDE-FF41-BA89-A111761E7D19}"/>
                    </a:ext>
                  </a:extLst>
                </p:cNvPr>
                <p:cNvGrpSpPr/>
                <p:nvPr/>
              </p:nvGrpSpPr>
              <p:grpSpPr>
                <a:xfrm>
                  <a:off x="10187129" y="3048583"/>
                  <a:ext cx="307059" cy="283095"/>
                  <a:chOff x="10203754" y="2898954"/>
                  <a:chExt cx="307059" cy="283095"/>
                </a:xfrm>
              </p:grpSpPr>
              <p:sp>
                <p:nvSpPr>
                  <p:cNvPr id="215" name="Oval 214">
                    <a:extLst>
                      <a:ext uri="{FF2B5EF4-FFF2-40B4-BE49-F238E27FC236}">
                        <a16:creationId xmlns:a16="http://schemas.microsoft.com/office/drawing/2014/main" id="{F4A4CDD3-B88B-A34F-9BBA-529A40E6E3BC}"/>
                      </a:ext>
                    </a:extLst>
                  </p:cNvPr>
                  <p:cNvSpPr/>
                  <p:nvPr/>
                </p:nvSpPr>
                <p:spPr>
                  <a:xfrm>
                    <a:off x="10203754" y="2899752"/>
                    <a:ext cx="303069" cy="282297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6" name="Oval 215">
                    <a:extLst>
                      <a:ext uri="{FF2B5EF4-FFF2-40B4-BE49-F238E27FC236}">
                        <a16:creationId xmlns:a16="http://schemas.microsoft.com/office/drawing/2014/main" id="{55838135-AED4-E544-BFDA-33B9916AFE82}"/>
                      </a:ext>
                    </a:extLst>
                  </p:cNvPr>
                  <p:cNvSpPr/>
                  <p:nvPr/>
                </p:nvSpPr>
                <p:spPr>
                  <a:xfrm>
                    <a:off x="10207744" y="2898954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>
                  <a:extLst>
                    <a:ext uri="{FF2B5EF4-FFF2-40B4-BE49-F238E27FC236}">
                      <a16:creationId xmlns:a16="http://schemas.microsoft.com/office/drawing/2014/main" id="{0C603F09-234B-2F47-9770-38A847328722}"/>
                    </a:ext>
                  </a:extLst>
                </p:cNvPr>
                <p:cNvGrpSpPr/>
                <p:nvPr/>
              </p:nvGrpSpPr>
              <p:grpSpPr>
                <a:xfrm>
                  <a:off x="6590039" y="3047119"/>
                  <a:ext cx="307059" cy="283094"/>
                  <a:chOff x="6590039" y="2914115"/>
                  <a:chExt cx="307059" cy="283094"/>
                </a:xfrm>
              </p:grpSpPr>
              <p:sp>
                <p:nvSpPr>
                  <p:cNvPr id="213" name="Oval 212">
                    <a:extLst>
                      <a:ext uri="{FF2B5EF4-FFF2-40B4-BE49-F238E27FC236}">
                        <a16:creationId xmlns:a16="http://schemas.microsoft.com/office/drawing/2014/main" id="{9F0D0CF2-8C6C-AB4C-81F4-8D9FA14B25D4}"/>
                      </a:ext>
                    </a:extLst>
                  </p:cNvPr>
                  <p:cNvSpPr/>
                  <p:nvPr/>
                </p:nvSpPr>
                <p:spPr>
                  <a:xfrm>
                    <a:off x="6590039" y="2914912"/>
                    <a:ext cx="303069" cy="282297"/>
                  </a:xfrm>
                  <a:prstGeom prst="ellipse">
                    <a:avLst/>
                  </a:prstGeom>
                  <a:solidFill>
                    <a:schemeClr val="accent2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4" name="Oval 213">
                    <a:extLst>
                      <a:ext uri="{FF2B5EF4-FFF2-40B4-BE49-F238E27FC236}">
                        <a16:creationId xmlns:a16="http://schemas.microsoft.com/office/drawing/2014/main" id="{61278E41-D356-FE49-ACCA-3144E614FE06}"/>
                      </a:ext>
                    </a:extLst>
                  </p:cNvPr>
                  <p:cNvSpPr/>
                  <p:nvPr/>
                </p:nvSpPr>
                <p:spPr>
                  <a:xfrm>
                    <a:off x="6594029" y="2914115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79F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F64271A2-CA94-5442-82A1-3EC55828AE41}"/>
                    </a:ext>
                  </a:extLst>
                </p:cNvPr>
                <p:cNvSpPr/>
                <p:nvPr/>
              </p:nvSpPr>
              <p:spPr>
                <a:xfrm>
                  <a:off x="910578" y="30567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4BDA86E5-1929-3E49-AF38-DBB3FF629D69}"/>
                    </a:ext>
                  </a:extLst>
                </p:cNvPr>
                <p:cNvSpPr/>
                <p:nvPr/>
              </p:nvSpPr>
              <p:spPr>
                <a:xfrm>
                  <a:off x="1418811" y="305914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67DEF15E-9E98-7E4B-843F-CCB153C1D477}"/>
                    </a:ext>
                  </a:extLst>
                </p:cNvPr>
                <p:cNvSpPr/>
                <p:nvPr/>
              </p:nvSpPr>
              <p:spPr>
                <a:xfrm>
                  <a:off x="1935056" y="30583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9C71A30F-3BD6-D040-8A42-9B930C48750F}"/>
                    </a:ext>
                  </a:extLst>
                </p:cNvPr>
                <p:cNvSpPr/>
                <p:nvPr/>
              </p:nvSpPr>
              <p:spPr>
                <a:xfrm>
                  <a:off x="3031478" y="305359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AED4AB9C-2F26-684B-AF81-5EFB3A94BAE2}"/>
                    </a:ext>
                  </a:extLst>
                </p:cNvPr>
                <p:cNvSpPr/>
                <p:nvPr/>
              </p:nvSpPr>
              <p:spPr>
                <a:xfrm>
                  <a:off x="3539711" y="3055974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8953A6CD-6C76-614F-BE63-B1E1FA875DFB}"/>
                    </a:ext>
                  </a:extLst>
                </p:cNvPr>
                <p:cNvSpPr/>
                <p:nvPr/>
              </p:nvSpPr>
              <p:spPr>
                <a:xfrm>
                  <a:off x="4055956" y="305512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2697B7C2-11A7-5A4A-875C-FFD4258B061A}"/>
                    </a:ext>
                  </a:extLst>
                </p:cNvPr>
                <p:cNvSpPr/>
                <p:nvPr/>
              </p:nvSpPr>
              <p:spPr>
                <a:xfrm>
                  <a:off x="4580416" y="306468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7C115BF5-A2B7-8447-A53A-2401A4A8D59F}"/>
                    </a:ext>
                  </a:extLst>
                </p:cNvPr>
                <p:cNvSpPr/>
                <p:nvPr/>
              </p:nvSpPr>
              <p:spPr>
                <a:xfrm>
                  <a:off x="5088649" y="306705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95838043-8E78-AA4A-A224-0080F6C84863}"/>
                    </a:ext>
                  </a:extLst>
                </p:cNvPr>
                <p:cNvSpPr/>
                <p:nvPr/>
              </p:nvSpPr>
              <p:spPr>
                <a:xfrm>
                  <a:off x="5604894" y="306621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116F0F57-E52E-474D-B14A-3D98E90055BD}"/>
                    </a:ext>
                  </a:extLst>
                </p:cNvPr>
                <p:cNvSpPr/>
                <p:nvPr/>
              </p:nvSpPr>
              <p:spPr>
                <a:xfrm>
                  <a:off x="6106428" y="306898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AF1D667E-5A02-4340-B4E9-B432DCB55C49}"/>
                    </a:ext>
                  </a:extLst>
                </p:cNvPr>
                <p:cNvSpPr/>
                <p:nvPr/>
              </p:nvSpPr>
              <p:spPr>
                <a:xfrm>
                  <a:off x="7150205" y="304211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144CC2D6-24D7-1C43-AE14-97CA92B8C2E9}"/>
                    </a:ext>
                  </a:extLst>
                </p:cNvPr>
                <p:cNvSpPr/>
                <p:nvPr/>
              </p:nvSpPr>
              <p:spPr>
                <a:xfrm>
                  <a:off x="7666450" y="30412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B7C92A87-80BE-CC4A-851A-9728E0188DBA}"/>
                    </a:ext>
                  </a:extLst>
                </p:cNvPr>
                <p:cNvSpPr/>
                <p:nvPr/>
              </p:nvSpPr>
              <p:spPr>
                <a:xfrm>
                  <a:off x="8190910" y="305082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559FAD55-F51B-E94A-8C22-8070CF4B2B13}"/>
                    </a:ext>
                  </a:extLst>
                </p:cNvPr>
                <p:cNvSpPr/>
                <p:nvPr/>
              </p:nvSpPr>
              <p:spPr>
                <a:xfrm>
                  <a:off x="8699143" y="30532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07B19BC0-6E68-5C45-975A-44BC14A5061B}"/>
                    </a:ext>
                  </a:extLst>
                </p:cNvPr>
                <p:cNvSpPr/>
                <p:nvPr/>
              </p:nvSpPr>
              <p:spPr>
                <a:xfrm>
                  <a:off x="9215388" y="305235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29372871-E914-1E4D-9634-D276FF967D8A}"/>
                    </a:ext>
                  </a:extLst>
                </p:cNvPr>
                <p:cNvSpPr/>
                <p:nvPr/>
              </p:nvSpPr>
              <p:spPr>
                <a:xfrm>
                  <a:off x="9716922" y="3055126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7750AE0E-77A5-F54E-AE12-7D75BB8C630A}"/>
                    </a:ext>
                  </a:extLst>
                </p:cNvPr>
                <p:cNvSpPr/>
                <p:nvPr/>
              </p:nvSpPr>
              <p:spPr>
                <a:xfrm>
                  <a:off x="10711679" y="306066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92E18740-4148-A945-921D-AA13681B24D2}"/>
                    </a:ext>
                  </a:extLst>
                </p:cNvPr>
                <p:cNvSpPr/>
                <p:nvPr/>
              </p:nvSpPr>
              <p:spPr>
                <a:xfrm>
                  <a:off x="11236139" y="307022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007918B1-9D33-DB47-B4A3-D8C19093200C}"/>
                    </a:ext>
                  </a:extLst>
                </p:cNvPr>
                <p:cNvSpPr/>
                <p:nvPr/>
              </p:nvSpPr>
              <p:spPr>
                <a:xfrm>
                  <a:off x="11744372" y="307259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5791F207-777C-574A-856B-BCEA6DB78A05}"/>
                    </a:ext>
                  </a:extLst>
                </p:cNvPr>
                <p:cNvSpPr/>
                <p:nvPr/>
              </p:nvSpPr>
              <p:spPr>
                <a:xfrm>
                  <a:off x="12260617" y="307175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34DB552F-81DB-884A-9C2B-9D89AD86C2E1}"/>
                    </a:ext>
                  </a:extLst>
                </p:cNvPr>
                <p:cNvSpPr/>
                <p:nvPr/>
              </p:nvSpPr>
              <p:spPr>
                <a:xfrm>
                  <a:off x="12762151" y="307452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8C51EA1D-EF31-BA4D-9BFB-5BFC96462917}"/>
                  </a:ext>
                </a:extLst>
              </p:cNvPr>
              <p:cNvSpPr/>
              <p:nvPr/>
            </p:nvSpPr>
            <p:spPr>
              <a:xfrm>
                <a:off x="4441553" y="4259473"/>
                <a:ext cx="7811408" cy="40090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BEEC2D-6F42-2C4A-BDCB-F5D4DC997742}"/>
                </a:ext>
              </a:extLst>
            </p:cNvPr>
            <p:cNvGrpSpPr/>
            <p:nvPr/>
          </p:nvGrpSpPr>
          <p:grpSpPr>
            <a:xfrm>
              <a:off x="4522138" y="4667941"/>
              <a:ext cx="7639400" cy="517900"/>
              <a:chOff x="4522138" y="4667941"/>
              <a:chExt cx="7639400" cy="517900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1C7F5CBC-729E-CF4B-8BA5-1A287BEEEBFB}"/>
                  </a:ext>
                </a:extLst>
              </p:cNvPr>
              <p:cNvGrpSpPr/>
              <p:nvPr/>
            </p:nvGrpSpPr>
            <p:grpSpPr>
              <a:xfrm>
                <a:off x="4744463" y="4862475"/>
                <a:ext cx="7138606" cy="153211"/>
                <a:chOff x="352909" y="3041272"/>
                <a:chExt cx="12712311" cy="315547"/>
              </a:xfrm>
            </p:grpSpPr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19F9F957-F863-C14F-B8A5-B3D4A9F5E63B}"/>
                    </a:ext>
                  </a:extLst>
                </p:cNvPr>
                <p:cNvGrpSpPr/>
                <p:nvPr/>
              </p:nvGrpSpPr>
              <p:grpSpPr>
                <a:xfrm>
                  <a:off x="352909" y="3045636"/>
                  <a:ext cx="313359" cy="290957"/>
                  <a:chOff x="356084" y="3020236"/>
                  <a:chExt cx="313359" cy="290957"/>
                </a:xfrm>
              </p:grpSpPr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010A4F6B-CA4C-CE4D-89CF-6BB131484874}"/>
                      </a:ext>
                    </a:extLst>
                  </p:cNvPr>
                  <p:cNvSpPr/>
                  <p:nvPr/>
                </p:nvSpPr>
                <p:spPr>
                  <a:xfrm>
                    <a:off x="356084" y="3028896"/>
                    <a:ext cx="303069" cy="282297"/>
                  </a:xfrm>
                  <a:prstGeom prst="ellipse">
                    <a:avLst/>
                  </a:prstGeom>
                  <a:solidFill>
                    <a:srgbClr val="0066FF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5" name="Oval 184">
                    <a:extLst>
                      <a:ext uri="{FF2B5EF4-FFF2-40B4-BE49-F238E27FC236}">
                        <a16:creationId xmlns:a16="http://schemas.microsoft.com/office/drawing/2014/main" id="{C132F7D1-A330-E34B-9E65-8C333749D6B7}"/>
                      </a:ext>
                    </a:extLst>
                  </p:cNvPr>
                  <p:cNvSpPr/>
                  <p:nvPr/>
                </p:nvSpPr>
                <p:spPr>
                  <a:xfrm>
                    <a:off x="366374" y="302023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12FD60BC-9FC1-0B43-BF2F-6A12590892A7}"/>
                    </a:ext>
                  </a:extLst>
                </p:cNvPr>
                <p:cNvGrpSpPr/>
                <p:nvPr/>
              </p:nvGrpSpPr>
              <p:grpSpPr>
                <a:xfrm>
                  <a:off x="2429758" y="3049326"/>
                  <a:ext cx="307059" cy="283095"/>
                  <a:chOff x="2429758" y="2966776"/>
                  <a:chExt cx="307059" cy="283095"/>
                </a:xfrm>
              </p:grpSpPr>
              <p:sp>
                <p:nvSpPr>
                  <p:cNvPr id="182" name="Oval 181">
                    <a:extLst>
                      <a:ext uri="{FF2B5EF4-FFF2-40B4-BE49-F238E27FC236}">
                        <a16:creationId xmlns:a16="http://schemas.microsoft.com/office/drawing/2014/main" id="{1EF90FF2-FB4B-904F-80A9-277AE052D20C}"/>
                      </a:ext>
                    </a:extLst>
                  </p:cNvPr>
                  <p:cNvSpPr/>
                  <p:nvPr/>
                </p:nvSpPr>
                <p:spPr>
                  <a:xfrm>
                    <a:off x="2429758" y="2967574"/>
                    <a:ext cx="303069" cy="282297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Oval 182">
                    <a:extLst>
                      <a:ext uri="{FF2B5EF4-FFF2-40B4-BE49-F238E27FC236}">
                        <a16:creationId xmlns:a16="http://schemas.microsoft.com/office/drawing/2014/main" id="{1FD50DCD-B0CF-4441-A5DC-A4F29467582A}"/>
                      </a:ext>
                    </a:extLst>
                  </p:cNvPr>
                  <p:cNvSpPr/>
                  <p:nvPr/>
                </p:nvSpPr>
                <p:spPr>
                  <a:xfrm>
                    <a:off x="2433748" y="296677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6ADC56A1-2955-DA4D-BB6B-A3399B7E38E3}"/>
                    </a:ext>
                  </a:extLst>
                </p:cNvPr>
                <p:cNvGrpSpPr/>
                <p:nvPr/>
              </p:nvGrpSpPr>
              <p:grpSpPr>
                <a:xfrm>
                  <a:off x="10187129" y="3048583"/>
                  <a:ext cx="307059" cy="283095"/>
                  <a:chOff x="10203754" y="2898954"/>
                  <a:chExt cx="307059" cy="283095"/>
                </a:xfrm>
              </p:grpSpPr>
              <p:sp>
                <p:nvSpPr>
                  <p:cNvPr id="180" name="Oval 179">
                    <a:extLst>
                      <a:ext uri="{FF2B5EF4-FFF2-40B4-BE49-F238E27FC236}">
                        <a16:creationId xmlns:a16="http://schemas.microsoft.com/office/drawing/2014/main" id="{D9094C6E-E8D2-5B49-9800-140296341BCD}"/>
                      </a:ext>
                    </a:extLst>
                  </p:cNvPr>
                  <p:cNvSpPr/>
                  <p:nvPr/>
                </p:nvSpPr>
                <p:spPr>
                  <a:xfrm>
                    <a:off x="10203754" y="2899752"/>
                    <a:ext cx="303069" cy="282297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1" name="Oval 180">
                    <a:extLst>
                      <a:ext uri="{FF2B5EF4-FFF2-40B4-BE49-F238E27FC236}">
                        <a16:creationId xmlns:a16="http://schemas.microsoft.com/office/drawing/2014/main" id="{1FDB9163-766F-CF43-B6D0-4057F45F06B6}"/>
                      </a:ext>
                    </a:extLst>
                  </p:cNvPr>
                  <p:cNvSpPr/>
                  <p:nvPr/>
                </p:nvSpPr>
                <p:spPr>
                  <a:xfrm>
                    <a:off x="10207744" y="2898954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FA58528D-2ABB-0D49-AC9F-49E8C7CDD03A}"/>
                    </a:ext>
                  </a:extLst>
                </p:cNvPr>
                <p:cNvGrpSpPr/>
                <p:nvPr/>
              </p:nvGrpSpPr>
              <p:grpSpPr>
                <a:xfrm>
                  <a:off x="6590039" y="3047119"/>
                  <a:ext cx="307059" cy="283094"/>
                  <a:chOff x="6590039" y="2914115"/>
                  <a:chExt cx="307059" cy="283094"/>
                </a:xfrm>
              </p:grpSpPr>
              <p:sp>
                <p:nvSpPr>
                  <p:cNvPr id="178" name="Oval 177">
                    <a:extLst>
                      <a:ext uri="{FF2B5EF4-FFF2-40B4-BE49-F238E27FC236}">
                        <a16:creationId xmlns:a16="http://schemas.microsoft.com/office/drawing/2014/main" id="{B18A7EAA-1CF0-604E-863A-A587BBF338D6}"/>
                      </a:ext>
                    </a:extLst>
                  </p:cNvPr>
                  <p:cNvSpPr/>
                  <p:nvPr/>
                </p:nvSpPr>
                <p:spPr>
                  <a:xfrm>
                    <a:off x="6590039" y="2914912"/>
                    <a:ext cx="303069" cy="282297"/>
                  </a:xfrm>
                  <a:prstGeom prst="ellipse">
                    <a:avLst/>
                  </a:prstGeom>
                  <a:solidFill>
                    <a:schemeClr val="accent2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67B37CF5-A2ED-B944-838C-BA880FE93440}"/>
                      </a:ext>
                    </a:extLst>
                  </p:cNvPr>
                  <p:cNvSpPr/>
                  <p:nvPr/>
                </p:nvSpPr>
                <p:spPr>
                  <a:xfrm>
                    <a:off x="6594029" y="2914115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79F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C74F0975-51CF-7F4B-898C-54B467FB3E2B}"/>
                    </a:ext>
                  </a:extLst>
                </p:cNvPr>
                <p:cNvSpPr/>
                <p:nvPr/>
              </p:nvSpPr>
              <p:spPr>
                <a:xfrm>
                  <a:off x="910578" y="30567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C26CC5D7-7135-354E-AA78-D93ED2596B03}"/>
                    </a:ext>
                  </a:extLst>
                </p:cNvPr>
                <p:cNvSpPr/>
                <p:nvPr/>
              </p:nvSpPr>
              <p:spPr>
                <a:xfrm>
                  <a:off x="1418811" y="305914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01278573-262D-984C-B1F3-A9B5CEEA6FA3}"/>
                    </a:ext>
                  </a:extLst>
                </p:cNvPr>
                <p:cNvSpPr/>
                <p:nvPr/>
              </p:nvSpPr>
              <p:spPr>
                <a:xfrm>
                  <a:off x="1935056" y="30583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C6EDDBBF-4F99-5C49-86AD-0EE605A7200B}"/>
                    </a:ext>
                  </a:extLst>
                </p:cNvPr>
                <p:cNvSpPr/>
                <p:nvPr/>
              </p:nvSpPr>
              <p:spPr>
                <a:xfrm>
                  <a:off x="3031478" y="305359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4373CBE0-B970-7A48-B4C9-3C68186C6DC9}"/>
                    </a:ext>
                  </a:extLst>
                </p:cNvPr>
                <p:cNvSpPr/>
                <p:nvPr/>
              </p:nvSpPr>
              <p:spPr>
                <a:xfrm>
                  <a:off x="3539711" y="3055974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FCB838D1-0146-824E-B05A-58F9F0536188}"/>
                    </a:ext>
                  </a:extLst>
                </p:cNvPr>
                <p:cNvSpPr/>
                <p:nvPr/>
              </p:nvSpPr>
              <p:spPr>
                <a:xfrm>
                  <a:off x="4055956" y="305512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2CD6F100-849C-7849-AAA1-10C0CF1A4F87}"/>
                    </a:ext>
                  </a:extLst>
                </p:cNvPr>
                <p:cNvSpPr/>
                <p:nvPr/>
              </p:nvSpPr>
              <p:spPr>
                <a:xfrm>
                  <a:off x="4580416" y="306468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F62B9379-FDF9-3C40-863B-32BE5FC4D045}"/>
                    </a:ext>
                  </a:extLst>
                </p:cNvPr>
                <p:cNvSpPr/>
                <p:nvPr/>
              </p:nvSpPr>
              <p:spPr>
                <a:xfrm>
                  <a:off x="5088649" y="306705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4AE9EF7F-DF7B-4341-A712-7ED6FDC7AC17}"/>
                    </a:ext>
                  </a:extLst>
                </p:cNvPr>
                <p:cNvSpPr/>
                <p:nvPr/>
              </p:nvSpPr>
              <p:spPr>
                <a:xfrm>
                  <a:off x="5604894" y="306621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1A6C54E4-BCF9-F847-9197-8E56363ED9DB}"/>
                    </a:ext>
                  </a:extLst>
                </p:cNvPr>
                <p:cNvSpPr/>
                <p:nvPr/>
              </p:nvSpPr>
              <p:spPr>
                <a:xfrm>
                  <a:off x="6106428" y="306898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DE80918-9404-2448-9BD2-42CF17BA5FFF}"/>
                    </a:ext>
                  </a:extLst>
                </p:cNvPr>
                <p:cNvSpPr/>
                <p:nvPr/>
              </p:nvSpPr>
              <p:spPr>
                <a:xfrm>
                  <a:off x="7150205" y="304211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1DD05B0C-DD38-6A41-906B-D9DD7F4323D3}"/>
                    </a:ext>
                  </a:extLst>
                </p:cNvPr>
                <p:cNvSpPr/>
                <p:nvPr/>
              </p:nvSpPr>
              <p:spPr>
                <a:xfrm>
                  <a:off x="7666450" y="30412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60A1C3D5-C006-1645-BB5D-7F44257CF9E8}"/>
                    </a:ext>
                  </a:extLst>
                </p:cNvPr>
                <p:cNvSpPr/>
                <p:nvPr/>
              </p:nvSpPr>
              <p:spPr>
                <a:xfrm>
                  <a:off x="8190910" y="305082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BD2AD650-816F-6845-8ED3-35B794120600}"/>
                    </a:ext>
                  </a:extLst>
                </p:cNvPr>
                <p:cNvSpPr/>
                <p:nvPr/>
              </p:nvSpPr>
              <p:spPr>
                <a:xfrm>
                  <a:off x="8699143" y="30532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5CA5F9FE-100F-BC4B-A7E3-B355CA9CDC7F}"/>
                    </a:ext>
                  </a:extLst>
                </p:cNvPr>
                <p:cNvSpPr/>
                <p:nvPr/>
              </p:nvSpPr>
              <p:spPr>
                <a:xfrm>
                  <a:off x="9215388" y="305235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FA2E1396-7944-C847-A4FD-3E9C23B0646F}"/>
                    </a:ext>
                  </a:extLst>
                </p:cNvPr>
                <p:cNvSpPr/>
                <p:nvPr/>
              </p:nvSpPr>
              <p:spPr>
                <a:xfrm>
                  <a:off x="9716922" y="3055126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9A676A31-F061-BC4D-B2B2-90B9CD314633}"/>
                    </a:ext>
                  </a:extLst>
                </p:cNvPr>
                <p:cNvSpPr/>
                <p:nvPr/>
              </p:nvSpPr>
              <p:spPr>
                <a:xfrm>
                  <a:off x="10711679" y="306066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ABE29106-8880-AE48-8204-21B027B4DBEC}"/>
                    </a:ext>
                  </a:extLst>
                </p:cNvPr>
                <p:cNvSpPr/>
                <p:nvPr/>
              </p:nvSpPr>
              <p:spPr>
                <a:xfrm>
                  <a:off x="11236139" y="307022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BAB019D9-E52A-174B-86B8-BB4DFDC3DCBA}"/>
                    </a:ext>
                  </a:extLst>
                </p:cNvPr>
                <p:cNvSpPr/>
                <p:nvPr/>
              </p:nvSpPr>
              <p:spPr>
                <a:xfrm>
                  <a:off x="11744372" y="307259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EB34D52A-D0E1-B942-8937-4CC9B0FABE94}"/>
                    </a:ext>
                  </a:extLst>
                </p:cNvPr>
                <p:cNvSpPr/>
                <p:nvPr/>
              </p:nvSpPr>
              <p:spPr>
                <a:xfrm>
                  <a:off x="12260617" y="307175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CCEBF82E-2A44-E146-9C79-8281286BBD9A}"/>
                    </a:ext>
                  </a:extLst>
                </p:cNvPr>
                <p:cNvSpPr/>
                <p:nvPr/>
              </p:nvSpPr>
              <p:spPr>
                <a:xfrm>
                  <a:off x="12762151" y="307452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9C0B8407-BEDB-8A44-9014-644254F04019}"/>
                  </a:ext>
                </a:extLst>
              </p:cNvPr>
              <p:cNvSpPr/>
              <p:nvPr/>
            </p:nvSpPr>
            <p:spPr>
              <a:xfrm>
                <a:off x="8166810" y="4672623"/>
                <a:ext cx="3994728" cy="51321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951E34FF-DAEF-7D4F-A524-58020F417C26}"/>
                  </a:ext>
                </a:extLst>
              </p:cNvPr>
              <p:cNvSpPr/>
              <p:nvPr/>
            </p:nvSpPr>
            <p:spPr>
              <a:xfrm>
                <a:off x="4522138" y="4667941"/>
                <a:ext cx="3994728" cy="51011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9BA68F8-0828-0D4E-AA1A-80415D5E722D}"/>
                </a:ext>
              </a:extLst>
            </p:cNvPr>
            <p:cNvGrpSpPr/>
            <p:nvPr/>
          </p:nvGrpSpPr>
          <p:grpSpPr>
            <a:xfrm>
              <a:off x="4563534" y="5174047"/>
              <a:ext cx="7399381" cy="417066"/>
              <a:chOff x="4563534" y="5174047"/>
              <a:chExt cx="7399381" cy="417066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C4F3F9E5-4C49-E144-99DF-CD4E2557C8CB}"/>
                  </a:ext>
                </a:extLst>
              </p:cNvPr>
              <p:cNvGrpSpPr/>
              <p:nvPr/>
            </p:nvGrpSpPr>
            <p:grpSpPr>
              <a:xfrm>
                <a:off x="4754812" y="5299167"/>
                <a:ext cx="7138606" cy="153211"/>
                <a:chOff x="352909" y="3041272"/>
                <a:chExt cx="12712311" cy="315547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18C13372-8D2D-0A4C-8540-EBACED8FDC1E}"/>
                    </a:ext>
                  </a:extLst>
                </p:cNvPr>
                <p:cNvGrpSpPr/>
                <p:nvPr/>
              </p:nvGrpSpPr>
              <p:grpSpPr>
                <a:xfrm>
                  <a:off x="352909" y="3045636"/>
                  <a:ext cx="313359" cy="290957"/>
                  <a:chOff x="356084" y="3020236"/>
                  <a:chExt cx="313359" cy="290957"/>
                </a:xfrm>
              </p:grpSpPr>
              <p:sp>
                <p:nvSpPr>
                  <p:cNvPr id="148" name="Oval 147">
                    <a:extLst>
                      <a:ext uri="{FF2B5EF4-FFF2-40B4-BE49-F238E27FC236}">
                        <a16:creationId xmlns:a16="http://schemas.microsoft.com/office/drawing/2014/main" id="{58C89235-BA6B-4F4C-97F3-905805137B86}"/>
                      </a:ext>
                    </a:extLst>
                  </p:cNvPr>
                  <p:cNvSpPr/>
                  <p:nvPr/>
                </p:nvSpPr>
                <p:spPr>
                  <a:xfrm>
                    <a:off x="356084" y="3028896"/>
                    <a:ext cx="303069" cy="282297"/>
                  </a:xfrm>
                  <a:prstGeom prst="ellipse">
                    <a:avLst/>
                  </a:prstGeom>
                  <a:solidFill>
                    <a:srgbClr val="0066FF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" name="Oval 148">
                    <a:extLst>
                      <a:ext uri="{FF2B5EF4-FFF2-40B4-BE49-F238E27FC236}">
                        <a16:creationId xmlns:a16="http://schemas.microsoft.com/office/drawing/2014/main" id="{25757C9F-4FB2-484E-BF55-2A4B4BFA2B57}"/>
                      </a:ext>
                    </a:extLst>
                  </p:cNvPr>
                  <p:cNvSpPr/>
                  <p:nvPr/>
                </p:nvSpPr>
                <p:spPr>
                  <a:xfrm>
                    <a:off x="366374" y="302023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16080999-94FB-C54C-9D70-7770A00B3C86}"/>
                    </a:ext>
                  </a:extLst>
                </p:cNvPr>
                <p:cNvGrpSpPr/>
                <p:nvPr/>
              </p:nvGrpSpPr>
              <p:grpSpPr>
                <a:xfrm>
                  <a:off x="2429758" y="3049326"/>
                  <a:ext cx="307059" cy="283095"/>
                  <a:chOff x="2429758" y="2966776"/>
                  <a:chExt cx="307059" cy="283095"/>
                </a:xfrm>
              </p:grpSpPr>
              <p:sp>
                <p:nvSpPr>
                  <p:cNvPr id="146" name="Oval 145">
                    <a:extLst>
                      <a:ext uri="{FF2B5EF4-FFF2-40B4-BE49-F238E27FC236}">
                        <a16:creationId xmlns:a16="http://schemas.microsoft.com/office/drawing/2014/main" id="{61888BE1-CCDA-4A4E-8BF0-12D10C897864}"/>
                      </a:ext>
                    </a:extLst>
                  </p:cNvPr>
                  <p:cNvSpPr/>
                  <p:nvPr/>
                </p:nvSpPr>
                <p:spPr>
                  <a:xfrm>
                    <a:off x="2429758" y="2967574"/>
                    <a:ext cx="303069" cy="282297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EABFD837-7A83-4743-9E3F-FFD8D481687D}"/>
                      </a:ext>
                    </a:extLst>
                  </p:cNvPr>
                  <p:cNvSpPr/>
                  <p:nvPr/>
                </p:nvSpPr>
                <p:spPr>
                  <a:xfrm>
                    <a:off x="2433748" y="296677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1D1AB410-2751-A749-824C-E23B2472FCAD}"/>
                    </a:ext>
                  </a:extLst>
                </p:cNvPr>
                <p:cNvGrpSpPr/>
                <p:nvPr/>
              </p:nvGrpSpPr>
              <p:grpSpPr>
                <a:xfrm>
                  <a:off x="10187129" y="3048583"/>
                  <a:ext cx="307059" cy="283095"/>
                  <a:chOff x="10203754" y="2898954"/>
                  <a:chExt cx="307059" cy="283095"/>
                </a:xfrm>
              </p:grpSpPr>
              <p:sp>
                <p:nvSpPr>
                  <p:cNvPr id="144" name="Oval 143">
                    <a:extLst>
                      <a:ext uri="{FF2B5EF4-FFF2-40B4-BE49-F238E27FC236}">
                        <a16:creationId xmlns:a16="http://schemas.microsoft.com/office/drawing/2014/main" id="{A230B664-FD09-5747-8299-0B8CC5390940}"/>
                      </a:ext>
                    </a:extLst>
                  </p:cNvPr>
                  <p:cNvSpPr/>
                  <p:nvPr/>
                </p:nvSpPr>
                <p:spPr>
                  <a:xfrm>
                    <a:off x="10203754" y="2899752"/>
                    <a:ext cx="303069" cy="282297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B13E4439-D17F-4545-B0DB-AA7F3BFAD8CA}"/>
                      </a:ext>
                    </a:extLst>
                  </p:cNvPr>
                  <p:cNvSpPr/>
                  <p:nvPr/>
                </p:nvSpPr>
                <p:spPr>
                  <a:xfrm>
                    <a:off x="10207744" y="2898954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491668AB-7BC6-1D43-9A25-1ADA12B6D9FA}"/>
                    </a:ext>
                  </a:extLst>
                </p:cNvPr>
                <p:cNvGrpSpPr/>
                <p:nvPr/>
              </p:nvGrpSpPr>
              <p:grpSpPr>
                <a:xfrm>
                  <a:off x="6590039" y="3047119"/>
                  <a:ext cx="307059" cy="283094"/>
                  <a:chOff x="6590039" y="2914115"/>
                  <a:chExt cx="307059" cy="283094"/>
                </a:xfrm>
              </p:grpSpPr>
              <p:sp>
                <p:nvSpPr>
                  <p:cNvPr id="142" name="Oval 141">
                    <a:extLst>
                      <a:ext uri="{FF2B5EF4-FFF2-40B4-BE49-F238E27FC236}">
                        <a16:creationId xmlns:a16="http://schemas.microsoft.com/office/drawing/2014/main" id="{377A00D2-3AA4-EE44-BF7D-04FBE76651B4}"/>
                      </a:ext>
                    </a:extLst>
                  </p:cNvPr>
                  <p:cNvSpPr/>
                  <p:nvPr/>
                </p:nvSpPr>
                <p:spPr>
                  <a:xfrm>
                    <a:off x="6590039" y="2914912"/>
                    <a:ext cx="303069" cy="282297"/>
                  </a:xfrm>
                  <a:prstGeom prst="ellipse">
                    <a:avLst/>
                  </a:prstGeom>
                  <a:solidFill>
                    <a:schemeClr val="accent2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" name="Oval 142">
                    <a:extLst>
                      <a:ext uri="{FF2B5EF4-FFF2-40B4-BE49-F238E27FC236}">
                        <a16:creationId xmlns:a16="http://schemas.microsoft.com/office/drawing/2014/main" id="{3C3BC98C-CE6D-FB4A-A768-D64059075AE0}"/>
                      </a:ext>
                    </a:extLst>
                  </p:cNvPr>
                  <p:cNvSpPr/>
                  <p:nvPr/>
                </p:nvSpPr>
                <p:spPr>
                  <a:xfrm>
                    <a:off x="6594029" y="2914115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79F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FBD6D310-73A0-C540-8336-BC6D84C0F7AF}"/>
                    </a:ext>
                  </a:extLst>
                </p:cNvPr>
                <p:cNvSpPr/>
                <p:nvPr/>
              </p:nvSpPr>
              <p:spPr>
                <a:xfrm>
                  <a:off x="910578" y="30567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BC132DE7-755E-1C4B-90C1-5C7C4FCBBE47}"/>
                    </a:ext>
                  </a:extLst>
                </p:cNvPr>
                <p:cNvSpPr/>
                <p:nvPr/>
              </p:nvSpPr>
              <p:spPr>
                <a:xfrm>
                  <a:off x="1418811" y="305914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0DAE23FB-9BF5-1447-A998-BA2AC36AD8EF}"/>
                    </a:ext>
                  </a:extLst>
                </p:cNvPr>
                <p:cNvSpPr/>
                <p:nvPr/>
              </p:nvSpPr>
              <p:spPr>
                <a:xfrm>
                  <a:off x="1935056" y="30583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24B844DF-5585-5246-8753-4F5349B253FB}"/>
                    </a:ext>
                  </a:extLst>
                </p:cNvPr>
                <p:cNvSpPr/>
                <p:nvPr/>
              </p:nvSpPr>
              <p:spPr>
                <a:xfrm>
                  <a:off x="3031478" y="305359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D645C0CA-22A4-1344-BDA9-05ADC8903E3F}"/>
                    </a:ext>
                  </a:extLst>
                </p:cNvPr>
                <p:cNvSpPr/>
                <p:nvPr/>
              </p:nvSpPr>
              <p:spPr>
                <a:xfrm>
                  <a:off x="3539711" y="3055974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3F9DC4D2-E473-D045-9B61-E5C04C6189A1}"/>
                    </a:ext>
                  </a:extLst>
                </p:cNvPr>
                <p:cNvSpPr/>
                <p:nvPr/>
              </p:nvSpPr>
              <p:spPr>
                <a:xfrm>
                  <a:off x="4055956" y="305512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0B58D59D-0103-D14A-8470-BE9376A666FD}"/>
                    </a:ext>
                  </a:extLst>
                </p:cNvPr>
                <p:cNvSpPr/>
                <p:nvPr/>
              </p:nvSpPr>
              <p:spPr>
                <a:xfrm>
                  <a:off x="4580416" y="306468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3B0278D1-3E0A-7B40-A8F1-9138836FA728}"/>
                    </a:ext>
                  </a:extLst>
                </p:cNvPr>
                <p:cNvSpPr/>
                <p:nvPr/>
              </p:nvSpPr>
              <p:spPr>
                <a:xfrm>
                  <a:off x="5088649" y="306705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4B21F183-2A04-D140-B5B3-34DBB5C57573}"/>
                    </a:ext>
                  </a:extLst>
                </p:cNvPr>
                <p:cNvSpPr/>
                <p:nvPr/>
              </p:nvSpPr>
              <p:spPr>
                <a:xfrm>
                  <a:off x="5604894" y="306621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A676B306-2F96-0246-B7A4-E1EC78F5D600}"/>
                    </a:ext>
                  </a:extLst>
                </p:cNvPr>
                <p:cNvSpPr/>
                <p:nvPr/>
              </p:nvSpPr>
              <p:spPr>
                <a:xfrm>
                  <a:off x="6106428" y="306898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FCEFA4DA-6FE6-7247-8217-78119520D685}"/>
                    </a:ext>
                  </a:extLst>
                </p:cNvPr>
                <p:cNvSpPr/>
                <p:nvPr/>
              </p:nvSpPr>
              <p:spPr>
                <a:xfrm>
                  <a:off x="7150205" y="304211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2523E622-3837-8C49-90FF-A384DA45CD7D}"/>
                    </a:ext>
                  </a:extLst>
                </p:cNvPr>
                <p:cNvSpPr/>
                <p:nvPr/>
              </p:nvSpPr>
              <p:spPr>
                <a:xfrm>
                  <a:off x="7666450" y="30412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B295C387-BEF7-0E4B-92F4-B7D532914E9B}"/>
                    </a:ext>
                  </a:extLst>
                </p:cNvPr>
                <p:cNvSpPr/>
                <p:nvPr/>
              </p:nvSpPr>
              <p:spPr>
                <a:xfrm>
                  <a:off x="8190910" y="305082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223AA383-5B33-6447-A7FB-5A2B838E7F7B}"/>
                    </a:ext>
                  </a:extLst>
                </p:cNvPr>
                <p:cNvSpPr/>
                <p:nvPr/>
              </p:nvSpPr>
              <p:spPr>
                <a:xfrm>
                  <a:off x="8699143" y="30532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958FD9E9-DBF0-6B44-8D8C-A2B4DA85F874}"/>
                    </a:ext>
                  </a:extLst>
                </p:cNvPr>
                <p:cNvSpPr/>
                <p:nvPr/>
              </p:nvSpPr>
              <p:spPr>
                <a:xfrm>
                  <a:off x="9215388" y="305235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5D18F048-9F84-9648-BAE3-C99B4EF62923}"/>
                    </a:ext>
                  </a:extLst>
                </p:cNvPr>
                <p:cNvSpPr/>
                <p:nvPr/>
              </p:nvSpPr>
              <p:spPr>
                <a:xfrm>
                  <a:off x="9716922" y="3055126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37E2655D-CEB0-CF4B-8EF3-1AADDBBCDB5D}"/>
                    </a:ext>
                  </a:extLst>
                </p:cNvPr>
                <p:cNvSpPr/>
                <p:nvPr/>
              </p:nvSpPr>
              <p:spPr>
                <a:xfrm>
                  <a:off x="10711679" y="306066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ADA0120A-D906-0A42-B780-C444F31409FF}"/>
                    </a:ext>
                  </a:extLst>
                </p:cNvPr>
                <p:cNvSpPr/>
                <p:nvPr/>
              </p:nvSpPr>
              <p:spPr>
                <a:xfrm>
                  <a:off x="11236139" y="307022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D7F2A715-7B91-8144-98E2-12ABAC56EE59}"/>
                    </a:ext>
                  </a:extLst>
                </p:cNvPr>
                <p:cNvSpPr/>
                <p:nvPr/>
              </p:nvSpPr>
              <p:spPr>
                <a:xfrm>
                  <a:off x="11744372" y="307259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0F02CE70-AA41-ED47-906D-A925619F9BBB}"/>
                    </a:ext>
                  </a:extLst>
                </p:cNvPr>
                <p:cNvSpPr/>
                <p:nvPr/>
              </p:nvSpPr>
              <p:spPr>
                <a:xfrm>
                  <a:off x="12260617" y="307175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85456F3F-DF5E-2944-8538-8D70E4D222D0}"/>
                    </a:ext>
                  </a:extLst>
                </p:cNvPr>
                <p:cNvSpPr/>
                <p:nvPr/>
              </p:nvSpPr>
              <p:spPr>
                <a:xfrm>
                  <a:off x="12762151" y="307452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BD73F11C-419E-9746-9BC7-0D3D005B43CD}"/>
                  </a:ext>
                </a:extLst>
              </p:cNvPr>
              <p:cNvSpPr/>
              <p:nvPr/>
            </p:nvSpPr>
            <p:spPr>
              <a:xfrm>
                <a:off x="4563534" y="5191220"/>
                <a:ext cx="1660840" cy="3827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7BA128E0-BF2C-BC44-B34B-7DA252693D8F}"/>
                  </a:ext>
                </a:extLst>
              </p:cNvPr>
              <p:cNvSpPr/>
              <p:nvPr/>
            </p:nvSpPr>
            <p:spPr>
              <a:xfrm>
                <a:off x="5854577" y="5193626"/>
                <a:ext cx="1813488" cy="39503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B95C95E6-CEF8-7040-BD07-AD0DB8FE3F91}"/>
                  </a:ext>
                </a:extLst>
              </p:cNvPr>
              <p:cNvSpPr/>
              <p:nvPr/>
            </p:nvSpPr>
            <p:spPr>
              <a:xfrm>
                <a:off x="7308617" y="5174047"/>
                <a:ext cx="1813488" cy="41706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1675E2E8-BEF2-2B48-96D7-A90CAF3B84CE}"/>
                  </a:ext>
                </a:extLst>
              </p:cNvPr>
              <p:cNvSpPr/>
              <p:nvPr/>
            </p:nvSpPr>
            <p:spPr>
              <a:xfrm>
                <a:off x="8785761" y="5197518"/>
                <a:ext cx="1754161" cy="38132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4AB01F3B-377F-C249-BB68-37EF269D27AA}"/>
                  </a:ext>
                </a:extLst>
              </p:cNvPr>
              <p:cNvSpPr/>
              <p:nvPr/>
            </p:nvSpPr>
            <p:spPr>
              <a:xfrm>
                <a:off x="10208754" y="5189733"/>
                <a:ext cx="1754161" cy="39156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E3C0834-07ED-8649-A94B-E5ED61349357}"/>
                </a:ext>
              </a:extLst>
            </p:cNvPr>
            <p:cNvGrpSpPr/>
            <p:nvPr/>
          </p:nvGrpSpPr>
          <p:grpSpPr>
            <a:xfrm>
              <a:off x="4627208" y="5665001"/>
              <a:ext cx="7351598" cy="359307"/>
              <a:chOff x="4627208" y="5665001"/>
              <a:chExt cx="7351598" cy="359307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D8451EA4-D003-5245-8DD6-5F0AA8205209}"/>
                  </a:ext>
                </a:extLst>
              </p:cNvPr>
              <p:cNvGrpSpPr/>
              <p:nvPr/>
            </p:nvGrpSpPr>
            <p:grpSpPr>
              <a:xfrm>
                <a:off x="4741876" y="5765300"/>
                <a:ext cx="7138606" cy="153211"/>
                <a:chOff x="352909" y="3041272"/>
                <a:chExt cx="12712311" cy="315547"/>
              </a:xfrm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678B30DA-E1C3-764E-8D2D-77ABE7F3F2E5}"/>
                    </a:ext>
                  </a:extLst>
                </p:cNvPr>
                <p:cNvGrpSpPr/>
                <p:nvPr/>
              </p:nvGrpSpPr>
              <p:grpSpPr>
                <a:xfrm>
                  <a:off x="352909" y="3045636"/>
                  <a:ext cx="313359" cy="290957"/>
                  <a:chOff x="356084" y="3020236"/>
                  <a:chExt cx="313359" cy="290957"/>
                </a:xfrm>
              </p:grpSpPr>
              <p:sp>
                <p:nvSpPr>
                  <p:cNvPr id="109" name="Oval 108">
                    <a:extLst>
                      <a:ext uri="{FF2B5EF4-FFF2-40B4-BE49-F238E27FC236}">
                        <a16:creationId xmlns:a16="http://schemas.microsoft.com/office/drawing/2014/main" id="{5568740E-6190-084B-9A76-43813DDB2DBB}"/>
                      </a:ext>
                    </a:extLst>
                  </p:cNvPr>
                  <p:cNvSpPr/>
                  <p:nvPr/>
                </p:nvSpPr>
                <p:spPr>
                  <a:xfrm>
                    <a:off x="356084" y="3028896"/>
                    <a:ext cx="303069" cy="282297"/>
                  </a:xfrm>
                  <a:prstGeom prst="ellipse">
                    <a:avLst/>
                  </a:prstGeom>
                  <a:solidFill>
                    <a:srgbClr val="0066FF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784E9379-EA91-F548-972A-0C2769AF5FAE}"/>
                      </a:ext>
                    </a:extLst>
                  </p:cNvPr>
                  <p:cNvSpPr/>
                  <p:nvPr/>
                </p:nvSpPr>
                <p:spPr>
                  <a:xfrm>
                    <a:off x="366374" y="302023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4CC16C0C-E6D7-DE41-8460-135A56D3E38E}"/>
                    </a:ext>
                  </a:extLst>
                </p:cNvPr>
                <p:cNvGrpSpPr/>
                <p:nvPr/>
              </p:nvGrpSpPr>
              <p:grpSpPr>
                <a:xfrm>
                  <a:off x="2429758" y="3049326"/>
                  <a:ext cx="307059" cy="283095"/>
                  <a:chOff x="2429758" y="2966776"/>
                  <a:chExt cx="307059" cy="283095"/>
                </a:xfrm>
              </p:grpSpPr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6D44F059-6DE3-0F43-9692-3D0F4787A8CD}"/>
                      </a:ext>
                    </a:extLst>
                  </p:cNvPr>
                  <p:cNvSpPr/>
                  <p:nvPr/>
                </p:nvSpPr>
                <p:spPr>
                  <a:xfrm>
                    <a:off x="2429758" y="2967574"/>
                    <a:ext cx="303069" cy="282297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53406424-6977-434F-953D-153EB1B6BE2C}"/>
                      </a:ext>
                    </a:extLst>
                  </p:cNvPr>
                  <p:cNvSpPr/>
                  <p:nvPr/>
                </p:nvSpPr>
                <p:spPr>
                  <a:xfrm>
                    <a:off x="2433748" y="296677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61A93F75-6620-5E47-AFDF-0CEBD782DD9F}"/>
                    </a:ext>
                  </a:extLst>
                </p:cNvPr>
                <p:cNvGrpSpPr/>
                <p:nvPr/>
              </p:nvGrpSpPr>
              <p:grpSpPr>
                <a:xfrm>
                  <a:off x="10187129" y="3048583"/>
                  <a:ext cx="307059" cy="283095"/>
                  <a:chOff x="10203754" y="2898954"/>
                  <a:chExt cx="307059" cy="283095"/>
                </a:xfrm>
              </p:grpSpPr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3665B18C-1C3F-3C4E-B2FD-FAF79C16572B}"/>
                      </a:ext>
                    </a:extLst>
                  </p:cNvPr>
                  <p:cNvSpPr/>
                  <p:nvPr/>
                </p:nvSpPr>
                <p:spPr>
                  <a:xfrm>
                    <a:off x="10203754" y="2899752"/>
                    <a:ext cx="303069" cy="282297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Oval 105">
                    <a:extLst>
                      <a:ext uri="{FF2B5EF4-FFF2-40B4-BE49-F238E27FC236}">
                        <a16:creationId xmlns:a16="http://schemas.microsoft.com/office/drawing/2014/main" id="{7FC74F91-5392-CC48-B51F-0D461483F2BF}"/>
                      </a:ext>
                    </a:extLst>
                  </p:cNvPr>
                  <p:cNvSpPr/>
                  <p:nvPr/>
                </p:nvSpPr>
                <p:spPr>
                  <a:xfrm>
                    <a:off x="10207744" y="2898954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1AB7C835-E19F-244A-97B7-1AE8EC8BDF53}"/>
                    </a:ext>
                  </a:extLst>
                </p:cNvPr>
                <p:cNvGrpSpPr/>
                <p:nvPr/>
              </p:nvGrpSpPr>
              <p:grpSpPr>
                <a:xfrm>
                  <a:off x="6590039" y="3047119"/>
                  <a:ext cx="307059" cy="283094"/>
                  <a:chOff x="6590039" y="2914115"/>
                  <a:chExt cx="307059" cy="283094"/>
                </a:xfrm>
              </p:grpSpPr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DD73C308-99B3-0A4C-8AAE-9F9BC2A71B4D}"/>
                      </a:ext>
                    </a:extLst>
                  </p:cNvPr>
                  <p:cNvSpPr/>
                  <p:nvPr/>
                </p:nvSpPr>
                <p:spPr>
                  <a:xfrm>
                    <a:off x="6590039" y="2914912"/>
                    <a:ext cx="303069" cy="282297"/>
                  </a:xfrm>
                  <a:prstGeom prst="ellipse">
                    <a:avLst/>
                  </a:prstGeom>
                  <a:solidFill>
                    <a:schemeClr val="accent2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" name="Oval 103">
                    <a:extLst>
                      <a:ext uri="{FF2B5EF4-FFF2-40B4-BE49-F238E27FC236}">
                        <a16:creationId xmlns:a16="http://schemas.microsoft.com/office/drawing/2014/main" id="{20852146-E56C-7B43-B54B-DB4213B005D4}"/>
                      </a:ext>
                    </a:extLst>
                  </p:cNvPr>
                  <p:cNvSpPr/>
                  <p:nvPr/>
                </p:nvSpPr>
                <p:spPr>
                  <a:xfrm>
                    <a:off x="6594029" y="2914115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79F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06ED54E6-FC27-D24D-8E7A-8293FDAA672E}"/>
                    </a:ext>
                  </a:extLst>
                </p:cNvPr>
                <p:cNvSpPr/>
                <p:nvPr/>
              </p:nvSpPr>
              <p:spPr>
                <a:xfrm>
                  <a:off x="910578" y="30567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2E899EBA-4524-A64E-A411-49BB5DAE8E0C}"/>
                    </a:ext>
                  </a:extLst>
                </p:cNvPr>
                <p:cNvSpPr/>
                <p:nvPr/>
              </p:nvSpPr>
              <p:spPr>
                <a:xfrm>
                  <a:off x="1418811" y="305914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9D3C886A-0520-8245-8330-7AC2DDA6CF00}"/>
                    </a:ext>
                  </a:extLst>
                </p:cNvPr>
                <p:cNvSpPr/>
                <p:nvPr/>
              </p:nvSpPr>
              <p:spPr>
                <a:xfrm>
                  <a:off x="1935056" y="30583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109D8BA6-28D6-C843-8274-73DE868AA3F4}"/>
                    </a:ext>
                  </a:extLst>
                </p:cNvPr>
                <p:cNvSpPr/>
                <p:nvPr/>
              </p:nvSpPr>
              <p:spPr>
                <a:xfrm>
                  <a:off x="3031478" y="305359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47FA1E5E-A787-9B4F-9744-151BB64D3AD6}"/>
                    </a:ext>
                  </a:extLst>
                </p:cNvPr>
                <p:cNvSpPr/>
                <p:nvPr/>
              </p:nvSpPr>
              <p:spPr>
                <a:xfrm>
                  <a:off x="3539711" y="3055974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3B32877C-E75E-6845-B734-1368C008351B}"/>
                    </a:ext>
                  </a:extLst>
                </p:cNvPr>
                <p:cNvSpPr/>
                <p:nvPr/>
              </p:nvSpPr>
              <p:spPr>
                <a:xfrm>
                  <a:off x="4055956" y="305512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8224C483-F467-A341-814A-64E749827BCA}"/>
                    </a:ext>
                  </a:extLst>
                </p:cNvPr>
                <p:cNvSpPr/>
                <p:nvPr/>
              </p:nvSpPr>
              <p:spPr>
                <a:xfrm>
                  <a:off x="4580416" y="306468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E6FD29E1-763F-154B-AFBA-FDE57017053D}"/>
                    </a:ext>
                  </a:extLst>
                </p:cNvPr>
                <p:cNvSpPr/>
                <p:nvPr/>
              </p:nvSpPr>
              <p:spPr>
                <a:xfrm>
                  <a:off x="5088649" y="306705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9C44BD59-9FF3-444F-B8B0-4D166DA02899}"/>
                    </a:ext>
                  </a:extLst>
                </p:cNvPr>
                <p:cNvSpPr/>
                <p:nvPr/>
              </p:nvSpPr>
              <p:spPr>
                <a:xfrm>
                  <a:off x="5604894" y="306621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DCACC7D1-ED21-5241-A0EA-A32D71FFE7BF}"/>
                    </a:ext>
                  </a:extLst>
                </p:cNvPr>
                <p:cNvSpPr/>
                <p:nvPr/>
              </p:nvSpPr>
              <p:spPr>
                <a:xfrm>
                  <a:off x="6106428" y="306898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DE9D7291-D343-5845-8BFA-358D826E0ABD}"/>
                    </a:ext>
                  </a:extLst>
                </p:cNvPr>
                <p:cNvSpPr/>
                <p:nvPr/>
              </p:nvSpPr>
              <p:spPr>
                <a:xfrm>
                  <a:off x="7150205" y="304211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8A63A2E8-FBF9-854F-9143-8BF41135814C}"/>
                    </a:ext>
                  </a:extLst>
                </p:cNvPr>
                <p:cNvSpPr/>
                <p:nvPr/>
              </p:nvSpPr>
              <p:spPr>
                <a:xfrm>
                  <a:off x="7666450" y="30412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38D3EC99-1B0D-F143-8D4A-AF737F58D3D2}"/>
                    </a:ext>
                  </a:extLst>
                </p:cNvPr>
                <p:cNvSpPr/>
                <p:nvPr/>
              </p:nvSpPr>
              <p:spPr>
                <a:xfrm>
                  <a:off x="8190910" y="305082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37AA15B1-C603-714C-884F-08578D333014}"/>
                    </a:ext>
                  </a:extLst>
                </p:cNvPr>
                <p:cNvSpPr/>
                <p:nvPr/>
              </p:nvSpPr>
              <p:spPr>
                <a:xfrm>
                  <a:off x="8699143" y="30532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6CD42CC2-BA66-9A42-A90B-5D658916416C}"/>
                    </a:ext>
                  </a:extLst>
                </p:cNvPr>
                <p:cNvSpPr/>
                <p:nvPr/>
              </p:nvSpPr>
              <p:spPr>
                <a:xfrm>
                  <a:off x="9215388" y="305235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E396EC43-CC11-9F47-9904-F1EF5C03E637}"/>
                    </a:ext>
                  </a:extLst>
                </p:cNvPr>
                <p:cNvSpPr/>
                <p:nvPr/>
              </p:nvSpPr>
              <p:spPr>
                <a:xfrm>
                  <a:off x="9716922" y="3055126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F9E10E35-AA38-384E-BF78-FA56C06FCA00}"/>
                    </a:ext>
                  </a:extLst>
                </p:cNvPr>
                <p:cNvSpPr/>
                <p:nvPr/>
              </p:nvSpPr>
              <p:spPr>
                <a:xfrm>
                  <a:off x="10711679" y="306066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228C0C1B-4637-AE42-B9AA-B745B37C7CFE}"/>
                    </a:ext>
                  </a:extLst>
                </p:cNvPr>
                <p:cNvSpPr/>
                <p:nvPr/>
              </p:nvSpPr>
              <p:spPr>
                <a:xfrm>
                  <a:off x="11236139" y="307022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40B06948-E2EC-BF4F-9A20-4E356268CA9D}"/>
                    </a:ext>
                  </a:extLst>
                </p:cNvPr>
                <p:cNvSpPr/>
                <p:nvPr/>
              </p:nvSpPr>
              <p:spPr>
                <a:xfrm>
                  <a:off x="11744372" y="307259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BA52E6C4-4304-2742-B019-7BC0BB8AB2AE}"/>
                    </a:ext>
                  </a:extLst>
                </p:cNvPr>
                <p:cNvSpPr/>
                <p:nvPr/>
              </p:nvSpPr>
              <p:spPr>
                <a:xfrm>
                  <a:off x="12260617" y="307175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6B74C9BC-4B40-2945-94C1-9EF602AB2C8B}"/>
                    </a:ext>
                  </a:extLst>
                </p:cNvPr>
                <p:cNvSpPr/>
                <p:nvPr/>
              </p:nvSpPr>
              <p:spPr>
                <a:xfrm>
                  <a:off x="12762151" y="307452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84D76A0-A369-3B4A-8047-7CA57CCA6EF9}"/>
                  </a:ext>
                </a:extLst>
              </p:cNvPr>
              <p:cNvSpPr/>
              <p:nvPr/>
            </p:nvSpPr>
            <p:spPr>
              <a:xfrm>
                <a:off x="4627208" y="5667186"/>
                <a:ext cx="1241885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27CEA14-1C43-B445-A2A2-B6324412A473}"/>
                  </a:ext>
                </a:extLst>
              </p:cNvPr>
              <p:cNvSpPr/>
              <p:nvPr/>
            </p:nvSpPr>
            <p:spPr>
              <a:xfrm>
                <a:off x="5550712" y="5674288"/>
                <a:ext cx="1241885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D6B14869-C97F-B443-AF14-34BC5BEC8FB3}"/>
                  </a:ext>
                </a:extLst>
              </p:cNvPr>
              <p:cNvSpPr/>
              <p:nvPr/>
            </p:nvSpPr>
            <p:spPr>
              <a:xfrm>
                <a:off x="6445988" y="5671010"/>
                <a:ext cx="1241885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98E7E84-EB25-4647-A4B8-BB2E39302F73}"/>
                  </a:ext>
                </a:extLst>
              </p:cNvPr>
              <p:cNvSpPr/>
              <p:nvPr/>
            </p:nvSpPr>
            <p:spPr>
              <a:xfrm>
                <a:off x="7369494" y="5678112"/>
                <a:ext cx="1129048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CF1F1E4-11BE-C44D-B9C7-B6AD33FEF649}"/>
                  </a:ext>
                </a:extLst>
              </p:cNvPr>
              <p:cNvSpPr/>
              <p:nvPr/>
            </p:nvSpPr>
            <p:spPr>
              <a:xfrm>
                <a:off x="8163949" y="5680843"/>
                <a:ext cx="1241885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F2BA494-2C8A-A247-8E0E-3A013A102E29}"/>
                  </a:ext>
                </a:extLst>
              </p:cNvPr>
              <p:cNvSpPr/>
              <p:nvPr/>
            </p:nvSpPr>
            <p:spPr>
              <a:xfrm>
                <a:off x="9087454" y="5665001"/>
                <a:ext cx="1135368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EC796634-1EC7-A747-869E-EF4CD04AFBD7}"/>
                  </a:ext>
                </a:extLst>
              </p:cNvPr>
              <p:cNvSpPr/>
              <p:nvPr/>
            </p:nvSpPr>
            <p:spPr>
              <a:xfrm>
                <a:off x="9927422" y="5671556"/>
                <a:ext cx="1156108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61640377-B441-0145-95A0-28DAC2C86D79}"/>
                  </a:ext>
                </a:extLst>
              </p:cNvPr>
              <p:cNvSpPr/>
              <p:nvPr/>
            </p:nvSpPr>
            <p:spPr>
              <a:xfrm>
                <a:off x="10800085" y="5678658"/>
                <a:ext cx="1178721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3F93585-E94B-7640-B8D3-80F900DC69F4}"/>
                </a:ext>
              </a:extLst>
            </p:cNvPr>
            <p:cNvGrpSpPr/>
            <p:nvPr/>
          </p:nvGrpSpPr>
          <p:grpSpPr>
            <a:xfrm>
              <a:off x="4633398" y="6151198"/>
              <a:ext cx="7273394" cy="357668"/>
              <a:chOff x="4633398" y="6151198"/>
              <a:chExt cx="7273394" cy="35766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F20042E-8F85-8944-8744-DED5FBD0DD7E}"/>
                  </a:ext>
                </a:extLst>
              </p:cNvPr>
              <p:cNvGrpSpPr/>
              <p:nvPr/>
            </p:nvGrpSpPr>
            <p:grpSpPr>
              <a:xfrm>
                <a:off x="4738996" y="6254228"/>
                <a:ext cx="7138606" cy="153211"/>
                <a:chOff x="352909" y="3041272"/>
                <a:chExt cx="12712311" cy="315547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5FA319FA-4F22-F646-A7F2-11DD25C59A3A}"/>
                    </a:ext>
                  </a:extLst>
                </p:cNvPr>
                <p:cNvGrpSpPr/>
                <p:nvPr/>
              </p:nvGrpSpPr>
              <p:grpSpPr>
                <a:xfrm>
                  <a:off x="352909" y="3045636"/>
                  <a:ext cx="313359" cy="290957"/>
                  <a:chOff x="356084" y="3020236"/>
                  <a:chExt cx="313359" cy="290957"/>
                </a:xfrm>
              </p:grpSpPr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8D41EF27-08D1-F648-80CF-6F4D257E3CD6}"/>
                      </a:ext>
                    </a:extLst>
                  </p:cNvPr>
                  <p:cNvSpPr/>
                  <p:nvPr/>
                </p:nvSpPr>
                <p:spPr>
                  <a:xfrm>
                    <a:off x="356084" y="3028896"/>
                    <a:ext cx="303069" cy="282297"/>
                  </a:xfrm>
                  <a:prstGeom prst="ellipse">
                    <a:avLst/>
                  </a:prstGeom>
                  <a:solidFill>
                    <a:srgbClr val="0066FF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" name="Oval 67">
                    <a:extLst>
                      <a:ext uri="{FF2B5EF4-FFF2-40B4-BE49-F238E27FC236}">
                        <a16:creationId xmlns:a16="http://schemas.microsoft.com/office/drawing/2014/main" id="{5CD37B30-319B-ED47-9027-A27F9DA4DB12}"/>
                      </a:ext>
                    </a:extLst>
                  </p:cNvPr>
                  <p:cNvSpPr/>
                  <p:nvPr/>
                </p:nvSpPr>
                <p:spPr>
                  <a:xfrm>
                    <a:off x="366374" y="302023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9FFD73EB-7AA3-EA45-83A1-4F63BDC9112D}"/>
                    </a:ext>
                  </a:extLst>
                </p:cNvPr>
                <p:cNvGrpSpPr/>
                <p:nvPr/>
              </p:nvGrpSpPr>
              <p:grpSpPr>
                <a:xfrm>
                  <a:off x="2429758" y="3049326"/>
                  <a:ext cx="307059" cy="283095"/>
                  <a:chOff x="2429758" y="2966776"/>
                  <a:chExt cx="307059" cy="283095"/>
                </a:xfrm>
              </p:grpSpPr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CCD18CAD-F5A8-9A49-AA9B-38C52A6A8F48}"/>
                      </a:ext>
                    </a:extLst>
                  </p:cNvPr>
                  <p:cNvSpPr/>
                  <p:nvPr/>
                </p:nvSpPr>
                <p:spPr>
                  <a:xfrm>
                    <a:off x="2429758" y="2967574"/>
                    <a:ext cx="303069" cy="282297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7993CF76-DA8E-2E4F-85C2-036896A9C3A3}"/>
                      </a:ext>
                    </a:extLst>
                  </p:cNvPr>
                  <p:cNvSpPr/>
                  <p:nvPr/>
                </p:nvSpPr>
                <p:spPr>
                  <a:xfrm>
                    <a:off x="2433748" y="2966776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2F803CF2-3011-CF4E-B62D-0A75758B0E70}"/>
                    </a:ext>
                  </a:extLst>
                </p:cNvPr>
                <p:cNvGrpSpPr/>
                <p:nvPr/>
              </p:nvGrpSpPr>
              <p:grpSpPr>
                <a:xfrm>
                  <a:off x="10187129" y="3048583"/>
                  <a:ext cx="307059" cy="283095"/>
                  <a:chOff x="10203754" y="2898954"/>
                  <a:chExt cx="307059" cy="283095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199A1790-BEA0-9245-8975-89519C6189ED}"/>
                      </a:ext>
                    </a:extLst>
                  </p:cNvPr>
                  <p:cNvSpPr/>
                  <p:nvPr/>
                </p:nvSpPr>
                <p:spPr>
                  <a:xfrm>
                    <a:off x="10203754" y="2899752"/>
                    <a:ext cx="303069" cy="282297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C9307742-1EA1-5246-80E4-62D6537AFBDC}"/>
                      </a:ext>
                    </a:extLst>
                  </p:cNvPr>
                  <p:cNvSpPr/>
                  <p:nvPr/>
                </p:nvSpPr>
                <p:spPr>
                  <a:xfrm>
                    <a:off x="10207744" y="2898954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8FD280BF-5D3B-AA41-B4C8-E636A144B9FF}"/>
                    </a:ext>
                  </a:extLst>
                </p:cNvPr>
                <p:cNvGrpSpPr/>
                <p:nvPr/>
              </p:nvGrpSpPr>
              <p:grpSpPr>
                <a:xfrm>
                  <a:off x="6590039" y="3047119"/>
                  <a:ext cx="307059" cy="283094"/>
                  <a:chOff x="6590039" y="2914115"/>
                  <a:chExt cx="307059" cy="283094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60C36CE2-DB33-2640-A135-5BF8E854D34B}"/>
                      </a:ext>
                    </a:extLst>
                  </p:cNvPr>
                  <p:cNvSpPr/>
                  <p:nvPr/>
                </p:nvSpPr>
                <p:spPr>
                  <a:xfrm>
                    <a:off x="6590039" y="2914912"/>
                    <a:ext cx="303069" cy="282297"/>
                  </a:xfrm>
                  <a:prstGeom prst="ellipse">
                    <a:avLst/>
                  </a:prstGeom>
                  <a:solidFill>
                    <a:schemeClr val="accent2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0676C779-85A3-7242-8C59-917F824D2AC6}"/>
                      </a:ext>
                    </a:extLst>
                  </p:cNvPr>
                  <p:cNvSpPr/>
                  <p:nvPr/>
                </p:nvSpPr>
                <p:spPr>
                  <a:xfrm>
                    <a:off x="6594029" y="2914115"/>
                    <a:ext cx="303069" cy="2822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79F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B9FCACE-7766-7745-85DC-235C63BB10CD}"/>
                    </a:ext>
                  </a:extLst>
                </p:cNvPr>
                <p:cNvSpPr/>
                <p:nvPr/>
              </p:nvSpPr>
              <p:spPr>
                <a:xfrm>
                  <a:off x="910578" y="30567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31A84DE3-63C5-4F4C-9DD8-A150CB0A9091}"/>
                    </a:ext>
                  </a:extLst>
                </p:cNvPr>
                <p:cNvSpPr/>
                <p:nvPr/>
              </p:nvSpPr>
              <p:spPr>
                <a:xfrm>
                  <a:off x="1418811" y="305914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7E06117-A701-DE4D-AA80-2F2E89C5F92D}"/>
                    </a:ext>
                  </a:extLst>
                </p:cNvPr>
                <p:cNvSpPr/>
                <p:nvPr/>
              </p:nvSpPr>
              <p:spPr>
                <a:xfrm>
                  <a:off x="1935056" y="30583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82275529-8CF8-F44A-8628-FC248CDA1474}"/>
                    </a:ext>
                  </a:extLst>
                </p:cNvPr>
                <p:cNvSpPr/>
                <p:nvPr/>
              </p:nvSpPr>
              <p:spPr>
                <a:xfrm>
                  <a:off x="3031478" y="305359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9517AA98-613D-F245-BCD1-DB79938DD514}"/>
                    </a:ext>
                  </a:extLst>
                </p:cNvPr>
                <p:cNvSpPr/>
                <p:nvPr/>
              </p:nvSpPr>
              <p:spPr>
                <a:xfrm>
                  <a:off x="3539711" y="3055974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08AE4E36-8EE6-CB48-A739-587644875BC9}"/>
                    </a:ext>
                  </a:extLst>
                </p:cNvPr>
                <p:cNvSpPr/>
                <p:nvPr/>
              </p:nvSpPr>
              <p:spPr>
                <a:xfrm>
                  <a:off x="4055956" y="305512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2C3F5E87-FFB1-804B-9EBC-5ED7BAB54695}"/>
                    </a:ext>
                  </a:extLst>
                </p:cNvPr>
                <p:cNvSpPr/>
                <p:nvPr/>
              </p:nvSpPr>
              <p:spPr>
                <a:xfrm>
                  <a:off x="4580416" y="306468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0B43A20B-7946-5C44-AADE-8A0747D4BD5E}"/>
                    </a:ext>
                  </a:extLst>
                </p:cNvPr>
                <p:cNvSpPr/>
                <p:nvPr/>
              </p:nvSpPr>
              <p:spPr>
                <a:xfrm>
                  <a:off x="5088649" y="3067057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28CB664-C7C7-A74A-A36C-D9E1566DB93B}"/>
                    </a:ext>
                  </a:extLst>
                </p:cNvPr>
                <p:cNvSpPr/>
                <p:nvPr/>
              </p:nvSpPr>
              <p:spPr>
                <a:xfrm>
                  <a:off x="5604894" y="3066210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80B28EE-12C5-DE4D-8E90-AA80A5993169}"/>
                    </a:ext>
                  </a:extLst>
                </p:cNvPr>
                <p:cNvSpPr/>
                <p:nvPr/>
              </p:nvSpPr>
              <p:spPr>
                <a:xfrm>
                  <a:off x="6106428" y="306898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F9B1569-336E-5346-B9DE-06EFBF0EDC6C}"/>
                    </a:ext>
                  </a:extLst>
                </p:cNvPr>
                <p:cNvSpPr/>
                <p:nvPr/>
              </p:nvSpPr>
              <p:spPr>
                <a:xfrm>
                  <a:off x="7150205" y="3042119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6BBAE41F-A12F-8343-B171-30AD79E6E9B0}"/>
                    </a:ext>
                  </a:extLst>
                </p:cNvPr>
                <p:cNvSpPr/>
                <p:nvPr/>
              </p:nvSpPr>
              <p:spPr>
                <a:xfrm>
                  <a:off x="7666450" y="304127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95E46958-0E99-F743-A9E1-BA9B8DC73C5E}"/>
                    </a:ext>
                  </a:extLst>
                </p:cNvPr>
                <p:cNvSpPr/>
                <p:nvPr/>
              </p:nvSpPr>
              <p:spPr>
                <a:xfrm>
                  <a:off x="8190910" y="305082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F3F25DE8-3DFF-E743-B228-527FA8C5E1CD}"/>
                    </a:ext>
                  </a:extLst>
                </p:cNvPr>
                <p:cNvSpPr/>
                <p:nvPr/>
              </p:nvSpPr>
              <p:spPr>
                <a:xfrm>
                  <a:off x="8699143" y="305320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3097041D-5835-6047-8E3E-D554A4E35932}"/>
                    </a:ext>
                  </a:extLst>
                </p:cNvPr>
                <p:cNvSpPr/>
                <p:nvPr/>
              </p:nvSpPr>
              <p:spPr>
                <a:xfrm>
                  <a:off x="9215388" y="3052355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246E3B6-F589-FA48-87E2-522949108A89}"/>
                    </a:ext>
                  </a:extLst>
                </p:cNvPr>
                <p:cNvSpPr/>
                <p:nvPr/>
              </p:nvSpPr>
              <p:spPr>
                <a:xfrm>
                  <a:off x="9716922" y="3055126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019C574D-69AE-7042-8A6E-4A641E236135}"/>
                    </a:ext>
                  </a:extLst>
                </p:cNvPr>
                <p:cNvSpPr/>
                <p:nvPr/>
              </p:nvSpPr>
              <p:spPr>
                <a:xfrm>
                  <a:off x="10711679" y="306066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FA1E8B70-CA41-624B-9891-50B49176C797}"/>
                    </a:ext>
                  </a:extLst>
                </p:cNvPr>
                <p:cNvSpPr/>
                <p:nvPr/>
              </p:nvSpPr>
              <p:spPr>
                <a:xfrm>
                  <a:off x="11236139" y="307022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7E2187-FD32-F54E-AE12-7A5ADE1C4C02}"/>
                    </a:ext>
                  </a:extLst>
                </p:cNvPr>
                <p:cNvSpPr/>
                <p:nvPr/>
              </p:nvSpPr>
              <p:spPr>
                <a:xfrm>
                  <a:off x="11744372" y="3072598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FDCE99A0-21B4-6A48-A91D-16E50978C4C8}"/>
                    </a:ext>
                  </a:extLst>
                </p:cNvPr>
                <p:cNvSpPr/>
                <p:nvPr/>
              </p:nvSpPr>
              <p:spPr>
                <a:xfrm>
                  <a:off x="12260617" y="3071751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9A905DB2-02D2-AF40-ADD8-A34C7DA52886}"/>
                    </a:ext>
                  </a:extLst>
                </p:cNvPr>
                <p:cNvSpPr/>
                <p:nvPr/>
              </p:nvSpPr>
              <p:spPr>
                <a:xfrm>
                  <a:off x="12762151" y="3074522"/>
                  <a:ext cx="303069" cy="28229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6305AE8-C5DF-6F40-8924-EE69E8A9D521}"/>
                  </a:ext>
                </a:extLst>
              </p:cNvPr>
              <p:cNvSpPr/>
              <p:nvPr/>
            </p:nvSpPr>
            <p:spPr>
              <a:xfrm>
                <a:off x="4633398" y="6156114"/>
                <a:ext cx="646396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F61F256-5BCF-EC43-B866-341ABA7A2C86}"/>
                  </a:ext>
                </a:extLst>
              </p:cNvPr>
              <p:cNvSpPr/>
              <p:nvPr/>
            </p:nvSpPr>
            <p:spPr>
              <a:xfrm>
                <a:off x="4965815" y="6159938"/>
                <a:ext cx="611253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D84E6C1-35F6-DB4A-A2A7-7A0B7BA886C4}"/>
                  </a:ext>
                </a:extLst>
              </p:cNvPr>
              <p:cNvSpPr/>
              <p:nvPr/>
            </p:nvSpPr>
            <p:spPr>
              <a:xfrm>
                <a:off x="5290741" y="6156660"/>
                <a:ext cx="566316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937A66E-7E08-F945-BB5F-23A099C1B927}"/>
                  </a:ext>
                </a:extLst>
              </p:cNvPr>
              <p:cNvSpPr/>
              <p:nvPr/>
            </p:nvSpPr>
            <p:spPr>
              <a:xfrm>
                <a:off x="5595505" y="6163762"/>
                <a:ext cx="56228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06E2EB8-E85B-324F-8A3B-38413F6D7638}"/>
                  </a:ext>
                </a:extLst>
              </p:cNvPr>
              <p:cNvSpPr/>
              <p:nvPr/>
            </p:nvSpPr>
            <p:spPr>
              <a:xfrm>
                <a:off x="5875492" y="6153929"/>
                <a:ext cx="566316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66FD028-DC4B-4541-B1AE-EB021985628A}"/>
                  </a:ext>
                </a:extLst>
              </p:cNvPr>
              <p:cNvSpPr/>
              <p:nvPr/>
            </p:nvSpPr>
            <p:spPr>
              <a:xfrm>
                <a:off x="6180257" y="6161031"/>
                <a:ext cx="56228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01CC189-8935-5D47-8906-3B11735DED53}"/>
                  </a:ext>
                </a:extLst>
              </p:cNvPr>
              <p:cNvSpPr/>
              <p:nvPr/>
            </p:nvSpPr>
            <p:spPr>
              <a:xfrm>
                <a:off x="6494811" y="6151198"/>
                <a:ext cx="566316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F18D8F5-11C3-0249-8E5A-12932CBD7CEC}"/>
                  </a:ext>
                </a:extLst>
              </p:cNvPr>
              <p:cNvSpPr/>
              <p:nvPr/>
            </p:nvSpPr>
            <p:spPr>
              <a:xfrm>
                <a:off x="6799575" y="6158299"/>
                <a:ext cx="56228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3C22E6-D869-E844-BEB0-5E5ECDA151EB}"/>
                  </a:ext>
                </a:extLst>
              </p:cNvPr>
              <p:cNvSpPr/>
              <p:nvPr/>
            </p:nvSpPr>
            <p:spPr>
              <a:xfrm>
                <a:off x="7078986" y="6154475"/>
                <a:ext cx="566316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44739BC-A0DB-8D43-96A3-759D0AFE1BF9}"/>
                  </a:ext>
                </a:extLst>
              </p:cNvPr>
              <p:cNvSpPr/>
              <p:nvPr/>
            </p:nvSpPr>
            <p:spPr>
              <a:xfrm>
                <a:off x="7383751" y="6161577"/>
                <a:ext cx="523108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4A970F2-2FD5-1047-9B81-41D8D266991D}"/>
                  </a:ext>
                </a:extLst>
              </p:cNvPr>
              <p:cNvSpPr/>
              <p:nvPr/>
            </p:nvSpPr>
            <p:spPr>
              <a:xfrm>
                <a:off x="7663738" y="6161577"/>
                <a:ext cx="523109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D6325F1-A32C-BA4F-B948-68F078F07806}"/>
                  </a:ext>
                </a:extLst>
              </p:cNvPr>
              <p:cNvSpPr/>
              <p:nvPr/>
            </p:nvSpPr>
            <p:spPr>
              <a:xfrm>
                <a:off x="7927022" y="6162123"/>
                <a:ext cx="56228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404771C-7DDD-264B-9F9A-6B6907BF1324}"/>
                  </a:ext>
                </a:extLst>
              </p:cNvPr>
              <p:cNvSpPr/>
              <p:nvPr/>
            </p:nvSpPr>
            <p:spPr>
              <a:xfrm>
                <a:off x="8210466" y="6155568"/>
                <a:ext cx="566316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BAA9B4E-0014-A947-960D-AC2A2CA9F687}"/>
                  </a:ext>
                </a:extLst>
              </p:cNvPr>
              <p:cNvSpPr/>
              <p:nvPr/>
            </p:nvSpPr>
            <p:spPr>
              <a:xfrm>
                <a:off x="8473750" y="6156114"/>
                <a:ext cx="56228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0CF5F11-3016-0E4D-9F91-7D82CE7DC797}"/>
                  </a:ext>
                </a:extLst>
              </p:cNvPr>
              <p:cNvSpPr/>
              <p:nvPr/>
            </p:nvSpPr>
            <p:spPr>
              <a:xfrm>
                <a:off x="8805588" y="6156114"/>
                <a:ext cx="566316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BD8FB5B-4989-3B42-8ABC-2D188725E512}"/>
                  </a:ext>
                </a:extLst>
              </p:cNvPr>
              <p:cNvSpPr/>
              <p:nvPr/>
            </p:nvSpPr>
            <p:spPr>
              <a:xfrm>
                <a:off x="9068872" y="6156660"/>
                <a:ext cx="56228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8CE371E-04FB-854F-902C-FCA43B3B4DF5}"/>
                  </a:ext>
                </a:extLst>
              </p:cNvPr>
              <p:cNvSpPr/>
              <p:nvPr/>
            </p:nvSpPr>
            <p:spPr>
              <a:xfrm>
                <a:off x="9393797" y="6163216"/>
                <a:ext cx="549035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C7BAC82-7661-8F49-A8C5-D595D0525E06}"/>
                  </a:ext>
                </a:extLst>
              </p:cNvPr>
              <p:cNvSpPr/>
              <p:nvPr/>
            </p:nvSpPr>
            <p:spPr>
              <a:xfrm>
                <a:off x="9657080" y="6163762"/>
                <a:ext cx="56228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99F4694-CC8D-0448-9487-402065BC19F8}"/>
                  </a:ext>
                </a:extLst>
              </p:cNvPr>
              <p:cNvSpPr/>
              <p:nvPr/>
            </p:nvSpPr>
            <p:spPr>
              <a:xfrm>
                <a:off x="9971059" y="6156660"/>
                <a:ext cx="54212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3E728E9-56C6-2B49-BFB2-D66559DCF6FA}"/>
                  </a:ext>
                </a:extLst>
              </p:cNvPr>
              <p:cNvSpPr/>
              <p:nvPr/>
            </p:nvSpPr>
            <p:spPr>
              <a:xfrm>
                <a:off x="10234343" y="6157207"/>
                <a:ext cx="56228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8ED9F49-2328-9340-8190-191CB9C644E0}"/>
                  </a:ext>
                </a:extLst>
              </p:cNvPr>
              <p:cNvSpPr/>
              <p:nvPr/>
            </p:nvSpPr>
            <p:spPr>
              <a:xfrm>
                <a:off x="10541985" y="6163762"/>
                <a:ext cx="53463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9A348DF-4077-4840-89CD-E921A91038CE}"/>
                  </a:ext>
                </a:extLst>
              </p:cNvPr>
              <p:cNvSpPr/>
              <p:nvPr/>
            </p:nvSpPr>
            <p:spPr>
              <a:xfrm>
                <a:off x="10805268" y="6164308"/>
                <a:ext cx="562282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2BADD51-5CD2-3E4D-B3CE-9F62AF77F875}"/>
                  </a:ext>
                </a:extLst>
              </p:cNvPr>
              <p:cNvSpPr/>
              <p:nvPr/>
            </p:nvSpPr>
            <p:spPr>
              <a:xfrm>
                <a:off x="11110031" y="6161577"/>
                <a:ext cx="512739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1D0E401-291F-1241-8D7B-F65DA91BEE57}"/>
                  </a:ext>
                </a:extLst>
              </p:cNvPr>
              <p:cNvSpPr/>
              <p:nvPr/>
            </p:nvSpPr>
            <p:spPr>
              <a:xfrm>
                <a:off x="11394053" y="6165401"/>
                <a:ext cx="512739" cy="34346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8" name="TextBox 227">
            <a:extLst>
              <a:ext uri="{FF2B5EF4-FFF2-40B4-BE49-F238E27FC236}">
                <a16:creationId xmlns:a16="http://schemas.microsoft.com/office/drawing/2014/main" id="{3EA357BC-FFAC-D54F-83F4-ED8AC57550C7}"/>
              </a:ext>
            </a:extLst>
          </p:cNvPr>
          <p:cNvSpPr txBox="1"/>
          <p:nvPr/>
        </p:nvSpPr>
        <p:spPr>
          <a:xfrm>
            <a:off x="155425" y="3973362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25-node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5338755-28AF-4D43-98DF-6CB056B2F45E}"/>
              </a:ext>
            </a:extLst>
          </p:cNvPr>
          <p:cNvSpPr txBox="1"/>
          <p:nvPr/>
        </p:nvSpPr>
        <p:spPr>
          <a:xfrm>
            <a:off x="155425" y="4504169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13-node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4940D41-6697-E24A-AFE3-41A97786E6CF}"/>
              </a:ext>
            </a:extLst>
          </p:cNvPr>
          <p:cNvSpPr txBox="1"/>
          <p:nvPr/>
        </p:nvSpPr>
        <p:spPr>
          <a:xfrm>
            <a:off x="158006" y="5034976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6-node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BFD12B90-1ED2-FB41-8E38-8579677C145E}"/>
              </a:ext>
            </a:extLst>
          </p:cNvPr>
          <p:cNvSpPr txBox="1"/>
          <p:nvPr/>
        </p:nvSpPr>
        <p:spPr>
          <a:xfrm>
            <a:off x="158006" y="5565783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4-node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7570A46-10DA-3242-88C6-1E12B9CDA4AF}"/>
              </a:ext>
            </a:extLst>
          </p:cNvPr>
          <p:cNvSpPr txBox="1"/>
          <p:nvPr/>
        </p:nvSpPr>
        <p:spPr>
          <a:xfrm>
            <a:off x="160769" y="6096589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2-node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7369C8C-59AC-8744-95CF-9D8C037C394E}"/>
              </a:ext>
            </a:extLst>
          </p:cNvPr>
          <p:cNvSpPr txBox="1"/>
          <p:nvPr/>
        </p:nvSpPr>
        <p:spPr>
          <a:xfrm>
            <a:off x="7298755" y="4027223"/>
            <a:ext cx="1854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Full connected mesh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6EA4EAD-3827-0240-9B65-CF2DEAB4AE47}"/>
              </a:ext>
            </a:extLst>
          </p:cNvPr>
          <p:cNvSpPr txBox="1"/>
          <p:nvPr/>
        </p:nvSpPr>
        <p:spPr>
          <a:xfrm>
            <a:off x="7298755" y="6162626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Daisy chain of nodes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29E08-3099-8F45-87B5-8927F592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05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EA118-9FDF-FB43-AD0E-A8B38A3F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510" y="818955"/>
            <a:ext cx="6799490" cy="640080"/>
          </a:xfrm>
        </p:spPr>
        <p:txBody>
          <a:bodyPr>
            <a:noAutofit/>
          </a:bodyPr>
          <a:lstStyle/>
          <a:p>
            <a:r>
              <a:rPr lang="en-US" sz="2800" b="1" dirty="0"/>
              <a:t>Performance Studies: Neighborhoods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538D0-56D9-C045-A28C-061A035C1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257410" cy="974666"/>
          </a:xfrm>
        </p:spPr>
        <p:txBody>
          <a:bodyPr>
            <a:noAutofit/>
          </a:bodyPr>
          <a:lstStyle/>
          <a:p>
            <a:r>
              <a:rPr lang="en-US" sz="1600" dirty="0"/>
              <a:t>Scenarios distribute data with 8 Mbps channels in allotted time (e.g. ~200 sec for 1000 chunks)</a:t>
            </a:r>
          </a:p>
          <a:p>
            <a:pPr lvl="1"/>
            <a:r>
              <a:rPr lang="en-US" sz="1400" dirty="0"/>
              <a:t>Average network traffic loads decrease as the size of neighborhoods decrease </a:t>
            </a:r>
          </a:p>
          <a:p>
            <a:pPr lvl="1"/>
            <a:r>
              <a:rPr lang="en-US" sz="1400" dirty="0"/>
              <a:t>Nodes that bridge between neighborhoods carry higher traffic loads </a:t>
            </a:r>
          </a:p>
          <a:p>
            <a:pPr lvl="1"/>
            <a:endParaRPr lang="en-US" sz="1400" dirty="0"/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E9EB2-9917-254C-BBB2-58262A72FEA0}"/>
              </a:ext>
            </a:extLst>
          </p:cNvPr>
          <p:cNvSpPr txBox="1"/>
          <p:nvPr/>
        </p:nvSpPr>
        <p:spPr>
          <a:xfrm>
            <a:off x="-3670" y="4957036"/>
            <a:ext cx="1762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25-node neighborhood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B98824E-24ED-2A41-AA86-028562F548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" t="11362" b="5571"/>
          <a:stretch/>
        </p:blipFill>
        <p:spPr bwMode="auto">
          <a:xfrm>
            <a:off x="155424" y="2929735"/>
            <a:ext cx="8976985" cy="205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D59B304-27F7-3F44-9D1C-317D66C58E39}"/>
              </a:ext>
            </a:extLst>
          </p:cNvPr>
          <p:cNvSpPr txBox="1"/>
          <p:nvPr/>
        </p:nvSpPr>
        <p:spPr>
          <a:xfrm>
            <a:off x="8335690" y="2852656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8 Mb/s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26173C-BF4D-824E-ACF3-9290F5DF5B10}"/>
              </a:ext>
            </a:extLst>
          </p:cNvPr>
          <p:cNvSpPr txBox="1"/>
          <p:nvPr/>
        </p:nvSpPr>
        <p:spPr>
          <a:xfrm>
            <a:off x="2245059" y="4957036"/>
            <a:ext cx="1838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13-node neighborhoods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F10275-A049-3F4A-B568-CF8E4D30D8A0}"/>
              </a:ext>
            </a:extLst>
          </p:cNvPr>
          <p:cNvSpPr txBox="1"/>
          <p:nvPr/>
        </p:nvSpPr>
        <p:spPr>
          <a:xfrm>
            <a:off x="4018110" y="4957036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6-node neighborhood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81B59F-8439-6A48-A66A-EBCCA5EA5F2D}"/>
              </a:ext>
            </a:extLst>
          </p:cNvPr>
          <p:cNvSpPr txBox="1"/>
          <p:nvPr/>
        </p:nvSpPr>
        <p:spPr>
          <a:xfrm>
            <a:off x="5694249" y="4957036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4-node neighborhood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0E62A8-49D4-EB40-8943-4E2D4B92010D}"/>
              </a:ext>
            </a:extLst>
          </p:cNvPr>
          <p:cNvSpPr txBox="1"/>
          <p:nvPr/>
        </p:nvSpPr>
        <p:spPr>
          <a:xfrm>
            <a:off x="7276114" y="4957036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2-node neighborhood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6FA36-DA68-8745-B4BC-4CB8CD904E43}"/>
              </a:ext>
            </a:extLst>
          </p:cNvPr>
          <p:cNvSpPr txBox="1"/>
          <p:nvPr/>
        </p:nvSpPr>
        <p:spPr>
          <a:xfrm>
            <a:off x="2693720" y="2621958"/>
            <a:ext cx="3869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Throughput for 25 nodes in various topologies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0837434-8983-B145-94AF-031C4B70B461}"/>
              </a:ext>
            </a:extLst>
          </p:cNvPr>
          <p:cNvSpPr txBox="1">
            <a:spLocks/>
          </p:cNvSpPr>
          <p:nvPr/>
        </p:nvSpPr>
        <p:spPr>
          <a:xfrm>
            <a:off x="-9785" y="5426060"/>
            <a:ext cx="9142195" cy="1101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Results indicate nodes may need to limit number of next-hop neighbors when fully connected</a:t>
            </a:r>
          </a:p>
          <a:p>
            <a:pPr lvl="1"/>
            <a:r>
              <a:rPr lang="en-US" sz="1400" dirty="0"/>
              <a:t>For example: randomly pick a certain number of neighbors with which to create faces</a:t>
            </a:r>
          </a:p>
          <a:p>
            <a:pPr lvl="1">
              <a:buFont typeface="Wingdings" pitchFamily="2" charset="2"/>
              <a:buChar char="Ø"/>
            </a:pPr>
            <a:r>
              <a:rPr lang="en-US" sz="1400" dirty="0"/>
              <a:t>This led us to develop the </a:t>
            </a:r>
            <a:r>
              <a:rPr lang="en-US" sz="1400" b="1" dirty="0" err="1"/>
              <a:t>randomcast</a:t>
            </a:r>
            <a:r>
              <a:rPr lang="en-US" sz="1400" b="1" dirty="0"/>
              <a:t>-n#</a:t>
            </a:r>
            <a:r>
              <a:rPr lang="en-US" sz="1400" dirty="0"/>
              <a:t> strategies</a:t>
            </a:r>
          </a:p>
          <a:p>
            <a:pPr marL="457200" lvl="1" indent="0">
              <a:buNone/>
            </a:pPr>
            <a:endParaRPr lang="en-US" sz="1200" dirty="0"/>
          </a:p>
          <a:p>
            <a:endParaRPr lang="en-US" sz="2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4676B1-0EA4-5D40-B764-38A1A4248066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47450" y="3006545"/>
            <a:ext cx="798824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439F4-DCF5-2845-87BD-0827CCB7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71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EC06-C7C8-354C-80FE-E03EE7D7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915" y="818955"/>
            <a:ext cx="6761085" cy="640080"/>
          </a:xfrm>
        </p:spPr>
        <p:txBody>
          <a:bodyPr>
            <a:noAutofit/>
          </a:bodyPr>
          <a:lstStyle/>
          <a:p>
            <a:r>
              <a:rPr lang="en-US" sz="3200" b="1" dirty="0" err="1"/>
              <a:t>RandomCast</a:t>
            </a:r>
            <a:r>
              <a:rPr lang="en-US" sz="3200" b="1" dirty="0"/>
              <a:t>-N Strategy for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1B62-6296-9240-A055-2CB9DD96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3692693"/>
          </a:xfrm>
        </p:spPr>
        <p:txBody>
          <a:bodyPr>
            <a:normAutofit/>
          </a:bodyPr>
          <a:lstStyle/>
          <a:p>
            <a:r>
              <a:rPr lang="en-US" sz="2400" dirty="0"/>
              <a:t>Nodes with M faces (where M is large)</a:t>
            </a:r>
          </a:p>
          <a:p>
            <a:pPr lvl="1"/>
            <a:r>
              <a:rPr lang="en-US" sz="2000" dirty="0"/>
              <a:t>Multicast/broadcast overloads the network</a:t>
            </a:r>
          </a:p>
          <a:p>
            <a:r>
              <a:rPr lang="en-US" sz="2400" dirty="0"/>
              <a:t>For each Interest select N random faces out of M</a:t>
            </a:r>
          </a:p>
          <a:p>
            <a:pPr lvl="1"/>
            <a:r>
              <a:rPr lang="en-US" sz="2000" dirty="0"/>
              <a:t>Multicast to those N faces</a:t>
            </a:r>
          </a:p>
          <a:p>
            <a:pPr lvl="1"/>
            <a:r>
              <a:rPr lang="en-US" sz="2000" dirty="0"/>
              <a:t>Typical N’s we have found workable: 3 ≤ N ≤ 5</a:t>
            </a:r>
          </a:p>
          <a:p>
            <a:r>
              <a:rPr lang="en-US" sz="2400" dirty="0"/>
              <a:t>Relies on mesh being fairly well connected</a:t>
            </a:r>
          </a:p>
          <a:p>
            <a:pPr lvl="1"/>
            <a:r>
              <a:rPr lang="en-US" sz="2000" dirty="0"/>
              <a:t>Randomization allows network to propagate interests to producers, </a:t>
            </a:r>
            <a:br>
              <a:rPr lang="en-US" sz="2000" dirty="0"/>
            </a:br>
            <a:r>
              <a:rPr lang="en-US" sz="2000" dirty="0"/>
              <a:t>even though NDN overlay is subset of underlying radio mesh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364C0-CF1B-6640-800D-461EA4F3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57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EC06-C7C8-354C-80FE-E03EE7D7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510" y="818955"/>
            <a:ext cx="6799490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Persistent Interests (PI)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1B62-6296-9240-A055-2CB9DD96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4824551"/>
          </a:xfrm>
        </p:spPr>
        <p:txBody>
          <a:bodyPr>
            <a:normAutofit/>
          </a:bodyPr>
          <a:lstStyle/>
          <a:p>
            <a:r>
              <a:rPr lang="en-US" sz="2400" dirty="0"/>
              <a:t>Experimental: For </a:t>
            </a:r>
            <a:r>
              <a:rPr lang="en-US" sz="2400" b="1" u="sng" dirty="0"/>
              <a:t>severely</a:t>
            </a:r>
            <a:r>
              <a:rPr lang="en-US" sz="2400" dirty="0"/>
              <a:t> BW limited operations.</a:t>
            </a:r>
          </a:p>
          <a:p>
            <a:r>
              <a:rPr lang="en-US" sz="2400" dirty="0"/>
              <a:t>Controversial: Breaks NDN flow balance principle</a:t>
            </a:r>
          </a:p>
          <a:p>
            <a:r>
              <a:rPr lang="en-US" sz="2400" dirty="0"/>
              <a:t>To reduce Interest overhead when retrieving large data items (Files, Maps,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CS returns all matching data</a:t>
            </a:r>
          </a:p>
          <a:p>
            <a:pPr lvl="1"/>
            <a:r>
              <a:rPr lang="en-US" sz="2000" dirty="0"/>
              <a:t>Interest remains in PIT until it times out</a:t>
            </a:r>
          </a:p>
          <a:p>
            <a:pPr lvl="1"/>
            <a:r>
              <a:rPr lang="en-US" sz="2000" dirty="0"/>
              <a:t>Interest continues to cause return of data if it arrives</a:t>
            </a:r>
          </a:p>
          <a:p>
            <a:pPr lvl="1"/>
            <a:r>
              <a:rPr lang="en-US" sz="2000" dirty="0"/>
              <a:t>Producer responds with all of its matching data</a:t>
            </a:r>
          </a:p>
          <a:p>
            <a:r>
              <a:rPr lang="en-US" sz="2400" dirty="0"/>
              <a:t>After initial persistent interest times out, consumer:</a:t>
            </a:r>
          </a:p>
          <a:p>
            <a:pPr lvl="1"/>
            <a:r>
              <a:rPr lang="en-US" sz="2000" dirty="0"/>
              <a:t>Sends new PI, with LAST_SEEN seq# indicator</a:t>
            </a:r>
          </a:p>
          <a:p>
            <a:pPr lvl="1"/>
            <a:r>
              <a:rPr lang="en-US" sz="2000" dirty="0"/>
              <a:t>OR: Sends individual non-persistent interests for missing sequence numbers.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1E9B2-EDDF-E64C-91CB-4AF69732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78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0093-32E9-A243-9CF2-1A481C3ED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510" y="818955"/>
            <a:ext cx="6799490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BEBCC-65F4-584E-A713-1FD24876E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9142195" cy="4824551"/>
          </a:xfrm>
        </p:spPr>
        <p:txBody>
          <a:bodyPr>
            <a:normAutofit/>
          </a:bodyPr>
          <a:lstStyle/>
          <a:p>
            <a:r>
              <a:rPr lang="en-US" sz="2400" dirty="0"/>
              <a:t>DARPA SHARE has exercised NDN in new and challenging ways</a:t>
            </a:r>
          </a:p>
          <a:p>
            <a:r>
              <a:rPr lang="en-US" sz="2400" dirty="0"/>
              <a:t>We have shown NDN can perform successfully in these conditions</a:t>
            </a:r>
          </a:p>
          <a:p>
            <a:r>
              <a:rPr lang="en-US" sz="2400" dirty="0"/>
              <a:t>We plan to start feeding some of our code and modifications back into the NDN codebase</a:t>
            </a:r>
          </a:p>
          <a:p>
            <a:r>
              <a:rPr lang="en-US" sz="2400" dirty="0"/>
              <a:t>Still more work to do in the coming year…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54C7D-8164-CD48-96E1-FB245610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7924" y="6555803"/>
            <a:ext cx="518785" cy="365125"/>
          </a:xfrm>
          <a:prstGeom prst="rect">
            <a:avLst/>
          </a:prstGeom>
        </p:spPr>
        <p:txBody>
          <a:bodyPr/>
          <a:lstStyle/>
          <a:p>
            <a:fld id="{2F72C5E2-6B18-4CD3-90B2-3F73870FB0F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15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elvetica Light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52738</TotalTime>
  <Words>1243</Words>
  <Application>Microsoft Macintosh PowerPoint</Application>
  <PresentationFormat>On-screen Show (4:3)</PresentationFormat>
  <Paragraphs>206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Helvetica Light</vt:lpstr>
      <vt:lpstr>Wingdings</vt:lpstr>
      <vt:lpstr>Office Theme</vt:lpstr>
      <vt:lpstr>NDN in DARPA SHARE NDNCOMM, Sept. 2020</vt:lpstr>
      <vt:lpstr>Statement and Disclaimer</vt:lpstr>
      <vt:lpstr>Outline</vt:lpstr>
      <vt:lpstr>Background</vt:lpstr>
      <vt:lpstr>Background (continued)</vt:lpstr>
      <vt:lpstr>Team</vt:lpstr>
      <vt:lpstr>Physical Architecture</vt:lpstr>
      <vt:lpstr>NDN in DARPA SHARE</vt:lpstr>
      <vt:lpstr>ICT-Sync</vt:lpstr>
      <vt:lpstr>Local First Multicast (LFM) Strategy</vt:lpstr>
      <vt:lpstr>Performance Studies: LFM for Sync</vt:lpstr>
      <vt:lpstr>Performance Studies: Neighborhoods</vt:lpstr>
      <vt:lpstr>Performance Studies: Neighborhoods</vt:lpstr>
      <vt:lpstr>RandomCast-N Strategy for Data</vt:lpstr>
      <vt:lpstr>Persistent Interests (PI)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Named Data Networking</dc:title>
  <dc:subject/>
  <dc:creator>Patrick Crowley</dc:creator>
  <cp:keywords/>
  <dc:description/>
  <cp:lastModifiedBy>Dehart, John</cp:lastModifiedBy>
  <cp:revision>909</cp:revision>
  <cp:lastPrinted>2019-07-31T13:55:32Z</cp:lastPrinted>
  <dcterms:created xsi:type="dcterms:W3CDTF">2011-05-19T00:28:22Z</dcterms:created>
  <dcterms:modified xsi:type="dcterms:W3CDTF">2020-09-08T18:25:11Z</dcterms:modified>
  <cp:category/>
</cp:coreProperties>
</file>