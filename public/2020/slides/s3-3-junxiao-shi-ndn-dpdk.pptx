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igs" ContentType="application/vnd.openxmlformats-package.digital-signature-origin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_xmlsignatures/sig1.xml" ContentType="application/vnd.openxmlformats-package.digital-signature-xmlsignatur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package/2006/relationships/digital-signature/origin" Target="_xmlsignatures/origin.sigs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99" r:id="rId5"/>
    <p:sldId id="260" r:id="rId6"/>
    <p:sldId id="261" r:id="rId7"/>
    <p:sldId id="301" r:id="rId8"/>
    <p:sldId id="278" r:id="rId9"/>
    <p:sldId id="277" r:id="rId10"/>
    <p:sldId id="271" r:id="rId11"/>
    <p:sldId id="302" r:id="rId12"/>
    <p:sldId id="300" r:id="rId13"/>
    <p:sldId id="280" r:id="rId14"/>
    <p:sldId id="272" r:id="rId15"/>
    <p:sldId id="303" r:id="rId16"/>
    <p:sldId id="266" r:id="rId17"/>
    <p:sldId id="282" r:id="rId18"/>
    <p:sldId id="295" r:id="rId19"/>
    <p:sldId id="3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Programming Languages (2020)</a:t>
            </a:r>
          </a:p>
        </c:rich>
      </c:tx>
      <c:layout>
        <c:manualLayout>
          <c:xMode val="edge"/>
          <c:yMode val="edge"/>
          <c:x val="0.3223098428485913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8379281537176273E-2"/>
          <c:y val="0.23013351263931367"/>
          <c:w val="0.96324143692564745"/>
          <c:h val="0.4897587572806430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</c:v>
                </c:pt>
              </c:strCache>
            </c:strRef>
          </c:tx>
          <c:spPr>
            <a:solidFill>
              <a:srgbClr val="00B0F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96-4DC9-B689-C8263139C0B5}"/>
              </c:ext>
            </c:extLst>
          </c:dPt>
          <c:dLbls>
            <c:dLbl>
              <c:idx val="0"/>
              <c:layout>
                <c:manualLayout>
                  <c:x val="-6.6833751044277356E-3"/>
                  <c:y val="0.31242762969818444"/>
                </c:manualLayout>
              </c:layout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796-4DC9-B689-C8263139C0B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qty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0.65200000000000002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96-4DC9-B689-C8263139C0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FFC00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2.3391812865497075E-2"/>
                  <c:y val="0.32320099623950127"/>
                </c:manualLayout>
              </c:layout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796-4DC9-B689-C8263139C0B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qty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0.29699999999999999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96-4DC9-B689-C8263139C0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TypeScript</c:v>
                </c:pt>
              </c:strCache>
            </c:strRef>
          </c:tx>
          <c:spPr>
            <a:solidFill>
              <a:srgbClr val="00206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7.3517126148705217E-2"/>
                  <c:y val="0.32320099623950127"/>
                </c:manualLayout>
              </c:layout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796-4DC9-B689-C8263139C0B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qty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2.3E-2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96-4DC9-B689-C8263139C0B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1.3366750208855594E-2"/>
                  <c:y val="0.32320099623950127"/>
                </c:manualLayout>
              </c:layout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796-4DC9-B689-C8263139C0B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qty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2.7999999999999914E-2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796-4DC9-B689-C8263139C0B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567643232"/>
        <c:axId val="567649136"/>
      </c:barChart>
      <c:valAx>
        <c:axId val="567649136"/>
        <c:scaling>
          <c:orientation val="minMax"/>
          <c:max val="1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crossAx val="567643232"/>
        <c:crosses val="autoZero"/>
        <c:crossBetween val="between"/>
      </c:valAx>
      <c:catAx>
        <c:axId val="5676432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676491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Programming Languages (2019)</a:t>
            </a:r>
          </a:p>
        </c:rich>
      </c:tx>
      <c:layout>
        <c:manualLayout>
          <c:xMode val="edge"/>
          <c:yMode val="edge"/>
          <c:x val="0.3223098428485913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8379281537176273E-2"/>
          <c:y val="0.23013351263931367"/>
          <c:w val="0.96324143692564745"/>
          <c:h val="0.4897587572806430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</c:v>
                </c:pt>
              </c:strCache>
            </c:strRef>
          </c:tx>
          <c:spPr>
            <a:solidFill>
              <a:srgbClr val="00B0F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BF0-4753-B746-8B394571BAF5}"/>
              </c:ext>
            </c:extLst>
          </c:dPt>
          <c:dLbls>
            <c:dLbl>
              <c:idx val="0"/>
              <c:layout>
                <c:manualLayout>
                  <c:x val="-6.6833751044277356E-3"/>
                  <c:y val="0.31242762969818444"/>
                </c:manualLayout>
              </c:layout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BF0-4753-B746-8B394571BAF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qty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F0-4753-B746-8B394571BA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FFC00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2.3391812865497075E-2"/>
                  <c:y val="0.32320099623950127"/>
                </c:manualLayout>
              </c:layout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BF0-4753-B746-8B394571BAF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qty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0.49399999999999999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F0-4753-B746-8B394571BA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TypeScript</c:v>
                </c:pt>
              </c:strCache>
            </c:strRef>
          </c:tx>
          <c:spPr>
            <a:solidFill>
              <a:srgbClr val="00206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7.3517126148705217E-2"/>
                  <c:y val="0.32320099623950127"/>
                </c:manualLayout>
              </c:layout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BF0-4753-B746-8B394571BAF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qty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BF0-4753-B746-8B394571BAF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1.3366750208855594E-2"/>
                  <c:y val="0.32320099623950127"/>
                </c:manualLayout>
              </c:layout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BF0-4753-B746-8B394571BAF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qty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2.8000000000000001E-2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BF0-4753-B746-8B394571BAF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567643232"/>
        <c:axId val="567649136"/>
      </c:barChart>
      <c:valAx>
        <c:axId val="567649136"/>
        <c:scaling>
          <c:orientation val="minMax"/>
          <c:max val="1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crossAx val="567643232"/>
        <c:crosses val="autoZero"/>
        <c:crossBetween val="between"/>
      </c:valAx>
      <c:catAx>
        <c:axId val="5676432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676491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53E9-3CC3-48EC-9645-5A80EF37931E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44E19-B5FB-4ABC-A407-902E4AA5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67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44E19-B5FB-4ABC-A407-902E4AA50F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62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0EE0-7307-4380-846C-A035AD901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B931F-D026-4C56-B8BB-4BBE2C944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698E-BA3F-4543-9C20-5760963D2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5AC9-043F-43D5-AF47-1C1FCD6D74E4}" type="datetime1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B3DBF-7776-477A-96F3-3922FC73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60EBA-3557-487E-8D39-47927995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00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DBFD-C57D-46B4-80F7-5ED71055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F7AB-C84E-417A-A405-50384D0DC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7B7D9-E4FC-4448-8CAA-E77D2308A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2C77-80A8-49B7-A4A3-349E862DC2E6}" type="datetime1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A3687-9F07-4E0A-AD57-A11BD392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3EE0F-DC68-47E6-8710-F3D891ED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11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5552-4CCD-46FA-8989-99A77F4E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D3BBA-B11A-4359-8CFD-E7C84E6D7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CB0EA-E08E-4877-B943-7E954301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EDB4-3D7B-4291-BC0C-035021523E1E}" type="datetime1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5FAFC-4C51-4833-AAB4-C2E3B9C8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9597C-C02F-4508-938C-B8D82621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6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35C0-9841-4FEC-B25C-12421BBF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F12A-AB87-4751-8433-C7FE943DE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95400"/>
            <a:ext cx="5181600" cy="4881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8F37F-40B3-4F84-8B93-240237453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5400"/>
            <a:ext cx="5181600" cy="4881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14AA9-63B9-4631-9BE5-DF042B28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95782-C300-4028-BCE6-717D56BE21D8}" type="datetime1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DCC3C-D881-4B7E-900F-134F30BC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6E7C6-6B2F-4DD6-B6BA-9E8FEAC3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5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8208-B769-4ED9-ABAE-811E4972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168" y="365125"/>
            <a:ext cx="9034219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4F47E-F909-433F-94B5-03C70C7DF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70A0E-87FD-4353-9BEB-AAC1BD25A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B864B-5D46-4C45-B793-08C3AB72A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41F6E-A278-4A5F-9E53-FED5D0672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C4F57-4E3A-467D-8514-3FAC3853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69E99-FC75-4B49-ACDC-0CB414B40228}" type="datetime1">
              <a:rPr lang="en-US" smtClean="0"/>
              <a:t>9/8/2020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12BF3C-8E89-400A-B305-84E7AF3D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E3AE9-B16E-499F-87E2-C08EDA62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3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BC83-C3E3-4A38-A16B-025FA9AA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65017-5DA4-4F03-9ADC-EA321F7E8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A0C4-6C63-4655-B282-6CD3019B4491}" type="datetime1">
              <a:rPr lang="en-US" smtClean="0"/>
              <a:t>9/8/2020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FA7CE-662A-48E7-AEC2-0DD9F636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65016-CE5B-493F-AD36-BC3E4EFB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02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E9F12-FC7B-4B23-8A87-E4B0292D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3420D-5870-4742-9AF7-9CD4C7F58463}" type="datetime1">
              <a:rPr lang="en-US" smtClean="0"/>
              <a:t>9/8/2020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7C81C-4F98-48BA-A5D5-74F69D4C8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CEC61-9F96-4B59-BAAC-5D21E646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9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8A30-CE59-408F-B8C9-BCA84403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DE06-217C-4494-9667-39FD6CAC6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962B5-A69A-47A3-A7AD-70F8A76AF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77144-3636-40C6-A610-43641E64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2A2-09C3-4446-884B-3BEEB09C062E}" type="datetime1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F074C-69F8-4273-82FD-21BA381E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C32CC-93F7-4A48-AA76-27221214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5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D335C-93D8-48E9-A963-AB979650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F62E5-BE04-483F-A296-A5A6A65F8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08C54-1409-4412-8B82-607A75ABA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BB084-AE0A-43EB-B7B7-5967A77F8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EBAF-DBA1-4BCC-8CF7-78479FB31570}" type="datetime1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BFB37-9329-4CCD-8287-CE6D44C6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E0473-0C8B-4F6A-A4DD-729A962D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3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21B8-263D-4E3F-B98D-14B3B4ED4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DEB13-A76D-4D2E-82DB-8049F87E6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2010D-D79C-450E-846F-AF7B0340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EDAF8-0026-41CE-A8B7-927265F75A75}" type="datetime1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89D2F-C4E2-4829-862C-0E36D8EA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FD1A-2FE7-4DF4-8238-4639111E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6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46A2AE-F53B-4974-85E3-7DE089E35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D9504-3AC0-454E-8A15-5368AD9BF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2432C-DB03-411E-9175-319BE083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DEC9-41E0-4008-B28A-0D669DCA85D7}" type="datetime1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26A31-E0CA-4736-A61B-6ED16BA8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0C780-69F6-4534-A44C-8DE727A7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156E5-2E67-4AD5-8F3E-01A00CD4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136525"/>
            <a:ext cx="9029700" cy="979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BD83C-BC65-4989-BF15-9A58DAF84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5399"/>
            <a:ext cx="10515600" cy="4881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B8871-BAE5-44B7-A015-0D9917681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C27E3-569C-4E73-B69B-094149F40ABA}" type="datetime1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817A-ED3F-438C-9028-EF7AE6459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52B3E-A4BF-47A4-B091-22C4ED1EB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9D1D2-AD40-42AA-A47F-9DBC53E1C0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2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https://github.com/usnistgov/ndn-dpd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AA8F9-39B3-490A-890D-5B597F673A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NDN-DPDK:</a:t>
            </a:r>
            <a:br>
              <a:rPr lang="en-US" dirty="0"/>
            </a:br>
            <a:r>
              <a:rPr lang="en-US" dirty="0"/>
              <a:t>NDN Forwarding at 100 Gbps</a:t>
            </a:r>
            <a:br>
              <a:rPr lang="en-US" dirty="0"/>
            </a:br>
            <a:r>
              <a:rPr lang="en-US" dirty="0"/>
              <a:t>on Commodity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88E9A-EA37-4865-B0F7-C3CC9FBBA7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Junxiao Shi, Davide Pesavento, Lotfi Benmohamed</a:t>
            </a:r>
          </a:p>
          <a:p>
            <a:r>
              <a:rPr lang="en-US" dirty="0"/>
              <a:t>Advanced Network Technologies Division</a:t>
            </a:r>
          </a:p>
          <a:p>
            <a:r>
              <a:rPr lang="en-US" dirty="0"/>
              <a:t>National Institute of Standards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0BAFE-9342-403F-9ACA-6D9CBC120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F2375E-2F45-49B3-B23A-D7345B32E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19" y="5629048"/>
            <a:ext cx="2070279" cy="91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9FF664-98B2-4EB4-B674-3A55BE655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881" y="5629048"/>
            <a:ext cx="1971040" cy="914400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41731B71-C278-4284-8F54-74F5C2249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175" y="136525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5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D202A-C511-4D73-AAA3-2DC67F94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Recap from 2018-2019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1B72B-E81D-40B1-93E5-2648F8152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NDN-DPDK is a high-speed NDN forwarder.</a:t>
            </a:r>
          </a:p>
          <a:p>
            <a:r>
              <a:rPr lang="en-US" dirty="0"/>
              <a:t>Goal: line speed on commodity hardware. How to get there?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Adopt better algorithms and data structures.</a:t>
            </a:r>
          </a:p>
          <a:p>
            <a:pPr marL="5029200" lvl="1"/>
            <a:endParaRPr lang="en-US" dirty="0"/>
          </a:p>
          <a:p>
            <a:pPr marL="5029200" lvl="1"/>
            <a:r>
              <a:rPr lang="en-US" dirty="0"/>
              <a:t>2-stage LPM in FIB.</a:t>
            </a:r>
          </a:p>
          <a:p>
            <a:pPr marL="5029200" lvl="1"/>
            <a:r>
              <a:rPr lang="en-US" dirty="0"/>
              <a:t>PIT-CS Composite Table.</a:t>
            </a:r>
          </a:p>
          <a:p>
            <a:pPr marL="5029200" lvl="1"/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Reduce overhead in library and kernel.</a:t>
            </a:r>
          </a:p>
          <a:p>
            <a:pPr marL="5029200" lvl="1"/>
            <a:endParaRPr lang="en-US" dirty="0"/>
          </a:p>
          <a:p>
            <a:pPr marL="5029200" lvl="1"/>
            <a:r>
              <a:rPr lang="en-US" dirty="0"/>
              <a:t>Multi-threaded architecture.</a:t>
            </a:r>
          </a:p>
          <a:p>
            <a:pPr marL="5029200" lvl="1"/>
            <a:r>
              <a:rPr lang="en-US" dirty="0" err="1"/>
              <a:t>Hugepage</a:t>
            </a:r>
            <a:r>
              <a:rPr lang="en-US" dirty="0"/>
              <a:t> memory pools.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D8B64-B400-4B0C-AE2E-B2C3C8B0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9AE4D6-AE52-48D9-8C7C-742376FE8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319" y="2945983"/>
            <a:ext cx="3720238" cy="1238408"/>
          </a:xfrm>
          <a:prstGeom prst="rect">
            <a:avLst/>
          </a:prstGeom>
        </p:spPr>
      </p:pic>
      <p:pic>
        <p:nvPicPr>
          <p:cNvPr id="8" name="Picture 2" descr="Image result for dpdk logo">
            <a:extLst>
              <a:ext uri="{FF2B5EF4-FFF2-40B4-BE49-F238E27FC236}">
                <a16:creationId xmlns:a16="http://schemas.microsoft.com/office/drawing/2014/main" id="{647087E1-8F22-4553-A2E7-7B2C09662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319" y="5010624"/>
            <a:ext cx="3719830" cy="97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09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124A60-EC0B-4686-8191-9E31EAC7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702F0-7994-4B28-A843-B2F6A70D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3</a:t>
            </a:fld>
            <a:endParaRPr lang="en-US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15C6F26-52F9-4518-9C81-3A3EADE43CBB}"/>
              </a:ext>
            </a:extLst>
          </p:cNvPr>
          <p:cNvGrpSpPr/>
          <p:nvPr/>
        </p:nvGrpSpPr>
        <p:grpSpPr>
          <a:xfrm>
            <a:off x="2126826" y="1645408"/>
            <a:ext cx="7938348" cy="4155087"/>
            <a:chOff x="628649" y="1419498"/>
            <a:chExt cx="7938348" cy="4155087"/>
          </a:xfrm>
        </p:grpSpPr>
        <p:sp>
          <p:nvSpPr>
            <p:cNvPr id="79" name="Trapezoid 78">
              <a:extLst>
                <a:ext uri="{FF2B5EF4-FFF2-40B4-BE49-F238E27FC236}">
                  <a16:creationId xmlns:a16="http://schemas.microsoft.com/office/drawing/2014/main" id="{EEBCC384-6780-42C5-BFC6-F37B10226113}"/>
                </a:ext>
              </a:extLst>
            </p:cNvPr>
            <p:cNvSpPr/>
            <p:nvPr/>
          </p:nvSpPr>
          <p:spPr>
            <a:xfrm rot="5400000">
              <a:off x="628650" y="1419498"/>
              <a:ext cx="914400" cy="9144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input0</a:t>
              </a:r>
            </a:p>
          </p:txBody>
        </p:sp>
        <p:sp>
          <p:nvSpPr>
            <p:cNvPr id="80" name="Trapezoid 79">
              <a:extLst>
                <a:ext uri="{FF2B5EF4-FFF2-40B4-BE49-F238E27FC236}">
                  <a16:creationId xmlns:a16="http://schemas.microsoft.com/office/drawing/2014/main" id="{A3618156-3853-4E8C-8B2C-CF0157CE2EBB}"/>
                </a:ext>
              </a:extLst>
            </p:cNvPr>
            <p:cNvSpPr/>
            <p:nvPr/>
          </p:nvSpPr>
          <p:spPr>
            <a:xfrm rot="5400000">
              <a:off x="628650" y="2516777"/>
              <a:ext cx="914400" cy="9144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input1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5BCC7A3-C498-4031-888C-1EA8F4CBD01C}"/>
                </a:ext>
              </a:extLst>
            </p:cNvPr>
            <p:cNvSpPr/>
            <p:nvPr/>
          </p:nvSpPr>
          <p:spPr>
            <a:xfrm>
              <a:off x="1085850" y="3657922"/>
              <a:ext cx="1371600" cy="914400"/>
            </a:xfrm>
            <a:prstGeom prst="rect">
              <a:avLst/>
            </a:prstGeom>
            <a:ln w="127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Name Dispatch Table</a:t>
              </a:r>
            </a:p>
          </p:txBody>
        </p:sp>
        <p:sp>
          <p:nvSpPr>
            <p:cNvPr id="82" name="Trapezoid 81">
              <a:extLst>
                <a:ext uri="{FF2B5EF4-FFF2-40B4-BE49-F238E27FC236}">
                  <a16:creationId xmlns:a16="http://schemas.microsoft.com/office/drawing/2014/main" id="{EA4632DB-3AE1-44D7-AE49-F2A7C8365A73}"/>
                </a:ext>
              </a:extLst>
            </p:cNvPr>
            <p:cNvSpPr/>
            <p:nvPr/>
          </p:nvSpPr>
          <p:spPr>
            <a:xfrm rot="16200000" flipH="1">
              <a:off x="7652597" y="1419498"/>
              <a:ext cx="914400" cy="9144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" wrap="none" rtlCol="0" anchor="ctr"/>
            <a:lstStyle/>
            <a:p>
              <a:pPr algn="ctr"/>
              <a:r>
                <a:rPr lang="en-US" dirty="0"/>
                <a:t>output0</a:t>
              </a:r>
            </a:p>
          </p:txBody>
        </p:sp>
        <p:sp>
          <p:nvSpPr>
            <p:cNvPr id="83" name="Trapezoid 82">
              <a:extLst>
                <a:ext uri="{FF2B5EF4-FFF2-40B4-BE49-F238E27FC236}">
                  <a16:creationId xmlns:a16="http://schemas.microsoft.com/office/drawing/2014/main" id="{DAB06B16-46F7-4C52-BACD-6F5F48A38DEA}"/>
                </a:ext>
              </a:extLst>
            </p:cNvPr>
            <p:cNvSpPr/>
            <p:nvPr/>
          </p:nvSpPr>
          <p:spPr>
            <a:xfrm rot="16200000" flipH="1">
              <a:off x="7652597" y="2516777"/>
              <a:ext cx="914400" cy="9144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" wrap="none" rtlCol="0" anchor="ctr"/>
            <a:lstStyle/>
            <a:p>
              <a:pPr algn="ctr"/>
              <a:r>
                <a:rPr lang="en-US" dirty="0"/>
                <a:t>output1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84877D2-F8C6-4727-ADBB-45E6F135053C}"/>
                </a:ext>
              </a:extLst>
            </p:cNvPr>
            <p:cNvCxnSpPr>
              <a:stCxn id="79" idx="0"/>
              <a:endCxn id="107" idx="1"/>
            </p:cNvCxnSpPr>
            <p:nvPr/>
          </p:nvCxnSpPr>
          <p:spPr>
            <a:xfrm>
              <a:off x="1543050" y="1876698"/>
              <a:ext cx="2026073" cy="0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B9B0235-185B-459B-8384-BFD8A148C4C6}"/>
                </a:ext>
              </a:extLst>
            </p:cNvPr>
            <p:cNvCxnSpPr>
              <a:cxnSpLocks/>
              <a:stCxn id="79" idx="0"/>
              <a:endCxn id="115" idx="1"/>
            </p:cNvCxnSpPr>
            <p:nvPr/>
          </p:nvCxnSpPr>
          <p:spPr>
            <a:xfrm>
              <a:off x="1543050" y="1876698"/>
              <a:ext cx="2026073" cy="1092926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EE044DA-17C8-4891-9F87-A64659C6BEFB}"/>
                </a:ext>
              </a:extLst>
            </p:cNvPr>
            <p:cNvCxnSpPr>
              <a:stCxn id="80" idx="0"/>
              <a:endCxn id="107" idx="1"/>
            </p:cNvCxnSpPr>
            <p:nvPr/>
          </p:nvCxnSpPr>
          <p:spPr>
            <a:xfrm flipV="1">
              <a:off x="1543050" y="1876698"/>
              <a:ext cx="2026073" cy="1097279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BBB792E7-C9DD-461F-90D5-CC02A0F7DDA3}"/>
                </a:ext>
              </a:extLst>
            </p:cNvPr>
            <p:cNvCxnSpPr>
              <a:cxnSpLocks/>
              <a:stCxn id="80" idx="0"/>
              <a:endCxn id="115" idx="1"/>
            </p:cNvCxnSpPr>
            <p:nvPr/>
          </p:nvCxnSpPr>
          <p:spPr>
            <a:xfrm flipV="1">
              <a:off x="1543050" y="2969624"/>
              <a:ext cx="2026073" cy="4353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89D5083-2689-4586-AEA7-3B78F7334E94}"/>
                </a:ext>
              </a:extLst>
            </p:cNvPr>
            <p:cNvCxnSpPr>
              <a:stCxn id="107" idx="3"/>
              <a:endCxn id="82" idx="0"/>
            </p:cNvCxnSpPr>
            <p:nvPr/>
          </p:nvCxnSpPr>
          <p:spPr>
            <a:xfrm>
              <a:off x="5397923" y="1876698"/>
              <a:ext cx="2254674" cy="0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D8E0B879-1095-44EA-A7DE-E2E7FE73A9CC}"/>
                </a:ext>
              </a:extLst>
            </p:cNvPr>
            <p:cNvCxnSpPr>
              <a:stCxn id="107" idx="3"/>
              <a:endCxn id="83" idx="0"/>
            </p:cNvCxnSpPr>
            <p:nvPr/>
          </p:nvCxnSpPr>
          <p:spPr>
            <a:xfrm>
              <a:off x="5397923" y="1876698"/>
              <a:ext cx="2254674" cy="1097279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9B92E647-A016-4118-8228-80EC240EBB25}"/>
                </a:ext>
              </a:extLst>
            </p:cNvPr>
            <p:cNvCxnSpPr>
              <a:cxnSpLocks/>
              <a:stCxn id="115" idx="3"/>
              <a:endCxn id="82" idx="0"/>
            </p:cNvCxnSpPr>
            <p:nvPr/>
          </p:nvCxnSpPr>
          <p:spPr>
            <a:xfrm flipV="1">
              <a:off x="5397923" y="1876698"/>
              <a:ext cx="2254674" cy="1092926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D5A032D3-2C05-4742-AF19-71CD5A94321B}"/>
                </a:ext>
              </a:extLst>
            </p:cNvPr>
            <p:cNvCxnSpPr>
              <a:cxnSpLocks/>
              <a:stCxn id="115" idx="3"/>
              <a:endCxn id="83" idx="0"/>
            </p:cNvCxnSpPr>
            <p:nvPr/>
          </p:nvCxnSpPr>
          <p:spPr>
            <a:xfrm>
              <a:off x="5397923" y="2969624"/>
              <a:ext cx="2254674" cy="4353"/>
            </a:xfrm>
            <a:prstGeom prst="straightConnector1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C234DD94-A47D-45A0-8B4B-46528E880A50}"/>
                </a:ext>
              </a:extLst>
            </p:cNvPr>
            <p:cNvCxnSpPr>
              <a:stCxn id="79" idx="3"/>
              <a:endCxn id="81" idx="0"/>
            </p:cNvCxnSpPr>
            <p:nvPr/>
          </p:nvCxnSpPr>
          <p:spPr>
            <a:xfrm rot="16200000" flipH="1">
              <a:off x="709588" y="2595860"/>
              <a:ext cx="1438324" cy="685800"/>
            </a:xfrm>
            <a:prstGeom prst="bentConnector3">
              <a:avLst>
                <a:gd name="adj1" fmla="val 12491"/>
              </a:avLst>
            </a:prstGeom>
            <a:ln w="12700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A3E5A106-553F-4497-A5C2-4A68A94104E3}"/>
                </a:ext>
              </a:extLst>
            </p:cNvPr>
            <p:cNvCxnSpPr>
              <a:stCxn id="80" idx="3"/>
              <a:endCxn id="81" idx="0"/>
            </p:cNvCxnSpPr>
            <p:nvPr/>
          </p:nvCxnSpPr>
          <p:spPr>
            <a:xfrm rot="16200000" flipH="1">
              <a:off x="1258228" y="3144499"/>
              <a:ext cx="341045" cy="685800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4" name="Right Brace 93">
              <a:extLst>
                <a:ext uri="{FF2B5EF4-FFF2-40B4-BE49-F238E27FC236}">
                  <a16:creationId xmlns:a16="http://schemas.microsoft.com/office/drawing/2014/main" id="{DC3F07DC-1564-4A85-B466-D98FC6FBDCDD}"/>
                </a:ext>
              </a:extLst>
            </p:cNvPr>
            <p:cNvSpPr/>
            <p:nvPr/>
          </p:nvSpPr>
          <p:spPr>
            <a:xfrm rot="5400000">
              <a:off x="1451610" y="4563877"/>
              <a:ext cx="182880" cy="1828801"/>
            </a:xfrm>
            <a:prstGeom prst="rightBrac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vert270" wrap="none" lIns="731520" tIns="45720" rtlCol="0" anchor="ctr"/>
            <a:lstStyle/>
            <a:p>
              <a:pPr algn="ctr"/>
              <a:r>
                <a:rPr lang="en-US" dirty="0"/>
                <a:t>input stage</a:t>
              </a:r>
            </a:p>
          </p:txBody>
        </p:sp>
        <p:sp>
          <p:nvSpPr>
            <p:cNvPr id="95" name="Right Brace 94">
              <a:extLst>
                <a:ext uri="{FF2B5EF4-FFF2-40B4-BE49-F238E27FC236}">
                  <a16:creationId xmlns:a16="http://schemas.microsoft.com/office/drawing/2014/main" id="{CFA0DB63-4517-4FCA-B200-A3326BF597C1}"/>
                </a:ext>
              </a:extLst>
            </p:cNvPr>
            <p:cNvSpPr/>
            <p:nvPr/>
          </p:nvSpPr>
          <p:spPr>
            <a:xfrm rot="5400000">
              <a:off x="4566285" y="3278003"/>
              <a:ext cx="182880" cy="4400550"/>
            </a:xfrm>
            <a:prstGeom prst="rightBrac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vert270" wrap="none" lIns="731520" tIns="45720" rtlCol="0" anchor="ctr"/>
            <a:lstStyle/>
            <a:p>
              <a:pPr algn="ctr"/>
              <a:r>
                <a:rPr lang="en-US" dirty="0"/>
                <a:t>forwarding stage</a:t>
              </a:r>
            </a:p>
          </p:txBody>
        </p:sp>
        <p:sp>
          <p:nvSpPr>
            <p:cNvPr id="96" name="Right Brace 95">
              <a:extLst>
                <a:ext uri="{FF2B5EF4-FFF2-40B4-BE49-F238E27FC236}">
                  <a16:creationId xmlns:a16="http://schemas.microsoft.com/office/drawing/2014/main" id="{1EC793A4-A1D9-4036-AD90-A52B3B05D93D}"/>
                </a:ext>
              </a:extLst>
            </p:cNvPr>
            <p:cNvSpPr/>
            <p:nvPr/>
          </p:nvSpPr>
          <p:spPr>
            <a:xfrm rot="5400000">
              <a:off x="7621058" y="4628646"/>
              <a:ext cx="182880" cy="1708997"/>
            </a:xfrm>
            <a:prstGeom prst="rightBrac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vert270" wrap="none" lIns="731520" tIns="45720" rtlCol="0" anchor="ctr"/>
            <a:lstStyle/>
            <a:p>
              <a:pPr algn="ctr"/>
              <a:r>
                <a:rPr lang="en-US" dirty="0"/>
                <a:t>output stage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0312CED-9820-47C8-98E2-AD3787BEDEAF}"/>
                </a:ext>
              </a:extLst>
            </p:cNvPr>
            <p:cNvSpPr/>
            <p:nvPr/>
          </p:nvSpPr>
          <p:spPr>
            <a:xfrm>
              <a:off x="5823797" y="4213636"/>
              <a:ext cx="1828800" cy="731520"/>
            </a:xfrm>
            <a:prstGeom prst="rect">
              <a:avLst/>
            </a:prstGeom>
            <a:ln w="127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FIB replica</a:t>
              </a:r>
            </a:p>
            <a:p>
              <a:pPr algn="ctr"/>
              <a:r>
                <a:rPr lang="en-US" sz="1400" dirty="0"/>
                <a:t>(one per NUMA socket)</a:t>
              </a:r>
              <a:endParaRPr lang="en-US" dirty="0"/>
            </a:p>
          </p:txBody>
        </p:sp>
        <p:cxnSp>
          <p:nvCxnSpPr>
            <p:cNvPr id="98" name="Connector: Elbow 97">
              <a:extLst>
                <a:ext uri="{FF2B5EF4-FFF2-40B4-BE49-F238E27FC236}">
                  <a16:creationId xmlns:a16="http://schemas.microsoft.com/office/drawing/2014/main" id="{43DE7AFB-E650-4966-A0B3-83CA4C015DFF}"/>
                </a:ext>
              </a:extLst>
            </p:cNvPr>
            <p:cNvCxnSpPr>
              <a:cxnSpLocks/>
              <a:stCxn id="107" idx="2"/>
              <a:endCxn id="103" idx="3"/>
            </p:cNvCxnSpPr>
            <p:nvPr/>
          </p:nvCxnSpPr>
          <p:spPr>
            <a:xfrm rot="16200000" flipH="1">
              <a:off x="3584889" y="3232532"/>
              <a:ext cx="2341804" cy="544536"/>
            </a:xfrm>
            <a:prstGeom prst="bentConnector4">
              <a:avLst>
                <a:gd name="adj1" fmla="val 4080"/>
                <a:gd name="adj2" fmla="val 209903"/>
              </a:avLst>
            </a:prstGeom>
            <a:ln w="1270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3F042CE7-B9C2-433C-90A0-389B00C7C1E2}"/>
                </a:ext>
              </a:extLst>
            </p:cNvPr>
            <p:cNvCxnSpPr>
              <a:cxnSpLocks/>
              <a:stCxn id="115" idx="2"/>
              <a:endCxn id="102" idx="3"/>
            </p:cNvCxnSpPr>
            <p:nvPr/>
          </p:nvCxnSpPr>
          <p:spPr>
            <a:xfrm rot="16200000" flipH="1">
              <a:off x="4476685" y="3433662"/>
              <a:ext cx="558212" cy="544536"/>
            </a:xfrm>
            <a:prstGeom prst="bentConnector4">
              <a:avLst>
                <a:gd name="adj1" fmla="val 29524"/>
                <a:gd name="adj2" fmla="val 209903"/>
              </a:avLst>
            </a:prstGeom>
            <a:ln w="1270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C4FA9A8E-914A-4AFD-B631-6413909F00BE}"/>
                </a:ext>
              </a:extLst>
            </p:cNvPr>
            <p:cNvCxnSpPr>
              <a:cxnSpLocks/>
              <a:stCxn id="103" idx="1"/>
              <a:endCxn id="115" idx="1"/>
            </p:cNvCxnSpPr>
            <p:nvPr/>
          </p:nvCxnSpPr>
          <p:spPr>
            <a:xfrm rot="10800000">
              <a:off x="3569123" y="2969624"/>
              <a:ext cx="544536" cy="1706078"/>
            </a:xfrm>
            <a:prstGeom prst="bentConnector3">
              <a:avLst>
                <a:gd name="adj1" fmla="val 141981"/>
              </a:avLst>
            </a:prstGeom>
            <a:ln w="1270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Connector: Elbow 100">
              <a:extLst>
                <a:ext uri="{FF2B5EF4-FFF2-40B4-BE49-F238E27FC236}">
                  <a16:creationId xmlns:a16="http://schemas.microsoft.com/office/drawing/2014/main" id="{31F3A374-32F7-4D5F-B8FE-0842C5875861}"/>
                </a:ext>
              </a:extLst>
            </p:cNvPr>
            <p:cNvCxnSpPr>
              <a:cxnSpLocks/>
              <a:stCxn id="102" idx="1"/>
              <a:endCxn id="107" idx="1"/>
            </p:cNvCxnSpPr>
            <p:nvPr/>
          </p:nvCxnSpPr>
          <p:spPr>
            <a:xfrm rot="10800000">
              <a:off x="3569123" y="1876698"/>
              <a:ext cx="544536" cy="2108338"/>
            </a:xfrm>
            <a:prstGeom prst="bentConnector3">
              <a:avLst>
                <a:gd name="adj1" fmla="val 141981"/>
              </a:avLst>
            </a:prstGeom>
            <a:ln w="1270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67597805-4FB1-4EC5-8AB7-5FE156B09154}"/>
                </a:ext>
              </a:extLst>
            </p:cNvPr>
            <p:cNvSpPr/>
            <p:nvPr/>
          </p:nvSpPr>
          <p:spPr>
            <a:xfrm>
              <a:off x="4113659" y="3756436"/>
              <a:ext cx="914400" cy="457200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crypto</a:t>
              </a:r>
            </a:p>
            <a:p>
              <a:pPr algn="ctr"/>
              <a:r>
                <a:rPr lang="en-US" dirty="0"/>
                <a:t>helper</a:t>
              </a: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BADA4A6E-5786-4A91-BFA4-0F040B62B843}"/>
                </a:ext>
              </a:extLst>
            </p:cNvPr>
            <p:cNvSpPr/>
            <p:nvPr/>
          </p:nvSpPr>
          <p:spPr>
            <a:xfrm>
              <a:off x="4113659" y="4447102"/>
              <a:ext cx="914400" cy="457200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disk</a:t>
              </a:r>
            </a:p>
            <a:p>
              <a:pPr algn="ctr"/>
              <a:r>
                <a:rPr lang="en-US" dirty="0"/>
                <a:t>service</a:t>
              </a:r>
            </a:p>
          </p:txBody>
        </p: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B1548E89-099D-45DA-A96E-FEDA5FFB4CB3}"/>
                </a:ext>
              </a:extLst>
            </p:cNvPr>
            <p:cNvCxnSpPr>
              <a:cxnSpLocks/>
              <a:stCxn id="107" idx="2"/>
              <a:endCxn id="97" idx="0"/>
            </p:cNvCxnSpPr>
            <p:nvPr/>
          </p:nvCxnSpPr>
          <p:spPr>
            <a:xfrm rot="16200000" flipH="1">
              <a:off x="4670991" y="2146430"/>
              <a:ext cx="1879738" cy="2254674"/>
            </a:xfrm>
            <a:prstGeom prst="bentConnector3">
              <a:avLst>
                <a:gd name="adj1" fmla="val 2348"/>
              </a:avLst>
            </a:prstGeom>
            <a:ln w="12700">
              <a:solidFill>
                <a:schemeClr val="accent2"/>
              </a:solidFill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5" name="Connector: Elbow 104">
              <a:extLst>
                <a:ext uri="{FF2B5EF4-FFF2-40B4-BE49-F238E27FC236}">
                  <a16:creationId xmlns:a16="http://schemas.microsoft.com/office/drawing/2014/main" id="{F16714EB-01D6-4F8B-ACAA-241C8148B214}"/>
                </a:ext>
              </a:extLst>
            </p:cNvPr>
            <p:cNvCxnSpPr>
              <a:cxnSpLocks/>
              <a:stCxn id="115" idx="2"/>
              <a:endCxn id="97" idx="0"/>
            </p:cNvCxnSpPr>
            <p:nvPr/>
          </p:nvCxnSpPr>
          <p:spPr>
            <a:xfrm rot="16200000" flipH="1">
              <a:off x="5217454" y="2692893"/>
              <a:ext cx="786812" cy="2254674"/>
            </a:xfrm>
            <a:prstGeom prst="bentConnector3">
              <a:avLst>
                <a:gd name="adj1" fmla="val 13238"/>
              </a:avLst>
            </a:prstGeom>
            <a:ln w="12700">
              <a:solidFill>
                <a:schemeClr val="accent2"/>
              </a:solidFill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15AA90C0-0589-496A-9805-141DD465A5BB}"/>
                </a:ext>
              </a:extLst>
            </p:cNvPr>
            <p:cNvGrpSpPr/>
            <p:nvPr/>
          </p:nvGrpSpPr>
          <p:grpSpPr>
            <a:xfrm>
              <a:off x="3569123" y="1419498"/>
              <a:ext cx="1828800" cy="914400"/>
              <a:chOff x="3569123" y="1419498"/>
              <a:chExt cx="1828800" cy="914400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230034F-BF34-468B-A2B6-096ECD3E217C}"/>
                  </a:ext>
                </a:extLst>
              </p:cNvPr>
              <p:cNvSpPr/>
              <p:nvPr/>
            </p:nvSpPr>
            <p:spPr>
              <a:xfrm>
                <a:off x="3569123" y="1419498"/>
                <a:ext cx="1828800" cy="914400"/>
              </a:xfrm>
              <a:prstGeom prst="rect">
                <a:avLst/>
              </a:prstGeom>
              <a:ln w="127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dirty="0"/>
                  <a:t>fwd0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761578D9-FE7A-4E9D-A907-3802DD4D2B48}"/>
                  </a:ext>
                </a:extLst>
              </p:cNvPr>
              <p:cNvSpPr/>
              <p:nvPr/>
            </p:nvSpPr>
            <p:spPr>
              <a:xfrm>
                <a:off x="4197773" y="1653177"/>
                <a:ext cx="914400" cy="457200"/>
              </a:xfrm>
              <a:prstGeom prst="rect">
                <a:avLst/>
              </a:prstGeom>
              <a:ln w="12700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PIT+CS</a:t>
                </a:r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855B94B9-6F20-4234-8937-B48EAA4C58EC}"/>
                  </a:ext>
                </a:extLst>
              </p:cNvPr>
              <p:cNvGrpSpPr/>
              <p:nvPr/>
            </p:nvGrpSpPr>
            <p:grpSpPr>
              <a:xfrm>
                <a:off x="3572454" y="1750766"/>
                <a:ext cx="475864" cy="274320"/>
                <a:chOff x="6363474" y="4968551"/>
                <a:chExt cx="475864" cy="274320"/>
              </a:xfrm>
            </p:grpSpPr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8EA98B0C-E8A1-4B93-A8FC-7887476A4A0C}"/>
                    </a:ext>
                  </a:extLst>
                </p:cNvPr>
                <p:cNvSpPr/>
                <p:nvPr/>
              </p:nvSpPr>
              <p:spPr>
                <a:xfrm>
                  <a:off x="6363474" y="4968551"/>
                  <a:ext cx="457200" cy="274320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71F6EB78-5E0E-4244-90D0-D7D0A22E5A00}"/>
                    </a:ext>
                  </a:extLst>
                </p:cNvPr>
                <p:cNvSpPr/>
                <p:nvPr/>
              </p:nvSpPr>
              <p:spPr>
                <a:xfrm>
                  <a:off x="6628000" y="5014271"/>
                  <a:ext cx="91440" cy="182880"/>
                </a:xfrm>
                <a:prstGeom prst="rect">
                  <a:avLst/>
                </a:prstGeom>
                <a:ln w="12700"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2A1F9A97-6F79-4F9F-B862-61B6B741C691}"/>
                    </a:ext>
                  </a:extLst>
                </p:cNvPr>
                <p:cNvSpPr/>
                <p:nvPr/>
              </p:nvSpPr>
              <p:spPr>
                <a:xfrm>
                  <a:off x="6747898" y="5014271"/>
                  <a:ext cx="91440" cy="182880"/>
                </a:xfrm>
                <a:prstGeom prst="rect">
                  <a:avLst/>
                </a:prstGeom>
                <a:ln w="12700"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FE1C32C-65BC-4B88-AD5B-AAA039142CAD}"/>
                    </a:ext>
                  </a:extLst>
                </p:cNvPr>
                <p:cNvSpPr/>
                <p:nvPr/>
              </p:nvSpPr>
              <p:spPr>
                <a:xfrm>
                  <a:off x="6508101" y="5014271"/>
                  <a:ext cx="91440" cy="182880"/>
                </a:xfrm>
                <a:prstGeom prst="rect">
                  <a:avLst/>
                </a:prstGeom>
                <a:ln w="12700"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3B8DABFF-1A7E-4D6F-BE88-F33111B11061}"/>
                </a:ext>
              </a:extLst>
            </p:cNvPr>
            <p:cNvGrpSpPr/>
            <p:nvPr/>
          </p:nvGrpSpPr>
          <p:grpSpPr>
            <a:xfrm>
              <a:off x="3569121" y="2512424"/>
              <a:ext cx="1828802" cy="914400"/>
              <a:chOff x="3569121" y="2512424"/>
              <a:chExt cx="1828802" cy="914400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81972B83-8F22-481A-916B-6F1678FA0F36}"/>
                  </a:ext>
                </a:extLst>
              </p:cNvPr>
              <p:cNvSpPr/>
              <p:nvPr/>
            </p:nvSpPr>
            <p:spPr>
              <a:xfrm>
                <a:off x="3569123" y="2512424"/>
                <a:ext cx="1828800" cy="914400"/>
              </a:xfrm>
              <a:prstGeom prst="rect">
                <a:avLst/>
              </a:prstGeom>
              <a:ln w="127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dirty="0"/>
                  <a:t>fwd1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B77C3DE-2C70-489A-A5BE-80FC65AF7038}"/>
                  </a:ext>
                </a:extLst>
              </p:cNvPr>
              <p:cNvSpPr/>
              <p:nvPr/>
            </p:nvSpPr>
            <p:spPr>
              <a:xfrm>
                <a:off x="4197773" y="2746103"/>
                <a:ext cx="914400" cy="457200"/>
              </a:xfrm>
              <a:prstGeom prst="rect">
                <a:avLst/>
              </a:prstGeom>
              <a:ln w="12700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PIT+CS</a:t>
                </a:r>
              </a:p>
            </p:txBody>
          </p: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02D297E8-AFE0-453D-B354-AF66D20C77AF}"/>
                  </a:ext>
                </a:extLst>
              </p:cNvPr>
              <p:cNvGrpSpPr/>
              <p:nvPr/>
            </p:nvGrpSpPr>
            <p:grpSpPr>
              <a:xfrm>
                <a:off x="3569121" y="2843534"/>
                <a:ext cx="475864" cy="274320"/>
                <a:chOff x="6363474" y="4968551"/>
                <a:chExt cx="475864" cy="274320"/>
              </a:xfrm>
            </p:grpSpPr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945F7534-0C2F-4FBF-A30E-E2851B43AB02}"/>
                    </a:ext>
                  </a:extLst>
                </p:cNvPr>
                <p:cNvSpPr/>
                <p:nvPr/>
              </p:nvSpPr>
              <p:spPr>
                <a:xfrm>
                  <a:off x="6363474" y="4968551"/>
                  <a:ext cx="457200" cy="274320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FC7A4A45-B990-4959-9335-8171623CFD6C}"/>
                    </a:ext>
                  </a:extLst>
                </p:cNvPr>
                <p:cNvSpPr/>
                <p:nvPr/>
              </p:nvSpPr>
              <p:spPr>
                <a:xfrm>
                  <a:off x="6628000" y="5014271"/>
                  <a:ext cx="91440" cy="182880"/>
                </a:xfrm>
                <a:prstGeom prst="rect">
                  <a:avLst/>
                </a:prstGeom>
                <a:ln w="12700"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045CEB7-135D-48C8-9E25-6F0BD95246B1}"/>
                    </a:ext>
                  </a:extLst>
                </p:cNvPr>
                <p:cNvSpPr/>
                <p:nvPr/>
              </p:nvSpPr>
              <p:spPr>
                <a:xfrm>
                  <a:off x="6747898" y="5014271"/>
                  <a:ext cx="91440" cy="182880"/>
                </a:xfrm>
                <a:prstGeom prst="rect">
                  <a:avLst/>
                </a:prstGeom>
                <a:ln w="12700"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7EF70988-DF91-4CFE-8680-71381B973FB7}"/>
                    </a:ext>
                  </a:extLst>
                </p:cNvPr>
                <p:cNvSpPr/>
                <p:nvPr/>
              </p:nvSpPr>
              <p:spPr>
                <a:xfrm>
                  <a:off x="6508101" y="5014271"/>
                  <a:ext cx="91440" cy="182880"/>
                </a:xfrm>
                <a:prstGeom prst="rect">
                  <a:avLst/>
                </a:prstGeom>
                <a:ln w="12700"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26" name="Callout: Line 125">
            <a:extLst>
              <a:ext uri="{FF2B5EF4-FFF2-40B4-BE49-F238E27FC236}">
                <a16:creationId xmlns:a16="http://schemas.microsoft.com/office/drawing/2014/main" id="{F0D0B6C0-1230-4CA0-9BE2-69662A7A887E}"/>
              </a:ext>
            </a:extLst>
          </p:cNvPr>
          <p:cNvSpPr/>
          <p:nvPr/>
        </p:nvSpPr>
        <p:spPr>
          <a:xfrm>
            <a:off x="6838950" y="1122344"/>
            <a:ext cx="2286000" cy="457200"/>
          </a:xfrm>
          <a:prstGeom prst="borderCallout1">
            <a:avLst>
              <a:gd name="adj1" fmla="val 44282"/>
              <a:gd name="adj2" fmla="val -673"/>
              <a:gd name="adj3" fmla="val 189096"/>
              <a:gd name="adj4" fmla="val -54078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NEW </a:t>
            </a:r>
            <a:r>
              <a:rPr lang="en-US" dirty="0" err="1"/>
              <a:t>CoDel</a:t>
            </a:r>
            <a:r>
              <a:rPr lang="en-US" dirty="0"/>
              <a:t> queues</a:t>
            </a:r>
          </a:p>
        </p:txBody>
      </p:sp>
      <p:sp>
        <p:nvSpPr>
          <p:cNvPr id="127" name="Callout: Line 126">
            <a:extLst>
              <a:ext uri="{FF2B5EF4-FFF2-40B4-BE49-F238E27FC236}">
                <a16:creationId xmlns:a16="http://schemas.microsoft.com/office/drawing/2014/main" id="{590C6E3A-D1D4-4B30-A3CE-4853C5A1DC78}"/>
              </a:ext>
            </a:extLst>
          </p:cNvPr>
          <p:cNvSpPr/>
          <p:nvPr/>
        </p:nvSpPr>
        <p:spPr>
          <a:xfrm>
            <a:off x="9726240" y="4440414"/>
            <a:ext cx="2011680" cy="1005840"/>
          </a:xfrm>
          <a:prstGeom prst="borderCallout1">
            <a:avLst>
              <a:gd name="adj1" fmla="val 44282"/>
              <a:gd name="adj2" fmla="val -673"/>
              <a:gd name="adj3" fmla="val 32302"/>
              <a:gd name="adj4" fmla="val -27772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RESTRUCTURED to better support forwarding hints</a:t>
            </a:r>
          </a:p>
        </p:txBody>
      </p:sp>
      <p:sp>
        <p:nvSpPr>
          <p:cNvPr id="128" name="Callout: Line 127">
            <a:extLst>
              <a:ext uri="{FF2B5EF4-FFF2-40B4-BE49-F238E27FC236}">
                <a16:creationId xmlns:a16="http://schemas.microsoft.com/office/drawing/2014/main" id="{5A547930-6030-407C-BE50-E4696D162007}"/>
              </a:ext>
            </a:extLst>
          </p:cNvPr>
          <p:cNvSpPr/>
          <p:nvPr/>
        </p:nvSpPr>
        <p:spPr>
          <a:xfrm>
            <a:off x="101938" y="4012548"/>
            <a:ext cx="2011680" cy="1005840"/>
          </a:xfrm>
          <a:prstGeom prst="borderCallout1">
            <a:avLst>
              <a:gd name="adj1" fmla="val 2091"/>
              <a:gd name="adj2" fmla="val 59985"/>
              <a:gd name="adj3" fmla="val -63080"/>
              <a:gd name="adj4" fmla="val 99501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IMPROVED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packet decoder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reassembler</a:t>
            </a:r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8C6986-BDBF-467A-A69C-B2E5B4841C5D}"/>
              </a:ext>
            </a:extLst>
          </p:cNvPr>
          <p:cNvSpPr/>
          <p:nvPr/>
        </p:nvSpPr>
        <p:spPr>
          <a:xfrm>
            <a:off x="10065174" y="545695"/>
            <a:ext cx="1828800" cy="731520"/>
          </a:xfrm>
          <a:prstGeom prst="rect">
            <a:avLst/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EXPANDED platform support</a:t>
            </a:r>
          </a:p>
        </p:txBody>
      </p:sp>
    </p:spTree>
    <p:extLst>
      <p:ext uri="{BB962C8B-B14F-4D97-AF65-F5344CB8AC3E}">
        <p14:creationId xmlns:p14="http://schemas.microsoft.com/office/powerpoint/2010/main" val="20376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27" grpId="0" animBg="1"/>
      <p:bldP spid="128" grpId="0" animBg="1"/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79BC-2EE4-4308-8AF8-9A618D405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AQM and Congestion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D06FA-EEBB-44CB-8531-EDD316E8C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3396"/>
            <a:ext cx="10515600" cy="3083566"/>
          </a:xfrm>
        </p:spPr>
        <p:txBody>
          <a:bodyPr/>
          <a:lstStyle/>
          <a:p>
            <a:r>
              <a:rPr lang="en-US" dirty="0" err="1"/>
              <a:t>CoDel</a:t>
            </a:r>
            <a:r>
              <a:rPr lang="en-US" dirty="0"/>
              <a:t>-like active queue management.</a:t>
            </a:r>
          </a:p>
          <a:p>
            <a:pPr lvl="1"/>
            <a:r>
              <a:rPr lang="en-US" dirty="0"/>
              <a:t>Applied on ingress: bottleneck is in forwarding threads, not link bandwidth.</a:t>
            </a:r>
          </a:p>
          <a:p>
            <a:pPr lvl="1"/>
            <a:r>
              <a:rPr lang="en-US" dirty="0"/>
              <a:t>Each packet type has a separate queue.</a:t>
            </a:r>
          </a:p>
          <a:p>
            <a:pPr lvl="1"/>
            <a:r>
              <a:rPr lang="en-US" dirty="0"/>
              <a:t>Prioritize Data over Interest: dropping Data wastes resource spent on processing the Interest.</a:t>
            </a:r>
          </a:p>
          <a:p>
            <a:r>
              <a:rPr lang="en-US" dirty="0"/>
              <a:t>CUBIC-like congestion control in the traffic generator.</a:t>
            </a:r>
          </a:p>
          <a:p>
            <a:pPr lvl="1"/>
            <a:r>
              <a:rPr lang="en-US" dirty="0"/>
              <a:t>React to congestion marks. Retransmit based on RTO.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37014-4A4A-4507-9840-2598B863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90BB388-F464-4ABB-BF61-F2E8B235391B}"/>
              </a:ext>
            </a:extLst>
          </p:cNvPr>
          <p:cNvGrpSpPr/>
          <p:nvPr/>
        </p:nvGrpSpPr>
        <p:grpSpPr>
          <a:xfrm>
            <a:off x="2470519" y="1085208"/>
            <a:ext cx="7643924" cy="1828800"/>
            <a:chOff x="3384919" y="1085208"/>
            <a:chExt cx="7643924" cy="18288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75E4F77-74C4-4F45-86FF-C9A51329F0C8}"/>
                </a:ext>
              </a:extLst>
            </p:cNvPr>
            <p:cNvSpPr/>
            <p:nvPr/>
          </p:nvSpPr>
          <p:spPr>
            <a:xfrm>
              <a:off x="6063881" y="1085208"/>
              <a:ext cx="2743200" cy="1828800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000" dirty="0"/>
                <a:t>forwarding thread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6711286-B5E9-4363-9FCE-5D3B6943FC7B}"/>
                </a:ext>
              </a:extLst>
            </p:cNvPr>
            <p:cNvGrpSpPr/>
            <p:nvPr/>
          </p:nvGrpSpPr>
          <p:grpSpPr>
            <a:xfrm>
              <a:off x="5961497" y="1542408"/>
              <a:ext cx="475864" cy="274320"/>
              <a:chOff x="6363474" y="4968551"/>
              <a:chExt cx="475864" cy="27432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238F491-3C6C-43B2-BAA2-4B74FCF0C522}"/>
                  </a:ext>
                </a:extLst>
              </p:cNvPr>
              <p:cNvSpPr/>
              <p:nvPr/>
            </p:nvSpPr>
            <p:spPr>
              <a:xfrm>
                <a:off x="6363474" y="4968551"/>
                <a:ext cx="457200" cy="274320"/>
              </a:xfrm>
              <a:prstGeom prst="rect">
                <a:avLst/>
              </a:prstGeom>
              <a:ln w="12700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640080" rIns="91440" rtlCol="0" anchor="ctr"/>
              <a:lstStyle/>
              <a:p>
                <a:r>
                  <a:rPr lang="en-US" sz="1600" dirty="0"/>
                  <a:t>Interest queue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F9721EF-5CF3-476F-A2B2-F58B84DE9991}"/>
                  </a:ext>
                </a:extLst>
              </p:cNvPr>
              <p:cNvSpPr/>
              <p:nvPr/>
            </p:nvSpPr>
            <p:spPr>
              <a:xfrm>
                <a:off x="6628000" y="5014271"/>
                <a:ext cx="91440" cy="182880"/>
              </a:xfrm>
              <a:prstGeom prst="rect">
                <a:avLst/>
              </a:prstGeom>
              <a:ln w="12700"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lIns="640080" rIns="91440" rtlCol="0" anchor="ctr"/>
              <a:lstStyle/>
              <a:p>
                <a:endParaRPr lang="en-US" sz="160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6B4F5F3-64B5-47F2-A6D8-EC9F740044A5}"/>
                  </a:ext>
                </a:extLst>
              </p:cNvPr>
              <p:cNvSpPr/>
              <p:nvPr/>
            </p:nvSpPr>
            <p:spPr>
              <a:xfrm>
                <a:off x="6747898" y="5014271"/>
                <a:ext cx="91440" cy="182880"/>
              </a:xfrm>
              <a:prstGeom prst="rect">
                <a:avLst/>
              </a:prstGeom>
              <a:ln w="12700"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lIns="640080" rIns="91440" rtlCol="0" anchor="ctr"/>
              <a:lstStyle/>
              <a:p>
                <a:endParaRPr lang="en-US" sz="160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24EAC6-0A53-4B8A-B571-BA17103FB649}"/>
                  </a:ext>
                </a:extLst>
              </p:cNvPr>
              <p:cNvSpPr/>
              <p:nvPr/>
            </p:nvSpPr>
            <p:spPr>
              <a:xfrm>
                <a:off x="6508101" y="5014271"/>
                <a:ext cx="91440" cy="182880"/>
              </a:xfrm>
              <a:prstGeom prst="rect">
                <a:avLst/>
              </a:prstGeom>
              <a:ln w="12700"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lIns="640080" rIns="91440" rtlCol="0" anchor="ctr"/>
              <a:lstStyle/>
              <a:p>
                <a:endParaRPr lang="en-US" sz="1600" dirty="0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DB96DE3-E13A-4607-A615-FE8710E975F1}"/>
                </a:ext>
              </a:extLst>
            </p:cNvPr>
            <p:cNvGrpSpPr/>
            <p:nvPr/>
          </p:nvGrpSpPr>
          <p:grpSpPr>
            <a:xfrm>
              <a:off x="5958166" y="2004552"/>
              <a:ext cx="475864" cy="274320"/>
              <a:chOff x="6363474" y="4968551"/>
              <a:chExt cx="475864" cy="27432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2E3D1DD-E2C5-4D6F-A64B-5A152E774951}"/>
                  </a:ext>
                </a:extLst>
              </p:cNvPr>
              <p:cNvSpPr/>
              <p:nvPr/>
            </p:nvSpPr>
            <p:spPr>
              <a:xfrm>
                <a:off x="6363474" y="4968551"/>
                <a:ext cx="457200" cy="274320"/>
              </a:xfrm>
              <a:prstGeom prst="rect">
                <a:avLst/>
              </a:prstGeom>
              <a:ln w="12700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640080" rIns="91440" rtlCol="0" anchor="ctr"/>
              <a:lstStyle/>
              <a:p>
                <a:r>
                  <a:rPr lang="en-US" sz="1600" dirty="0"/>
                  <a:t>Data queue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2A1029A-B334-4803-B415-0E751A71C0F2}"/>
                  </a:ext>
                </a:extLst>
              </p:cNvPr>
              <p:cNvSpPr/>
              <p:nvPr/>
            </p:nvSpPr>
            <p:spPr>
              <a:xfrm>
                <a:off x="6628000" y="5014271"/>
                <a:ext cx="91440" cy="182880"/>
              </a:xfrm>
              <a:prstGeom prst="rect">
                <a:avLst/>
              </a:prstGeom>
              <a:ln w="12700"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lIns="640080" rIns="91440" rtlCol="0" anchor="ctr"/>
              <a:lstStyle/>
              <a:p>
                <a:endParaRPr lang="en-US" sz="160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0593B69-8C8B-4D57-8601-B1C0308789D7}"/>
                  </a:ext>
                </a:extLst>
              </p:cNvPr>
              <p:cNvSpPr/>
              <p:nvPr/>
            </p:nvSpPr>
            <p:spPr>
              <a:xfrm>
                <a:off x="6747898" y="5014271"/>
                <a:ext cx="91440" cy="182880"/>
              </a:xfrm>
              <a:prstGeom prst="rect">
                <a:avLst/>
              </a:prstGeom>
              <a:ln w="12700"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lIns="640080" rIns="91440" rtlCol="0" anchor="ctr"/>
              <a:lstStyle/>
              <a:p>
                <a:endParaRPr lang="en-US" sz="160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68EF201-98B9-4193-A132-74014B057225}"/>
                  </a:ext>
                </a:extLst>
              </p:cNvPr>
              <p:cNvSpPr/>
              <p:nvPr/>
            </p:nvSpPr>
            <p:spPr>
              <a:xfrm>
                <a:off x="6508101" y="5014271"/>
                <a:ext cx="91440" cy="182880"/>
              </a:xfrm>
              <a:prstGeom prst="rect">
                <a:avLst/>
              </a:prstGeom>
              <a:ln w="12700"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lIns="640080" rIns="91440" rtlCol="0" anchor="ctr"/>
              <a:lstStyle/>
              <a:p>
                <a:endParaRPr lang="en-US" sz="1600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E6503C9-32FE-422F-84B9-842C2C5546A7}"/>
                </a:ext>
              </a:extLst>
            </p:cNvPr>
            <p:cNvGrpSpPr/>
            <p:nvPr/>
          </p:nvGrpSpPr>
          <p:grpSpPr>
            <a:xfrm>
              <a:off x="5958166" y="2417775"/>
              <a:ext cx="475864" cy="274320"/>
              <a:chOff x="6363474" y="4968551"/>
              <a:chExt cx="475864" cy="27432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54E7BD6-6BAB-4573-8C7E-7ABB56A97A14}"/>
                  </a:ext>
                </a:extLst>
              </p:cNvPr>
              <p:cNvSpPr/>
              <p:nvPr/>
            </p:nvSpPr>
            <p:spPr>
              <a:xfrm>
                <a:off x="6363474" y="4968551"/>
                <a:ext cx="457200" cy="274320"/>
              </a:xfrm>
              <a:prstGeom prst="rect">
                <a:avLst/>
              </a:prstGeom>
              <a:ln w="12700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640080" rIns="91440" rtlCol="0" anchor="ctr"/>
              <a:lstStyle/>
              <a:p>
                <a:r>
                  <a:rPr lang="en-US" sz="1600" dirty="0" err="1"/>
                  <a:t>Nack</a:t>
                </a:r>
                <a:r>
                  <a:rPr lang="en-US" sz="1600" dirty="0"/>
                  <a:t> queue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AC7260E-4F63-471B-B1CE-09FC51E20521}"/>
                  </a:ext>
                </a:extLst>
              </p:cNvPr>
              <p:cNvSpPr/>
              <p:nvPr/>
            </p:nvSpPr>
            <p:spPr>
              <a:xfrm>
                <a:off x="6628000" y="5014271"/>
                <a:ext cx="91440" cy="182880"/>
              </a:xfrm>
              <a:prstGeom prst="rect">
                <a:avLst/>
              </a:prstGeom>
              <a:ln w="12700"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lIns="640080" rIns="91440" rtlCol="0" anchor="ctr"/>
              <a:lstStyle/>
              <a:p>
                <a:endParaRPr lang="en-US" sz="160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2A3D547-43E0-4A06-BD68-7A730A78003E}"/>
                  </a:ext>
                </a:extLst>
              </p:cNvPr>
              <p:cNvSpPr/>
              <p:nvPr/>
            </p:nvSpPr>
            <p:spPr>
              <a:xfrm>
                <a:off x="6747898" y="5014271"/>
                <a:ext cx="91440" cy="182880"/>
              </a:xfrm>
              <a:prstGeom prst="rect">
                <a:avLst/>
              </a:prstGeom>
              <a:ln w="12700"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lIns="640080" rIns="91440" rtlCol="0" anchor="ctr"/>
              <a:lstStyle/>
              <a:p>
                <a:endParaRPr lang="en-US" sz="160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1AF079D-0757-4AA8-A7B1-53DEAC2A65BD}"/>
                  </a:ext>
                </a:extLst>
              </p:cNvPr>
              <p:cNvSpPr/>
              <p:nvPr/>
            </p:nvSpPr>
            <p:spPr>
              <a:xfrm>
                <a:off x="6508101" y="5014271"/>
                <a:ext cx="91440" cy="182880"/>
              </a:xfrm>
              <a:prstGeom prst="rect">
                <a:avLst/>
              </a:prstGeom>
              <a:ln w="12700"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lIns="640080" rIns="91440" rtlCol="0" anchor="ctr"/>
              <a:lstStyle/>
              <a:p>
                <a:endParaRPr lang="en-US" sz="1600" dirty="0"/>
              </a:p>
            </p:txBody>
          </p:sp>
        </p:grpSp>
        <p:sp>
          <p:nvSpPr>
            <p:cNvPr id="113" name="Trapezoid 112">
              <a:extLst>
                <a:ext uri="{FF2B5EF4-FFF2-40B4-BE49-F238E27FC236}">
                  <a16:creationId xmlns:a16="http://schemas.microsoft.com/office/drawing/2014/main" id="{61C559CA-1886-4070-9AF7-6796DC690A48}"/>
                </a:ext>
              </a:extLst>
            </p:cNvPr>
            <p:cNvSpPr/>
            <p:nvPr/>
          </p:nvSpPr>
          <p:spPr>
            <a:xfrm rot="5400000">
              <a:off x="3476359" y="993768"/>
              <a:ext cx="731520" cy="9144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input0</a:t>
              </a:r>
            </a:p>
          </p:txBody>
        </p:sp>
        <p:sp>
          <p:nvSpPr>
            <p:cNvPr id="114" name="Trapezoid 113">
              <a:extLst>
                <a:ext uri="{FF2B5EF4-FFF2-40B4-BE49-F238E27FC236}">
                  <a16:creationId xmlns:a16="http://schemas.microsoft.com/office/drawing/2014/main" id="{E27A6991-8D23-48A7-A9ED-FEB11F27704D}"/>
                </a:ext>
              </a:extLst>
            </p:cNvPr>
            <p:cNvSpPr/>
            <p:nvPr/>
          </p:nvSpPr>
          <p:spPr>
            <a:xfrm rot="5400000">
              <a:off x="3476359" y="2091048"/>
              <a:ext cx="731520" cy="9144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input1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B096F5F9-670C-4B74-8FAE-61296E97CB7A}"/>
                </a:ext>
              </a:extLst>
            </p:cNvPr>
            <p:cNvCxnSpPr>
              <a:stCxn id="113" idx="0"/>
              <a:endCxn id="45" idx="1"/>
            </p:cNvCxnSpPr>
            <p:nvPr/>
          </p:nvCxnSpPr>
          <p:spPr>
            <a:xfrm>
              <a:off x="4299319" y="1450968"/>
              <a:ext cx="1662178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C6204F33-5393-4BC1-84C4-5BF5C9CA85B4}"/>
                </a:ext>
              </a:extLst>
            </p:cNvPr>
            <p:cNvCxnSpPr>
              <a:stCxn id="113" idx="0"/>
              <a:endCxn id="60" idx="1"/>
            </p:cNvCxnSpPr>
            <p:nvPr/>
          </p:nvCxnSpPr>
          <p:spPr>
            <a:xfrm>
              <a:off x="4299319" y="1450968"/>
              <a:ext cx="1658847" cy="6907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4F00C1C6-B1E0-48E5-AB27-A27483E58045}"/>
                </a:ext>
              </a:extLst>
            </p:cNvPr>
            <p:cNvCxnSpPr>
              <a:stCxn id="113" idx="0"/>
              <a:endCxn id="65" idx="1"/>
            </p:cNvCxnSpPr>
            <p:nvPr/>
          </p:nvCxnSpPr>
          <p:spPr>
            <a:xfrm>
              <a:off x="4299319" y="1450968"/>
              <a:ext cx="1658847" cy="11039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9A86241F-1097-4EB6-9D36-7A24A3158971}"/>
                </a:ext>
              </a:extLst>
            </p:cNvPr>
            <p:cNvCxnSpPr>
              <a:stCxn id="114" idx="0"/>
              <a:endCxn id="45" idx="1"/>
            </p:cNvCxnSpPr>
            <p:nvPr/>
          </p:nvCxnSpPr>
          <p:spPr>
            <a:xfrm flipV="1">
              <a:off x="4299319" y="1679568"/>
              <a:ext cx="1662178" cy="8686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824DB274-BEEC-4E9E-BD06-03C2666F14F6}"/>
                </a:ext>
              </a:extLst>
            </p:cNvPr>
            <p:cNvCxnSpPr>
              <a:stCxn id="114" idx="0"/>
              <a:endCxn id="60" idx="1"/>
            </p:cNvCxnSpPr>
            <p:nvPr/>
          </p:nvCxnSpPr>
          <p:spPr>
            <a:xfrm flipV="1">
              <a:off x="4299319" y="2141712"/>
              <a:ext cx="1658847" cy="406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6F5FC12-F34F-40FB-BD40-1083028F9040}"/>
                </a:ext>
              </a:extLst>
            </p:cNvPr>
            <p:cNvCxnSpPr>
              <a:stCxn id="114" idx="0"/>
              <a:endCxn id="65" idx="1"/>
            </p:cNvCxnSpPr>
            <p:nvPr/>
          </p:nvCxnSpPr>
          <p:spPr>
            <a:xfrm>
              <a:off x="4299319" y="2548248"/>
              <a:ext cx="1658847" cy="66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3" name="Trapezoid 142">
              <a:extLst>
                <a:ext uri="{FF2B5EF4-FFF2-40B4-BE49-F238E27FC236}">
                  <a16:creationId xmlns:a16="http://schemas.microsoft.com/office/drawing/2014/main" id="{DAE87168-0F16-48A4-A6A2-56565378411F}"/>
                </a:ext>
              </a:extLst>
            </p:cNvPr>
            <p:cNvSpPr/>
            <p:nvPr/>
          </p:nvSpPr>
          <p:spPr>
            <a:xfrm rot="16200000" flipH="1">
              <a:off x="10205883" y="993768"/>
              <a:ext cx="731520" cy="9144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" wrap="none" rtlCol="0" anchor="ctr"/>
            <a:lstStyle/>
            <a:p>
              <a:pPr algn="ctr"/>
              <a:r>
                <a:rPr lang="en-US" dirty="0"/>
                <a:t>output0</a:t>
              </a:r>
            </a:p>
          </p:txBody>
        </p:sp>
        <p:sp>
          <p:nvSpPr>
            <p:cNvPr id="144" name="Trapezoid 143">
              <a:extLst>
                <a:ext uri="{FF2B5EF4-FFF2-40B4-BE49-F238E27FC236}">
                  <a16:creationId xmlns:a16="http://schemas.microsoft.com/office/drawing/2014/main" id="{C0E00CCD-9685-44AC-B454-F337D5A2F117}"/>
                </a:ext>
              </a:extLst>
            </p:cNvPr>
            <p:cNvSpPr/>
            <p:nvPr/>
          </p:nvSpPr>
          <p:spPr>
            <a:xfrm rot="16200000" flipH="1">
              <a:off x="10205883" y="2091048"/>
              <a:ext cx="731520" cy="9144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" wrap="none" rtlCol="0" anchor="ctr"/>
            <a:lstStyle/>
            <a:p>
              <a:pPr algn="ctr"/>
              <a:r>
                <a:rPr lang="en-US" dirty="0"/>
                <a:t>output1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74DFE255-55B8-414B-AF7F-CC9BD519C15D}"/>
                </a:ext>
              </a:extLst>
            </p:cNvPr>
            <p:cNvCxnSpPr>
              <a:stCxn id="42" idx="3"/>
              <a:endCxn id="143" idx="0"/>
            </p:cNvCxnSpPr>
            <p:nvPr/>
          </p:nvCxnSpPr>
          <p:spPr>
            <a:xfrm flipV="1">
              <a:off x="8807081" y="1450968"/>
              <a:ext cx="1307362" cy="5486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4D4C8BDE-01F2-4D77-925D-10DE455CCF67}"/>
                </a:ext>
              </a:extLst>
            </p:cNvPr>
            <p:cNvCxnSpPr>
              <a:stCxn id="42" idx="3"/>
              <a:endCxn id="144" idx="0"/>
            </p:cNvCxnSpPr>
            <p:nvPr/>
          </p:nvCxnSpPr>
          <p:spPr>
            <a:xfrm>
              <a:off x="8807081" y="1999608"/>
              <a:ext cx="1307362" cy="5486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313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59C731-3726-415E-B7D5-064CF542D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A16284-3F12-4590-8BCF-8B01F6A6B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Spoiler alert: we made it to 100 Gbps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5A64B-BC9F-4FAE-89D7-F513F4BB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2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ED8754-F9A4-4C97-9909-0C6D9927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Topology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395D3-1E60-4D71-B063-DF2898344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122" y="1295399"/>
            <a:ext cx="6536678" cy="48815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Two physical machines:</a:t>
            </a:r>
          </a:p>
          <a:p>
            <a:r>
              <a:rPr lang="en-US" dirty="0"/>
              <a:t>Forwarder.</a:t>
            </a:r>
          </a:p>
          <a:p>
            <a:r>
              <a:rPr lang="en-US" dirty="0"/>
              <a:t>Traffic generators:</a:t>
            </a:r>
          </a:p>
          <a:p>
            <a:pPr lvl="1"/>
            <a:r>
              <a:rPr lang="en-US" dirty="0"/>
              <a:t>Each instance operates independently.</a:t>
            </a:r>
          </a:p>
          <a:p>
            <a:pPr lvl="1"/>
            <a:r>
              <a:rPr lang="en-US" dirty="0"/>
              <a:t>Fetch Data from each other.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CPU: dual Intel Xeon Gold 6240.</a:t>
            </a:r>
          </a:p>
          <a:p>
            <a:pPr lvl="1"/>
            <a:r>
              <a:rPr lang="en-US" dirty="0"/>
              <a:t>18 cores at 2.60 GHz, Hyper Threading disabled.</a:t>
            </a:r>
          </a:p>
          <a:p>
            <a:r>
              <a:rPr lang="en-US" dirty="0"/>
              <a:t>Memory: 256 GB, 2933 MHz, four channels.</a:t>
            </a:r>
          </a:p>
          <a:p>
            <a:pPr lvl="1"/>
            <a:r>
              <a:rPr lang="en-US" dirty="0"/>
              <a:t>64x 1GB </a:t>
            </a:r>
            <a:r>
              <a:rPr lang="en-US" dirty="0" err="1"/>
              <a:t>hugepages</a:t>
            </a:r>
            <a:r>
              <a:rPr lang="en-US" dirty="0"/>
              <a:t> per NUMA socket.</a:t>
            </a:r>
          </a:p>
          <a:p>
            <a:r>
              <a:rPr lang="en-US" dirty="0"/>
              <a:t>NIC: Mellanox ConnectX-5 100 Gbps.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D4202-AD2A-475C-8B1C-EC794EF9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C9F331-6D75-47F0-B680-04C146CD972D}"/>
              </a:ext>
            </a:extLst>
          </p:cNvPr>
          <p:cNvSpPr/>
          <p:nvPr/>
        </p:nvSpPr>
        <p:spPr>
          <a:xfrm>
            <a:off x="1444494" y="1901758"/>
            <a:ext cx="1828800" cy="914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forwarder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C1A4F2-1D8C-4D18-8990-958B01B14194}"/>
              </a:ext>
            </a:extLst>
          </p:cNvPr>
          <p:cNvSpPr/>
          <p:nvPr/>
        </p:nvSpPr>
        <p:spPr>
          <a:xfrm>
            <a:off x="2673608" y="3834272"/>
            <a:ext cx="1828800" cy="914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producer /A</a:t>
            </a:r>
          </a:p>
          <a:p>
            <a:pPr algn="ctr"/>
            <a:r>
              <a:rPr lang="en-US" dirty="0"/>
              <a:t>consumer /B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600C9B-A42F-477D-A245-52A3BE1DEC3B}"/>
              </a:ext>
            </a:extLst>
          </p:cNvPr>
          <p:cNvSpPr/>
          <p:nvPr/>
        </p:nvSpPr>
        <p:spPr>
          <a:xfrm>
            <a:off x="215381" y="3834272"/>
            <a:ext cx="1828800" cy="914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producer /B</a:t>
            </a:r>
          </a:p>
          <a:p>
            <a:pPr algn="ctr"/>
            <a:r>
              <a:rPr lang="en-US" dirty="0"/>
              <a:t>consumer /A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4A05B55-4753-478B-9DC0-2737918E1D04}"/>
              </a:ext>
            </a:extLst>
          </p:cNvPr>
          <p:cNvCxnSpPr>
            <a:stCxn id="39" idx="1"/>
            <a:endCxn id="41" idx="0"/>
          </p:cNvCxnSpPr>
          <p:nvPr/>
        </p:nvCxnSpPr>
        <p:spPr>
          <a:xfrm rot="10800000" flipV="1">
            <a:off x="1129782" y="2358958"/>
            <a:ext cx="314713" cy="1475314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29A0A1B-6579-4EC8-80E7-CE914CA5CD6C}"/>
              </a:ext>
            </a:extLst>
          </p:cNvPr>
          <p:cNvCxnSpPr>
            <a:stCxn id="39" idx="3"/>
            <a:endCxn id="40" idx="0"/>
          </p:cNvCxnSpPr>
          <p:nvPr/>
        </p:nvCxnSpPr>
        <p:spPr>
          <a:xfrm>
            <a:off x="3273294" y="2358958"/>
            <a:ext cx="314714" cy="1475314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7CE913-9C4B-43D1-B475-B9B474BE6391}"/>
              </a:ext>
            </a:extLst>
          </p:cNvPr>
          <p:cNvCxnSpPr/>
          <p:nvPr/>
        </p:nvCxnSpPr>
        <p:spPr>
          <a:xfrm>
            <a:off x="127832" y="3239311"/>
            <a:ext cx="4572000" cy="0"/>
          </a:xfrm>
          <a:prstGeom prst="line">
            <a:avLst/>
          </a:prstGeom>
          <a:ln>
            <a:prstDash val="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423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11FA-4C4F-4E1F-B5BA-5CE263AD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Made It to 100 Gbps</a:t>
            </a:r>
          </a:p>
        </p:txBody>
      </p:sp>
      <p:pic>
        <p:nvPicPr>
          <p:cNvPr id="11" name="Content Placeholder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4F5B8420-5459-4AFD-85E9-665153F0B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523" y="1266022"/>
            <a:ext cx="7204954" cy="494031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DB1D2-A100-4B07-B8A7-B36A245D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88541A35-2CFF-4BFD-B9B0-BAFC756EA24A}"/>
              </a:ext>
            </a:extLst>
          </p:cNvPr>
          <p:cNvSpPr/>
          <p:nvPr/>
        </p:nvSpPr>
        <p:spPr>
          <a:xfrm>
            <a:off x="7924800" y="733816"/>
            <a:ext cx="1371600" cy="457200"/>
          </a:xfrm>
          <a:prstGeom prst="wedgeRoundRectCallout">
            <a:avLst>
              <a:gd name="adj1" fmla="val 5408"/>
              <a:gd name="adj2" fmla="val 107180"/>
              <a:gd name="adj3" fmla="val 16667"/>
            </a:avLst>
          </a:prstGeom>
          <a:noFill/>
          <a:ln w="190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108 Gbps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F293CDE6-65B0-4BA5-BCD1-1E2D3093695E}"/>
              </a:ext>
            </a:extLst>
          </p:cNvPr>
          <p:cNvSpPr/>
          <p:nvPr/>
        </p:nvSpPr>
        <p:spPr>
          <a:xfrm>
            <a:off x="38100" y="4892675"/>
            <a:ext cx="2286000" cy="1828800"/>
          </a:xfrm>
          <a:prstGeom prst="wedgeRectCallout">
            <a:avLst>
              <a:gd name="adj1" fmla="val 53045"/>
              <a:gd name="adj2" fmla="val -9005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Measured from consumers.</a:t>
            </a:r>
          </a:p>
          <a:p>
            <a:r>
              <a:rPr lang="en-US" dirty="0"/>
              <a:t>Data packets only.</a:t>
            </a:r>
          </a:p>
          <a:p>
            <a:r>
              <a:rPr lang="en-US" dirty="0"/>
              <a:t>Not counting retransmissions.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C68EA296-9089-410A-96E1-94014BFFE459}"/>
              </a:ext>
            </a:extLst>
          </p:cNvPr>
          <p:cNvSpPr/>
          <p:nvPr/>
        </p:nvSpPr>
        <p:spPr>
          <a:xfrm>
            <a:off x="9867900" y="4892675"/>
            <a:ext cx="2286000" cy="457200"/>
          </a:xfrm>
          <a:prstGeom prst="wedgeRectCallout">
            <a:avLst>
              <a:gd name="adj1" fmla="val -56343"/>
              <a:gd name="adj2" fmla="val -22678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Data payload only.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5E21C57C-3A80-43AA-8E5A-5552F69010ED}"/>
              </a:ext>
            </a:extLst>
          </p:cNvPr>
          <p:cNvSpPr/>
          <p:nvPr/>
        </p:nvSpPr>
        <p:spPr>
          <a:xfrm>
            <a:off x="9867900" y="733816"/>
            <a:ext cx="2286000" cy="457200"/>
          </a:xfrm>
          <a:prstGeom prst="wedgeRectCallout">
            <a:avLst>
              <a:gd name="adj1" fmla="val -49404"/>
              <a:gd name="adj2" fmla="val 10382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8 forwarding threads.</a:t>
            </a:r>
          </a:p>
        </p:txBody>
      </p:sp>
    </p:spTree>
    <p:extLst>
      <p:ext uri="{BB962C8B-B14F-4D97-AF65-F5344CB8AC3E}">
        <p14:creationId xmlns:p14="http://schemas.microsoft.com/office/powerpoint/2010/main" val="794488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DCBC9F-240E-468C-A649-88C1DFBC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Thread Bottleneck</a:t>
            </a:r>
          </a:p>
        </p:txBody>
      </p:sp>
      <p:pic>
        <p:nvPicPr>
          <p:cNvPr id="9" name="Content Placeholder 8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37820405-B090-48D8-9807-EB25556F18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62" y="1615213"/>
            <a:ext cx="5741099" cy="4382361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E975E9-07CE-4FFE-88F2-A0DC9B3FBD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Expectation:</a:t>
            </a:r>
          </a:p>
          <a:p>
            <a:pPr lvl="1">
              <a:buClr>
                <a:schemeClr val="accent1"/>
              </a:buClr>
              <a:buFont typeface="Calibri" panose="020F0502020204030204" pitchFamily="34" charset="0"/>
              <a:buChar char="↑"/>
            </a:pPr>
            <a:r>
              <a:rPr lang="en-US" dirty="0"/>
              <a:t> # forwarding threads</a:t>
            </a:r>
          </a:p>
          <a:p>
            <a:pPr lvl="1">
              <a:buClr>
                <a:schemeClr val="accent1"/>
              </a:buClr>
              <a:buFont typeface="Calibri" panose="020F0502020204030204" pitchFamily="34" charset="0"/>
              <a:buChar char="↑"/>
            </a:pPr>
            <a:r>
              <a:rPr lang="en-US" dirty="0"/>
              <a:t> Data forwarding rate (</a:t>
            </a:r>
            <a:r>
              <a:rPr lang="en-US" dirty="0" err="1"/>
              <a:t>pps</a:t>
            </a:r>
            <a:r>
              <a:rPr lang="en-US" dirty="0"/>
              <a:t>)</a:t>
            </a:r>
          </a:p>
          <a:p>
            <a:r>
              <a:rPr lang="en-US" dirty="0"/>
              <a:t>Reality:</a:t>
            </a:r>
          </a:p>
          <a:p>
            <a:pPr lvl="1"/>
            <a:r>
              <a:rPr lang="en-US" dirty="0"/>
              <a:t>Data forwarding rate plateaus at 8 forwarding threads.</a:t>
            </a:r>
          </a:p>
          <a:p>
            <a:r>
              <a:rPr lang="en-US" dirty="0"/>
              <a:t>Bottleneck: input thread.</a:t>
            </a:r>
          </a:p>
          <a:p>
            <a:pPr lvl="1"/>
            <a:r>
              <a:rPr lang="en-US" dirty="0"/>
              <a:t>Current architecture only allows one input thread per face.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542D9-069D-4F57-AC55-B88CDB41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8</a:t>
            </a:fld>
            <a:endParaRPr lang="en-US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C115CCF-EE20-4B4D-9D72-2C11DDFE2FCE}"/>
              </a:ext>
            </a:extLst>
          </p:cNvPr>
          <p:cNvSpPr/>
          <p:nvPr/>
        </p:nvSpPr>
        <p:spPr>
          <a:xfrm>
            <a:off x="3189861" y="1116011"/>
            <a:ext cx="1828800" cy="457200"/>
          </a:xfrm>
          <a:prstGeom prst="wedgeRoundRectCallout">
            <a:avLst>
              <a:gd name="adj1" fmla="val 5408"/>
              <a:gd name="adj2" fmla="val 107180"/>
              <a:gd name="adj3" fmla="val 16667"/>
            </a:avLst>
          </a:prstGeom>
          <a:noFill/>
          <a:ln w="190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peak: 1.84 </a:t>
            </a:r>
            <a:r>
              <a:rPr lang="en-US" dirty="0" err="1"/>
              <a:t>Mpps</a:t>
            </a:r>
            <a:endParaRPr lang="en-US" dirty="0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09BB9BF-A9B7-47DF-9047-4829FEA38660}"/>
              </a:ext>
            </a:extLst>
          </p:cNvPr>
          <p:cNvSpPr/>
          <p:nvPr/>
        </p:nvSpPr>
        <p:spPr>
          <a:xfrm rot="5400000">
            <a:off x="2232660" y="4812243"/>
            <a:ext cx="182880" cy="27432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vert270" wrap="none" lIns="640080" rtlCol="0" anchor="ctr"/>
          <a:lstStyle/>
          <a:p>
            <a:pPr algn="ctr"/>
            <a:r>
              <a:rPr lang="en-US" dirty="0"/>
              <a:t>linear growth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129E6048-010A-40CF-9569-8A30B50E27A5}"/>
              </a:ext>
            </a:extLst>
          </p:cNvPr>
          <p:cNvSpPr/>
          <p:nvPr/>
        </p:nvSpPr>
        <p:spPr>
          <a:xfrm rot="5400000">
            <a:off x="4842510" y="5269443"/>
            <a:ext cx="182880" cy="18288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vert270" wrap="none" lIns="640080" rtlCol="0" anchor="ctr"/>
          <a:lstStyle/>
          <a:p>
            <a:pPr algn="ctr"/>
            <a:r>
              <a:rPr lang="en-US" dirty="0"/>
              <a:t>no improvement</a:t>
            </a:r>
          </a:p>
        </p:txBody>
      </p:sp>
    </p:spTree>
    <p:extLst>
      <p:ext uri="{BB962C8B-B14F-4D97-AF65-F5344CB8AC3E}">
        <p14:creationId xmlns:p14="http://schemas.microsoft.com/office/powerpoint/2010/main" val="339214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57D8BA6-7C53-4E9F-AF47-B85CCD9F5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Nonlocal Memory Access</a:t>
            </a:r>
          </a:p>
        </p:txBody>
      </p:sp>
      <p:pic>
        <p:nvPicPr>
          <p:cNvPr id="12" name="Content Placeholder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680EA09A-8B58-471B-930C-8765136A4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96" y="1496486"/>
            <a:ext cx="5974404" cy="456045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69445-A024-432C-8C69-589038663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9</a:t>
            </a:fld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BC4B220-FF70-4FC1-B6FE-98BBFF256018}"/>
              </a:ext>
            </a:extLst>
          </p:cNvPr>
          <p:cNvGrpSpPr/>
          <p:nvPr/>
        </p:nvGrpSpPr>
        <p:grpSpPr>
          <a:xfrm>
            <a:off x="252657" y="1496486"/>
            <a:ext cx="1828800" cy="2589273"/>
            <a:chOff x="495300" y="1496486"/>
            <a:chExt cx="1828800" cy="25892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B27AAE6-B58E-47C5-8F3A-4AF712CE2FDD}"/>
                </a:ext>
              </a:extLst>
            </p:cNvPr>
            <p:cNvSpPr/>
            <p:nvPr/>
          </p:nvSpPr>
          <p:spPr>
            <a:xfrm>
              <a:off x="495300" y="2334161"/>
              <a:ext cx="914400" cy="914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NUMA#0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29AA61-6C68-421F-958F-8A0AA9616DAD}"/>
                </a:ext>
              </a:extLst>
            </p:cNvPr>
            <p:cNvSpPr/>
            <p:nvPr/>
          </p:nvSpPr>
          <p:spPr>
            <a:xfrm>
              <a:off x="1409700" y="1496486"/>
              <a:ext cx="9144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234C71-7514-45E3-B82E-C52F2D14E99F}"/>
                </a:ext>
              </a:extLst>
            </p:cNvPr>
            <p:cNvSpPr/>
            <p:nvPr/>
          </p:nvSpPr>
          <p:spPr>
            <a:xfrm>
              <a:off x="1409700" y="3628559"/>
              <a:ext cx="9144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9CE32C-9653-43CE-9FEC-90C9D1A32205}"/>
                </a:ext>
              </a:extLst>
            </p:cNvPr>
            <p:cNvCxnSpPr>
              <a:cxnSpLocks/>
              <a:stCxn id="14" idx="2"/>
              <a:endCxn id="25" idx="0"/>
            </p:cNvCxnSpPr>
            <p:nvPr/>
          </p:nvCxnSpPr>
          <p:spPr>
            <a:xfrm>
              <a:off x="1866900" y="1953686"/>
              <a:ext cx="0" cy="380475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7BA886C-0DCB-41CC-944A-28CC00E13785}"/>
                </a:ext>
              </a:extLst>
            </p:cNvPr>
            <p:cNvCxnSpPr>
              <a:cxnSpLocks/>
              <a:stCxn id="25" idx="2"/>
              <a:endCxn id="15" idx="0"/>
            </p:cNvCxnSpPr>
            <p:nvPr/>
          </p:nvCxnSpPr>
          <p:spPr>
            <a:xfrm>
              <a:off x="1866900" y="3248561"/>
              <a:ext cx="0" cy="379998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3E70C32-9113-4B23-8F87-DCFDFD2C357A}"/>
                </a:ext>
              </a:extLst>
            </p:cNvPr>
            <p:cNvSpPr/>
            <p:nvPr/>
          </p:nvSpPr>
          <p:spPr>
            <a:xfrm>
              <a:off x="1409700" y="2334161"/>
              <a:ext cx="914400" cy="914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NUMA#1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70CBED1-EAB0-4DEE-B341-07BB12BE14EA}"/>
              </a:ext>
            </a:extLst>
          </p:cNvPr>
          <p:cNvGrpSpPr/>
          <p:nvPr/>
        </p:nvGrpSpPr>
        <p:grpSpPr>
          <a:xfrm>
            <a:off x="2708748" y="1496486"/>
            <a:ext cx="1828800" cy="2589273"/>
            <a:chOff x="2708748" y="1496486"/>
            <a:chExt cx="1828800" cy="258927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85A8183-B55C-4AEC-B9E8-2494AC6EB3D1}"/>
                </a:ext>
              </a:extLst>
            </p:cNvPr>
            <p:cNvSpPr/>
            <p:nvPr/>
          </p:nvSpPr>
          <p:spPr>
            <a:xfrm>
              <a:off x="2708748" y="2334161"/>
              <a:ext cx="914400" cy="914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NUMA#0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8621962-5D2A-46DB-A1EA-794FD35ACF9A}"/>
                </a:ext>
              </a:extLst>
            </p:cNvPr>
            <p:cNvSpPr/>
            <p:nvPr/>
          </p:nvSpPr>
          <p:spPr>
            <a:xfrm>
              <a:off x="2708748" y="1496486"/>
              <a:ext cx="9144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0BE910-2042-4719-9EBE-A72E5CBB7A69}"/>
                </a:ext>
              </a:extLst>
            </p:cNvPr>
            <p:cNvSpPr/>
            <p:nvPr/>
          </p:nvSpPr>
          <p:spPr>
            <a:xfrm>
              <a:off x="3623148" y="3628559"/>
              <a:ext cx="914400" cy="457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B59E0EF-F206-49FE-BFAA-CA9E58EF4E3C}"/>
                </a:ext>
              </a:extLst>
            </p:cNvPr>
            <p:cNvCxnSpPr>
              <a:cxnSpLocks/>
              <a:stCxn id="29" idx="2"/>
              <a:endCxn id="28" idx="0"/>
            </p:cNvCxnSpPr>
            <p:nvPr/>
          </p:nvCxnSpPr>
          <p:spPr>
            <a:xfrm>
              <a:off x="3165948" y="1953686"/>
              <a:ext cx="0" cy="380475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DCF231A-8EFA-476B-BF8D-CA163589332A}"/>
                </a:ext>
              </a:extLst>
            </p:cNvPr>
            <p:cNvCxnSpPr>
              <a:cxnSpLocks/>
              <a:stCxn id="33" idx="2"/>
              <a:endCxn id="30" idx="0"/>
            </p:cNvCxnSpPr>
            <p:nvPr/>
          </p:nvCxnSpPr>
          <p:spPr>
            <a:xfrm>
              <a:off x="4080348" y="3248561"/>
              <a:ext cx="0" cy="379998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9DCFE3D-D443-4971-A11F-1303BF6AACC2}"/>
                </a:ext>
              </a:extLst>
            </p:cNvPr>
            <p:cNvSpPr/>
            <p:nvPr/>
          </p:nvSpPr>
          <p:spPr>
            <a:xfrm>
              <a:off x="3623148" y="2334161"/>
              <a:ext cx="914400" cy="914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NUMA#1</a:t>
              </a:r>
            </a:p>
          </p:txBody>
        </p:sp>
        <p:sp>
          <p:nvSpPr>
            <p:cNvPr id="35" name="Arrow: Left-Right 34">
              <a:extLst>
                <a:ext uri="{FF2B5EF4-FFF2-40B4-BE49-F238E27FC236}">
                  <a16:creationId xmlns:a16="http://schemas.microsoft.com/office/drawing/2014/main" id="{13078283-6B71-4B84-AE1E-86F05335AA13}"/>
                </a:ext>
              </a:extLst>
            </p:cNvPr>
            <p:cNvSpPr/>
            <p:nvPr/>
          </p:nvSpPr>
          <p:spPr>
            <a:xfrm>
              <a:off x="3394548" y="2791361"/>
              <a:ext cx="457200" cy="274320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3DC368FD-2E4C-4FAF-9AA4-00B4D438F24F}"/>
              </a:ext>
            </a:extLst>
          </p:cNvPr>
          <p:cNvSpPr txBox="1"/>
          <p:nvPr/>
        </p:nvSpPr>
        <p:spPr>
          <a:xfrm>
            <a:off x="256972" y="4384206"/>
            <a:ext cx="2004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NUMA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5E6B03-4F9F-43B5-85CE-0570FBCABE14}"/>
              </a:ext>
            </a:extLst>
          </p:cNvPr>
          <p:cNvSpPr txBox="1"/>
          <p:nvPr/>
        </p:nvSpPr>
        <p:spPr>
          <a:xfrm>
            <a:off x="2544392" y="4384206"/>
            <a:ext cx="2465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cross NUMA: higher memory access latency</a:t>
            </a:r>
          </a:p>
        </p:txBody>
      </p:sp>
      <p:sp>
        <p:nvSpPr>
          <p:cNvPr id="47" name="Speech Bubble: Rectangle with Corners Rounded 46">
            <a:extLst>
              <a:ext uri="{FF2B5EF4-FFF2-40B4-BE49-F238E27FC236}">
                <a16:creationId xmlns:a16="http://schemas.microsoft.com/office/drawing/2014/main" id="{F0B52C65-E844-4D9D-B0EF-9B128D39FB23}"/>
              </a:ext>
            </a:extLst>
          </p:cNvPr>
          <p:cNvSpPr/>
          <p:nvPr/>
        </p:nvSpPr>
        <p:spPr>
          <a:xfrm>
            <a:off x="8862060" y="1005443"/>
            <a:ext cx="2011680" cy="457200"/>
          </a:xfrm>
          <a:prstGeom prst="wedgeRoundRectCallout">
            <a:avLst>
              <a:gd name="adj1" fmla="val 5408"/>
              <a:gd name="adj2" fmla="val 107180"/>
              <a:gd name="adj3" fmla="val 16667"/>
            </a:avLst>
          </a:prstGeom>
          <a:noFill/>
          <a:ln w="190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 to 20% slower</a:t>
            </a:r>
          </a:p>
        </p:txBody>
      </p:sp>
    </p:spTree>
    <p:extLst>
      <p:ext uri="{BB962C8B-B14F-4D97-AF65-F5344CB8AC3E}">
        <p14:creationId xmlns:p14="http://schemas.microsoft.com/office/powerpoint/2010/main" val="30487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262953-A520-4144-B971-A03B7E0C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Acceleration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0B9AB2-B4C7-4231-A514-BE2D3DA12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the input thread bottleneck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0FB7-048D-46E5-AB38-C5EF1D3F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86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65C21E-6DEB-4E93-9091-A1E5F4E2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an Input Thread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DB2271-08B1-4CFA-AD83-783C462AA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1916"/>
            <a:ext cx="10515600" cy="10550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dispatch(interest,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NDT[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SipHash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prefix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].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fwd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dispatch(data,    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pitToken.fwd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8E1D6-A075-449E-A543-677DC0B7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11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3CBE82-F157-4EBA-8D03-7186916FE93B}"/>
              </a:ext>
            </a:extLst>
          </p:cNvPr>
          <p:cNvGrpSpPr/>
          <p:nvPr/>
        </p:nvGrpSpPr>
        <p:grpSpPr>
          <a:xfrm>
            <a:off x="1850046" y="1116011"/>
            <a:ext cx="7903554" cy="3299896"/>
            <a:chOff x="326046" y="684892"/>
            <a:chExt cx="7903554" cy="329989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7DD262-F546-48D7-BAF3-FE00B09E9702}"/>
                </a:ext>
              </a:extLst>
            </p:cNvPr>
            <p:cNvSpPr/>
            <p:nvPr/>
          </p:nvSpPr>
          <p:spPr>
            <a:xfrm>
              <a:off x="2743200" y="1370689"/>
              <a:ext cx="1371600" cy="45720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L2 decode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646BB2-F807-4AF6-AE35-D7183F6C4629}"/>
                </a:ext>
              </a:extLst>
            </p:cNvPr>
            <p:cNvSpPr/>
            <p:nvPr/>
          </p:nvSpPr>
          <p:spPr>
            <a:xfrm>
              <a:off x="2743200" y="2056486"/>
              <a:ext cx="1371600" cy="45720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reassembly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913D21-69E9-4CF1-A267-518C0701D76D}"/>
                </a:ext>
              </a:extLst>
            </p:cNvPr>
            <p:cNvSpPr/>
            <p:nvPr/>
          </p:nvSpPr>
          <p:spPr>
            <a:xfrm>
              <a:off x="2743200" y="2742283"/>
              <a:ext cx="1371600" cy="45720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L3 decode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1F90A38-277B-4486-BE7C-4C3B84B2A9A5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3429000" y="1827889"/>
              <a:ext cx="0" cy="22859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D1C0EE1-8297-4C2C-ABA3-8D8E0B7746FC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3429000" y="2513686"/>
              <a:ext cx="0" cy="22859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94C5C01-5BA7-4584-A183-8A77B4FA8752}"/>
                </a:ext>
              </a:extLst>
            </p:cNvPr>
            <p:cNvSpPr/>
            <p:nvPr/>
          </p:nvSpPr>
          <p:spPr>
            <a:xfrm>
              <a:off x="5029200" y="684892"/>
              <a:ext cx="1371600" cy="914400"/>
            </a:xfrm>
            <a:prstGeom prst="rect">
              <a:avLst/>
            </a:prstGeom>
            <a:ln w="127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Name Dispatch Table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2D1483-13CE-4F47-80DD-74463BAE0794}"/>
                </a:ext>
              </a:extLst>
            </p:cNvPr>
            <p:cNvSpPr/>
            <p:nvPr/>
          </p:nvSpPr>
          <p:spPr>
            <a:xfrm>
              <a:off x="5029200" y="1873606"/>
              <a:ext cx="1371600" cy="64008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dispatch by name prefix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E0BDABB2-B792-46F5-A140-E4250DCCC3B1}"/>
                </a:ext>
              </a:extLst>
            </p:cNvPr>
            <p:cNvCxnSpPr>
              <a:stCxn id="9" idx="3"/>
              <a:endCxn id="13" idx="1"/>
            </p:cNvCxnSpPr>
            <p:nvPr/>
          </p:nvCxnSpPr>
          <p:spPr>
            <a:xfrm flipV="1">
              <a:off x="4114800" y="2193646"/>
              <a:ext cx="914400" cy="777237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559521B-F97A-480F-A937-901ADCDC0C45}"/>
                </a:ext>
              </a:extLst>
            </p:cNvPr>
            <p:cNvSpPr/>
            <p:nvPr/>
          </p:nvSpPr>
          <p:spPr>
            <a:xfrm>
              <a:off x="5029200" y="2970880"/>
              <a:ext cx="1371600" cy="64008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dispatch by token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01645579-CBD2-42BD-8BAF-810A8575F5F2}"/>
                </a:ext>
              </a:extLst>
            </p:cNvPr>
            <p:cNvCxnSpPr>
              <a:stCxn id="9" idx="3"/>
              <a:endCxn id="15" idx="1"/>
            </p:cNvCxnSpPr>
            <p:nvPr/>
          </p:nvCxnSpPr>
          <p:spPr>
            <a:xfrm>
              <a:off x="4114800" y="2970883"/>
              <a:ext cx="914400" cy="320037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61D67B-948E-4812-96A5-0E09B84AE931}"/>
                </a:ext>
              </a:extLst>
            </p:cNvPr>
            <p:cNvCxnSpPr>
              <a:stCxn id="13" idx="0"/>
              <a:endCxn id="12" idx="2"/>
            </p:cNvCxnSpPr>
            <p:nvPr/>
          </p:nvCxnSpPr>
          <p:spPr>
            <a:xfrm flipV="1">
              <a:off x="5715000" y="1599292"/>
              <a:ext cx="0" cy="274314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7A2BD5C-0D7F-4475-9977-1AE226BB09BC}"/>
                </a:ext>
              </a:extLst>
            </p:cNvPr>
            <p:cNvSpPr/>
            <p:nvPr/>
          </p:nvSpPr>
          <p:spPr>
            <a:xfrm>
              <a:off x="7315200" y="2057400"/>
              <a:ext cx="914400" cy="457200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fwd0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B61C014-C881-4B18-BEEB-C6EBAE355DF9}"/>
                </a:ext>
              </a:extLst>
            </p:cNvPr>
            <p:cNvSpPr/>
            <p:nvPr/>
          </p:nvSpPr>
          <p:spPr>
            <a:xfrm>
              <a:off x="7315200" y="2971800"/>
              <a:ext cx="914400" cy="457200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fwd1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7C83FCD-E8DD-43CB-9CEE-2A03DFD7723E}"/>
                </a:ext>
              </a:extLst>
            </p:cNvPr>
            <p:cNvCxnSpPr>
              <a:stCxn id="13" idx="3"/>
              <a:endCxn id="18" idx="1"/>
            </p:cNvCxnSpPr>
            <p:nvPr/>
          </p:nvCxnSpPr>
          <p:spPr>
            <a:xfrm>
              <a:off x="6400800" y="2193646"/>
              <a:ext cx="914400" cy="923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A3344B6-BB1C-4906-A1EA-E8E11906CD7F}"/>
                </a:ext>
              </a:extLst>
            </p:cNvPr>
            <p:cNvCxnSpPr>
              <a:stCxn id="13" idx="3"/>
              <a:endCxn id="19" idx="1"/>
            </p:cNvCxnSpPr>
            <p:nvPr/>
          </p:nvCxnSpPr>
          <p:spPr>
            <a:xfrm>
              <a:off x="6400800" y="2193646"/>
              <a:ext cx="914400" cy="1006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FF29E78-FBC4-44BE-A52D-4FDD74799B28}"/>
                </a:ext>
              </a:extLst>
            </p:cNvPr>
            <p:cNvCxnSpPr>
              <a:stCxn id="15" idx="3"/>
              <a:endCxn id="18" idx="1"/>
            </p:cNvCxnSpPr>
            <p:nvPr/>
          </p:nvCxnSpPr>
          <p:spPr>
            <a:xfrm flipV="1">
              <a:off x="6400800" y="2286000"/>
              <a:ext cx="914400" cy="100492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E94AA90-EBDD-44C4-89A2-19D7BE84ED1F}"/>
                </a:ext>
              </a:extLst>
            </p:cNvPr>
            <p:cNvCxnSpPr>
              <a:stCxn id="15" idx="3"/>
              <a:endCxn id="19" idx="1"/>
            </p:cNvCxnSpPr>
            <p:nvPr/>
          </p:nvCxnSpPr>
          <p:spPr>
            <a:xfrm flipV="1">
              <a:off x="6400800" y="3200400"/>
              <a:ext cx="914400" cy="9052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1055644-E4BD-47A2-A90E-50F186358C22}"/>
                </a:ext>
              </a:extLst>
            </p:cNvPr>
            <p:cNvSpPr txBox="1"/>
            <p:nvPr/>
          </p:nvSpPr>
          <p:spPr>
            <a:xfrm>
              <a:off x="4114800" y="1870491"/>
              <a:ext cx="908647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Interest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6A8D97-6C3D-46C9-8B8F-97440780289F}"/>
                </a:ext>
              </a:extLst>
            </p:cNvPr>
            <p:cNvSpPr txBox="1"/>
            <p:nvPr/>
          </p:nvSpPr>
          <p:spPr>
            <a:xfrm>
              <a:off x="3633451" y="3299686"/>
              <a:ext cx="1389996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Data or </a:t>
              </a:r>
              <a:r>
                <a:rPr lang="en-US" dirty="0" err="1"/>
                <a:t>Nack</a:t>
              </a:r>
              <a:endParaRPr lang="en-US" dirty="0"/>
            </a:p>
          </p:txBody>
        </p:sp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4DF35578-7995-4650-B72B-0A90E976587F}"/>
                </a:ext>
              </a:extLst>
            </p:cNvPr>
            <p:cNvSpPr/>
            <p:nvPr/>
          </p:nvSpPr>
          <p:spPr>
            <a:xfrm rot="5400000">
              <a:off x="554646" y="913492"/>
              <a:ext cx="914400" cy="13716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network interface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4D2CFFB-F636-42DF-9C75-33E842A9852E}"/>
                </a:ext>
              </a:extLst>
            </p:cNvPr>
            <p:cNvCxnSpPr>
              <a:stCxn id="26" idx="0"/>
              <a:endCxn id="7" idx="1"/>
            </p:cNvCxnSpPr>
            <p:nvPr/>
          </p:nvCxnSpPr>
          <p:spPr>
            <a:xfrm flipV="1">
              <a:off x="1697646" y="1599289"/>
              <a:ext cx="1045554" cy="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E4FC127E-8A13-4D96-A08E-8D126936F16B}"/>
                </a:ext>
              </a:extLst>
            </p:cNvPr>
            <p:cNvSpPr/>
            <p:nvPr/>
          </p:nvSpPr>
          <p:spPr>
            <a:xfrm rot="5400000">
              <a:off x="4477683" y="1607348"/>
              <a:ext cx="182880" cy="4572000"/>
            </a:xfrm>
            <a:prstGeom prst="rightBrac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vert270" wrap="none" lIns="731520" tIns="45720" rtlCol="0" anchor="ctr"/>
            <a:lstStyle/>
            <a:p>
              <a:pPr algn="ctr"/>
              <a:r>
                <a:rPr lang="en-US" dirty="0"/>
                <a:t>input stage</a:t>
              </a:r>
            </a:p>
          </p:txBody>
        </p:sp>
      </p:grpSp>
      <p:sp>
        <p:nvSpPr>
          <p:cNvPr id="31" name="Callout: Line 30">
            <a:extLst>
              <a:ext uri="{FF2B5EF4-FFF2-40B4-BE49-F238E27FC236}">
                <a16:creationId xmlns:a16="http://schemas.microsoft.com/office/drawing/2014/main" id="{E00632F5-AFC6-4D29-B713-56378D5E4A6E}"/>
              </a:ext>
            </a:extLst>
          </p:cNvPr>
          <p:cNvSpPr/>
          <p:nvPr/>
        </p:nvSpPr>
        <p:spPr>
          <a:xfrm>
            <a:off x="8812064" y="1343050"/>
            <a:ext cx="3200400" cy="731520"/>
          </a:xfrm>
          <a:prstGeom prst="borderCallout1">
            <a:avLst>
              <a:gd name="adj1" fmla="val 103726"/>
              <a:gd name="adj2" fmla="val 40248"/>
              <a:gd name="adj3" fmla="val 153633"/>
              <a:gd name="adj4" fmla="val 19975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Hardware dispatches most packets directly to </a:t>
            </a:r>
            <a:r>
              <a:rPr lang="en-US" dirty="0" err="1"/>
              <a:t>fwd</a:t>
            </a:r>
            <a:r>
              <a:rPr lang="en-US" dirty="0"/>
              <a:t> threads.</a:t>
            </a:r>
          </a:p>
        </p:txBody>
      </p:sp>
      <p:sp>
        <p:nvSpPr>
          <p:cNvPr id="36" name="Double Bracket 35">
            <a:extLst>
              <a:ext uri="{FF2B5EF4-FFF2-40B4-BE49-F238E27FC236}">
                <a16:creationId xmlns:a16="http://schemas.microsoft.com/office/drawing/2014/main" id="{0294623A-8A45-4E18-BCF7-66E09C0D37CF}"/>
              </a:ext>
            </a:extLst>
          </p:cNvPr>
          <p:cNvSpPr/>
          <p:nvPr/>
        </p:nvSpPr>
        <p:spPr>
          <a:xfrm>
            <a:off x="3502255" y="994618"/>
            <a:ext cx="5029200" cy="3657600"/>
          </a:xfrm>
          <a:prstGeom prst="bracketPair">
            <a:avLst>
              <a:gd name="adj" fmla="val 4304"/>
            </a:avLst>
          </a:pr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implement in hardware?</a:t>
            </a:r>
          </a:p>
        </p:txBody>
      </p:sp>
    </p:spTree>
    <p:extLst>
      <p:ext uri="{BB962C8B-B14F-4D97-AF65-F5344CB8AC3E}">
        <p14:creationId xmlns:p14="http://schemas.microsoft.com/office/powerpoint/2010/main" val="391135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A2BA-791E-41F3-A8CC-96E73F15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Receive Side Scaling (RSS)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90F17-1607-4A82-B833-9DF27A9A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12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65E8B9-ABA9-40B8-A4DF-9E44EF4784B8}"/>
              </a:ext>
            </a:extLst>
          </p:cNvPr>
          <p:cNvGrpSpPr/>
          <p:nvPr/>
        </p:nvGrpSpPr>
        <p:grpSpPr>
          <a:xfrm>
            <a:off x="1775460" y="1268388"/>
            <a:ext cx="8732520" cy="2743200"/>
            <a:chOff x="1775460" y="1450180"/>
            <a:chExt cx="8732520" cy="2743200"/>
          </a:xfrm>
        </p:grpSpPr>
        <p:sp>
          <p:nvSpPr>
            <p:cNvPr id="5" name="Double Bracket 4">
              <a:extLst>
                <a:ext uri="{FF2B5EF4-FFF2-40B4-BE49-F238E27FC236}">
                  <a16:creationId xmlns:a16="http://schemas.microsoft.com/office/drawing/2014/main" id="{97C9A743-14B5-40D9-81AB-2CBD386317DC}"/>
                </a:ext>
              </a:extLst>
            </p:cNvPr>
            <p:cNvSpPr/>
            <p:nvPr/>
          </p:nvSpPr>
          <p:spPr>
            <a:xfrm>
              <a:off x="2324100" y="1450180"/>
              <a:ext cx="5486400" cy="2743200"/>
            </a:xfrm>
            <a:prstGeom prst="bracketPair">
              <a:avLst>
                <a:gd name="adj" fmla="val 4304"/>
              </a:avLst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t"/>
            <a:lstStyle/>
            <a:p>
              <a:r>
                <a:rPr lang="en-US" sz="2000" dirty="0"/>
                <a:t>10/100G Ethernet adapter, receive path</a:t>
              </a:r>
            </a:p>
          </p:txBody>
        </p:sp>
        <p:sp>
          <p:nvSpPr>
            <p:cNvPr id="7" name="Arrow: Pentagon 6">
              <a:extLst>
                <a:ext uri="{FF2B5EF4-FFF2-40B4-BE49-F238E27FC236}">
                  <a16:creationId xmlns:a16="http://schemas.microsoft.com/office/drawing/2014/main" id="{1ED03D78-DC7D-4345-9395-A773750C18E0}"/>
                </a:ext>
              </a:extLst>
            </p:cNvPr>
            <p:cNvSpPr/>
            <p:nvPr/>
          </p:nvSpPr>
          <p:spPr>
            <a:xfrm>
              <a:off x="1775460" y="2639230"/>
              <a:ext cx="1097280" cy="457200"/>
            </a:xfrm>
            <a:prstGeom prst="homePlat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ingress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1A6CBF-82FF-402D-8F9F-DABACBC9932C}"/>
                </a:ext>
              </a:extLst>
            </p:cNvPr>
            <p:cNvSpPr/>
            <p:nvPr/>
          </p:nvSpPr>
          <p:spPr>
            <a:xfrm>
              <a:off x="3009900" y="2043567"/>
              <a:ext cx="4114800" cy="18288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000" dirty="0"/>
                <a:t>Receive Side Scaling (RSS) rules</a:t>
              </a:r>
            </a:p>
            <a:p>
              <a:endParaRPr lang="en-US" dirty="0"/>
            </a:p>
            <a:p>
              <a:r>
                <a:rPr lang="en-US" dirty="0"/>
                <a:t>If field </a:t>
              </a:r>
              <a:r>
                <a:rPr lang="en-US" i="1" dirty="0"/>
                <a:t>F</a:t>
              </a:r>
              <a:r>
                <a:rPr lang="en-US" dirty="0"/>
                <a:t> has value </a:t>
              </a:r>
              <a:r>
                <a:rPr lang="en-US" i="1" dirty="0"/>
                <a:t>V</a:t>
              </a:r>
              <a:r>
                <a:rPr lang="en-US" dirty="0"/>
                <a:t>, dispatch to queue </a:t>
              </a:r>
              <a:r>
                <a:rPr lang="en-US" i="1" dirty="0"/>
                <a:t>Q</a:t>
              </a:r>
              <a:r>
                <a:rPr lang="en-US" dirty="0"/>
                <a:t>.</a:t>
              </a:r>
            </a:p>
            <a:p>
              <a:r>
                <a:rPr lang="en-US" dirty="0"/>
                <a:t>⁞</a:t>
              </a:r>
            </a:p>
            <a:p>
              <a:r>
                <a:rPr lang="en-US" dirty="0"/>
                <a:t>Otherwise, drop the packet.</a:t>
              </a:r>
            </a:p>
            <a:p>
              <a:endParaRPr lang="en-US" dirty="0"/>
            </a:p>
          </p:txBody>
        </p:sp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115DD58E-FFFD-40A4-932E-ADC004FF69AD}"/>
                </a:ext>
              </a:extLst>
            </p:cNvPr>
            <p:cNvSpPr/>
            <p:nvPr/>
          </p:nvSpPr>
          <p:spPr>
            <a:xfrm>
              <a:off x="7399020" y="1976232"/>
              <a:ext cx="1097280" cy="45720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queue 0</a:t>
              </a:r>
            </a:p>
          </p:txBody>
        </p:sp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970F33DE-2A8C-4170-88E2-D4D3716E46C4}"/>
                </a:ext>
              </a:extLst>
            </p:cNvPr>
            <p:cNvSpPr/>
            <p:nvPr/>
          </p:nvSpPr>
          <p:spPr>
            <a:xfrm>
              <a:off x="7399020" y="2639230"/>
              <a:ext cx="1097280" cy="45720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queue 1</a:t>
              </a:r>
            </a:p>
          </p:txBody>
        </p:sp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DF580525-437C-4604-95C1-7477AAAE4349}"/>
                </a:ext>
              </a:extLst>
            </p:cNvPr>
            <p:cNvSpPr/>
            <p:nvPr/>
          </p:nvSpPr>
          <p:spPr>
            <a:xfrm>
              <a:off x="7399020" y="3302228"/>
              <a:ext cx="1097280" cy="45720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queue 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F795E82-5779-4236-AC91-E4567BE745C1}"/>
                </a:ext>
              </a:extLst>
            </p:cNvPr>
            <p:cNvSpPr/>
            <p:nvPr/>
          </p:nvSpPr>
          <p:spPr>
            <a:xfrm>
              <a:off x="8496300" y="1976232"/>
              <a:ext cx="1097280" cy="4572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mempool</a:t>
              </a:r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100BA6-263B-4D9C-B4AA-17E8DDFE2A6B}"/>
                </a:ext>
              </a:extLst>
            </p:cNvPr>
            <p:cNvSpPr/>
            <p:nvPr/>
          </p:nvSpPr>
          <p:spPr>
            <a:xfrm>
              <a:off x="9593580" y="1976232"/>
              <a:ext cx="914400" cy="4572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E40C77-6C2E-4EEC-AAB1-A1C052AE208C}"/>
                </a:ext>
              </a:extLst>
            </p:cNvPr>
            <p:cNvSpPr/>
            <p:nvPr/>
          </p:nvSpPr>
          <p:spPr>
            <a:xfrm>
              <a:off x="8496300" y="2639988"/>
              <a:ext cx="1097280" cy="4572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mempool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67D8C5-7AEE-4AEF-B40F-84B2D480F2D7}"/>
                </a:ext>
              </a:extLst>
            </p:cNvPr>
            <p:cNvSpPr/>
            <p:nvPr/>
          </p:nvSpPr>
          <p:spPr>
            <a:xfrm>
              <a:off x="9593580" y="2639988"/>
              <a:ext cx="914400" cy="4572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4B600C6-B3F8-4AE3-9F0F-0D486446D63A}"/>
                </a:ext>
              </a:extLst>
            </p:cNvPr>
            <p:cNvSpPr/>
            <p:nvPr/>
          </p:nvSpPr>
          <p:spPr>
            <a:xfrm>
              <a:off x="8496300" y="3302228"/>
              <a:ext cx="1097280" cy="4572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mempool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68EFF6-4329-487D-9134-41AF22D70378}"/>
                </a:ext>
              </a:extLst>
            </p:cNvPr>
            <p:cNvSpPr/>
            <p:nvPr/>
          </p:nvSpPr>
          <p:spPr>
            <a:xfrm>
              <a:off x="9593580" y="3302228"/>
              <a:ext cx="914400" cy="4572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</a:t>
              </a:r>
            </a:p>
          </p:txBody>
        </p:sp>
      </p:grpSp>
      <p:sp>
        <p:nvSpPr>
          <p:cNvPr id="19" name="Callout: Line 18">
            <a:extLst>
              <a:ext uri="{FF2B5EF4-FFF2-40B4-BE49-F238E27FC236}">
                <a16:creationId xmlns:a16="http://schemas.microsoft.com/office/drawing/2014/main" id="{84700177-BAED-476B-8479-107B4BBDD917}"/>
              </a:ext>
            </a:extLst>
          </p:cNvPr>
          <p:cNvSpPr/>
          <p:nvPr/>
        </p:nvSpPr>
        <p:spPr>
          <a:xfrm>
            <a:off x="7947660" y="4375173"/>
            <a:ext cx="3657600" cy="1828800"/>
          </a:xfrm>
          <a:prstGeom prst="borderCallout1">
            <a:avLst>
              <a:gd name="adj1" fmla="val -1537"/>
              <a:gd name="adj2" fmla="val 32345"/>
              <a:gd name="adj3" fmla="val -30227"/>
              <a:gd name="adj4" fmla="val 11540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NIC has ≥16 RX queues.</a:t>
            </a:r>
          </a:p>
          <a:p>
            <a:r>
              <a:rPr lang="en-US" dirty="0"/>
              <a:t>Configurable per queue: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thread to process packets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mempool</a:t>
            </a:r>
            <a:r>
              <a:rPr lang="en-US" dirty="0"/>
              <a:t> to store packets into (ideally, on the same NUMA socket as the processing thread)</a:t>
            </a:r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F97389E4-7773-4710-9625-6C3C740B5058}"/>
              </a:ext>
            </a:extLst>
          </p:cNvPr>
          <p:cNvSpPr/>
          <p:nvPr/>
        </p:nvSpPr>
        <p:spPr>
          <a:xfrm>
            <a:off x="2415541" y="4375173"/>
            <a:ext cx="4114800" cy="1828800"/>
          </a:xfrm>
          <a:prstGeom prst="borderCallout1">
            <a:avLst>
              <a:gd name="adj1" fmla="val 590"/>
              <a:gd name="adj2" fmla="val 60431"/>
              <a:gd name="adj3" fmla="val -89413"/>
              <a:gd name="adj4" fmla="val 33777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Choices of </a:t>
            </a:r>
            <a:r>
              <a:rPr lang="en-US" i="1" dirty="0"/>
              <a:t>F</a:t>
            </a:r>
            <a:r>
              <a:rPr lang="en-US" dirty="0"/>
              <a:t> are limited by hardware functionality: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ConnectX-5 only supports fields in Ethernet/IP/UDP/TCP headers.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cards allow "bytes at offset </a:t>
            </a:r>
            <a:r>
              <a:rPr lang="en-US" i="1" dirty="0"/>
              <a:t>I</a:t>
            </a:r>
            <a:r>
              <a:rPr lang="en-US" dirty="0"/>
              <a:t>" generic fields.</a:t>
            </a:r>
          </a:p>
        </p:txBody>
      </p:sp>
      <p:sp>
        <p:nvSpPr>
          <p:cNvPr id="22" name="Callout: Line 21">
            <a:extLst>
              <a:ext uri="{FF2B5EF4-FFF2-40B4-BE49-F238E27FC236}">
                <a16:creationId xmlns:a16="http://schemas.microsoft.com/office/drawing/2014/main" id="{AC058104-AAF4-437F-BF77-A5FEC7B147C6}"/>
              </a:ext>
            </a:extLst>
          </p:cNvPr>
          <p:cNvSpPr/>
          <p:nvPr/>
        </p:nvSpPr>
        <p:spPr>
          <a:xfrm>
            <a:off x="8731385" y="279975"/>
            <a:ext cx="3200400" cy="1097280"/>
          </a:xfrm>
          <a:prstGeom prst="borderCallout1">
            <a:avLst>
              <a:gd name="adj1" fmla="val 83392"/>
              <a:gd name="adj2" fmla="val -1005"/>
              <a:gd name="adj3" fmla="val 144984"/>
              <a:gd name="adj4" fmla="val -62664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Incoming frames are matched against RSS rules and dispatched to queues.</a:t>
            </a:r>
          </a:p>
        </p:txBody>
      </p:sp>
    </p:spTree>
    <p:extLst>
      <p:ext uri="{BB962C8B-B14F-4D97-AF65-F5344CB8AC3E}">
        <p14:creationId xmlns:p14="http://schemas.microsoft.com/office/powerpoint/2010/main" val="325889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65C21E-6DEB-4E93-9091-A1E5F4E2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Dispatching with RSS?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8E1D6-A075-449E-A543-677DC0B7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13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3CBE82-F157-4EBA-8D03-7186916FE93B}"/>
              </a:ext>
            </a:extLst>
          </p:cNvPr>
          <p:cNvGrpSpPr/>
          <p:nvPr/>
        </p:nvGrpSpPr>
        <p:grpSpPr>
          <a:xfrm>
            <a:off x="1850046" y="1116011"/>
            <a:ext cx="7903554" cy="3299896"/>
            <a:chOff x="326046" y="684892"/>
            <a:chExt cx="7903554" cy="329989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7DD262-F546-48D7-BAF3-FE00B09E9702}"/>
                </a:ext>
              </a:extLst>
            </p:cNvPr>
            <p:cNvSpPr/>
            <p:nvPr/>
          </p:nvSpPr>
          <p:spPr>
            <a:xfrm>
              <a:off x="2743200" y="1370689"/>
              <a:ext cx="1371600" cy="45720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L2 decode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646BB2-F807-4AF6-AE35-D7183F6C4629}"/>
                </a:ext>
              </a:extLst>
            </p:cNvPr>
            <p:cNvSpPr/>
            <p:nvPr/>
          </p:nvSpPr>
          <p:spPr>
            <a:xfrm>
              <a:off x="2743200" y="2056486"/>
              <a:ext cx="1371600" cy="45720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reassembly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913D21-69E9-4CF1-A267-518C0701D76D}"/>
                </a:ext>
              </a:extLst>
            </p:cNvPr>
            <p:cNvSpPr/>
            <p:nvPr/>
          </p:nvSpPr>
          <p:spPr>
            <a:xfrm>
              <a:off x="2743200" y="2742283"/>
              <a:ext cx="1371600" cy="45720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L3 decode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1F90A38-277B-4486-BE7C-4C3B84B2A9A5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3429000" y="1827889"/>
              <a:ext cx="0" cy="22859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D1C0EE1-8297-4C2C-ABA3-8D8E0B7746FC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3429000" y="2513686"/>
              <a:ext cx="0" cy="22859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94C5C01-5BA7-4584-A183-8A77B4FA8752}"/>
                </a:ext>
              </a:extLst>
            </p:cNvPr>
            <p:cNvSpPr/>
            <p:nvPr/>
          </p:nvSpPr>
          <p:spPr>
            <a:xfrm>
              <a:off x="5029200" y="684892"/>
              <a:ext cx="1371600" cy="914400"/>
            </a:xfrm>
            <a:prstGeom prst="rect">
              <a:avLst/>
            </a:prstGeom>
            <a:ln w="127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Name Dispatch Table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2D1483-13CE-4F47-80DD-74463BAE0794}"/>
                </a:ext>
              </a:extLst>
            </p:cNvPr>
            <p:cNvSpPr/>
            <p:nvPr/>
          </p:nvSpPr>
          <p:spPr>
            <a:xfrm>
              <a:off x="5029200" y="1873606"/>
              <a:ext cx="1371600" cy="64008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dispatch by name prefix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E0BDABB2-B792-46F5-A140-E4250DCCC3B1}"/>
                </a:ext>
              </a:extLst>
            </p:cNvPr>
            <p:cNvCxnSpPr>
              <a:stCxn id="9" idx="3"/>
              <a:endCxn id="13" idx="1"/>
            </p:cNvCxnSpPr>
            <p:nvPr/>
          </p:nvCxnSpPr>
          <p:spPr>
            <a:xfrm flipV="1">
              <a:off x="4114800" y="2193646"/>
              <a:ext cx="914400" cy="777237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559521B-F97A-480F-A937-901ADCDC0C45}"/>
                </a:ext>
              </a:extLst>
            </p:cNvPr>
            <p:cNvSpPr/>
            <p:nvPr/>
          </p:nvSpPr>
          <p:spPr>
            <a:xfrm>
              <a:off x="5029200" y="2970880"/>
              <a:ext cx="1371600" cy="640080"/>
            </a:xfrm>
            <a:prstGeom prst="rect">
              <a:avLst/>
            </a:prstGeom>
            <a:ln w="127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dispatch by token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01645579-CBD2-42BD-8BAF-810A8575F5F2}"/>
                </a:ext>
              </a:extLst>
            </p:cNvPr>
            <p:cNvCxnSpPr>
              <a:stCxn id="9" idx="3"/>
              <a:endCxn id="15" idx="1"/>
            </p:cNvCxnSpPr>
            <p:nvPr/>
          </p:nvCxnSpPr>
          <p:spPr>
            <a:xfrm>
              <a:off x="4114800" y="2970883"/>
              <a:ext cx="914400" cy="320037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61D67B-948E-4812-96A5-0E09B84AE931}"/>
                </a:ext>
              </a:extLst>
            </p:cNvPr>
            <p:cNvCxnSpPr>
              <a:stCxn id="13" idx="0"/>
              <a:endCxn id="12" idx="2"/>
            </p:cNvCxnSpPr>
            <p:nvPr/>
          </p:nvCxnSpPr>
          <p:spPr>
            <a:xfrm flipV="1">
              <a:off x="5715000" y="1599292"/>
              <a:ext cx="0" cy="274314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7A2BD5C-0D7F-4475-9977-1AE226BB09BC}"/>
                </a:ext>
              </a:extLst>
            </p:cNvPr>
            <p:cNvSpPr/>
            <p:nvPr/>
          </p:nvSpPr>
          <p:spPr>
            <a:xfrm>
              <a:off x="7315200" y="2057400"/>
              <a:ext cx="914400" cy="457200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fwd0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B61C014-C881-4B18-BEEB-C6EBAE355DF9}"/>
                </a:ext>
              </a:extLst>
            </p:cNvPr>
            <p:cNvSpPr/>
            <p:nvPr/>
          </p:nvSpPr>
          <p:spPr>
            <a:xfrm>
              <a:off x="7315200" y="2971800"/>
              <a:ext cx="914400" cy="457200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fwd1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7C83FCD-E8DD-43CB-9CEE-2A03DFD7723E}"/>
                </a:ext>
              </a:extLst>
            </p:cNvPr>
            <p:cNvCxnSpPr>
              <a:stCxn id="13" idx="3"/>
              <a:endCxn id="18" idx="1"/>
            </p:cNvCxnSpPr>
            <p:nvPr/>
          </p:nvCxnSpPr>
          <p:spPr>
            <a:xfrm>
              <a:off x="6400800" y="2193646"/>
              <a:ext cx="914400" cy="923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A3344B6-BB1C-4906-A1EA-E8E11906CD7F}"/>
                </a:ext>
              </a:extLst>
            </p:cNvPr>
            <p:cNvCxnSpPr>
              <a:stCxn id="13" idx="3"/>
              <a:endCxn id="19" idx="1"/>
            </p:cNvCxnSpPr>
            <p:nvPr/>
          </p:nvCxnSpPr>
          <p:spPr>
            <a:xfrm>
              <a:off x="6400800" y="2193646"/>
              <a:ext cx="914400" cy="1006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FF29E78-FBC4-44BE-A52D-4FDD74799B28}"/>
                </a:ext>
              </a:extLst>
            </p:cNvPr>
            <p:cNvCxnSpPr>
              <a:stCxn id="15" idx="3"/>
              <a:endCxn id="18" idx="1"/>
            </p:cNvCxnSpPr>
            <p:nvPr/>
          </p:nvCxnSpPr>
          <p:spPr>
            <a:xfrm flipV="1">
              <a:off x="6400800" y="2286000"/>
              <a:ext cx="914400" cy="100492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E94AA90-EBDD-44C4-89A2-19D7BE84ED1F}"/>
                </a:ext>
              </a:extLst>
            </p:cNvPr>
            <p:cNvCxnSpPr>
              <a:stCxn id="15" idx="3"/>
              <a:endCxn id="19" idx="1"/>
            </p:cNvCxnSpPr>
            <p:nvPr/>
          </p:nvCxnSpPr>
          <p:spPr>
            <a:xfrm flipV="1">
              <a:off x="6400800" y="3200400"/>
              <a:ext cx="914400" cy="9052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1055644-E4BD-47A2-A90E-50F186358C22}"/>
                </a:ext>
              </a:extLst>
            </p:cNvPr>
            <p:cNvSpPr txBox="1"/>
            <p:nvPr/>
          </p:nvSpPr>
          <p:spPr>
            <a:xfrm>
              <a:off x="4114800" y="1870491"/>
              <a:ext cx="908647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Interest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6A8D97-6C3D-46C9-8B8F-97440780289F}"/>
                </a:ext>
              </a:extLst>
            </p:cNvPr>
            <p:cNvSpPr txBox="1"/>
            <p:nvPr/>
          </p:nvSpPr>
          <p:spPr>
            <a:xfrm>
              <a:off x="3633451" y="3299686"/>
              <a:ext cx="1389996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Data or </a:t>
              </a:r>
              <a:r>
                <a:rPr lang="en-US" dirty="0" err="1"/>
                <a:t>Nack</a:t>
              </a:r>
              <a:endParaRPr lang="en-US" dirty="0"/>
            </a:p>
          </p:txBody>
        </p:sp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4DF35578-7995-4650-B72B-0A90E976587F}"/>
                </a:ext>
              </a:extLst>
            </p:cNvPr>
            <p:cNvSpPr/>
            <p:nvPr/>
          </p:nvSpPr>
          <p:spPr>
            <a:xfrm rot="5400000">
              <a:off x="554646" y="913492"/>
              <a:ext cx="914400" cy="1371600"/>
            </a:xfrm>
            <a:prstGeom prst="trapezoid">
              <a:avLst/>
            </a:prstGeom>
            <a:ln w="127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network interface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4D2CFFB-F636-42DF-9C75-33E842A9852E}"/>
                </a:ext>
              </a:extLst>
            </p:cNvPr>
            <p:cNvCxnSpPr>
              <a:stCxn id="26" idx="0"/>
              <a:endCxn id="7" idx="1"/>
            </p:cNvCxnSpPr>
            <p:nvPr/>
          </p:nvCxnSpPr>
          <p:spPr>
            <a:xfrm flipV="1">
              <a:off x="1697646" y="1599289"/>
              <a:ext cx="1045554" cy="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E4FC127E-8A13-4D96-A08E-8D126936F16B}"/>
                </a:ext>
              </a:extLst>
            </p:cNvPr>
            <p:cNvSpPr/>
            <p:nvPr/>
          </p:nvSpPr>
          <p:spPr>
            <a:xfrm rot="5400000">
              <a:off x="4477683" y="1607348"/>
              <a:ext cx="182880" cy="4572000"/>
            </a:xfrm>
            <a:prstGeom prst="rightBrac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vert270" wrap="none" lIns="731520" tIns="45720" rtlCol="0" anchor="ctr"/>
            <a:lstStyle/>
            <a:p>
              <a:pPr algn="ctr"/>
              <a:r>
                <a:rPr lang="en-US" dirty="0"/>
                <a:t>input stage</a:t>
              </a:r>
            </a:p>
          </p:txBody>
        </p:sp>
      </p:grpSp>
      <p:sp>
        <p:nvSpPr>
          <p:cNvPr id="30" name="Callout: Line 29">
            <a:extLst>
              <a:ext uri="{FF2B5EF4-FFF2-40B4-BE49-F238E27FC236}">
                <a16:creationId xmlns:a16="http://schemas.microsoft.com/office/drawing/2014/main" id="{00D87FFD-24D5-49B4-9D17-A3A8383AAAA9}"/>
              </a:ext>
            </a:extLst>
          </p:cNvPr>
          <p:cNvSpPr/>
          <p:nvPr/>
        </p:nvSpPr>
        <p:spPr>
          <a:xfrm>
            <a:off x="707046" y="2899082"/>
            <a:ext cx="2286000" cy="1097280"/>
          </a:xfrm>
          <a:prstGeom prst="borderCallout1">
            <a:avLst>
              <a:gd name="adj1" fmla="val 19727"/>
              <a:gd name="adj2" fmla="val 100532"/>
              <a:gd name="adj3" fmla="val -16722"/>
              <a:gd name="adj4" fmla="val 155609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Infeasible with RSS, but not every packet needs reassembly.</a:t>
            </a:r>
          </a:p>
        </p:txBody>
      </p:sp>
      <p:sp>
        <p:nvSpPr>
          <p:cNvPr id="32" name="Callout: Line 31">
            <a:extLst>
              <a:ext uri="{FF2B5EF4-FFF2-40B4-BE49-F238E27FC236}">
                <a16:creationId xmlns:a16="http://schemas.microsoft.com/office/drawing/2014/main" id="{20C047D7-E3E9-40FE-B3E5-E88B218488FE}"/>
              </a:ext>
            </a:extLst>
          </p:cNvPr>
          <p:cNvSpPr/>
          <p:nvPr/>
        </p:nvSpPr>
        <p:spPr>
          <a:xfrm>
            <a:off x="5693073" y="5082533"/>
            <a:ext cx="2743200" cy="731520"/>
          </a:xfrm>
          <a:prstGeom prst="borderCallout1">
            <a:avLst>
              <a:gd name="adj1" fmla="val -3715"/>
              <a:gd name="adj2" fmla="val 57624"/>
              <a:gd name="adj3" fmla="val -138558"/>
              <a:gd name="adj4" fmla="val 59184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Possible with RSS via "bytes at offset </a:t>
            </a:r>
            <a:r>
              <a:rPr lang="en-US" i="1" dirty="0"/>
              <a:t>I</a:t>
            </a:r>
            <a:r>
              <a:rPr lang="en-US" dirty="0"/>
              <a:t>" field.</a:t>
            </a:r>
          </a:p>
        </p:txBody>
      </p:sp>
      <p:sp>
        <p:nvSpPr>
          <p:cNvPr id="33" name="Callout: Line 32">
            <a:extLst>
              <a:ext uri="{FF2B5EF4-FFF2-40B4-BE49-F238E27FC236}">
                <a16:creationId xmlns:a16="http://schemas.microsoft.com/office/drawing/2014/main" id="{DB6EE1CA-978D-415A-BA9A-00B857975D8D}"/>
              </a:ext>
            </a:extLst>
          </p:cNvPr>
          <p:cNvSpPr/>
          <p:nvPr/>
        </p:nvSpPr>
        <p:spPr>
          <a:xfrm>
            <a:off x="8741754" y="1034204"/>
            <a:ext cx="3200400" cy="731520"/>
          </a:xfrm>
          <a:prstGeom prst="borderCallout1">
            <a:avLst>
              <a:gd name="adj1" fmla="val 103627"/>
              <a:gd name="adj2" fmla="val 4415"/>
              <a:gd name="adj3" fmla="val 186077"/>
              <a:gd name="adj4" fmla="val -24820"/>
            </a:avLst>
          </a:prstGeom>
          <a:ln w="127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Infeasible with RSS.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 has variable length.</a:t>
            </a:r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6911747E-3B68-451E-89E0-182C9DA99C0F}"/>
              </a:ext>
            </a:extLst>
          </p:cNvPr>
          <p:cNvSpPr/>
          <p:nvPr/>
        </p:nvSpPr>
        <p:spPr>
          <a:xfrm>
            <a:off x="7739043" y="2027565"/>
            <a:ext cx="640080" cy="640080"/>
          </a:xfrm>
          <a:prstGeom prst="mathMultiply">
            <a:avLst/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2966332D-9BCE-43DB-98D9-388A4EDAC8FD}"/>
              </a:ext>
            </a:extLst>
          </p:cNvPr>
          <p:cNvSpPr/>
          <p:nvPr/>
        </p:nvSpPr>
        <p:spPr>
          <a:xfrm>
            <a:off x="3637467" y="2466877"/>
            <a:ext cx="640080" cy="640080"/>
          </a:xfrm>
          <a:prstGeom prst="mathMultiply">
            <a:avLst/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-Shape 5">
            <a:extLst>
              <a:ext uri="{FF2B5EF4-FFF2-40B4-BE49-F238E27FC236}">
                <a16:creationId xmlns:a16="http://schemas.microsoft.com/office/drawing/2014/main" id="{AA5984CA-017E-4567-BCAC-8F34645C1048}"/>
              </a:ext>
            </a:extLst>
          </p:cNvPr>
          <p:cNvSpPr/>
          <p:nvPr/>
        </p:nvSpPr>
        <p:spPr>
          <a:xfrm rot="18000000">
            <a:off x="7276953" y="3828082"/>
            <a:ext cx="640080" cy="457200"/>
          </a:xfrm>
          <a:prstGeom prst="corner">
            <a:avLst>
              <a:gd name="adj1" fmla="val 37516"/>
              <a:gd name="adj2" fmla="val 32474"/>
            </a:avLst>
          </a:prstGeom>
          <a:solidFill>
            <a:srgbClr val="00B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9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3" grpId="0" animBg="1"/>
      <p:bldP spid="2" grpId="0" animBg="1"/>
      <p:bldP spid="34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B93492-2D6B-482A-ACD8-304F2946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NIC Understand Names?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6D2367-03E8-401C-8A99-45819C10C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3437965"/>
          </a:xfrm>
        </p:spPr>
        <p:txBody>
          <a:bodyPr/>
          <a:lstStyle/>
          <a:p>
            <a:r>
              <a:rPr lang="en-US" dirty="0"/>
              <a:t>"NDN-NIC: Name-based Filtering on Network Interface Card" (ICN'16)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if 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BloomFilter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XorHash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) { accept(pkt); }</a:t>
            </a:r>
            <a:b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else { drop(pkt); }</a:t>
            </a:r>
          </a:p>
          <a:p>
            <a:pPr lvl="1"/>
            <a:r>
              <a:rPr lang="en-US" dirty="0"/>
              <a:t>Python simulation.</a:t>
            </a:r>
          </a:p>
          <a:p>
            <a:r>
              <a:rPr lang="en-US" dirty="0"/>
              <a:t>NDN-DPDK Interest dispatching: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dispatch(pkt,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NDT[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SipHash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prefix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].queue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/>
              <a:t>We need real hardware implementation.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41B54-D9D3-4AB4-874C-D1AF1DE5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0F9B2D-C109-4466-B378-FB723C22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8" y="4615471"/>
            <a:ext cx="26258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AFB40B3-71D8-4646-9426-9FDC2AC4EA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4" t="13079" r="7575" b="16702"/>
          <a:stretch/>
        </p:blipFill>
        <p:spPr bwMode="auto">
          <a:xfrm>
            <a:off x="3863797" y="4650945"/>
            <a:ext cx="1579297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troduction to FPGA Design for Embedded Systems | Coursera">
            <a:extLst>
              <a:ext uri="{FF2B5EF4-FFF2-40B4-BE49-F238E27FC236}">
                <a16:creationId xmlns:a16="http://schemas.microsoft.com/office/drawing/2014/main" id="{CE924709-4779-4C01-9F06-D2C8C41A0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882" y="4615471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265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7FD6D0-5175-4E85-A493-34EC1A04E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Opportunities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720104-2EFE-4583-A5A0-AAE74DB57D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Hardware implementation:</a:t>
            </a:r>
          </a:p>
          <a:p>
            <a:pPr lvl="1"/>
            <a:r>
              <a:rPr lang="en-US" dirty="0" err="1"/>
              <a:t>eBPF</a:t>
            </a:r>
            <a:endParaRPr lang="en-US" dirty="0"/>
          </a:p>
          <a:p>
            <a:pPr lvl="1"/>
            <a:r>
              <a:rPr lang="en-US" dirty="0"/>
              <a:t>P4</a:t>
            </a:r>
          </a:p>
          <a:p>
            <a:pPr lvl="1"/>
            <a:r>
              <a:rPr lang="en-US" dirty="0"/>
              <a:t>FPGA</a:t>
            </a:r>
          </a:p>
          <a:p>
            <a:endParaRPr lang="en-US" dirty="0"/>
          </a:p>
          <a:p>
            <a:r>
              <a:rPr lang="en-US" dirty="0"/>
              <a:t>Algorithm modeling:</a:t>
            </a:r>
          </a:p>
          <a:p>
            <a:pPr lvl="1"/>
            <a:r>
              <a:rPr lang="en-US" dirty="0"/>
              <a:t>Congestion control.</a:t>
            </a:r>
          </a:p>
          <a:p>
            <a:pPr lvl="1"/>
            <a:r>
              <a:rPr lang="en-US" dirty="0"/>
              <a:t>Disk-based caching policies.</a:t>
            </a:r>
          </a:p>
          <a:p>
            <a:endParaRPr lang="en-US" dirty="0"/>
          </a:p>
          <a:p>
            <a:r>
              <a:rPr lang="en-US" dirty="0"/>
              <a:t>Real traffic trace for evaluation.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A1196D8-4348-4E29-A283-00FEF8C0CB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Application use case:</a:t>
            </a:r>
          </a:p>
          <a:p>
            <a:pPr lvl="1"/>
            <a:r>
              <a:rPr lang="en-US" dirty="0"/>
              <a:t>Data intensive science</a:t>
            </a:r>
          </a:p>
          <a:p>
            <a:pPr lvl="1"/>
            <a:r>
              <a:rPr lang="en-US" dirty="0"/>
              <a:t>Live video streaming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Library integration: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41D0C-136D-4C52-8EC2-23CE6AA7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F497150-3EAD-4450-9ABB-BBF4CA47EA16}"/>
              </a:ext>
            </a:extLst>
          </p:cNvPr>
          <p:cNvGrpSpPr/>
          <p:nvPr/>
        </p:nvGrpSpPr>
        <p:grpSpPr>
          <a:xfrm>
            <a:off x="6173708" y="4369595"/>
            <a:ext cx="5291133" cy="1193005"/>
            <a:chOff x="6214959" y="5163027"/>
            <a:chExt cx="5291133" cy="1193005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780CFBF1-0D0F-438E-B9B4-0B95F04F1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4959" y="5165407"/>
              <a:ext cx="1190625" cy="1190625"/>
            </a:xfrm>
            <a:prstGeom prst="rect">
              <a:avLst/>
            </a:prstGeom>
          </p:spPr>
        </p:pic>
        <p:pic>
          <p:nvPicPr>
            <p:cNvPr id="9" name="Picture 8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965761B9-4BE3-401C-AD99-9667CBAEE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1795" y="5165407"/>
              <a:ext cx="1190625" cy="1190625"/>
            </a:xfrm>
            <a:prstGeom prst="rect">
              <a:avLst/>
            </a:prstGeom>
          </p:spPr>
        </p:pic>
        <p:pic>
          <p:nvPicPr>
            <p:cNvPr id="10" name="Picture 9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1D1E4CA7-9141-4CE7-835C-A26A17198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8631" y="5165407"/>
              <a:ext cx="1190625" cy="1190625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7303906-D00E-49DE-9CD9-88BB59FCE1EC}"/>
                </a:ext>
              </a:extLst>
            </p:cNvPr>
            <p:cNvSpPr/>
            <p:nvPr/>
          </p:nvSpPr>
          <p:spPr>
            <a:xfrm>
              <a:off x="10315467" y="5163027"/>
              <a:ext cx="1190625" cy="1188720"/>
            </a:xfrm>
            <a:prstGeom prst="roundRect">
              <a:avLst>
                <a:gd name="adj" fmla="val 9302"/>
              </a:avLst>
            </a:prstGeom>
            <a:ln w="19050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your library?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3DC5D22-58AB-4052-8F47-71EE82596927}"/>
              </a:ext>
            </a:extLst>
          </p:cNvPr>
          <p:cNvGrpSpPr/>
          <p:nvPr/>
        </p:nvGrpSpPr>
        <p:grpSpPr>
          <a:xfrm>
            <a:off x="10274216" y="1116011"/>
            <a:ext cx="1190625" cy="2523267"/>
            <a:chOff x="10274216" y="1295398"/>
            <a:chExt cx="1190625" cy="25232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F679F4A-4387-4B16-B698-3D0AF6EE401F}"/>
                </a:ext>
              </a:extLst>
            </p:cNvPr>
            <p:cNvSpPr/>
            <p:nvPr/>
          </p:nvSpPr>
          <p:spPr>
            <a:xfrm>
              <a:off x="10274216" y="3087145"/>
              <a:ext cx="1190625" cy="731520"/>
            </a:xfrm>
            <a:prstGeom prst="roundRect">
              <a:avLst>
                <a:gd name="adj" fmla="val 9302"/>
              </a:avLst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your app?</a:t>
              </a:r>
            </a:p>
          </p:txBody>
        </p:sp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974FF3A1-A0BE-4B0F-82CF-053172AC2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76121" y="1295398"/>
              <a:ext cx="1188720" cy="1612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2328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08044-B9B8-4AEB-A787-EFEBCC35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NDN-DPDK Codebase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C1252-F2C1-429F-9A96-41EEC63A5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99"/>
            <a:ext cx="10515600" cy="2330423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https://github.com/usnistgov/ndn-dpdk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Forwarder</a:t>
            </a:r>
          </a:p>
          <a:p>
            <a:pPr lvl="1"/>
            <a:r>
              <a:rPr lang="en-US" dirty="0"/>
              <a:t>Traffic Generator</a:t>
            </a:r>
          </a:p>
          <a:p>
            <a:pPr lvl="1"/>
            <a:r>
              <a:rPr lang="en-US" dirty="0" err="1"/>
              <a:t>GraphQL</a:t>
            </a:r>
            <a:r>
              <a:rPr lang="en-US" dirty="0"/>
              <a:t>-based management tools</a:t>
            </a:r>
          </a:p>
          <a:p>
            <a:pPr lvl="1"/>
            <a:r>
              <a:rPr lang="en-US" dirty="0" err="1"/>
              <a:t>NDNgo</a:t>
            </a:r>
            <a:r>
              <a:rPr lang="en-US" dirty="0"/>
              <a:t> library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76B94A-1BF9-4E10-9DCF-A065AB12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17A87598-670D-4792-91DE-A37771F5A6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4185149"/>
              </p:ext>
            </p:extLst>
          </p:nvPr>
        </p:nvGraphicFramePr>
        <p:xfrm>
          <a:off x="838198" y="4991086"/>
          <a:ext cx="10515599" cy="1365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87A3C26B-4096-4C65-B3F0-CB29117369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3076476"/>
              </p:ext>
            </p:extLst>
          </p:nvPr>
        </p:nvGraphicFramePr>
        <p:xfrm>
          <a:off x="838198" y="3625822"/>
          <a:ext cx="10515599" cy="1365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6DF36517-856A-4744-AD0A-34B111F0F3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887" y="159492"/>
            <a:ext cx="1190625" cy="1190625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42DE37DF-A302-40D8-ABE1-70E7256690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6536" y="159492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25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D4D7D0-B16C-44CC-B20F-AC11E62A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Expanded Platform Support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A3DEA-E282-4CBD-9711-10BBF65F00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Operating systems: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Ubuntu 18.04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/>
                </a:solidFill>
              </a:rPr>
              <a:t>Debian 10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CentOS 8</a:t>
            </a:r>
          </a:p>
          <a:p>
            <a:r>
              <a:rPr lang="en-US" dirty="0"/>
              <a:t>Virtualization and containers: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/>
                </a:solidFill>
              </a:rPr>
              <a:t>VirtualBox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Docker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KVM</a:t>
            </a:r>
          </a:p>
          <a:p>
            <a:r>
              <a:rPr lang="en-US" dirty="0"/>
              <a:t>Ethernet adapters: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Mellanox ConnectX-5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accent1"/>
                </a:solidFill>
              </a:rPr>
              <a:t>Intel i350 and Intel X710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other NICs via XDP driver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5D0891-29E6-44E8-99D2-71AFD4A15A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Network transports: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Ethernet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/>
                </a:solidFill>
              </a:rPr>
              <a:t>Ethernet with VLAN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VXLAN tunnel (UDP)</a:t>
            </a:r>
          </a:p>
          <a:p>
            <a:r>
              <a:rPr lang="en-US" dirty="0"/>
              <a:t>Local application support: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/>
                </a:solidFill>
              </a:rPr>
              <a:t>shared memory transport (</a:t>
            </a:r>
            <a:r>
              <a:rPr lang="en-US" dirty="0" err="1">
                <a:solidFill>
                  <a:schemeClr val="accent1"/>
                </a:solidFill>
              </a:rPr>
              <a:t>memif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accent1"/>
                </a:solidFill>
              </a:rPr>
              <a:t>NDNgo</a:t>
            </a:r>
            <a:r>
              <a:rPr lang="en-US" dirty="0">
                <a:solidFill>
                  <a:schemeClr val="accent1"/>
                </a:solidFill>
              </a:rPr>
              <a:t> application library</a:t>
            </a:r>
          </a:p>
          <a:p>
            <a:r>
              <a:rPr lang="en-US" dirty="0"/>
              <a:t>Experiment platforms: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accent1"/>
                </a:solidFill>
              </a:rPr>
              <a:t>Run NDN-DPDK on a laptop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(e.g. 4 cores, 8GB RAM)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Deploy on the NDN testbed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FABRIC testbed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322A0-D5C4-4F10-BF7C-F08D883E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79C8C1-4469-4595-A65C-DE86C71F00A4}"/>
              </a:ext>
            </a:extLst>
          </p:cNvPr>
          <p:cNvSpPr txBox="1"/>
          <p:nvPr/>
        </p:nvSpPr>
        <p:spPr>
          <a:xfrm>
            <a:off x="9982200" y="95071"/>
            <a:ext cx="2042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alibri" panose="020F0502020204030204" pitchFamily="34" charset="0"/>
              <a:buChar char=" "/>
            </a:pPr>
            <a:r>
              <a:rPr lang="en-US" dirty="0">
                <a:solidFill>
                  <a:schemeClr val="accent1"/>
                </a:solidFill>
              </a:rPr>
              <a:t>new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regularly tested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known to work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1005767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6B3B8D-1F0D-4F20-A898-5977AD4E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NDN-DPDK on FABRIC Testbed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4B4F5C8-89D5-4CFF-A1BC-70807DFAA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NDN-DPDK Experiment Profile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Launch a network of NDN-DPDK forwarders and traffic generators across multiple locations.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can customize:</a:t>
            </a:r>
          </a:p>
          <a:p>
            <a:pPr lvl="1"/>
            <a:r>
              <a:rPr lang="en-US" dirty="0"/>
              <a:t>Applications.</a:t>
            </a:r>
          </a:p>
          <a:p>
            <a:pPr lvl="1"/>
            <a:r>
              <a:rPr lang="en-US" dirty="0"/>
              <a:t>Routing protocols and forwarding strategies.</a:t>
            </a:r>
          </a:p>
          <a:p>
            <a:pPr lvl="1"/>
            <a:r>
              <a:rPr lang="en-US" dirty="0"/>
              <a:t>Caching algorithms.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Collect measurements.</a:t>
            </a:r>
          </a:p>
          <a:p>
            <a:pPr lvl="1"/>
            <a:r>
              <a:rPr lang="en-US" dirty="0"/>
              <a:t>Packet timing and statistics.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DC145-2661-47DD-BBE3-89F9298F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BA680-F7F5-49F6-B220-C4D9139ACBB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13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08044-B9B8-4AEB-A787-EFEBCC35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C1252-F2C1-429F-9A96-41EEC63A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attend NDN-DPDK presentation at ACM ICN 2020 conference.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76B94A-1BF9-4E10-9DCF-A065AB12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D1D2-AD40-42AA-A47F-9DBC53E1C09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9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_xmlsignatures/_rels/origin.sigs.rels><?xml version="1.0" encoding="UTF-8" standalone="yes"?>
<Relationships xmlns="http://schemas.openxmlformats.org/package/2006/relationships"><Relationship Id="rId1" Type="http://schemas.openxmlformats.org/package/2006/relationships/digital-signature/signature" Target="sig1.xml"/></Relationships>
</file>

<file path=_xmlsignatures/sig1.xml><?xml version="1.0" encoding="utf-8"?>
<Signature xmlns="http://www.w3.org/2000/09/xmldsig#" Id="idPackageSignature">
  <SignedInfo>
    <CanonicalizationMethod Algorithm="http://www.w3.org/TR/2001/REC-xml-c14n-20010315"/>
    <SignatureMethod Algorithm="http://www.w3.org/2001/04/xmldsig-more#rsa-sha256"/>
    <Reference Type="http://www.w3.org/2000/09/xmldsig#Object" URI="#idPackageObject">
      <DigestMethod Algorithm="http://www.w3.org/2001/04/xmlenc#sha256"/>
      <DigestValue>avxBFBbacnwh9KqrTt+LKrzOFGvbP3l8ax9GaxYfsAM=</DigestValue>
    </Reference>
    <Reference Type="http://www.w3.org/2000/09/xmldsig#Object" URI="#idOfficeObject">
      <DigestMethod Algorithm="http://www.w3.org/2001/04/xmlenc#sha256"/>
      <DigestValue>db8QM7ofnECghaOk0f70CjgM9htQZhMNPV7bQDHirp8=</DigestValue>
    </Reference>
    <Reference Type="http://uri.etsi.org/01903#SignedProperties" URI="#idSignedProperties">
      <Transforms>
        <Transform Algorithm="http://www.w3.org/TR/2001/REC-xml-c14n-20010315"/>
      </Transforms>
      <DigestMethod Algorithm="http://www.w3.org/2001/04/xmlenc#sha256"/>
      <DigestValue>j+OZ4iugiC6q3qRSdsMSya+U5HJszvasZsLpcb2dWl4=</DigestValue>
    </Reference>
  </SignedInfo>
  <SignatureValue>iWUrlIp+5x5uoTggz1MqGXVJqV/9EAPxaA/KOuIr9PpHebKUxYm8zrXcZE5o1+Wn+99ebqr4Uc+8
s6+zY5Ww96wfW7sIfNrTZ4PCKJvFWMw9lrcOWLZw1ATAXd7zleDKRpHVeelthTmipBoXBTRu456Q
rdSpu+GjSfL+Bcqpyrg3a9pDM/EfQe5gq6DreAdY9bV3RwU2ZUhsOiHdQZh4s1d7tOMhjyF+3bTt
pQ+E6a8ASQbQHmVYt8fgGDZnOcvfEIB+g1IXXfP3DCrk2JWXaJBv1PDRNRHTWmZlt135Fb0H3P7a
ss+9WXgptzScA4T9YVUCRHEPQKNGcS/CLGMsxA==</SignatureValue>
  <KeyInfo>
    <X509Data>
      <X509Certificate>MIIHoDCCBoigAwIBAgIEWx/5XzANBgkqhkiG9w0BAQsFADBxMQswCQYDVQQGEwJVUzEQMA4GA1UEChMHRW50cnVzdDEiMCAGA1UECxMZQ2VydGlmaWNhdGlvbiBBdXRob3JpdGllczEsMCoGA1UECxMjRW50cnVzdCBORkkgTWVkaXVtIEFzc3VyYW5jZSBTU1AgQ0EwHhcNMTkxMDI0MTY1NjAyWhcNMjExMDMxMTcyMzA2WjCB0jELMAkGA1UEBhMCVVMxGDAWBgNVBAoTD1UuUy4gR292ZXJubWVudDEOMAwGA1UECxMFUElWLUkxHzAdBgNVBAsTFkRlcGFydG1lbnQgb2YgQ29tbWVyY2UxNzA1BgNVBAsTLk5hdGlvbmFsIEluc3RpdHV0ZSBvZiBTdGFuZGFyZHMgYW5kIFRlY2hub2xvZ3kxPzAdBgoJkiaJk/IsZAEBEw9JMTMwMDEwMDM1MzE1MzAwHgYDVQQDExdKVU5YSUFPIFNISSAoQWZmaWxpYXRlKTCCASIwDQYJKoZIhvcNAQEBBQADggEPADCCAQoCggEBALh+ifr8rerqY8dNtb+er9SptVPzfNZRUVVd6dixyXMYtCX5IuC7c6YdLuIdj2OMmaeSZS2W0tlat2ei6a5bxFhfGWdQbKm+h6C0reMG/rxPzoVJh0IrPbM7tIthgKSjQYgK2HJRLsG/751d9xulMLcwBkBeuS1KcwY+aoYY8rdWbYxbctfEfyHor86aXsvgS6apgDzkLNq8rCgzHDj8g+JcNl2HwHu6R2PFz++9+NnQVKiGk5JfcTZSO4DxKxWvRj+2XPMdfecZdEdb9bywoS+ei2NsdlE4zHvrlR6C3xZ6xqjMlbtIXYu/P0EwxlLOBAc0LYJuPE35OYBnL3YIncsCAwEAAaOCA9wwggPYMA4GA1UdDwEB/wQEAwIGwDAaBgNVHSAEEzARMA8GDWCGSAGG+muBSAMKBwYwggFoBggrBgEFBQcBAQSCAVowggFWMFoGCCsGAQUFBzAChk5odHRwOi8vbmZpbWVkaXVtc3Nwd2ViLm1hbmFnZWQuZW50cnVzdC5jb20vQUlBL0NlcnRzSXNzdWVkVG9ORklNZWRpdW1TU1BDQS5wN2MwgccGCCsGAQUFBzAChoG6bGRhcDovL25maW1lZGl1bXNzcGRpci5tYW5hZ2VkLmVudHJ1c3QuY29tL291PUVudHJ1c3QlMjBORkklMjBNZWRpdW0lMjBBc3N1cmFuY2UlMjBTU1AlMjBDQSxvdT1DZXJ0aWZpY2F0aW9uJTIwQXV0aG9yaXRpZXMsbz1FbnRydXN0LGM9VVM/Y0FDZXJ0aWZpY2F0ZTtiaW5hcnksY3Jvc3NDZXJ0aWZpY2F0ZVBhaXI7YmluYXJ5MC4GCCsGAQUFBzABhiJodHRwOi8vbmZpb2NzcC5tYW5hZ2VkLmVudHJ1c3QuY29tME4GA1UdEQRHMEWBFGp1bnhpYW8uc2hpQG5pc3QuZ292hi11cm46dXVpZDo5MmMxZmFkZi0yYzRmLTk3NDUtYTJiOS1kZTc1NTIyZDUxNWMwggGsBgNVHR8EggGjMIIBnzCCAQqgggEGoIIBAoZDaHR0cDovL25maW1lZGl1bXNzcHdlYi5tYW5hZ2VkLmVudHJ1c3QuY29tL0NSTHMvTkZJTUVESVVNU1NQQ0ExLmNybIaBumxkYXA6Ly9uZmltZWRpdW1zc3BkaXIubWFuYWdlZC5lbnRydXN0LmNvbS9jbj1XaW5Db21iaW5lZDEsb3U9RW50cnVzdCUyME5GSSUyME1lZGl1bSUyMEFzc3VyYW5jZSUyMFNTUCUyMENBLG91PUNlcnRpZmljYXRpb24lMjBBdXRob3JpdGllcyxvPUVudHJ1c3QsYz1VUz9jZXJ0aWZpY2F0ZVJldm9jYXRpb25MaXN0O2JpbmFyeTCBjqCBi6CBiKSBhTCBgjELMAkGA1UEBhMCVVMxEDAOBgNVBAoTB0VudHJ1c3QxIjAgBgNVBAsTGUNlcnRpZmljYXRpb24gQXV0aG9yaXRpZXMxLDAqBgNVBAsTI0VudHJ1c3QgTkZJIE1lZGl1bSBBc3N1cmFuY2UgU1NQIENBMQ8wDQYDVQQDEwZDUkw3MDQwHwYDVR0jBBgwFoAUZvklmK7L++GMAIQZ1IX/k1bq1qYwHQYDVR0OBBYEFEoCwu4KFQ/W7FLkwyAB81BZ+felMA0GCSqGSIb3DQEBCwUAA4IBAQA1nZ7ZP+Pk9MoDLEtmAMLeoMrsAokyMz8qGBodUGUIznYg0wXPsGfNGFT9ltzI7raf3S12yp7rwWhQC7h6dlyfTsIV6duc7nYnfYN4CF8vqsa8HK8fcJeB/mq18eb5EOY0gY1mLrL6IQKgnFcB0tEXiMakltndBfKXF11o1+f2DtvezX/yFoUopgP6phWOyg/rrdVgsZfcYkC6+cIr4enY+NZspsKUv8XTWQigxlhXg5FzSEclPSuIO05UKe2fXZny+cd7RG/imQspNF+ngY9ClRJwEb8UnjAkaANCr0/G9XSznXX32TKK4CVoW4W4n0XS/SEQ0gkOynNDFik4IypJ</X509Certificate>
    </X509Data>
  </KeyInfo>
  <Object Id="idPackageObject">
    <Manifest>
      <Reference URI="/_rels/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ZA0yc/xO3JTsFCHnkGRYT0tE9b7806O9EDnxF1WjyYo=</DigestValue>
      </Reference>
      <Reference URI="/ppt/_rels/presentation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17"/>
            <mdssi:RelationshipReference xmlns:mdssi="http://schemas.openxmlformats.org/package/2006/digital-signature" SourceId="rId25"/>
            <mdssi:RelationshipReference xmlns:mdssi="http://schemas.openxmlformats.org/package/2006/digital-signature" SourceId="rId2"/>
            <mdssi:RelationshipReference xmlns:mdssi="http://schemas.openxmlformats.org/package/2006/digital-signature" SourceId="rId16"/>
            <mdssi:RelationshipReference xmlns:mdssi="http://schemas.openxmlformats.org/package/2006/digital-signature" SourceId="rId20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24"/>
            <mdssi:RelationshipReference xmlns:mdssi="http://schemas.openxmlformats.org/package/2006/digital-signature" SourceId="rId5"/>
            <mdssi:RelationshipReference xmlns:mdssi="http://schemas.openxmlformats.org/package/2006/digital-signature" SourceId="rId15"/>
            <mdssi:RelationshipReference xmlns:mdssi="http://schemas.openxmlformats.org/package/2006/digital-signature" SourceId="rId23"/>
            <mdssi:RelationshipReference xmlns:mdssi="http://schemas.openxmlformats.org/package/2006/digital-signature" SourceId="rId10"/>
            <mdssi:RelationshipReference xmlns:mdssi="http://schemas.openxmlformats.org/package/2006/digital-signature" SourceId="rId19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14"/>
            <mdssi:RelationshipReference xmlns:mdssi="http://schemas.openxmlformats.org/package/2006/digital-signature" SourceId="rId22"/>
            <mdssi:RelationshipReference xmlns:mdssi="http://schemas.openxmlformats.org/package/2006/digital-signature" SourceId="rId8"/>
            <mdssi:RelationshipReference xmlns:mdssi="http://schemas.openxmlformats.org/package/2006/digital-signature" SourceId="rId13"/>
            <mdssi:RelationshipReference xmlns:mdssi="http://schemas.openxmlformats.org/package/2006/digital-signature" SourceId="rId18"/>
            <mdssi:RelationshipReference xmlns:mdssi="http://schemas.openxmlformats.org/package/2006/digital-signature" SourceId="rId3"/>
            <mdssi:RelationshipReference xmlns:mdssi="http://schemas.openxmlformats.org/package/2006/digital-signature" SourceId="rId21"/>
          </Transform>
          <Transform Algorithm="http://www.w3.org/TR/2001/REC-xml-c14n-20010315"/>
        </Transforms>
        <DigestMethod Algorithm="http://www.w3.org/2001/04/xmlenc#sha256"/>
        <DigestValue>T0AMQeyeAZ7oawNbnab3Cc3HTZSQ+MOtDGkG/Zk9K9E=</DigestValue>
      </Reference>
      <Reference URI="/ppt/charts/_rels/char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1yPBjvaVvxLPN8dZkz3VceXEp3Rd1LrcWOlx674KoQg=</DigestValue>
      </Reference>
      <Reference URI="/ppt/charts/_rels/chart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qbTqbbQvUU3lZ6pF6JNmz2VFkcOwe8RH2hIMHCqipYE=</DigestValue>
      </Reference>
      <Reference URI="/ppt/charts/chart1.xml?ContentType=application/vnd.openxmlformats-officedocument.drawingml.chart+xml">
        <DigestMethod Algorithm="http://www.w3.org/2001/04/xmlenc#sha256"/>
        <DigestValue>MK/w6jUpzE/CvmCP/NL1FFPLaDRRor2oAtfGUvWATiI=</DigestValue>
      </Reference>
      <Reference URI="/ppt/charts/chart2.xml?ContentType=application/vnd.openxmlformats-officedocument.drawingml.chart+xml">
        <DigestMethod Algorithm="http://www.w3.org/2001/04/xmlenc#sha256"/>
        <DigestValue>Ku3/mv4HZZ6QCPs3L/xjnajleRZa2FfzCYnG5vl/G6c=</DigestValue>
      </Reference>
      <Reference URI="/ppt/charts/colors1.xml?ContentType=application/vnd.ms-office.chartcolorstyle+xml">
        <DigestMethod Algorithm="http://www.w3.org/2001/04/xmlenc#sha256"/>
        <DigestValue>BP77p9MYU/oKpjblyLjjCPwxJqm0ih9EkJR//5HVqS8=</DigestValue>
      </Reference>
      <Reference URI="/ppt/charts/colors2.xml?ContentType=application/vnd.ms-office.chartcolorstyle+xml">
        <DigestMethod Algorithm="http://www.w3.org/2001/04/xmlenc#sha256"/>
        <DigestValue>BP77p9MYU/oKpjblyLjjCPwxJqm0ih9EkJR//5HVqS8=</DigestValue>
      </Reference>
      <Reference URI="/ppt/charts/style1.xml?ContentType=application/vnd.ms-office.chartstyle+xml">
        <DigestMethod Algorithm="http://www.w3.org/2001/04/xmlenc#sha256"/>
        <DigestValue>SI+e4hGl2cyz0MuiTR6vX/4FpbUIW1/hL5hV9XDqknw=</DigestValue>
      </Reference>
      <Reference URI="/ppt/charts/style2.xml?ContentType=application/vnd.ms-office.chartstyle+xml">
        <DigestMethod Algorithm="http://www.w3.org/2001/04/xmlenc#sha256"/>
        <DigestValue>SI+e4hGl2cyz0MuiTR6vX/4FpbUIW1/hL5hV9XDqknw=</DigestValue>
      </Reference>
      <Reference URI="/ppt/embeddings/Microsoft_Excel_Worksheet.xlsx?ContentType=application/vnd.openxmlformats-officedocument.spreadsheetml.sheet">
        <DigestMethod Algorithm="http://www.w3.org/2001/04/xmlenc#sha256"/>
        <DigestValue>i+nhqoN0YinzHhovUS/5q7yBwpbEAiPDo2qmb3a3SfA=</DigestValue>
      </Reference>
      <Reference URI="/ppt/embeddings/Microsoft_Excel_Worksheet1.xlsx?ContentType=application/vnd.openxmlformats-officedocument.spreadsheetml.sheet">
        <DigestMethod Algorithm="http://www.w3.org/2001/04/xmlenc#sha256"/>
        <DigestValue>/3F5olrknTbTJUO9BmDT2zWdrrd5aoFUL6FhV0sFgFM=</DigestValue>
      </Reference>
      <Reference URI="/ppt/media/image1.jpg?ContentType=image/jpeg">
        <DigestMethod Algorithm="http://www.w3.org/2001/04/xmlenc#sha256"/>
        <DigestValue>UK/kQcjXxRyMoiX6bnXccTAMbKpuxpO6Qr7CdH+ds44=</DigestValue>
      </Reference>
      <Reference URI="/ppt/media/image10.png?ContentType=image/png">
        <DigestMethod Algorithm="http://www.w3.org/2001/04/xmlenc#sha256"/>
        <DigestValue>OzelFJccSORWUmmDEWDbvnD9q0LcoXC8EF8OVVyfWs8=</DigestValue>
      </Reference>
      <Reference URI="/ppt/media/image11.jpeg?ContentType=image/jpeg">
        <DigestMethod Algorithm="http://www.w3.org/2001/04/xmlenc#sha256"/>
        <DigestValue>Dhyz5IFpXrR83jJQ1xyp9/w14jB0Zc8DYSNp4Xk1Qvk=</DigestValue>
      </Reference>
      <Reference URI="/ppt/media/image12.png?ContentType=image/png">
        <DigestMethod Algorithm="http://www.w3.org/2001/04/xmlenc#sha256"/>
        <DigestValue>PmzCerTr2DGopeUPu9oyF/GOwvDHKKRZ2d4tRfnWrog=</DigestValue>
      </Reference>
      <Reference URI="/ppt/media/image13.png?ContentType=image/png">
        <DigestMethod Algorithm="http://www.w3.org/2001/04/xmlenc#sha256"/>
        <DigestValue>6V9jPw9IsFWI63PWKlxSVPYwT2TFNh4HAWdl5WF9XM4=</DigestValue>
      </Reference>
      <Reference URI="/ppt/media/image14.png?ContentType=image/png">
        <DigestMethod Algorithm="http://www.w3.org/2001/04/xmlenc#sha256"/>
        <DigestValue>w73xhatrq44EntEbpNjAmF0BXNS4Ijvhq5xgyBQ8ZAY=</DigestValue>
      </Reference>
      <Reference URI="/ppt/media/image15.png?ContentType=image/png">
        <DigestMethod Algorithm="http://www.w3.org/2001/04/xmlenc#sha256"/>
        <DigestValue>vNmEIpRIxteXYoEcrW/BD0NiLv8yo8XVZgqeajiY/gs=</DigestValue>
      </Reference>
      <Reference URI="/ppt/media/image2.jpg?ContentType=image/jpeg">
        <DigestMethod Algorithm="http://www.w3.org/2001/04/xmlenc#sha256"/>
        <DigestValue>XFcD/gAKPoptT5rIOXFIAsgX5VhvNinz01riZdyO+rM=</DigestValue>
      </Reference>
      <Reference URI="/ppt/media/image3.png?ContentType=image/png">
        <DigestMethod Algorithm="http://www.w3.org/2001/04/xmlenc#sha256"/>
        <DigestValue>XvDMqxgFXVBO7e9ZxOE3jBGu1N2FK25cRrvZq/O5xfs=</DigestValue>
      </Reference>
      <Reference URI="/ppt/media/image4.png?ContentType=image/png">
        <DigestMethod Algorithm="http://www.w3.org/2001/04/xmlenc#sha256"/>
        <DigestValue>8kKizIq2R3UIUpw1DV1JkJ3Y0z7IDGhOasBpkJYXXM0=</DigestValue>
      </Reference>
      <Reference URI="/ppt/media/image5.png?ContentType=image/png">
        <DigestMethod Algorithm="http://www.w3.org/2001/04/xmlenc#sha256"/>
        <DigestValue>N+M1wQuv9dSSO9O0FSTfiJjPlGrj8uIlzIn3Vl9YKyA=</DigestValue>
      </Reference>
      <Reference URI="/ppt/media/image6.png?ContentType=image/png">
        <DigestMethod Algorithm="http://www.w3.org/2001/04/xmlenc#sha256"/>
        <DigestValue>hwq4skrzsKEatAx41vGvssJ+EFhCJlVCty6IewMA/do=</DigestValue>
      </Reference>
      <Reference URI="/ppt/media/image7.png?ContentType=image/png">
        <DigestMethod Algorithm="http://www.w3.org/2001/04/xmlenc#sha256"/>
        <DigestValue>IDV3twmyV+YLc7WAHikIyKF45nOcwwePZNqsmiJqBTc=</DigestValue>
      </Reference>
      <Reference URI="/ppt/media/image8.png?ContentType=image/png">
        <DigestMethod Algorithm="http://www.w3.org/2001/04/xmlenc#sha256"/>
        <DigestValue>pnoVFt0fuO2QP+E10erOzWvnqBLtedE1A4/Cva6lfZY=</DigestValue>
      </Reference>
      <Reference URI="/ppt/media/image9.png?ContentType=image/png">
        <DigestMethod Algorithm="http://www.w3.org/2001/04/xmlenc#sha256"/>
        <DigestValue>Gfy9X4RcO2OfQiYG5sD+kflP9yYjVqM6MnshKEpt9Ss=</DigestValue>
      </Reference>
      <Reference URI="/ppt/notesMasters/_rels/notes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/7uK4nOrjCm8I3MzWhp7br2N1LX5670v4kFsav/hBR0=</DigestValue>
      </Reference>
      <Reference URI="/ppt/notesMasters/notesMaster1.xml?ContentType=application/vnd.openxmlformats-officedocument.presentationml.notesMaster+xml">
        <DigestMethod Algorithm="http://www.w3.org/2001/04/xmlenc#sha256"/>
        <DigestValue>+X2hqAc+aD3ek51wJmzWthy4SiqhRjW1JQlfGEwA4os=</DigestValue>
      </Reference>
      <Reference URI="/ppt/notesSlides/_rels/notes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VLNaV+o50gKe0P8OXoiV/yuPNjkOUq1P2pyCC1Esrx4=</DigestValue>
      </Reference>
      <Reference URI="/ppt/notesSlides/notesSlide1.xml?ContentType=application/vnd.openxmlformats-officedocument.presentationml.notesSlide+xml">
        <DigestMethod Algorithm="http://www.w3.org/2001/04/xmlenc#sha256"/>
        <DigestValue>ONfqbkoDoqThhPtqpBD9+AnRaPoFHNi9rIoEKI8D1m8=</DigestValue>
      </Reference>
      <Reference URI="/ppt/presentation.xml?ContentType=application/vnd.openxmlformats-officedocument.presentationml.presentation.main+xml">
        <DigestMethod Algorithm="http://www.w3.org/2001/04/xmlenc#sha256"/>
        <DigestValue>CmSeLhJ+41yanaC6CikpsVOktZjSI1BMhgg4miSpVn0=</DigestValue>
      </Reference>
      <Reference URI="/ppt/presProps.xml?ContentType=application/vnd.openxmlformats-officedocument.presentationml.presProps+xml">
        <DigestMethod Algorithm="http://www.w3.org/2001/04/xmlenc#sha256"/>
        <DigestValue>zRLSKsmjgl/2dypwfNHmf5zibrKq8xYCNGmhawKFL4U=</DigestValue>
      </Reference>
      <Reference URI="/ppt/slideLayouts/_rels/slideLayou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slideLayout1.xml?ContentType=application/vnd.openxmlformats-officedocument.presentationml.slideLayout+xml">
        <DigestMethod Algorithm="http://www.w3.org/2001/04/xmlenc#sha256"/>
        <DigestValue>KzIb70L+RMRP1kz+HLcSvGfss6xvOhhSgW+ROFrnxBw=</DigestValue>
      </Reference>
      <Reference URI="/ppt/slideLayouts/slideLayout10.xml?ContentType=application/vnd.openxmlformats-officedocument.presentationml.slideLayout+xml">
        <DigestMethod Algorithm="http://www.w3.org/2001/04/xmlenc#sha256"/>
        <DigestValue>ItpqXcNsuzvey6pQmfUiFXZ13CPDcGMfK1gylIpB90s=</DigestValue>
      </Reference>
      <Reference URI="/ppt/slideLayouts/slideLayout11.xml?ContentType=application/vnd.openxmlformats-officedocument.presentationml.slideLayout+xml">
        <DigestMethod Algorithm="http://www.w3.org/2001/04/xmlenc#sha256"/>
        <DigestValue>eoLdxaaV0qs0P7wvwcgniHVQpxPqHi9SrMdvhWpGuUA=</DigestValue>
      </Reference>
      <Reference URI="/ppt/slideLayouts/slideLayout2.xml?ContentType=application/vnd.openxmlformats-officedocument.presentationml.slideLayout+xml">
        <DigestMethod Algorithm="http://www.w3.org/2001/04/xmlenc#sha256"/>
        <DigestValue>twrGusQm7VN/VR2SyIxD/WhDqpsrkUqbq38gUE/TLOo=</DigestValue>
      </Reference>
      <Reference URI="/ppt/slideLayouts/slideLayout3.xml?ContentType=application/vnd.openxmlformats-officedocument.presentationml.slideLayout+xml">
        <DigestMethod Algorithm="http://www.w3.org/2001/04/xmlenc#sha256"/>
        <DigestValue>Grrp0GjcQhsWuVA0m9maX515ENDqSuFPwpr6lABc+NE=</DigestValue>
      </Reference>
      <Reference URI="/ppt/slideLayouts/slideLayout4.xml?ContentType=application/vnd.openxmlformats-officedocument.presentationml.slideLayout+xml">
        <DigestMethod Algorithm="http://www.w3.org/2001/04/xmlenc#sha256"/>
        <DigestValue>mTdRbrST/sfvrLSpNOeDLGnkLO8LlThcd3PMerk3I6s=</DigestValue>
      </Reference>
      <Reference URI="/ppt/slideLayouts/slideLayout5.xml?ContentType=application/vnd.openxmlformats-officedocument.presentationml.slideLayout+xml">
        <DigestMethod Algorithm="http://www.w3.org/2001/04/xmlenc#sha256"/>
        <DigestValue>DTrAKQBmB2we8LIHC1TpdSvYnSCthGveAi9PlaHDauE=</DigestValue>
      </Reference>
      <Reference URI="/ppt/slideLayouts/slideLayout6.xml?ContentType=application/vnd.openxmlformats-officedocument.presentationml.slideLayout+xml">
        <DigestMethod Algorithm="http://www.w3.org/2001/04/xmlenc#sha256"/>
        <DigestValue>CuF6SPe1Dqbe7wstNnFJTzG4+GxDyl7bJkpW+EsCNH4=</DigestValue>
      </Reference>
      <Reference URI="/ppt/slideLayouts/slideLayout7.xml?ContentType=application/vnd.openxmlformats-officedocument.presentationml.slideLayout+xml">
        <DigestMethod Algorithm="http://www.w3.org/2001/04/xmlenc#sha256"/>
        <DigestValue>JNELh0j/kBqqH8y0EsE8AbM5sMNbwUq3+kO1nuT0wEQ=</DigestValue>
      </Reference>
      <Reference URI="/ppt/slideLayouts/slideLayout8.xml?ContentType=application/vnd.openxmlformats-officedocument.presentationml.slideLayout+xml">
        <DigestMethod Algorithm="http://www.w3.org/2001/04/xmlenc#sha256"/>
        <DigestValue>HUXXFUc1w9MJMpyz1vcs6tyz9o3eE2IjZoW+sqCq7rI=</DigestValue>
      </Reference>
      <Reference URI="/ppt/slideLayouts/slideLayout9.xml?ContentType=application/vnd.openxmlformats-officedocument.presentationml.slideLayout+xml">
        <DigestMethod Algorithm="http://www.w3.org/2001/04/xmlenc#sha256"/>
        <DigestValue>J/pQ3DkBmJI9xIeg+PtZCgpHHpVUa8atHs9FJTMUGDQ=</DigestValue>
      </Reference>
      <Reference URI="/ppt/slideMasters/_rels/slide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</Transform>
          <Transform Algorithm="http://www.w3.org/TR/2001/REC-xml-c14n-20010315"/>
        </Transforms>
        <DigestMethod Algorithm="http://www.w3.org/2001/04/xmlenc#sha256"/>
        <DigestValue>tSNfd+My+BfmzQxLC9EAQHv1RK/2+tNcci+9hfcJUEE=</DigestValue>
      </Reference>
      <Reference URI="/ppt/slideMasters/slideMaster1.xml?ContentType=application/vnd.openxmlformats-officedocument.presentationml.slideMaster+xml">
        <DigestMethod Algorithm="http://www.w3.org/2001/04/xmlenc#sha256"/>
        <DigestValue>K1sf6eFd1B2RENTvzenNcpAVUsR3X+HFwKmtFRzsddc=</DigestValue>
      </Reference>
      <Reference URI="/ppt/slides/_rels/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lBs1lW8YuXxQil7GKITIj/kY0KDVbZgfU0G9vmqQ3Q8=</DigestValue>
      </Reference>
      <Reference URI="/ppt/slides/_rels/slide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rG5y8tXz6L+7yhtGuTCgORowtJAtKGbRZdtoezasftk=</DigestValue>
      </Reference>
      <Reference URI="/ppt/slides/_rels/slide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ttYwQ02ZCg6Yd7kitWtz3MAY7b8nmr2qHtfLoELeOdo=</DigestValue>
      </Reference>
      <Reference URI="/ppt/slides/_rels/slide1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mlUqdDE8nzcE1QavOpwzmG+skHFxcShBTE/bEHc7XOk=</DigestValue>
      </Reference>
      <Reference URI="/ppt/slides/_rels/slide1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mlUqdDE8nzcE1QavOpwzmG+skHFxcShBTE/bEHc7XOk=</DigestValue>
      </Reference>
      <Reference URI="/ppt/slides/_rels/slide1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XSt76LujaU4KwWrAPt7IRyvTsjCe4QJlxC7kdskxXT4=</DigestValue>
      </Reference>
      <Reference URI="/ppt/slides/_rels/slide1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GUwD1CiGJZxm7Xdzdv6E+y+4qIF6sAGeZGarIFol9fs=</DigestValue>
      </Reference>
      <Reference URI="/ppt/slides/_rels/slide1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XbCNALQrJmIAGvIJPoe1NdUMHYuX9BztaJcAU8sNqF4=</DigestValue>
      </Reference>
      <Reference URI="/ppt/slides/_rels/slide1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+z/xCc36/wb6VavsZliZTEi2y+PKGvVxSd3duQDAUEM=</DigestValue>
      </Reference>
      <Reference URI="/ppt/slides/_rels/slide1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ttYwQ02ZCg6Yd7kitWtz3MAY7b8nmr2qHtfLoELeOdo=</DigestValue>
      </Reference>
      <Reference URI="/ppt/slides/_rels/slide1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ttYwQ02ZCg6Yd7kitWtz3MAY7b8nmr2qHtfLoELeOdo=</DigestValue>
      </Reference>
      <Reference URI="/ppt/slides/_rels/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VQJgrPnN8sMaABQ8ap5FFLGeh90qOzvVLxLEmgUGHxk=</DigestValue>
      </Reference>
      <Reference URI="/ppt/slides/_rels/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mlUqdDE8nzcE1QavOpwzmG+skHFxcShBTE/bEHc7XOk=</DigestValue>
      </Reference>
      <Reference URI="/ppt/slides/_rels/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ttYwQ02ZCg6Yd7kitWtz3MAY7b8nmr2qHtfLoELeOdo=</DigestValue>
      </Reference>
      <Reference URI="/ppt/slides/_rels/slide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rG5y8tXz6L+7yhtGuTCgORowtJAtKGbRZdtoezasftk=</DigestValue>
      </Reference>
      <Reference URI="/ppt/slides/_rels/slide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ttYwQ02ZCg6Yd7kitWtz3MAY7b8nmr2qHtfLoELeOdo=</DigestValue>
      </Reference>
      <Reference URI="/ppt/slides/_rels/slide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84twJtg5DdSJw2/8ExZKRBtS1NxwkQ+M5Zv2Vu365zs=</DigestValue>
      </Reference>
      <Reference URI="/ppt/slides/_rels/slide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t1AIc/DWokYschNy+zpx56uKS0/C/4CLd+l4OzVAHU0=</DigestValue>
      </Reference>
      <Reference URI="/ppt/slides/_rels/slide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y/xDQfzF1myeEqyEbw9BFoE5YFVvzuf9nVz6qPL8Y7I=</DigestValue>
      </Reference>
      <Reference URI="/ppt/slides/slide1.xml?ContentType=application/vnd.openxmlformats-officedocument.presentationml.slide+xml">
        <DigestMethod Algorithm="http://www.w3.org/2001/04/xmlenc#sha256"/>
        <DigestValue>xJPA02mIVGKIFBaLwy6GHN86zPD16WjTaGnTZRigR7E=</DigestValue>
      </Reference>
      <Reference URI="/ppt/slides/slide10.xml?ContentType=application/vnd.openxmlformats-officedocument.presentationml.slide+xml">
        <DigestMethod Algorithm="http://www.w3.org/2001/04/xmlenc#sha256"/>
        <DigestValue>hQdZI3GBCZEzmG4BgAhPUc3nkydI0NdeXFQ4F1cxNY8=</DigestValue>
      </Reference>
      <Reference URI="/ppt/slides/slide11.xml?ContentType=application/vnd.openxmlformats-officedocument.presentationml.slide+xml">
        <DigestMethod Algorithm="http://www.w3.org/2001/04/xmlenc#sha256"/>
        <DigestValue>pcB548HBhRiSQVL+pJrjPkY8D8Xi8JdLSvjAuahYNTs=</DigestValue>
      </Reference>
      <Reference URI="/ppt/slides/slide12.xml?ContentType=application/vnd.openxmlformats-officedocument.presentationml.slide+xml">
        <DigestMethod Algorithm="http://www.w3.org/2001/04/xmlenc#sha256"/>
        <DigestValue>0yCeo7PrHA3iiWtGLSjfM7TUzLhmcePkAtS7yFyT/xM=</DigestValue>
      </Reference>
      <Reference URI="/ppt/slides/slide13.xml?ContentType=application/vnd.openxmlformats-officedocument.presentationml.slide+xml">
        <DigestMethod Algorithm="http://www.w3.org/2001/04/xmlenc#sha256"/>
        <DigestValue>kJeOge3+A1EtBoiMdODC4UubGqb4M50ga5WwvzqftVM=</DigestValue>
      </Reference>
      <Reference URI="/ppt/slides/slide14.xml?ContentType=application/vnd.openxmlformats-officedocument.presentationml.slide+xml">
        <DigestMethod Algorithm="http://www.w3.org/2001/04/xmlenc#sha256"/>
        <DigestValue>JnBs7nDVyUguZPx31GF+RNYHJQTL1idIXkwkHvpL598=</DigestValue>
      </Reference>
      <Reference URI="/ppt/slides/slide15.xml?ContentType=application/vnd.openxmlformats-officedocument.presentationml.slide+xml">
        <DigestMethod Algorithm="http://www.w3.org/2001/04/xmlenc#sha256"/>
        <DigestValue>7FQY+N+BEDkitxOUMjiDrWhmXJkGFlORf1iS8Fe6fXU=</DigestValue>
      </Reference>
      <Reference URI="/ppt/slides/slide16.xml?ContentType=application/vnd.openxmlformats-officedocument.presentationml.slide+xml">
        <DigestMethod Algorithm="http://www.w3.org/2001/04/xmlenc#sha256"/>
        <DigestValue>TOGzWes6VAmLaP6kKzY8RVjI8yrxzQpaXsRDPKp42vI=</DigestValue>
      </Reference>
      <Reference URI="/ppt/slides/slide17.xml?ContentType=application/vnd.openxmlformats-officedocument.presentationml.slide+xml">
        <DigestMethod Algorithm="http://www.w3.org/2001/04/xmlenc#sha256"/>
        <DigestValue>TjpYoNzrgEcdTkaLqJsP1r7/b/QzWzaYygvGgzNFcUg=</DigestValue>
      </Reference>
      <Reference URI="/ppt/slides/slide18.xml?ContentType=application/vnd.openxmlformats-officedocument.presentationml.slide+xml">
        <DigestMethod Algorithm="http://www.w3.org/2001/04/xmlenc#sha256"/>
        <DigestValue>D3h04MD8rVIAj3ablgONQodTSJcnDb0PNhw98llq2Ao=</DigestValue>
      </Reference>
      <Reference URI="/ppt/slides/slide19.xml?ContentType=application/vnd.openxmlformats-officedocument.presentationml.slide+xml">
        <DigestMethod Algorithm="http://www.w3.org/2001/04/xmlenc#sha256"/>
        <DigestValue>SmGNBnufSWc9MHFVzEnN0qOyG/xRsWoA4MbHJhPbPYM=</DigestValue>
      </Reference>
      <Reference URI="/ppt/slides/slide2.xml?ContentType=application/vnd.openxmlformats-officedocument.presentationml.slide+xml">
        <DigestMethod Algorithm="http://www.w3.org/2001/04/xmlenc#sha256"/>
        <DigestValue>xJjGZb78XLexGUn04J9NjZCkzMomY9v2oXryI/7QHZk=</DigestValue>
      </Reference>
      <Reference URI="/ppt/slides/slide3.xml?ContentType=application/vnd.openxmlformats-officedocument.presentationml.slide+xml">
        <DigestMethod Algorithm="http://www.w3.org/2001/04/xmlenc#sha256"/>
        <DigestValue>SyuqA/c0YqWOPr4v0p38oE7RCFlTliw9XrU5GwsK7IE=</DigestValue>
      </Reference>
      <Reference URI="/ppt/slides/slide4.xml?ContentType=application/vnd.openxmlformats-officedocument.presentationml.slide+xml">
        <DigestMethod Algorithm="http://www.w3.org/2001/04/xmlenc#sha256"/>
        <DigestValue>PxW117mPNBi5nvVilUgG7mdxkLgKlrzfgy8/oKzU5W8=</DigestValue>
      </Reference>
      <Reference URI="/ppt/slides/slide5.xml?ContentType=application/vnd.openxmlformats-officedocument.presentationml.slide+xml">
        <DigestMethod Algorithm="http://www.w3.org/2001/04/xmlenc#sha256"/>
        <DigestValue>H5B2RheowNybV9l53m3eLo2ne6+6GkqOokr631JmhDg=</DigestValue>
      </Reference>
      <Reference URI="/ppt/slides/slide6.xml?ContentType=application/vnd.openxmlformats-officedocument.presentationml.slide+xml">
        <DigestMethod Algorithm="http://www.w3.org/2001/04/xmlenc#sha256"/>
        <DigestValue>pMJNQeH0soa+PvJgYTfWpSbBvFWhIbBMX1zh+s9Zshg=</DigestValue>
      </Reference>
      <Reference URI="/ppt/slides/slide7.xml?ContentType=application/vnd.openxmlformats-officedocument.presentationml.slide+xml">
        <DigestMethod Algorithm="http://www.w3.org/2001/04/xmlenc#sha256"/>
        <DigestValue>Ql8I6+EAokw18OizXNbJR+mokDXu2G6pLbJOGiJD4hw=</DigestValue>
      </Reference>
      <Reference URI="/ppt/slides/slide8.xml?ContentType=application/vnd.openxmlformats-officedocument.presentationml.slide+xml">
        <DigestMethod Algorithm="http://www.w3.org/2001/04/xmlenc#sha256"/>
        <DigestValue>ciLT6iUqC6C/G+4QjL8O1P0IzRrBkt446RIPxyAIL1g=</DigestValue>
      </Reference>
      <Reference URI="/ppt/slides/slide9.xml?ContentType=application/vnd.openxmlformats-officedocument.presentationml.slide+xml">
        <DigestMethod Algorithm="http://www.w3.org/2001/04/xmlenc#sha256"/>
        <DigestValue>o1cbOZHUZwtdhbxTQy9n2eI2XUpCo0EE0t8mvoYxFKQ=</DigestValue>
      </Reference>
      <Reference URI="/ppt/tableStyles.xml?ContentType=application/vnd.openxmlformats-officedocument.presentationml.tableStyles+xml">
        <DigestMethod Algorithm="http://www.w3.org/2001/04/xmlenc#sha256"/>
        <DigestValue>IOOGISycu5ou28mKzulsjKTHTAnF7nb+7sNhipjcCaQ=</DigestValue>
      </Reference>
      <Reference URI="/ppt/theme/theme1.xml?ContentType=application/vnd.openxmlformats-officedocument.theme+xml">
        <DigestMethod Algorithm="http://www.w3.org/2001/04/xmlenc#sha256"/>
        <DigestValue>03Yn7Rpb2kD6M5zCEVxw214BnxsShza5KyZxgFMUNMY=</DigestValue>
      </Reference>
      <Reference URI="/ppt/theme/theme2.xml?ContentType=application/vnd.openxmlformats-officedocument.theme+xml">
        <DigestMethod Algorithm="http://www.w3.org/2001/04/xmlenc#sha256"/>
        <DigestValue>03Yn7Rpb2kD6M5zCEVxw214BnxsShza5KyZxgFMUNMY=</DigestValue>
      </Reference>
      <Reference URI="/ppt/viewProps.xml?ContentType=application/vnd.openxmlformats-officedocument.presentationml.viewProps+xml">
        <DigestMethod Algorithm="http://www.w3.org/2001/04/xmlenc#sha256"/>
        <DigestValue>9zcxPE2zWRBn4uHPXn5eDv/hUzxI5mUCxZneERlneP0=</DigestValue>
      </Reference>
    </Manifest>
    <SignatureProperties>
      <SignatureProperty Id="idSignatureTime" Target="#idPackageSignature">
        <mdssi:SignatureTime xmlns:mdssi="http://schemas.openxmlformats.org/package/2006/digital-signature">
          <mdssi:Format>YYYY-MM-DDThh:mm:ssTZD</mdssi:Format>
          <mdssi:Value>2020-09-08T22:58:26Z</mdssi:Value>
        </mdssi:SignatureTime>
      </SignatureProperty>
    </SignatureProperties>
  </Object>
  <Object Id="idOfficeObject">
    <SignatureProperties>
      <SignatureProperty Id="idOfficeV1Details" Target="#idPackageSignature">
        <SignatureInfoV1 xmlns="http://schemas.microsoft.com/office/2006/digsig">
          <SetupID/>
          <SignatureText/>
          <SignatureImage/>
          <SignatureComments/>
          <WindowsVersion>10.0</WindowsVersion>
          <OfficeVersion>16.0.12527/19</OfficeVersion>
          <ApplicationVersion>16.0.12527</ApplicationVersion>
          <Monitors>1</Monitors>
          <HorizontalResolution>1920</HorizontalResolution>
          <VerticalResolution>1080</VerticalResolution>
          <ColorDepth>32</ColorDepth>
          <SignatureProviderId>{00000000-0000-0000-0000-000000000000}</SignatureProviderId>
          <SignatureProviderUrl/>
          <SignatureProviderDetails>9</SignatureProviderDetails>
          <SignatureType>1</SignatureType>
        </SignatureInfoV1>
      </SignatureProperty>
    </SignatureProperties>
  </Object>
  <Object>
    <xd:QualifyingProperties xmlns:xd="http://uri.etsi.org/01903/v1.3.2#" Target="#idPackageSignature">
      <xd:SignedProperties Id="idSignedProperties">
        <xd:SignedSignatureProperties>
          <xd:SigningTime>2020-09-08T22:58:26Z</xd:SigningTime>
          <xd:SigningCertificate>
            <xd:Cert>
              <xd:CertDigest>
                <DigestMethod Algorithm="http://www.w3.org/2001/04/xmlenc#sha256"/>
                <DigestValue>dtdZxv/7GRO34pr6DcxqOfjm9m1v5DGydkklCbO4bBA=</DigestValue>
              </xd:CertDigest>
              <xd:IssuerSerial>
                <X509IssuerName>OU=Entrust NFI Medium Assurance SSP CA, OU=Certification Authorities, O=Entrust, C=US</X509IssuerName>
                <X509SerialNumber>1528822111</X509SerialNumber>
              </xd:IssuerSerial>
            </xd:Cert>
          </xd:SigningCertificate>
          <xd:SignaturePolicyIdentifier>
            <xd:SignaturePolicyImplied/>
          </xd:SignaturePolicyIdentifier>
        </xd:SignedSignatureProperties>
        <xd:SignedDataObjectProperties>
          <xd:CommitmentTypeIndication>
            <xd:CommitmentTypeId>
              <xd:Identifier>http://uri.etsi.org/01903/v1.2.2#ProofOfCreation</xd:Identifier>
              <xd:Description>Created this document</xd:Description>
            </xd:CommitmentTypeId>
            <xd:AllSignedDataObjects/>
          </xd:CommitmentTypeIndication>
        </xd:SignedDataObjectProperties>
      </xd:SignedProperties>
      <xd:UnsignedProperties>
        <xd:UnsignedSignatureProperties>
          <xd:CertificateValues>
            <xd:EncapsulatedX509Certificate>MIIH6DCCBtCgAwIBAgIESqi56jANBgkqhkiG9w0BAQsFADByMQswCQYDVQQGEwJVUzEQMA4GA1UEChMHRW50cnVzdDEiMCAGA1UECxMZQ2VydGlmaWNhdGlvbiBBdXRob3JpdGllczEtMCsGA1UECxMkRW50cnVzdCBNYW5hZ2VkIFNlcnZpY2VzIE5GSSBSb290IENBMB4XDTE3MDUxNjE0MzEzNVoXDTI3MTExNjE1MDEzNVowcTELMAkGA1UEBhMCVVMxEDAOBgNVBAoTB0VudHJ1c3QxIjAgBgNVBAsTGUNlcnRpZmljYXRpb24gQXV0aG9yaXRpZXMxLDAqBgNVBAsTI0VudHJ1c3QgTkZJIE1lZGl1bSBBc3N1cmFuY2UgU1NQIENBMIIBIjANBgkqhkiG9w0BAQEFAAOCAQ8AMIIBCgKCAQEAoOEqao5Hz2toLgtRAaca84ZyEuQ9QVpZ1RdJEHkFZpLnfx396cjx7ZlwUfmeo41l8NVsgZh8AVnSdZQLU1rT3Lf2j+4vvHDGhtWTGKQM22obX6n/j1nk66JA6U0pANIWnuHQ9APr10IugCpVIoYfVWXvuj+Jj8NJKehUdDfv1L3SZwW/KE9Osuadjx+y+jZ3d87Y+8r8rzmKggqNxrE+xBVpRFxYyVMtWcooAG6YyO7Arp3BlufephNWOjzYr3TCCJyjk02FyxTlf9WqfhDNguAFGhbL97NRZPKpRLcEc6gHI8VBtGdP+BiDx/c8Kn0tTf3I41yBjMZ6h7I66502sQIDAQABo4IEhTCCBIEwDgYDVR0PAQH/BAQDAgEGMIIBHQYDVR0gBIIBFDCCARAwDwYNYIZIAYb6a4FIAwoHATAPBg1ghkgBhvprgUgDCgcCMA8GDWCGSAGG+muBSAMKBwMwDwYNYIZIAYb6a4FIAwoHBDAPBg1ghkgBhvprgUgDCgcFMA8GDWCGSAGG+muBSAMKBwYwDwYNYIZIAYb6a4FIAwoHBzAPBg1ghkgBhvprgUgDCgcIMA8GDWCGSAGG+muBSAMKBwkwDwYNYIZIAYb6a4FIAwoHCjAPBg1ghkgBhvprgUgDCgcLMA8GDWCGSAGG+muBSAMKBwwwDwYNYIZIAYb6a4FIAwoHDTAPBg1ghkgBhvprgUgDCgcOMA8GDWCGSAGG+muBSAMKBw8wDwYNYIZIAYb6a4FIAwoHEDASBgNVHRMBAf8ECDAGAQH/AgEAMIIBWgYIKwYBBQUHAQEEggFMMIIBSDBQBggrBgEFBQcwAoZEaHR0cDovL25maXJvb3R3ZWIubWFuYWdlZC5lbnRydXN0LmNvbS9BSUEvQ2VydHNJc3N1ZWRUb05GSVJvb3RDQS5wN2MwgcMGCCsGAQUFBzAChoG2bGRhcDovL25maXJvb3RkaXIubWFuYWdlZC5lbnRydXN0LmNvbS9vdT1FbnRydXN0JTIwTWFuYWdlZCUyMFNlcnZpY2VzJTIwTkZJJTIwUm9vdCUyMENBLG91PUNlcnRpZmljYXRpb24lMjBBdXRob3JpdGllcyxvPUVudHJ1c3QsYz1VUz9jQUNlcnRpZmljYXRlO2JpbmFyeSxjcm9zc0NlcnRpZmljYXRlUGFpcjtiaW5hcnkwLgYIKwYBBQUHMAGGImh0dHA6Ly9uZmlvY3NwLm1hbmFnZWQuZW50cnVzdC5jb20wggGaBgNVHR8EggGRMIIBjTCB+qCB96CB9IY5aHR0cDovL25maXJvb3R3ZWIubWFuYWdlZC5lbnRydXN0LmNvbS9DUkxzL05GSVJvb3RDQTIuY3JshoG2bGRhcDovL25maXJvb3RkaXIubWFuYWdlZC5lbnRydXN0LmNvbS9jbj1XaW5Db21iaW5lZDIsb3U9RW50cnVzdCUyME1hbmFnZWQlMjBTZXJ2aWNlcyUyME5GSSUyMFJvb3QlMjBDQSxvdT1DZXJ0aWZpY2F0aW9uJTIwQXV0aG9yaXRpZXMsbz1FbnRydXN0LGM9VVM/Y2VydGlmaWNhdGVSZXZvY2F0aW9uTGlzdDtiaW5hcnkwgY2ggYqggYekgYQwgYExCzAJBgNVBAYTAlVTMRAwDgYDVQQKEwdFbnRydXN0MSIwIAYDVQQLExlDZXJ0aWZpY2F0aW9uIEF1dGhvcml0aWVzMS0wKwYDVQQLEyRFbnRydXN0IE1hbmFnZWQgU2VydmljZXMgTkZJIFJvb3QgQ0ExDTALBgNVBAMTBENSTDEwHwYDVR0jBBgwFoAU+t8jAcSq7CPjrW8NNKUNzzlkZV4wHQYDVR0OBBYEFGb5JZiuy/vhjACEGdSF/5NW6tamMA0GCSqGSIb3DQEBCwUAA4IBAQAYzB20TFlb/g4Q/l+evqW05L9MxsayCR+sCXxpi4CtYgeAxWGTTLIUbbRj7vWPGC/aanWrWas8mRYsJSQRy3SGZJ0cG8bkheIe4Tqm6ALmw2DRaaolDKSJ6yQ+LART0C+Oi8IYk5BcM6hLpQlm/30UYtvA53AiwTMJVClb7QK+e//4Z0wnDD23PdQXWiUQE9q4+vz3L+ifgFEljY6EqdKT6dlZVl16xt5gZrrdFlsblPZxuvnnmgl88/qwMd2zfcKTIanPM+llQt6jM2L3C+PTOBALt9XZyq3Qw1RLfQWsaNcs0/fDOoJfHHw0r9QmMLrBpWJp7pVxA2WkITMFclBt</xd:EncapsulatedX509Certificate>
            <xd:EncapsulatedX509Certificate>MIIDpDCCAoygAwIBAgIESqimDTANBgkqhkiG9w0BAQsFADByMQswCQYDVQQGEwJVUzEQMA4GA1UEChMHRW50cnVzdDEiMCAGA1UECxMZQ2VydGlmaWNhdGlvbiBBdXRob3JpdGllczEtMCsGA1UECxMkRW50cnVzdCBNYW5hZ2VkIFNlcnZpY2VzIE5GSSBSb290IENBMB4XDTE2MTExNjE2MzEwNFoXDTI3MTIxNjE3MDEwNFowcjELMAkGA1UEBhMCVVMxEDAOBgNVBAoTB0VudHJ1c3QxIjAgBgNVBAsTGUNlcnRpZmljYXRpb24gQXV0aG9yaXRpZXMxLTArBgNVBAsTJEVudHJ1c3QgTWFuYWdlZCBTZXJ2aWNlcyBORkkgUm9vdCBDQTCCASIwDQYJKoZIhvcNAQEBBQADggEPADCCAQoCggEBAL8fW2c5Y1H3DBZcF5uwko+I1N9643gEq3PYUU/AtMzRBJ1PFiipWRNyLYPoVaPYr6GUDsrlTyvQ7LJD5uDOFPxWtGggqcDGFPC8u0MBUvqTvjCMBuGwI55vrjfeW4mZfsoGo+qX3qHbCRmif/PywciYTnYhArPtM9tZ/9Nyaunpgrk0zKS0G7dgU+aaqW+BQKy8ss6t1qbcD5HV5laf6nlTXJ0JrMCbUmuUbhNfCp9e+TwS4LtqjPRL5D/pnUkzURyl2F6/53yZ0M51SJy9hxEnTYHd4QmJp3yR2fDEVI7Ug/6RBgyPSjlnWbuDPDArD+G2yzTs6tmc1OSDvWYvVUkCAwEAAaNCMEAwDgYDVR0PAQH/BAQDAgEGMA8GA1UdEwEB/wQFMAMBAf8wHQYDVR0OBBYEFPrfIwHEquwj461vDTSlDc85ZGVeMA0GCSqGSIb3DQEBCwUAA4IBAQCc5cuNlP+rF3KHR/UOwlNc6YWLxf2ImQ2Zhv+ULPKczx/pZPELHXnzkAhTtjpxjpYuH8NHKUxphJEBCL7P7X9zMO66Z5Rso3iwCC95ffYYqJuIxpBn8xukFm3h6sblYlDiMqbQ4wqtNDPMnlvkBbosp2vsr6V5j5jr1Cp/5e6tKuQuCH8iHq8X5kCvImZEzAf8aAH6pRv3pVswCyxBcPzGHMj4N9RrRFBb462+Sk5q1GMA7roajPpRHt7COZNJr2QhWUGSQlavqaaRwYNyeBYuTID8Ihk+VIDdsISQPcor73GMpxK30zymfDpTdQ0G0+5XayKnMi2NCLO6EPsLvEJJ</xd:EncapsulatedX509Certificate>
          </xd:CertificateValues>
        </xd:UnsignedSignatureProperties>
      </xd:UnsignedProperties>
    </xd:QualifyingProperties>
  </Object>
</Signatur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1004</Words>
  <Application>Microsoft Office PowerPoint</Application>
  <PresentationFormat>Widescreen</PresentationFormat>
  <Paragraphs>267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Courier New</vt:lpstr>
      <vt:lpstr>Wingdings</vt:lpstr>
      <vt:lpstr>Office Theme</vt:lpstr>
      <vt:lpstr>NDN-DPDK: NDN Forwarding at 100 Gbps on Commodity Hardware</vt:lpstr>
      <vt:lpstr>Quick Recap from 2018-2019</vt:lpstr>
      <vt:lpstr>New Features</vt:lpstr>
      <vt:lpstr>AQM and Congestion Control</vt:lpstr>
      <vt:lpstr>Benchmarks</vt:lpstr>
      <vt:lpstr>Benchmark Topology</vt:lpstr>
      <vt:lpstr>We Made It to 100 Gbps</vt:lpstr>
      <vt:lpstr>Input Thread Bottleneck</vt:lpstr>
      <vt:lpstr>Effect of Nonlocal Memory Access</vt:lpstr>
      <vt:lpstr>Hardware Acceleration</vt:lpstr>
      <vt:lpstr>Inside an Input Thread</vt:lpstr>
      <vt:lpstr>Receive Side Scaling (RSS)</vt:lpstr>
      <vt:lpstr>Input Dispatching with RSS?</vt:lpstr>
      <vt:lpstr>Can NIC Understand Names?</vt:lpstr>
      <vt:lpstr>Collaboration Opportunities</vt:lpstr>
      <vt:lpstr>NDN-DPDK Codebase</vt:lpstr>
      <vt:lpstr>Expanded Platform Support</vt:lpstr>
      <vt:lpstr>NDN-DPDK on FABRIC Testbed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Shi, Junxiao (IntlAssoc)</dc:creator>
  <cp:lastModifiedBy>Shi, Junxiao (IntlAssoc)</cp:lastModifiedBy>
  <cp:revision>110</cp:revision>
  <dcterms:created xsi:type="dcterms:W3CDTF">2020-07-22T08:39:54Z</dcterms:created>
  <dcterms:modified xsi:type="dcterms:W3CDTF">2020-09-08T22:50:19Z</dcterms:modified>
</cp:coreProperties>
</file>