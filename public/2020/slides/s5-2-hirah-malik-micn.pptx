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7" r:id="rId1"/>
  </p:sldMasterIdLst>
  <p:notesMasterIdLst>
    <p:notesMasterId r:id="rId19"/>
  </p:notesMasterIdLst>
  <p:sldIdLst>
    <p:sldId id="257" r:id="rId2"/>
    <p:sldId id="385" r:id="rId3"/>
    <p:sldId id="386" r:id="rId4"/>
    <p:sldId id="405" r:id="rId5"/>
    <p:sldId id="388" r:id="rId6"/>
    <p:sldId id="399" r:id="rId7"/>
    <p:sldId id="400" r:id="rId8"/>
    <p:sldId id="402" r:id="rId9"/>
    <p:sldId id="401" r:id="rId10"/>
    <p:sldId id="420" r:id="rId11"/>
    <p:sldId id="419" r:id="rId12"/>
    <p:sldId id="403" r:id="rId13"/>
    <p:sldId id="408" r:id="rId14"/>
    <p:sldId id="407" r:id="rId15"/>
    <p:sldId id="412" r:id="rId16"/>
    <p:sldId id="410" r:id="rId17"/>
    <p:sldId id="404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35"/>
  </p:normalViewPr>
  <p:slideViewPr>
    <p:cSldViewPr snapToGrid="0" snapToObjects="1">
      <p:cViewPr varScale="1">
        <p:scale>
          <a:sx n="111" d="100"/>
          <a:sy n="111" d="100"/>
        </p:scale>
        <p:origin x="6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748E1-390B-204B-9DFD-8C08454F7751}" type="datetimeFigureOut">
              <a:rPr lang="en-US" smtClean="0"/>
              <a:t>9/9/20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965D8-100B-3D45-AB79-5D26A1E5C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47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coding, coding could be done in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BB59A-93A5-D642-81F9-BCD7C3AF2A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42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BB59A-93A5-D642-81F9-BCD7C3AF2A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57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0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9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9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9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10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1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6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84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9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3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F61C3-3881-AD44-8721-7A9F2D0ECFC3}" type="datetimeFigureOut">
              <a:rPr lang="en-US" smtClean="0"/>
              <a:t>9/9/20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FD91E-2BAA-5F4D-98C9-668C8772C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2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10" Type="http://schemas.openxmlformats.org/officeDocument/2006/relationships/image" Target="../media/image13.png"/><Relationship Id="rId4" Type="http://schemas.openxmlformats.org/officeDocument/2006/relationships/image" Target="../media/image7.emf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1.emf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5691-5DB8-B147-8A35-8AF7A9654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540" y="952501"/>
            <a:ext cx="10949940" cy="2649537"/>
          </a:xfrm>
        </p:spPr>
        <p:txBody>
          <a:bodyPr>
            <a:normAutofit/>
          </a:bodyPr>
          <a:lstStyle/>
          <a:p>
            <a:r>
              <a:rPr lang="en-US" b="1" dirty="0"/>
              <a:t>MICN, a New Perspective </a:t>
            </a:r>
            <a:br>
              <a:rPr lang="en-US" b="1" dirty="0"/>
            </a:br>
            <a:r>
              <a:rPr lang="en-US" b="1" dirty="0"/>
              <a:t>  on Network Coding with Named Data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F9F26-20AE-0241-8F13-365190E89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0145" y="398996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Hirah</a:t>
            </a:r>
            <a:r>
              <a:rPr lang="en-US" dirty="0"/>
              <a:t> Malik, Cedric </a:t>
            </a:r>
            <a:r>
              <a:rPr lang="en-US" dirty="0" err="1"/>
              <a:t>Adjih</a:t>
            </a:r>
            <a:r>
              <a:rPr lang="en-US" dirty="0"/>
              <a:t>, Claudio </a:t>
            </a:r>
            <a:r>
              <a:rPr lang="en-US" dirty="0" err="1"/>
              <a:t>Weidmann</a:t>
            </a:r>
            <a:r>
              <a:rPr lang="en-US" dirty="0"/>
              <a:t>, Michel Kieffer</a:t>
            </a:r>
          </a:p>
          <a:p>
            <a:r>
              <a:rPr lang="en-US" dirty="0"/>
              <a:t>INRIA, L2S, </a:t>
            </a:r>
            <a:r>
              <a:rPr lang="en-US" dirty="0" err="1"/>
              <a:t>Université</a:t>
            </a:r>
            <a:r>
              <a:rPr lang="en-US" dirty="0"/>
              <a:t> Paris-</a:t>
            </a:r>
            <a:r>
              <a:rPr lang="en-US" dirty="0" err="1"/>
              <a:t>Saclay</a:t>
            </a:r>
            <a:endParaRPr lang="en-US" dirty="0"/>
          </a:p>
          <a:p>
            <a:endParaRPr lang="en-US" dirty="0"/>
          </a:p>
          <a:p>
            <a:r>
              <a:rPr lang="en-US" dirty="0"/>
              <a:t>NDN Community Meeting, Sept 10-11, 2020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E129BD-F2F4-8F49-B139-35F7C636CC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931"/>
          <a:stretch/>
        </p:blipFill>
        <p:spPr>
          <a:xfrm>
            <a:off x="3570925" y="5947942"/>
            <a:ext cx="5022440" cy="81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6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435955"/>
            <a:ext cx="8459599" cy="1325563"/>
          </a:xfrm>
        </p:spPr>
        <p:txBody>
          <a:bodyPr>
            <a:normAutofit/>
          </a:bodyPr>
          <a:lstStyle/>
          <a:p>
            <a:r>
              <a:rPr lang="en-US" b="1" dirty="0"/>
              <a:t>NDN &amp; Multipath/Multisource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A1B19A-7126-DA4F-8C84-0EF2055E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9602F-1A16-A147-AF9B-40BCB92CC57B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1CA9C-A1EB-FD4B-8172-7DAAF7AED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942" y="2947804"/>
            <a:ext cx="5734757" cy="340854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F89D30-F577-7E4C-A3AA-B25EE330D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Goal: High throughput</a:t>
            </a:r>
          </a:p>
          <a:p>
            <a:pPr marL="742950" lvl="1" indent="-285750">
              <a:buFontTx/>
              <a:buChar char="-"/>
            </a:pPr>
            <a:r>
              <a:rPr lang="en-US" sz="2800" dirty="0"/>
              <a:t>To retrieve a large content</a:t>
            </a:r>
          </a:p>
          <a:p>
            <a:pPr marL="742950" lvl="1" indent="-285750">
              <a:buFontTx/>
              <a:buChar char="-"/>
            </a:pPr>
            <a:r>
              <a:rPr lang="en-US" sz="2800" dirty="0"/>
              <a:t>No knowledge of where are the servers (no FIB), no assumption (no topology known)</a:t>
            </a:r>
          </a:p>
          <a:p>
            <a:pPr marL="742950" lvl="1" indent="-285750">
              <a:buFontTx/>
              <a:buChar char="-"/>
            </a:pPr>
            <a:r>
              <a:rPr lang="en-US" sz="2800" dirty="0"/>
              <a:t>Exploit available paths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9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516" y="365125"/>
            <a:ext cx="8459599" cy="1325563"/>
          </a:xfrm>
        </p:spPr>
        <p:txBody>
          <a:bodyPr>
            <a:normAutofit/>
          </a:bodyPr>
          <a:lstStyle/>
          <a:p>
            <a:r>
              <a:rPr lang="en-US" b="1" dirty="0"/>
              <a:t>NDN &amp; Multipath/Multisource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5B0C2B-28BF-CF44-BFED-FFD7DB148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0213" y="1690688"/>
            <a:ext cx="6437198" cy="3733964"/>
          </a:xfrm>
          <a:ln>
            <a:noFill/>
          </a:ln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A1B19A-7126-DA4F-8C84-0EF2055E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9602F-1A16-A147-AF9B-40BCB92CC57B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5A2C39-A962-AF4D-ABED-03B7A4A575AB}"/>
                  </a:ext>
                </a:extLst>
              </p:cNvPr>
              <p:cNvSpPr txBox="1"/>
              <p:nvPr/>
            </p:nvSpPr>
            <p:spPr>
              <a:xfrm>
                <a:off x="1274746" y="5424653"/>
                <a:ext cx="372903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Client requests the segment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get the content segment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twice </a:t>
                </a:r>
                <a:br>
                  <a:rPr lang="en-US" sz="2000" dirty="0"/>
                </a:br>
                <a:r>
                  <a:rPr lang="en-US" sz="2000" b="1" dirty="0"/>
                  <a:t>Problem: </a:t>
                </a:r>
                <a:r>
                  <a:rPr lang="en-US" sz="2000" dirty="0">
                    <a:solidFill>
                      <a:srgbClr val="FF0000"/>
                    </a:solidFill>
                  </a:rPr>
                  <a:t>Redundancy</a:t>
                </a:r>
                <a:endParaRPr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5A2C39-A962-AF4D-ABED-03B7A4A57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746" y="5424653"/>
                <a:ext cx="3729034" cy="1015663"/>
              </a:xfrm>
              <a:prstGeom prst="rect">
                <a:avLst/>
              </a:prstGeom>
              <a:blipFill>
                <a:blip r:embed="rId3"/>
                <a:stretch>
                  <a:fillRect l="-1356" t="-2469" r="-678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13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842" y="323678"/>
            <a:ext cx="8459599" cy="1325563"/>
          </a:xfrm>
        </p:spPr>
        <p:txBody>
          <a:bodyPr/>
          <a:lstStyle/>
          <a:p>
            <a:r>
              <a:rPr lang="en-US" b="1" dirty="0"/>
              <a:t>Network Coding (NC)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79206" y="1546002"/>
                <a:ext cx="10515600" cy="476690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NC consists of mixing packets </a:t>
                </a:r>
              </a:p>
              <a:p>
                <a:pPr marL="457200" lvl="1" indent="0">
                  <a:buNone/>
                </a:pPr>
                <a:r>
                  <a:rPr lang="en-US" i="1" dirty="0"/>
                  <a:t>e.g., </a:t>
                </a:r>
                <a:r>
                  <a:rPr lang="en-US" dirty="0"/>
                  <a:t>XOR, addition, Linear Combination</a:t>
                </a:r>
              </a:p>
              <a:p>
                <a:pPr marL="285750" indent="-285750"/>
                <a:r>
                  <a:rPr lang="en-US" dirty="0"/>
                  <a:t>Mix source segments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285750" indent="-285750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285750" indent="-285750"/>
                <a:r>
                  <a:rPr lang="en-US" dirty="0"/>
                  <a:t>(Re)coding can be done in the network</a:t>
                </a:r>
              </a:p>
              <a:p>
                <a:pPr marL="285750" indent="-285750"/>
                <a:endParaRPr lang="en-US" dirty="0"/>
              </a:p>
              <a:p>
                <a:pPr marL="285750" indent="-285750"/>
                <a:endParaRPr lang="en-US" dirty="0"/>
              </a:p>
              <a:p>
                <a:pPr marL="285750" indent="-285750"/>
                <a:r>
                  <a:rPr lang="en-US" dirty="0"/>
                  <a:t>Decoding</a:t>
                </a:r>
              </a:p>
              <a:p>
                <a:pPr marL="742950" lvl="1" indent="-285750"/>
                <a:r>
                  <a:rPr lang="en-US" dirty="0"/>
                  <a:t>Solving linear system of equation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206" y="1546002"/>
                <a:ext cx="10515600" cy="4766904"/>
              </a:xfrm>
              <a:blipFill>
                <a:blip r:embed="rId2"/>
                <a:stretch>
                  <a:fillRect l="-965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B50E5F-F984-4A4B-98E7-F85948D8F614}"/>
                  </a:ext>
                </a:extLst>
              </p:cNvPr>
              <p:cNvSpPr txBox="1"/>
              <p:nvPr/>
            </p:nvSpPr>
            <p:spPr>
              <a:xfrm>
                <a:off x="6120654" y="2407766"/>
                <a:ext cx="2936286" cy="1154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3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3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3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B50E5F-F984-4A4B-98E7-F85948D8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654" y="2407766"/>
                <a:ext cx="2936286" cy="1154162"/>
              </a:xfrm>
              <a:prstGeom prst="rect">
                <a:avLst/>
              </a:prstGeom>
              <a:blipFill>
                <a:blip r:embed="rId3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5E018F0-AB20-A440-BB7E-C26928D6EB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178" t="42343" r="45163" b="25621"/>
          <a:stretch/>
        </p:blipFill>
        <p:spPr>
          <a:xfrm>
            <a:off x="8220040" y="4431027"/>
            <a:ext cx="555584" cy="48613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0FE390-3994-2F49-B2E6-F280BAFB37B1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7282439" y="4277069"/>
            <a:ext cx="937601" cy="3970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64CC5CE-EEF6-6746-9490-2F845107258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7340" b="52223"/>
          <a:stretch/>
        </p:blipFill>
        <p:spPr>
          <a:xfrm>
            <a:off x="6794768" y="3851302"/>
            <a:ext cx="751159" cy="75852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31E6AF-808F-6C45-BF96-CFC73E55BB6F}"/>
              </a:ext>
            </a:extLst>
          </p:cNvPr>
          <p:cNvCxnSpPr>
            <a:cxnSpLocks/>
          </p:cNvCxnSpPr>
          <p:nvPr/>
        </p:nvCxnSpPr>
        <p:spPr>
          <a:xfrm flipV="1">
            <a:off x="7373073" y="4805287"/>
            <a:ext cx="846966" cy="3323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6359905-4F99-324A-9E4E-F8CA032BC19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7340" b="52223"/>
          <a:stretch/>
        </p:blipFill>
        <p:spPr>
          <a:xfrm>
            <a:off x="6794767" y="4588986"/>
            <a:ext cx="751159" cy="75852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1B9869-5210-7644-A186-89FEC5B6D55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775624" y="4674096"/>
            <a:ext cx="97026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BA4B2E-8893-1346-A5F5-79497D4C87AC}"/>
                  </a:ext>
                </a:extLst>
              </p:cNvPr>
              <p:cNvSpPr txBox="1"/>
              <p:nvPr/>
            </p:nvSpPr>
            <p:spPr>
              <a:xfrm>
                <a:off x="7588797" y="4056124"/>
                <a:ext cx="112716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1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BA4B2E-8893-1346-A5F5-79497D4C8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97" y="4056124"/>
                <a:ext cx="1127168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1032E6-C70C-634D-8EE7-2708D3FA987E}"/>
                  </a:ext>
                </a:extLst>
              </p:cNvPr>
              <p:cNvSpPr txBox="1"/>
              <p:nvPr/>
            </p:nvSpPr>
            <p:spPr>
              <a:xfrm>
                <a:off x="7560648" y="4925518"/>
                <a:ext cx="113370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1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1032E6-C70C-634D-8EE7-2708D3FA9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648" y="4925518"/>
                <a:ext cx="1133708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246EF9-2FE8-E847-B87A-3B182CC324C2}"/>
                  </a:ext>
                </a:extLst>
              </p:cNvPr>
              <p:cNvSpPr txBox="1"/>
              <p:nvPr/>
            </p:nvSpPr>
            <p:spPr>
              <a:xfrm>
                <a:off x="8758835" y="4238007"/>
                <a:ext cx="1697131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1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246EF9-2FE8-E847-B87A-3B182CC32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835" y="4238007"/>
                <a:ext cx="1697131" cy="4154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7A02DA7-A913-1047-B2F4-063ECEF45059}"/>
                  </a:ext>
                </a:extLst>
              </p:cNvPr>
              <p:cNvSpPr txBox="1"/>
              <p:nvPr/>
            </p:nvSpPr>
            <p:spPr>
              <a:xfrm>
                <a:off x="6918558" y="3871458"/>
                <a:ext cx="36388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7A02DA7-A913-1047-B2F4-063ECEF45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558" y="3871458"/>
                <a:ext cx="36388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16636CD-33F6-2244-802C-594E505C4D35}"/>
                  </a:ext>
                </a:extLst>
              </p:cNvPr>
              <p:cNvSpPr txBox="1"/>
              <p:nvPr/>
            </p:nvSpPr>
            <p:spPr>
              <a:xfrm>
                <a:off x="6897124" y="4645357"/>
                <a:ext cx="31278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16636CD-33F6-2244-802C-594E505C4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124" y="4645357"/>
                <a:ext cx="31278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384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365125"/>
            <a:ext cx="8459599" cy="1325563"/>
          </a:xfrm>
        </p:spPr>
        <p:txBody>
          <a:bodyPr>
            <a:normAutofit/>
          </a:bodyPr>
          <a:lstStyle/>
          <a:p>
            <a:r>
              <a:rPr lang="en-US" b="1" dirty="0"/>
              <a:t>NDN &amp; Network Coding (NC)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5B0C2B-28BF-CF44-BFED-FFD7DB148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86046" y="1748842"/>
            <a:ext cx="6244140" cy="3621979"/>
          </a:xfrm>
          <a:ln>
            <a:noFill/>
          </a:ln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A1B19A-7126-DA4F-8C84-0EF2055E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9602F-1A16-A147-AF9B-40BCB92CC57B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F61413-86C8-F141-BB97-4B30A85F3C9F}"/>
                  </a:ext>
                </a:extLst>
              </p:cNvPr>
              <p:cNvSpPr txBox="1"/>
              <p:nvPr/>
            </p:nvSpPr>
            <p:spPr>
              <a:xfrm>
                <a:off x="2324100" y="3559832"/>
                <a:ext cx="2561946" cy="8309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F61413-86C8-F141-BB97-4B30A85F3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00" y="3559832"/>
                <a:ext cx="2561946" cy="830997"/>
              </a:xfrm>
              <a:prstGeom prst="rect">
                <a:avLst/>
              </a:prstGeom>
              <a:blipFill>
                <a:blip r:embed="rId4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>
            <a:extLst>
              <a:ext uri="{FF2B5EF4-FFF2-40B4-BE49-F238E27FC236}">
                <a16:creationId xmlns:a16="http://schemas.microsoft.com/office/drawing/2014/main" id="{9AAE0830-5F91-4D48-98B2-E932CC55C95D}"/>
              </a:ext>
            </a:extLst>
          </p:cNvPr>
          <p:cNvSpPr/>
          <p:nvPr/>
        </p:nvSpPr>
        <p:spPr>
          <a:xfrm rot="5400000">
            <a:off x="3258259" y="4666145"/>
            <a:ext cx="611473" cy="3346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C6E146-D4B0-7C44-AA89-0C4DAAF53897}"/>
                  </a:ext>
                </a:extLst>
              </p:cNvPr>
              <p:cNvSpPr txBox="1"/>
              <p:nvPr/>
            </p:nvSpPr>
            <p:spPr>
              <a:xfrm>
                <a:off x="2213772" y="5287132"/>
                <a:ext cx="3035139" cy="8309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=   </m:t>
                      </m:r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=−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C6E146-D4B0-7C44-AA89-0C4DAAF53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772" y="5287132"/>
                <a:ext cx="3035139" cy="830997"/>
              </a:xfrm>
              <a:prstGeom prst="rect">
                <a:avLst/>
              </a:prstGeom>
              <a:blipFill>
                <a:blip r:embed="rId5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A974469-3E9C-FE43-8430-4096E61FFA8C}"/>
              </a:ext>
            </a:extLst>
          </p:cNvPr>
          <p:cNvSpPr txBox="1"/>
          <p:nvPr/>
        </p:nvSpPr>
        <p:spPr>
          <a:xfrm>
            <a:off x="207380" y="6331500"/>
            <a:ext cx="1114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 M.-J. Montpetit, C. Westphal, D. </a:t>
            </a:r>
            <a:r>
              <a:rPr lang="en-US" sz="1200" dirty="0" err="1"/>
              <a:t>Trossen</a:t>
            </a:r>
            <a:r>
              <a:rPr lang="en-US" sz="1200" dirty="0"/>
              <a:t>, Network coding meets information-centric networking: An architectural case for information dispersion through native network coding, in: Proc. 1st ACM Workshop on Emerging Name-Oriented Mobile Networking Design-Architecture, Algorithms, and Applications, 2012, pp. 31–36.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6B23D-CE3F-0244-A1CA-E75C828516ED}"/>
              </a:ext>
            </a:extLst>
          </p:cNvPr>
          <p:cNvSpPr txBox="1"/>
          <p:nvPr/>
        </p:nvSpPr>
        <p:spPr>
          <a:xfrm>
            <a:off x="650364" y="2037035"/>
            <a:ext cx="6161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NC can improve ICN/NDN performance [1]</a:t>
            </a:r>
          </a:p>
        </p:txBody>
      </p:sp>
    </p:spTree>
    <p:extLst>
      <p:ext uri="{BB962C8B-B14F-4D97-AF65-F5344CB8AC3E}">
        <p14:creationId xmlns:p14="http://schemas.microsoft.com/office/powerpoint/2010/main" val="3435686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343734"/>
            <a:ext cx="8459599" cy="1325563"/>
          </a:xfrm>
        </p:spPr>
        <p:txBody>
          <a:bodyPr>
            <a:normAutofit/>
          </a:bodyPr>
          <a:lstStyle/>
          <a:p>
            <a:r>
              <a:rPr lang="en-US" b="1" dirty="0"/>
              <a:t>MICN: NDN with Network Coding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347CF1-F658-4E41-8BF6-460FFBAF5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09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MICN</a:t>
            </a:r>
          </a:p>
          <a:p>
            <a:pPr lvl="1"/>
            <a:r>
              <a:rPr lang="en-US" dirty="0"/>
              <a:t>Ensures high throughput by avoiding redundant content</a:t>
            </a:r>
          </a:p>
          <a:p>
            <a:pPr lvl="1"/>
            <a:endParaRPr lang="en-US" dirty="0"/>
          </a:p>
          <a:p>
            <a:r>
              <a:rPr lang="en-US" dirty="0"/>
              <a:t>Classical NDN + NC</a:t>
            </a:r>
          </a:p>
          <a:p>
            <a:pPr lvl="1"/>
            <a:r>
              <a:rPr lang="en-US" dirty="0"/>
              <a:t>Information bases: CS, PIT, (FIB)</a:t>
            </a:r>
          </a:p>
          <a:p>
            <a:pPr lvl="1"/>
            <a:r>
              <a:rPr lang="en-US" dirty="0"/>
              <a:t>Messages: Interest, Data</a:t>
            </a:r>
          </a:p>
          <a:p>
            <a:pPr lvl="1"/>
            <a:r>
              <a:rPr lang="en-US" dirty="0"/>
              <a:t>Coded content (segments)</a:t>
            </a:r>
            <a:endParaRPr lang="en-US" strike="sngStrike" dirty="0"/>
          </a:p>
          <a:p>
            <a:r>
              <a:rPr lang="en-US" dirty="0"/>
              <a:t>Changes in semantics</a:t>
            </a:r>
          </a:p>
          <a:p>
            <a:endParaRPr lang="en-US" dirty="0"/>
          </a:p>
          <a:p>
            <a:r>
              <a:rPr lang="en-US" sz="2400" dirty="0"/>
              <a:t>Existing: </a:t>
            </a:r>
            <a:r>
              <a:rPr lang="en-US" sz="2400" dirty="0" err="1"/>
              <a:t>NetcodNDN</a:t>
            </a:r>
            <a:r>
              <a:rPr lang="en-US" sz="2400" dirty="0"/>
              <a:t> [1], </a:t>
            </a:r>
            <a:r>
              <a:rPr lang="en-US" sz="2400" dirty="0" err="1"/>
              <a:t>CodingCache</a:t>
            </a:r>
            <a:r>
              <a:rPr lang="en-US" sz="2400" dirty="0"/>
              <a:t> [2]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A1B19A-7126-DA4F-8C84-0EF2055E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9602F-1A16-A147-AF9B-40BCB92CC57B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677" y="2619387"/>
            <a:ext cx="6579834" cy="28607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974469-3E9C-FE43-8430-4096E61FFA8C}"/>
              </a:ext>
            </a:extLst>
          </p:cNvPr>
          <p:cNvSpPr txBox="1"/>
          <p:nvPr/>
        </p:nvSpPr>
        <p:spPr>
          <a:xfrm>
            <a:off x="195262" y="6396335"/>
            <a:ext cx="1180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 J. </a:t>
            </a:r>
            <a:r>
              <a:rPr lang="en-US" sz="1200" dirty="0" err="1"/>
              <a:t>Saltarin</a:t>
            </a:r>
            <a:r>
              <a:rPr lang="en-US" sz="1200" dirty="0"/>
              <a:t>, E. </a:t>
            </a:r>
            <a:r>
              <a:rPr lang="en-US" sz="1200" dirty="0" err="1"/>
              <a:t>Bourtsoulatze</a:t>
            </a:r>
            <a:r>
              <a:rPr lang="en-US" sz="1200" dirty="0"/>
              <a:t>, N. </a:t>
            </a:r>
            <a:r>
              <a:rPr lang="en-US" sz="1200" dirty="0" err="1"/>
              <a:t>Thomos</a:t>
            </a:r>
            <a:r>
              <a:rPr lang="en-US" sz="1200" dirty="0"/>
              <a:t>, T. Braun, </a:t>
            </a:r>
            <a:r>
              <a:rPr lang="en-US" sz="1200" dirty="0" err="1"/>
              <a:t>NetCodCCN</a:t>
            </a:r>
            <a:r>
              <a:rPr lang="en-US" sz="1200" dirty="0"/>
              <a:t>: A network coding approach for content-centric networks, in: Proc. of IEEE IN-FOCOM, 2016, pp. 1–9.</a:t>
            </a:r>
          </a:p>
          <a:p>
            <a:r>
              <a:rPr lang="en-US" sz="1200" dirty="0"/>
              <a:t>[2] Q. Wu, Z. Li, G. </a:t>
            </a:r>
            <a:r>
              <a:rPr lang="en-US" sz="1200" dirty="0" err="1"/>
              <a:t>Xie</a:t>
            </a:r>
            <a:r>
              <a:rPr lang="en-US" sz="1200" dirty="0"/>
              <a:t>, </a:t>
            </a:r>
            <a:r>
              <a:rPr lang="en-US" sz="1200" dirty="0" err="1"/>
              <a:t>CodingCache</a:t>
            </a:r>
            <a:r>
              <a:rPr lang="en-US" sz="1200" dirty="0"/>
              <a:t>: multipath-aware CCN cache with network coding, in: Proc. 3rd ACM SIGCOMM Workshop on Information-centric Networking, 2013, pp. 41–42.</a:t>
            </a:r>
          </a:p>
        </p:txBody>
      </p:sp>
    </p:spTree>
    <p:extLst>
      <p:ext uri="{BB962C8B-B14F-4D97-AF65-F5344CB8AC3E}">
        <p14:creationId xmlns:p14="http://schemas.microsoft.com/office/powerpoint/2010/main" val="3993612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410368"/>
            <a:ext cx="8459599" cy="1325563"/>
          </a:xfrm>
        </p:spPr>
        <p:txBody>
          <a:bodyPr/>
          <a:lstStyle/>
          <a:p>
            <a:r>
              <a:rPr lang="en-US" b="1" dirty="0"/>
              <a:t>MICN Semantics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347CF1-F658-4E41-8BF6-460FFBAF5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Central goal: high throughput with multipath</a:t>
            </a:r>
          </a:p>
          <a:p>
            <a:pPr lvl="1"/>
            <a:r>
              <a:rPr lang="en-US" dirty="0"/>
              <a:t>With no assumption of coordination</a:t>
            </a:r>
          </a:p>
          <a:p>
            <a:pPr lvl="1"/>
            <a:endParaRPr lang="en-US" dirty="0"/>
          </a:p>
          <a:p>
            <a:r>
              <a:rPr lang="en-US" dirty="0"/>
              <a:t>Semantics, design choices:</a:t>
            </a:r>
          </a:p>
          <a:p>
            <a:pPr lvl="1"/>
            <a:r>
              <a:rPr lang="en-US" dirty="0"/>
              <a:t>For more interest propagation</a:t>
            </a:r>
          </a:p>
          <a:p>
            <a:pPr lvl="2"/>
            <a:r>
              <a:rPr lang="en-US" dirty="0"/>
              <a:t>Forwarding strategy: Multicast </a:t>
            </a:r>
          </a:p>
          <a:p>
            <a:pPr lvl="2"/>
            <a:r>
              <a:rPr lang="en-US" dirty="0"/>
              <a:t>Modified Interest processing: no merging interests for different users</a:t>
            </a:r>
          </a:p>
          <a:p>
            <a:pPr lvl="1"/>
            <a:r>
              <a:rPr lang="en-US" dirty="0"/>
              <a:t>Constant flow of content</a:t>
            </a:r>
          </a:p>
          <a:p>
            <a:pPr lvl="2"/>
            <a:r>
              <a:rPr lang="en-US" dirty="0"/>
              <a:t>Multiple parallel Interests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A1B19A-7126-DA4F-8C84-0EF2055E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9602F-1A16-A147-AF9B-40BCB92CC5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5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410368"/>
            <a:ext cx="8459599" cy="1325563"/>
          </a:xfrm>
        </p:spPr>
        <p:txBody>
          <a:bodyPr/>
          <a:lstStyle/>
          <a:p>
            <a:r>
              <a:rPr lang="en-US" b="1" dirty="0"/>
              <a:t>MICN Interest Processing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347CF1-F658-4E41-8BF6-460FFBAF5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Classical NDN Interest processing</a:t>
            </a:r>
          </a:p>
          <a:p>
            <a:pPr lvl="1"/>
            <a:r>
              <a:rPr lang="en-US" dirty="0"/>
              <a:t>Efficient (limit Interest diffusing)</a:t>
            </a:r>
          </a:p>
          <a:p>
            <a:endParaRPr lang="en-US" dirty="0"/>
          </a:p>
          <a:p>
            <a:r>
              <a:rPr lang="en-US" dirty="0"/>
              <a:t>MICN Interest processing</a:t>
            </a:r>
          </a:p>
          <a:p>
            <a:pPr lvl="1"/>
            <a:r>
              <a:rPr lang="en-US" dirty="0"/>
              <a:t>Not suppressing Interests </a:t>
            </a:r>
          </a:p>
          <a:p>
            <a:pPr lvl="1"/>
            <a:r>
              <a:rPr lang="en-US" dirty="0"/>
              <a:t>Effectively allowing interests </a:t>
            </a:r>
            <a:br>
              <a:rPr lang="en-US" dirty="0"/>
            </a:br>
            <a:r>
              <a:rPr lang="en-US" dirty="0"/>
              <a:t>from all clients reach all sources</a:t>
            </a:r>
          </a:p>
          <a:p>
            <a:pPr lvl="1"/>
            <a:endParaRPr lang="en-US" dirty="0"/>
          </a:p>
          <a:p>
            <a:r>
              <a:rPr lang="en-US" dirty="0"/>
              <a:t>Alternates 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A1B19A-7126-DA4F-8C84-0EF2055E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9602F-1A16-A147-AF9B-40BCB92CC57B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96D494-CB93-D849-AF4F-A5B7E361D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727" y="2458661"/>
            <a:ext cx="6100578" cy="31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02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405804"/>
            <a:ext cx="8631575" cy="1325563"/>
          </a:xfrm>
        </p:spPr>
        <p:txBody>
          <a:bodyPr>
            <a:normAutofit/>
          </a:bodyPr>
          <a:lstStyle/>
          <a:p>
            <a:r>
              <a:rPr lang="en-US" b="1" dirty="0"/>
              <a:t>Multiple Parallel Interests (Pipelining)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347CF1-F658-4E41-8BF6-460FFBAF5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Uninterrupted flow of content</a:t>
            </a:r>
          </a:p>
          <a:p>
            <a:pPr lvl="1"/>
            <a:r>
              <a:rPr lang="en-US" dirty="0"/>
              <a:t>Multiple parallel Interests (pipelining)</a:t>
            </a:r>
          </a:p>
          <a:p>
            <a:r>
              <a:rPr lang="en-US" dirty="0"/>
              <a:t>Problem: </a:t>
            </a:r>
          </a:p>
          <a:p>
            <a:pPr lvl="1"/>
            <a:r>
              <a:rPr lang="en-US" dirty="0"/>
              <a:t>Avoid getting back redundant content (linearly dependent)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GB" dirty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A1B19A-7126-DA4F-8C84-0EF2055E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9602F-1A16-A147-AF9B-40BCB92CC57B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9567B2-CA60-024C-87ED-3A609EBAD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461" y="3718421"/>
            <a:ext cx="5094973" cy="2637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77AA54-3CE5-8946-80CE-A8B793B60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535" y="4197757"/>
            <a:ext cx="3911876" cy="187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19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371281"/>
            <a:ext cx="975987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MILIC </a:t>
            </a:r>
            <a:br>
              <a:rPr lang="en-US" b="1" dirty="0"/>
            </a:br>
            <a:r>
              <a:rPr lang="en-US" sz="3600" b="1" dirty="0"/>
              <a:t>(</a:t>
            </a:r>
            <a:r>
              <a:rPr lang="en-GB" sz="3600" b="1" dirty="0"/>
              <a:t>Multiple Interests for Linearly Independent Contents</a:t>
            </a:r>
            <a:r>
              <a:rPr lang="en-US" sz="3600" b="1" dirty="0"/>
              <a:t>)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E36E531-DFE7-AD4F-9D30-3FAB417FD4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Indexed Interests: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source segments </a:t>
                </a:r>
              </a:p>
              <a:p>
                <a:r>
                  <a:rPr lang="en-GB" dirty="0"/>
                  <a:t>MILIC (Multiple Interests for Linearly Independent Contents)</a:t>
                </a:r>
              </a:p>
              <a:p>
                <a:pPr lvl="1"/>
                <a:r>
                  <a:rPr lang="en-GB" dirty="0"/>
                  <a:t>Constraints on content satisfying each Interest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Materialized by “subsets”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E36E531-DFE7-AD4F-9D30-3FAB417FD4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36C9AFD1-EADE-AB46-BA1F-042AF4183A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226" b="18097"/>
          <a:stretch/>
        </p:blipFill>
        <p:spPr>
          <a:xfrm>
            <a:off x="1327355" y="4015115"/>
            <a:ext cx="2345442" cy="229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81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371281"/>
            <a:ext cx="975987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MILIC </a:t>
            </a:r>
            <a:br>
              <a:rPr lang="en-US" b="1" dirty="0"/>
            </a:br>
            <a:r>
              <a:rPr lang="en-US" sz="3600" b="1" dirty="0"/>
              <a:t>(</a:t>
            </a:r>
            <a:r>
              <a:rPr lang="en-GB" sz="3600" b="1" dirty="0"/>
              <a:t>Multiple Interests for Linearly Independent Contents</a:t>
            </a:r>
            <a:r>
              <a:rPr lang="en-US" sz="3600" b="1" dirty="0"/>
              <a:t>)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E36E531-DFE7-AD4F-9D30-3FAB417FD4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Indexed Interests: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source segments </a:t>
                </a:r>
              </a:p>
              <a:p>
                <a:r>
                  <a:rPr lang="en-GB" dirty="0"/>
                  <a:t>MILIC (Multiple Interests for Linearly Independent Contents)</a:t>
                </a:r>
              </a:p>
              <a:p>
                <a:pPr lvl="1"/>
                <a:r>
                  <a:rPr lang="en-GB" dirty="0"/>
                  <a:t>Constraints on content satisfying each Interest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Materialized by “subsets”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E36E531-DFE7-AD4F-9D30-3FAB417FD4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9687CF9-BF1A-9F43-B258-B5472D687A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4" t="15847" r="27599" b="4762"/>
          <a:stretch/>
        </p:blipFill>
        <p:spPr>
          <a:xfrm>
            <a:off x="3864436" y="4214316"/>
            <a:ext cx="3909696" cy="20914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029701" y="4161027"/>
                <a:ext cx="3388028" cy="2015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  <a:p>
                <a:endParaRPr lang="en-US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  <a:p>
                <a:endParaRPr lang="en-US" sz="2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701" y="4161027"/>
                <a:ext cx="3388028" cy="2015936"/>
              </a:xfrm>
              <a:prstGeom prst="rect">
                <a:avLst/>
              </a:prstGeom>
              <a:blipFill>
                <a:blip r:embed="rId4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36C9AFD1-EADE-AB46-BA1F-042AF4183A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9226" b="18097"/>
          <a:stretch/>
        </p:blipFill>
        <p:spPr>
          <a:xfrm>
            <a:off x="1327355" y="4015115"/>
            <a:ext cx="2345442" cy="22906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C535D2-1864-F94A-8855-5FFB6DBC68DA}"/>
                  </a:ext>
                </a:extLst>
              </p:cNvPr>
              <p:cNvSpPr txBox="1"/>
              <p:nvPr/>
            </p:nvSpPr>
            <p:spPr>
              <a:xfrm>
                <a:off x="4051139" y="3784282"/>
                <a:ext cx="33765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C535D2-1864-F94A-8855-5FFB6DBC6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139" y="3784282"/>
                <a:ext cx="3376545" cy="461665"/>
              </a:xfrm>
              <a:prstGeom prst="rect">
                <a:avLst/>
              </a:prstGeom>
              <a:blipFill>
                <a:blip r:embed="rId6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230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407729"/>
            <a:ext cx="8459599" cy="1325563"/>
          </a:xfrm>
        </p:spPr>
        <p:txBody>
          <a:bodyPr/>
          <a:lstStyle/>
          <a:p>
            <a:r>
              <a:rPr lang="en-US" b="1" dirty="0"/>
              <a:t>MILIC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2347CF1-F658-4E41-8BF6-460FFBAF54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Property 1: replies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independent (by construction)</a:t>
                </a:r>
              </a:p>
              <a:p>
                <a:r>
                  <a:rPr lang="en-US" dirty="0"/>
                  <a:t>Property 2: several replies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have high chance to be independent</a:t>
                </a:r>
                <a:endParaRPr lang="en-US" baseline="-25000" dirty="0"/>
              </a:p>
              <a:p>
                <a:r>
                  <a:rPr lang="en-US" dirty="0"/>
                  <a:t>Property 3: several replies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 can be used to get content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2347CF1-F658-4E41-8BF6-460FFBAF54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A1B19A-7126-DA4F-8C84-0EF2055E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9602F-1A16-A147-AF9B-40BCB92CC57B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1205" b="2686"/>
          <a:stretch/>
        </p:blipFill>
        <p:spPr>
          <a:xfrm>
            <a:off x="2456635" y="3366136"/>
            <a:ext cx="7320835" cy="349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05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410368"/>
            <a:ext cx="8459599" cy="1325563"/>
          </a:xfrm>
        </p:spPr>
        <p:txBody>
          <a:bodyPr>
            <a:normAutofit/>
          </a:bodyPr>
          <a:lstStyle/>
          <a:p>
            <a:r>
              <a:rPr lang="en-US" b="1" dirty="0"/>
              <a:t>Additional Protocol Enhancements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347CF1-F658-4E41-8BF6-460FFBAF5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Just-in-time re-encoding</a:t>
            </a:r>
          </a:p>
          <a:p>
            <a:endParaRPr lang="en-US" dirty="0"/>
          </a:p>
          <a:p>
            <a:r>
              <a:rPr lang="en-US" dirty="0"/>
              <a:t>Interest cancellation (MICN-IC)</a:t>
            </a:r>
          </a:p>
          <a:p>
            <a:endParaRPr lang="en-US" dirty="0"/>
          </a:p>
          <a:p>
            <a:r>
              <a:rPr lang="en-US" dirty="0"/>
              <a:t>Content redirection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A1B19A-7126-DA4F-8C84-0EF2055E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9602F-1A16-A147-AF9B-40BCB92CC5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48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95D6EE-909D-3A41-BB3C-507CA0AE6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414" y="2220913"/>
            <a:ext cx="4864892" cy="3781693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9FF6D9-E0E8-5B45-BFDF-C3B6FAF100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49" t="7061" r="9334" b="5375"/>
          <a:stretch/>
        </p:blipFill>
        <p:spPr>
          <a:xfrm>
            <a:off x="1021080" y="2144047"/>
            <a:ext cx="3864334" cy="385855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 txBox="1">
            <a:spLocks/>
          </p:cNvSpPr>
          <p:nvPr/>
        </p:nvSpPr>
        <p:spPr>
          <a:xfrm>
            <a:off x="2324100" y="340851"/>
            <a:ext cx="8459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MICN in action</a:t>
            </a:r>
          </a:p>
        </p:txBody>
      </p:sp>
    </p:spTree>
    <p:extLst>
      <p:ext uri="{BB962C8B-B14F-4D97-AF65-F5344CB8AC3E}">
        <p14:creationId xmlns:p14="http://schemas.microsoft.com/office/powerpoint/2010/main" val="508238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22CEE2-3443-6246-B67A-8228DCB1F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2411" y="1822278"/>
            <a:ext cx="5944572" cy="4103205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 txBox="1">
            <a:spLocks/>
          </p:cNvSpPr>
          <p:nvPr/>
        </p:nvSpPr>
        <p:spPr>
          <a:xfrm>
            <a:off x="2324100" y="365125"/>
            <a:ext cx="8459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MICN in 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B86F9-AFB8-4F4E-8E6E-4FB3DFC8A4A6}"/>
              </a:ext>
            </a:extLst>
          </p:cNvPr>
          <p:cNvSpPr txBox="1"/>
          <p:nvPr/>
        </p:nvSpPr>
        <p:spPr>
          <a:xfrm>
            <a:off x="4412461" y="6057073"/>
            <a:ext cx="2464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Cumulative Data Traffic  </a:t>
            </a:r>
          </a:p>
        </p:txBody>
      </p:sp>
    </p:spTree>
    <p:extLst>
      <p:ext uri="{BB962C8B-B14F-4D97-AF65-F5344CB8AC3E}">
        <p14:creationId xmlns:p14="http://schemas.microsoft.com/office/powerpoint/2010/main" val="2665622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39F6FD6-B41F-D74B-A1C3-16D5F5C4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410368"/>
            <a:ext cx="8459599" cy="1325563"/>
          </a:xfrm>
        </p:spPr>
        <p:txBody>
          <a:bodyPr/>
          <a:lstStyle/>
          <a:p>
            <a:r>
              <a:rPr lang="en-US" b="1" dirty="0"/>
              <a:t>Conclusions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347CF1-F658-4E41-8BF6-460FFBAF5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Presented a new approach on NC + NDN: MICN</a:t>
            </a:r>
          </a:p>
          <a:p>
            <a:r>
              <a:rPr lang="en-US" dirty="0"/>
              <a:t>Everything relies on MILIC (cornerstone)</a:t>
            </a:r>
          </a:p>
          <a:p>
            <a:pPr lvl="1"/>
            <a:r>
              <a:rPr lang="en-US" dirty="0"/>
              <a:t>Avoids redundant content</a:t>
            </a:r>
          </a:p>
          <a:p>
            <a:r>
              <a:rPr lang="en-US" dirty="0"/>
              <a:t>Many critical improvements:</a:t>
            </a:r>
          </a:p>
          <a:p>
            <a:pPr lvl="1"/>
            <a:r>
              <a:rPr lang="en-US" dirty="0"/>
              <a:t>Suppression of Interest, MILIC, Interest cancellation </a:t>
            </a:r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Future work</a:t>
            </a:r>
          </a:p>
          <a:p>
            <a:pPr lvl="1"/>
            <a:r>
              <a:rPr lang="en-US" dirty="0"/>
              <a:t>Improve Interest forwarding</a:t>
            </a:r>
          </a:p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7A1B19A-7126-DA4F-8C84-0EF2055E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9602F-1A16-A147-AF9B-40BCB92CC57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3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A7BAB3-18F4-EC4A-AD43-56B47FDFD69F}"/>
              </a:ext>
            </a:extLst>
          </p:cNvPr>
          <p:cNvSpPr txBox="1"/>
          <p:nvPr/>
        </p:nvSpPr>
        <p:spPr>
          <a:xfrm>
            <a:off x="3518525" y="1870682"/>
            <a:ext cx="39242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Thank you 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47CF5-F019-2846-A53D-17807AB9BFC7}"/>
              </a:ext>
            </a:extLst>
          </p:cNvPr>
          <p:cNvSpPr txBox="1"/>
          <p:nvPr/>
        </p:nvSpPr>
        <p:spPr>
          <a:xfrm>
            <a:off x="4016097" y="3852365"/>
            <a:ext cx="29290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Questions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2F2CE-74B8-9D48-8737-84E50007E5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931"/>
          <a:stretch/>
        </p:blipFill>
        <p:spPr>
          <a:xfrm>
            <a:off x="2969413" y="5924793"/>
            <a:ext cx="5022440" cy="81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76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761</Words>
  <Application>Microsoft Macintosh PowerPoint</Application>
  <PresentationFormat>Widescreen</PresentationFormat>
  <Paragraphs>148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Mangal</vt:lpstr>
      <vt:lpstr>Office Theme</vt:lpstr>
      <vt:lpstr>MICN, a New Perspective    on Network Coding with Named Data Networking</vt:lpstr>
      <vt:lpstr>NDN &amp; Multipath/Multisource</vt:lpstr>
      <vt:lpstr>NDN &amp; Multipath/Multisource</vt:lpstr>
      <vt:lpstr>Network Coding (NC)</vt:lpstr>
      <vt:lpstr>NDN &amp; Network Coding (NC)</vt:lpstr>
      <vt:lpstr>MICN: NDN with Network Coding</vt:lpstr>
      <vt:lpstr>MICN Semantics</vt:lpstr>
      <vt:lpstr>MICN Interest Processing</vt:lpstr>
      <vt:lpstr>Multiple Parallel Interests (Pipelining)</vt:lpstr>
      <vt:lpstr>MILIC  (Multiple Interests for Linearly Independent Contents)</vt:lpstr>
      <vt:lpstr>MILIC  (Multiple Interests for Linearly Independent Contents)</vt:lpstr>
      <vt:lpstr>MILIC Properties</vt:lpstr>
      <vt:lpstr>Additional Protocol Enhancements </vt:lpstr>
      <vt:lpstr>PowerPoint Presentation</vt:lpstr>
      <vt:lpstr>PowerPoint Presentation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MICN, a New Perspective    on Network Coding with Named Data Networking</dc:title>
  <dc:creator>SYNTOF 1</dc:creator>
  <cp:lastModifiedBy>SYNTOF 1</cp:lastModifiedBy>
  <cp:revision>8</cp:revision>
  <dcterms:created xsi:type="dcterms:W3CDTF">2020-09-09T19:24:27Z</dcterms:created>
  <dcterms:modified xsi:type="dcterms:W3CDTF">2020-09-09T20:13:48Z</dcterms:modified>
</cp:coreProperties>
</file>