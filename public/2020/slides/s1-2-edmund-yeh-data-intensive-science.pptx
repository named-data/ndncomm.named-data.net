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jpg" ContentType="image/jpeg"/>
  <Default Extension="rels" ContentType="application/vnd.openxmlformats-package.relationships+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349" r:id="rId3"/>
    <p:sldId id="350" r:id="rId4"/>
    <p:sldId id="351" r:id="rId5"/>
    <p:sldId id="352" r:id="rId6"/>
    <p:sldId id="353" r:id="rId7"/>
    <p:sldId id="354" r:id="rId8"/>
    <p:sldId id="357" r:id="rId9"/>
    <p:sldId id="355" r:id="rId10"/>
    <p:sldId id="347" r:id="rId11"/>
    <p:sldId id="348" r:id="rId12"/>
    <p:sldId id="358" r:id="rId13"/>
    <p:sldId id="345" r:id="rId14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330"/>
    <p:restoredTop sz="94529"/>
  </p:normalViewPr>
  <p:slideViewPr>
    <p:cSldViewPr snapToGrid="0" snapToObjects="1">
      <p:cViewPr varScale="1">
        <p:scale>
          <a:sx n="102" d="100"/>
          <a:sy n="102" d="100"/>
        </p:scale>
        <p:origin x="28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2" name="Shape 13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j-lt"/>
        <a:ea typeface="+mj-ea"/>
        <a:cs typeface="+mj-cs"/>
        <a:sym typeface="Calibri" panose="020F0502020204030204"/>
      </a:defRPr>
    </a:lvl1pPr>
    <a:lvl2pPr indent="228600" latinLnBrk="0">
      <a:spcBef>
        <a:spcPts val="400"/>
      </a:spcBef>
      <a:defRPr sz="1200">
        <a:latin typeface="+mj-lt"/>
        <a:ea typeface="+mj-ea"/>
        <a:cs typeface="+mj-cs"/>
        <a:sym typeface="Calibri" panose="020F0502020204030204"/>
      </a:defRPr>
    </a:lvl2pPr>
    <a:lvl3pPr indent="457200" latinLnBrk="0">
      <a:spcBef>
        <a:spcPts val="400"/>
      </a:spcBef>
      <a:defRPr sz="1200">
        <a:latin typeface="+mj-lt"/>
        <a:ea typeface="+mj-ea"/>
        <a:cs typeface="+mj-cs"/>
        <a:sym typeface="Calibri" panose="020F0502020204030204"/>
      </a:defRPr>
    </a:lvl3pPr>
    <a:lvl4pPr indent="685800" latinLnBrk="0">
      <a:spcBef>
        <a:spcPts val="400"/>
      </a:spcBef>
      <a:defRPr sz="1200">
        <a:latin typeface="+mj-lt"/>
        <a:ea typeface="+mj-ea"/>
        <a:cs typeface="+mj-cs"/>
        <a:sym typeface="Calibri" panose="020F0502020204030204"/>
      </a:defRPr>
    </a:lvl4pPr>
    <a:lvl5pPr indent="914400" latinLnBrk="0">
      <a:spcBef>
        <a:spcPts val="400"/>
      </a:spcBef>
      <a:defRPr sz="1200">
        <a:latin typeface="+mj-lt"/>
        <a:ea typeface="+mj-ea"/>
        <a:cs typeface="+mj-cs"/>
        <a:sym typeface="Calibri" panose="020F0502020204030204"/>
      </a:defRPr>
    </a:lvl5pPr>
    <a:lvl6pPr indent="1143000" latinLnBrk="0">
      <a:spcBef>
        <a:spcPts val="400"/>
      </a:spcBef>
      <a:defRPr sz="1200">
        <a:latin typeface="+mj-lt"/>
        <a:ea typeface="+mj-ea"/>
        <a:cs typeface="+mj-cs"/>
        <a:sym typeface="Calibri" panose="020F0502020204030204"/>
      </a:defRPr>
    </a:lvl6pPr>
    <a:lvl7pPr indent="1371600" latinLnBrk="0">
      <a:spcBef>
        <a:spcPts val="400"/>
      </a:spcBef>
      <a:defRPr sz="1200">
        <a:latin typeface="+mj-lt"/>
        <a:ea typeface="+mj-ea"/>
        <a:cs typeface="+mj-cs"/>
        <a:sym typeface="Calibri" panose="020F0502020204030204"/>
      </a:defRPr>
    </a:lvl7pPr>
    <a:lvl8pPr indent="1600200" latinLnBrk="0">
      <a:spcBef>
        <a:spcPts val="400"/>
      </a:spcBef>
      <a:defRPr sz="1200">
        <a:latin typeface="+mj-lt"/>
        <a:ea typeface="+mj-ea"/>
        <a:cs typeface="+mj-cs"/>
        <a:sym typeface="Calibri" panose="020F0502020204030204"/>
      </a:defRPr>
    </a:lvl8pPr>
    <a:lvl9pPr indent="1828800" latinLnBrk="0">
      <a:spcBef>
        <a:spcPts val="400"/>
      </a:spcBef>
      <a:defRPr sz="1200">
        <a:latin typeface="+mj-lt"/>
        <a:ea typeface="+mj-ea"/>
        <a:cs typeface="+mj-cs"/>
        <a:sym typeface="Calibri" panose="020F050202020403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PPS results indicate payloads with the same number of fragments have similar results</a:t>
            </a:r>
            <a:endParaRPr lang="en-US" dirty="0"/>
          </a:p>
          <a:p>
            <a:r>
              <a:rPr lang="en-US" dirty="0"/>
              <a:t>Both Payload 3000 and 4000 have 3 </a:t>
            </a:r>
            <a:r>
              <a:rPr lang="en-US" sz="1200" dirty="0"/>
              <a:t>fragments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Both Payload 6000 and 7000 have 5 </a:t>
            </a:r>
            <a:r>
              <a:rPr lang="en-US" sz="1200" dirty="0"/>
              <a:t>fragments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Goodput results show fully utilizing the fragments could get better results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The last fragment of 4000 is more than the last fragment of 3000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The last fragment of 7000 is more than the last fragment of 6000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In our experiments, we sometimes encountered the “</a:t>
            </a:r>
            <a:r>
              <a:rPr lang="en-US" sz="1200" dirty="0" err="1"/>
              <a:t>tokenHt</a:t>
            </a:r>
            <a:r>
              <a:rPr lang="en-US" sz="1200" dirty="0"/>
              <a:t>-full” errors, which may hurt the performance.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476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tif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tiff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tiff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tif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tiff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tiff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tiff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tiff"/><Relationship Id="rId3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with body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8"/>
          <p:cNvSpPr/>
          <p:nvPr/>
        </p:nvSpPr>
        <p:spPr>
          <a:xfrm>
            <a:off x="0" y="0"/>
            <a:ext cx="9144000" cy="1066800"/>
          </a:xfrm>
          <a:prstGeom prst="rect">
            <a:avLst/>
          </a:prstGeom>
          <a:solidFill>
            <a:srgbClr val="D81F00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4" name="Straight Connector 6"/>
          <p:cNvSpPr/>
          <p:nvPr/>
        </p:nvSpPr>
        <p:spPr>
          <a:xfrm>
            <a:off x="304800" y="6248400"/>
            <a:ext cx="8686800" cy="0"/>
          </a:xfrm>
          <a:prstGeom prst="line">
            <a:avLst/>
          </a:prstGeom>
          <a:ln w="25400">
            <a:solidFill>
              <a:srgbClr val="D9D9D9"/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5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6304845"/>
            <a:ext cx="2763854" cy="50742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6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7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-2823" y="1"/>
            <a:ext cx="9146824" cy="106680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8"/>
          <p:cNvSpPr/>
          <p:nvPr/>
        </p:nvSpPr>
        <p:spPr>
          <a:xfrm>
            <a:off x="0" y="0"/>
            <a:ext cx="9144000" cy="1066800"/>
          </a:xfrm>
          <a:prstGeom prst="rect">
            <a:avLst/>
          </a:prstGeom>
          <a:solidFill>
            <a:srgbClr val="D81F00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6" name="Straight Connector 6"/>
          <p:cNvSpPr/>
          <p:nvPr/>
        </p:nvSpPr>
        <p:spPr>
          <a:xfrm>
            <a:off x="304800" y="6248400"/>
            <a:ext cx="8686800" cy="0"/>
          </a:xfrm>
          <a:prstGeom prst="line">
            <a:avLst/>
          </a:prstGeom>
          <a:ln w="25400">
            <a:solidFill>
              <a:srgbClr val="D9D9D9"/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37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6304845"/>
            <a:ext cx="2763854" cy="50742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8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457200" y="4406900"/>
            <a:ext cx="8229600" cy="130442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4000" b="1" cap="all"/>
            </a:lvl1pPr>
          </a:lstStyle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7200" y="2906713"/>
            <a:ext cx="8229600" cy="14366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8"/>
          <p:cNvSpPr/>
          <p:nvPr/>
        </p:nvSpPr>
        <p:spPr>
          <a:xfrm>
            <a:off x="0" y="0"/>
            <a:ext cx="9144000" cy="1066800"/>
          </a:xfrm>
          <a:prstGeom prst="rect">
            <a:avLst/>
          </a:prstGeom>
          <a:solidFill>
            <a:srgbClr val="D81F00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" name="Straight Connector 6"/>
          <p:cNvSpPr/>
          <p:nvPr/>
        </p:nvSpPr>
        <p:spPr>
          <a:xfrm>
            <a:off x="304800" y="6248400"/>
            <a:ext cx="8686800" cy="0"/>
          </a:xfrm>
          <a:prstGeom prst="line">
            <a:avLst/>
          </a:prstGeom>
          <a:ln w="25400">
            <a:solidFill>
              <a:srgbClr val="D9D9D9"/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9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6304845"/>
            <a:ext cx="2763854" cy="50742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0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40" indent="-320040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1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457200" y="838200"/>
            <a:ext cx="8229600" cy="762001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r>
              <a:t>Title Text</a:t>
            </a:r>
          </a:p>
        </p:txBody>
      </p:sp>
      <p:sp>
        <p:nvSpPr>
          <p:cNvPr id="5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8"/>
          <p:cNvSpPr/>
          <p:nvPr/>
        </p:nvSpPr>
        <p:spPr>
          <a:xfrm>
            <a:off x="0" y="0"/>
            <a:ext cx="9144000" cy="1066800"/>
          </a:xfrm>
          <a:prstGeom prst="rect">
            <a:avLst/>
          </a:prstGeom>
          <a:solidFill>
            <a:srgbClr val="D81F00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0" name="Straight Connector 6"/>
          <p:cNvSpPr/>
          <p:nvPr/>
        </p:nvSpPr>
        <p:spPr>
          <a:xfrm>
            <a:off x="304800" y="6248400"/>
            <a:ext cx="8686800" cy="0"/>
          </a:xfrm>
          <a:prstGeom prst="line">
            <a:avLst/>
          </a:prstGeom>
          <a:ln w="25400">
            <a:solidFill>
              <a:srgbClr val="D9D9D9"/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61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6304845"/>
            <a:ext cx="2763854" cy="50742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2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457200" y="609600"/>
            <a:ext cx="82296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6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  <a:endParaRPr/>
          </a:p>
        </p:txBody>
      </p:sp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8"/>
          <p:cNvSpPr/>
          <p:nvPr/>
        </p:nvSpPr>
        <p:spPr>
          <a:xfrm>
            <a:off x="0" y="0"/>
            <a:ext cx="9144000" cy="1066800"/>
          </a:xfrm>
          <a:prstGeom prst="rect">
            <a:avLst/>
          </a:prstGeom>
          <a:solidFill>
            <a:srgbClr val="D81F00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4" name="Straight Connector 6"/>
          <p:cNvSpPr/>
          <p:nvPr/>
        </p:nvSpPr>
        <p:spPr>
          <a:xfrm>
            <a:off x="304800" y="6248400"/>
            <a:ext cx="8686800" cy="0"/>
          </a:xfrm>
          <a:prstGeom prst="line">
            <a:avLst/>
          </a:prstGeom>
          <a:ln w="25400">
            <a:solidFill>
              <a:srgbClr val="D9D9D9"/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85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6304845"/>
            <a:ext cx="2763854" cy="50742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8"/>
          <p:cNvSpPr/>
          <p:nvPr/>
        </p:nvSpPr>
        <p:spPr>
          <a:xfrm>
            <a:off x="0" y="0"/>
            <a:ext cx="9144000" cy="1066800"/>
          </a:xfrm>
          <a:prstGeom prst="rect">
            <a:avLst/>
          </a:prstGeom>
          <a:solidFill>
            <a:srgbClr val="D81F00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4" name="Straight Connector 6"/>
          <p:cNvSpPr/>
          <p:nvPr/>
        </p:nvSpPr>
        <p:spPr>
          <a:xfrm>
            <a:off x="304800" y="6248400"/>
            <a:ext cx="8686800" cy="0"/>
          </a:xfrm>
          <a:prstGeom prst="line">
            <a:avLst/>
          </a:prstGeom>
          <a:ln w="25400">
            <a:solidFill>
              <a:srgbClr val="D9D9D9"/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95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6304845"/>
            <a:ext cx="2763854" cy="50742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96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457200" y="762000"/>
            <a:ext cx="3008314" cy="6731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97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3575050" y="762000"/>
            <a:ext cx="5111750" cy="53641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8" name="Text Placeholder 3"/>
          <p:cNvSpPr>
            <a:spLocks noGrp="1"/>
          </p:cNvSpPr>
          <p:nvPr>
            <p:ph type="body" sz="half" idx="13"/>
          </p:nvPr>
        </p:nvSpPr>
        <p:spPr>
          <a:xfrm>
            <a:off x="457199" y="1524000"/>
            <a:ext cx="3008315" cy="460216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  <a:endParaRPr/>
          </a:p>
        </p:txBody>
      </p:sp>
      <p:sp>
        <p:nvSpPr>
          <p:cNvPr id="9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8"/>
          <p:cNvSpPr/>
          <p:nvPr/>
        </p:nvSpPr>
        <p:spPr>
          <a:xfrm>
            <a:off x="0" y="0"/>
            <a:ext cx="9144000" cy="1066800"/>
          </a:xfrm>
          <a:prstGeom prst="rect">
            <a:avLst/>
          </a:prstGeom>
          <a:solidFill>
            <a:srgbClr val="D81F00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7" name="Straight Connector 6"/>
          <p:cNvSpPr/>
          <p:nvPr/>
        </p:nvSpPr>
        <p:spPr>
          <a:xfrm>
            <a:off x="304800" y="6248400"/>
            <a:ext cx="8686800" cy="0"/>
          </a:xfrm>
          <a:prstGeom prst="line">
            <a:avLst/>
          </a:prstGeom>
          <a:ln w="25400">
            <a:solidFill>
              <a:srgbClr val="D9D9D9"/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08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6304845"/>
            <a:ext cx="2763854" cy="50742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9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110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1792288" y="838199"/>
            <a:ext cx="5486401" cy="3889376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111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ustom Layout">
    <p:bg>
      <p:bgPr>
        <a:solidFill>
          <a:srgbClr val="D81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angle 8"/>
          <p:cNvSpPr/>
          <p:nvPr/>
        </p:nvSpPr>
        <p:spPr>
          <a:xfrm>
            <a:off x="0" y="0"/>
            <a:ext cx="9144000" cy="1066800"/>
          </a:xfrm>
          <a:prstGeom prst="rect">
            <a:avLst/>
          </a:prstGeom>
          <a:solidFill>
            <a:srgbClr val="D81F00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0" name="Straight Connector 6"/>
          <p:cNvSpPr/>
          <p:nvPr/>
        </p:nvSpPr>
        <p:spPr>
          <a:xfrm>
            <a:off x="304800" y="6248400"/>
            <a:ext cx="8686800" cy="0"/>
          </a:xfrm>
          <a:prstGeom prst="line">
            <a:avLst/>
          </a:prstGeom>
          <a:ln w="25400">
            <a:solidFill>
              <a:srgbClr val="D9D9D9"/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21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6304845"/>
            <a:ext cx="2763854" cy="50742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2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81F00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23" name="Picture 9" descr="Picture 9"/>
          <p:cNvPicPr>
            <a:picLocks noChangeAspect="1"/>
          </p:cNvPicPr>
          <p:nvPr/>
        </p:nvPicPr>
        <p:blipFill>
          <a:blip r:embed="rId3"/>
          <a:srcRect l="9253" t="33368" r="10869" b="40395"/>
          <a:stretch>
            <a:fillRect/>
          </a:stretch>
        </p:blipFill>
        <p:spPr>
          <a:xfrm>
            <a:off x="228599" y="1066799"/>
            <a:ext cx="3179764" cy="78263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24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400049" y="1852260"/>
            <a:ext cx="5695952" cy="58614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12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19600" y="6172200"/>
            <a:ext cx="21336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theme" Target="../theme/theme1.xml"/><Relationship Id="rId12" Type="http://schemas.openxmlformats.org/officeDocument/2006/relationships/image" Target="../media/image1.tiff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/>
          <p:nvPr/>
        </p:nvSpPr>
        <p:spPr>
          <a:xfrm>
            <a:off x="0" y="0"/>
            <a:ext cx="9144000" cy="1066800"/>
          </a:xfrm>
          <a:prstGeom prst="rect">
            <a:avLst/>
          </a:prstGeom>
          <a:solidFill>
            <a:srgbClr val="D81F00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" name="Straight Connector 6"/>
          <p:cNvSpPr/>
          <p:nvPr/>
        </p:nvSpPr>
        <p:spPr>
          <a:xfrm>
            <a:off x="304800" y="6248400"/>
            <a:ext cx="8686800" cy="0"/>
          </a:xfrm>
          <a:prstGeom prst="line">
            <a:avLst/>
          </a:prstGeom>
          <a:ln w="25400">
            <a:solidFill>
              <a:srgbClr val="D9D9D9"/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" name="Picture 1" descr="Picture 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24600" y="6304845"/>
            <a:ext cx="2763854" cy="50742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itle 1"/>
          <p:cNvSpPr txBox="1"/>
          <p:nvPr/>
        </p:nvSpPr>
        <p:spPr>
          <a:xfrm>
            <a:off x="457200" y="838200"/>
            <a:ext cx="8229600" cy="172974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C12030"/>
                </a:solidFill>
                <a:latin typeface="Helvetica CE"/>
                <a:ea typeface="Helvetica CE"/>
                <a:cs typeface="Helvetica CE"/>
                <a:sym typeface="Helvetica CE"/>
              </a:defRPr>
            </a:pPr>
            <a:r>
              <a:t>Headline Lorem Ipsum</a:t>
            </a:r>
            <a:br/>
            <a:r>
              <a:t/>
            </a:r>
            <a:br/>
            <a:endParaRPr/>
          </a:p>
        </p:txBody>
      </p:sp>
      <p:sp>
        <p:nvSpPr>
          <p:cNvPr id="6" name="TextBox 2"/>
          <p:cNvSpPr txBox="1"/>
          <p:nvPr/>
        </p:nvSpPr>
        <p:spPr>
          <a:xfrm>
            <a:off x="457200" y="1600200"/>
            <a:ext cx="8229600" cy="45974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2400">
                <a:latin typeface="ITC New Baskerville Roman"/>
                <a:ea typeface="ITC New Baskerville Roman"/>
                <a:cs typeface="ITC New Baskerville Roman"/>
                <a:sym typeface="ITC New Baskerville Roman"/>
              </a:defRPr>
            </a:lvl1pPr>
          </a:lstStyle>
          <a:p>
            <a:r>
              <a:t>Body content.</a:t>
            </a:r>
          </a:p>
        </p:txBody>
      </p:sp>
      <p:sp>
        <p:nvSpPr>
          <p:cNvPr id="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377864" y="6386830"/>
            <a:ext cx="330161" cy="3327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600">
                <a:solidFill>
                  <a:srgbClr val="898989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8" name="Title Text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1417638"/>
          </a:xfrm>
          <a:prstGeom prst="rect">
            <a:avLst/>
          </a:prstGeom>
          <a:ln w="12700">
            <a:miter lim="400000"/>
          </a:ln>
        </p:spPr>
        <p:txBody>
          <a:bodyPr lIns="45719" rIns="45719" anchor="b"/>
          <a:lstStyle/>
          <a:p>
            <a:r>
              <a:t>Title Text</a:t>
            </a:r>
          </a:p>
        </p:txBody>
      </p:sp>
      <p:sp>
        <p:nvSpPr>
          <p:cNvPr id="9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ransition spd="med"/>
  <p:txStyles>
    <p:titleStyle>
      <a:lvl1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ln>
            <a:noFill/>
          </a:ln>
          <a:solidFill>
            <a:srgbClr val="F2F2F2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ln>
            <a:noFill/>
          </a:ln>
          <a:solidFill>
            <a:srgbClr val="F2F2F2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ln>
            <a:noFill/>
          </a:ln>
          <a:solidFill>
            <a:srgbClr val="F2F2F2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ln>
            <a:noFill/>
          </a:ln>
          <a:solidFill>
            <a:srgbClr val="F2F2F2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ln>
            <a:noFill/>
          </a:ln>
          <a:solidFill>
            <a:srgbClr val="F2F2F2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45720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ln>
            <a:noFill/>
          </a:ln>
          <a:solidFill>
            <a:srgbClr val="F2F2F2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91440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ln>
            <a:noFill/>
          </a:ln>
          <a:solidFill>
            <a:srgbClr val="F2F2F2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137160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ln>
            <a:noFill/>
          </a:ln>
          <a:solidFill>
            <a:srgbClr val="F2F2F2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182880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ln>
            <a:noFill/>
          </a:ln>
          <a:solidFill>
            <a:srgbClr val="F2F2F2"/>
          </a:solidFill>
          <a:uFillTx/>
          <a:latin typeface="+mn-lt"/>
          <a:ea typeface="+mn-ea"/>
          <a:cs typeface="+mn-cs"/>
          <a:sym typeface="Helvetica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1pPr>
      <a:lvl2pPr marL="783590" marR="0" indent="-32639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»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7pPr>
      <a:lvl8pPr marL="35661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8pPr>
      <a:lvl9pPr marL="4023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tif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named-data.net/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Box 2"/>
          <p:cNvSpPr txBox="1"/>
          <p:nvPr/>
        </p:nvSpPr>
        <p:spPr>
          <a:xfrm>
            <a:off x="609600" y="2526030"/>
            <a:ext cx="8001000" cy="1200329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algn="r">
              <a:defRPr sz="3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US" sz="3600" dirty="0" smtClean="0">
                <a:sym typeface="Helvetica"/>
              </a:rPr>
              <a:t> </a:t>
            </a:r>
            <a:r>
              <a:rPr lang="en-US" sz="3600" dirty="0" smtClean="0">
                <a:sym typeface="Helvetica"/>
              </a:rPr>
              <a:t>Data-Centric Ecosystems for</a:t>
            </a:r>
          </a:p>
          <a:p>
            <a:pPr algn="r">
              <a:defRPr sz="3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lang="en-US" sz="3600" dirty="0" smtClean="0">
                <a:sym typeface="Helvetica"/>
              </a:rPr>
              <a:t>Large-Scale Data-Intensive Science</a:t>
            </a:r>
            <a:endParaRPr dirty="0"/>
          </a:p>
        </p:txBody>
      </p:sp>
      <p:sp>
        <p:nvSpPr>
          <p:cNvPr id="135" name="TextBox 2"/>
          <p:cNvSpPr txBox="1"/>
          <p:nvPr/>
        </p:nvSpPr>
        <p:spPr>
          <a:xfrm>
            <a:off x="609600" y="4823460"/>
            <a:ext cx="8001000" cy="40011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r">
              <a:defRPr sz="2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sz="2000" dirty="0" smtClean="0">
                <a:solidFill>
                  <a:schemeClr val="bg1"/>
                </a:solidFill>
                <a:ea typeface="Montserrat"/>
                <a:cs typeface="Montserrat"/>
                <a:sym typeface="Montserrat"/>
              </a:rPr>
              <a:t> </a:t>
            </a:r>
            <a:endParaRPr lang="en-US" sz="2000" dirty="0" smtClean="0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663700" y="4213860"/>
            <a:ext cx="6946900" cy="52321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r"/>
            <a:r>
              <a:rPr lang="en-US" sz="2800" dirty="0" smtClean="0">
                <a:solidFill>
                  <a:schemeClr val="bg1">
                    <a:lumMod val="95000"/>
                  </a:schemeClr>
                </a:solidFill>
                <a:latin typeface="+mn-lt"/>
                <a:cs typeface="+mn-cs"/>
              </a:rPr>
              <a:t>Edmund </a:t>
            </a:r>
            <a:r>
              <a:rPr lang="en-US" sz="2800" dirty="0" err="1" smtClean="0">
                <a:solidFill>
                  <a:schemeClr val="bg1">
                    <a:lumMod val="95000"/>
                  </a:schemeClr>
                </a:solidFill>
                <a:latin typeface="+mn-lt"/>
                <a:cs typeface="+mn-cs"/>
              </a:rPr>
              <a:t>Yeh</a:t>
            </a:r>
            <a:endParaRPr lang="en-US" sz="2800" dirty="0">
              <a:solidFill>
                <a:schemeClr val="bg1">
                  <a:lumMod val="95000"/>
                </a:schemeClr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455789" y="1457043"/>
            <a:ext cx="8229600" cy="45259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Data-Intensive Science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3A8C0216-4882-4BE3-9BF3-AD4EDFFD6B67}"/>
              </a:ext>
            </a:extLst>
          </p:cNvPr>
          <p:cNvGrpSpPr/>
          <p:nvPr/>
        </p:nvGrpSpPr>
        <p:grpSpPr>
          <a:xfrm>
            <a:off x="1049963" y="1608933"/>
            <a:ext cx="7005769" cy="4452100"/>
            <a:chOff x="11767345" y="3109750"/>
            <a:chExt cx="14194950" cy="1032817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xmlns="" id="{38A8F874-518A-49B4-BCE1-C457C7D1ED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767345" y="3156778"/>
              <a:ext cx="6823614" cy="439052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xmlns="" id="{0B1542B5-0142-4308-AD4E-6BE1D12E9D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326092" y="3109750"/>
              <a:ext cx="6636203" cy="4378524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xmlns="" id="{006D8C7F-3121-427C-81D1-9F0F0517588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94" t="-44" r="29877" b="44"/>
            <a:stretch/>
          </p:blipFill>
          <p:spPr>
            <a:xfrm>
              <a:off x="11867892" y="8261593"/>
              <a:ext cx="6794958" cy="4378523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xmlns="" id="{E0FD9C93-BEB2-4EE1-98EE-9E98656AE141}"/>
                </a:ext>
              </a:extLst>
            </p:cNvPr>
            <p:cNvSpPr txBox="1"/>
            <p:nvPr/>
          </p:nvSpPr>
          <p:spPr>
            <a:xfrm>
              <a:off x="12391076" y="7488274"/>
              <a:ext cx="6343664" cy="7853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>
                  <a:latin typeface="+mn-lt"/>
                </a:rPr>
                <a:t>LHC:</a:t>
              </a:r>
              <a:r>
                <a:rPr lang="zh-CN" altLang="en-US" sz="1600" b="1" dirty="0">
                  <a:latin typeface="+mn-lt"/>
                </a:rPr>
                <a:t> </a:t>
              </a:r>
              <a:r>
                <a:rPr lang="en-US" sz="1600" b="1" dirty="0">
                  <a:latin typeface="+mn-lt"/>
                </a:rPr>
                <a:t>Large Hadron Collider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xmlns="" id="{133C7F40-96E9-4D96-BCFB-B1945FF9EA12}"/>
                </a:ext>
              </a:extLst>
            </p:cNvPr>
            <p:cNvSpPr txBox="1"/>
            <p:nvPr/>
          </p:nvSpPr>
          <p:spPr>
            <a:xfrm>
              <a:off x="18662850" y="7502367"/>
              <a:ext cx="6879597" cy="7853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latin typeface="+mn-lt"/>
                </a:rPr>
                <a:t>LSST:</a:t>
              </a:r>
              <a:r>
                <a:rPr lang="zh-CN" altLang="en-US" sz="1600" b="1" dirty="0">
                  <a:latin typeface="+mn-lt"/>
                </a:rPr>
                <a:t> </a:t>
              </a:r>
              <a:r>
                <a:rPr lang="en-US" sz="1600" b="1" dirty="0">
                  <a:latin typeface="+mn-lt"/>
                </a:rPr>
                <a:t>Large Synoptic Survey Telescope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1CD42275-77B8-4785-816A-271881B6C3DF}"/>
                </a:ext>
              </a:extLst>
            </p:cNvPr>
            <p:cNvSpPr txBox="1"/>
            <p:nvPr/>
          </p:nvSpPr>
          <p:spPr>
            <a:xfrm>
              <a:off x="12135982" y="12640116"/>
              <a:ext cx="6197650" cy="7853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>
                  <a:latin typeface="+mn-lt"/>
                </a:rPr>
                <a:t>SKA:</a:t>
              </a:r>
              <a:r>
                <a:rPr lang="zh-CN" altLang="en-US" sz="1600" b="1" dirty="0">
                  <a:latin typeface="+mn-lt"/>
                </a:rPr>
                <a:t> </a:t>
              </a:r>
              <a:r>
                <a:rPr lang="en-US" altLang="zh-CN" sz="1600" b="1" dirty="0">
                  <a:latin typeface="+mn-lt"/>
                </a:rPr>
                <a:t>Square</a:t>
              </a:r>
              <a:r>
                <a:rPr lang="zh-CN" altLang="en-US" sz="1600" b="1" dirty="0">
                  <a:latin typeface="+mn-lt"/>
                </a:rPr>
                <a:t> </a:t>
              </a:r>
              <a:r>
                <a:rPr lang="en-US" altLang="zh-CN" sz="1600" b="1" dirty="0">
                  <a:latin typeface="+mn-lt"/>
                </a:rPr>
                <a:t>Kilometer</a:t>
              </a:r>
              <a:r>
                <a:rPr lang="zh-CN" altLang="en-US" sz="1600" b="1" dirty="0">
                  <a:latin typeface="+mn-lt"/>
                </a:rPr>
                <a:t> </a:t>
              </a:r>
              <a:r>
                <a:rPr lang="en-US" altLang="zh-CN" sz="1600" b="1" dirty="0">
                  <a:latin typeface="+mn-lt"/>
                </a:rPr>
                <a:t>Array</a:t>
              </a:r>
              <a:endParaRPr lang="en-US" sz="1600" b="1" dirty="0">
                <a:latin typeface="+mn-lt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xmlns="" id="{25C1348A-2314-4293-8A0E-61FE1483787A}"/>
                </a:ext>
              </a:extLst>
            </p:cNvPr>
            <p:cNvSpPr txBox="1"/>
            <p:nvPr/>
          </p:nvSpPr>
          <p:spPr>
            <a:xfrm>
              <a:off x="21451858" y="12652534"/>
              <a:ext cx="2384662" cy="7853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smtClean="0">
                  <a:latin typeface="+mn-lt"/>
                </a:rPr>
                <a:t>Genomics</a:t>
              </a:r>
            </a:p>
          </p:txBody>
        </p:sp>
      </p:grpSp>
      <p:pic>
        <p:nvPicPr>
          <p:cNvPr id="13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4108" y="3869451"/>
            <a:ext cx="3068017" cy="1797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266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533400"/>
            <a:ext cx="7989514" cy="875918"/>
          </a:xfrm>
          <a:prstGeom prst="rect">
            <a:avLst/>
          </a:prstGeom>
        </p:spPr>
        <p:txBody>
          <a:bodyPr vert="horz" wrap="square" lIns="0" tIns="14007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110"/>
              </a:spcBef>
            </a:pPr>
            <a:r>
              <a:rPr lang="en-US" dirty="0" smtClean="0"/>
              <a:t>Challenges of </a:t>
            </a:r>
            <a:r>
              <a:rPr lang="en-US" dirty="0" smtClean="0"/>
              <a:t>Data-Intensive Science</a:t>
            </a:r>
            <a:br>
              <a:rPr lang="en-US" dirty="0" smtClean="0"/>
            </a:b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20700" y="1409318"/>
            <a:ext cx="7848600" cy="527259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Data-intensive 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applications 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face similar set of 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problems:</a:t>
            </a:r>
            <a:endParaRPr lang="en-US" dirty="0">
              <a:latin typeface="Arial" charset="0"/>
              <a:ea typeface="Arial" charset="0"/>
              <a:cs typeface="Arial" charset="0"/>
            </a:endParaRPr>
          </a:p>
          <a:p>
            <a:pPr lvl="1" indent="0"/>
            <a:r>
              <a:rPr lang="en-US" dirty="0">
                <a:latin typeface="Arial" charset="0"/>
                <a:ea typeface="Arial" charset="0"/>
                <a:cs typeface="Arial" charset="0"/>
              </a:rPr>
              <a:t>	- LHC high energy 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physics, LSST, LIGO, 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genomics</a:t>
            </a:r>
            <a:endParaRPr lang="en-US" dirty="0">
              <a:latin typeface="Arial" charset="0"/>
              <a:ea typeface="Arial" charset="0"/>
              <a:cs typeface="Arial" charset="0"/>
            </a:endParaRPr>
          </a:p>
          <a:p>
            <a:pPr lvl="1" indent="0"/>
            <a:endParaRPr lang="en-US" dirty="0" smtClean="0">
              <a:latin typeface="Arial" charset="0"/>
              <a:ea typeface="Arial" charset="0"/>
              <a:cs typeface="Arial" charset="0"/>
            </a:endParaRPr>
          </a:p>
          <a:p>
            <a:pPr marL="285750" indent="-285750">
              <a:buFont typeface="Arial" charset="0"/>
              <a:buChar char="•"/>
            </a:pP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System challenges: </a:t>
            </a:r>
          </a:p>
          <a:p>
            <a:pPr lvl="1" indent="0"/>
            <a:r>
              <a:rPr lang="en-US" dirty="0">
                <a:latin typeface="Arial" charset="0"/>
                <a:ea typeface="Arial" charset="0"/>
                <a:cs typeface="Arial" charset="0"/>
              </a:rPr>
              <a:t>	- 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Indexing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, security, storage, distribution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, analysis, learning</a:t>
            </a:r>
          </a:p>
          <a:p>
            <a:pPr lvl="1" indent="0"/>
            <a:r>
              <a:rPr lang="en-US" dirty="0">
                <a:latin typeface="Arial" charset="0"/>
                <a:ea typeface="Arial" charset="0"/>
                <a:cs typeface="Arial" charset="0"/>
              </a:rPr>
              <a:t>	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- 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Coordinated use of 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computing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, 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storage, network resources</a:t>
            </a:r>
          </a:p>
          <a:p>
            <a:pPr lvl="1" indent="0"/>
            <a:endParaRPr lang="en-US" dirty="0">
              <a:latin typeface="Arial" charset="0"/>
              <a:ea typeface="Arial" charset="0"/>
              <a:cs typeface="Arial" charset="0"/>
            </a:endParaRPr>
          </a:p>
          <a:p>
            <a:pPr marL="285750" indent="-285750">
              <a:buFont typeface="Arial" charset="0"/>
              <a:buChar char="•"/>
            </a:pP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Today: domain 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experts are dealing with 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these systems problems</a:t>
            </a:r>
            <a:endParaRPr lang="en-US" dirty="0">
              <a:latin typeface="Arial" charset="0"/>
              <a:ea typeface="Arial" charset="0"/>
              <a:cs typeface="Arial" charset="0"/>
            </a:endParaRPr>
          </a:p>
          <a:p>
            <a:pPr lvl="1" indent="0"/>
            <a:r>
              <a:rPr lang="en-US" dirty="0">
                <a:latin typeface="Arial" charset="0"/>
                <a:ea typeface="Arial" charset="0"/>
                <a:cs typeface="Arial" charset="0"/>
              </a:rPr>
              <a:t>	- I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ncremental solutions; developed in isolation; replicated efforts</a:t>
            </a:r>
            <a:endParaRPr lang="en-US" dirty="0">
              <a:latin typeface="Arial" charset="0"/>
              <a:ea typeface="Arial" charset="0"/>
              <a:cs typeface="Arial" charset="0"/>
            </a:endParaRPr>
          </a:p>
          <a:p>
            <a:pPr marL="342900" indent="-342900">
              <a:spcBef>
                <a:spcPts val="44"/>
              </a:spcBef>
              <a:buFont typeface="Arial" charset="0"/>
              <a:buChar char="•"/>
            </a:pPr>
            <a:endParaRPr lang="en-US" dirty="0">
              <a:latin typeface="Arial" charset="0"/>
              <a:ea typeface="Arial" charset="0"/>
              <a:cs typeface="Arial" charset="0"/>
            </a:endParaRPr>
          </a:p>
          <a:p>
            <a:pPr marL="342900" indent="-342900">
              <a:spcBef>
                <a:spcPts val="44"/>
              </a:spcBef>
              <a:buFont typeface="Arial" charset="0"/>
              <a:buChar char="•"/>
            </a:pPr>
            <a:r>
              <a:rPr lang="en-US" dirty="0" smtClean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</a:rPr>
              <a:t>Gap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 between application needs and existing networks/systems		</a:t>
            </a:r>
          </a:p>
          <a:p>
            <a:pPr lvl="1" indent="0"/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	- 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Current computer networks/systems focus on addresses, 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processes,	    	  servers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, 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connections</a:t>
            </a:r>
          </a:p>
          <a:p>
            <a:pPr lvl="1" indent="0"/>
            <a:r>
              <a:rPr lang="en-US" dirty="0">
                <a:latin typeface="Arial" charset="0"/>
                <a:ea typeface="Arial" charset="0"/>
                <a:cs typeface="Arial" charset="0"/>
              </a:rPr>
              <a:t>	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- Consequently 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existing security solutions focus on securing data	  	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	  containers 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and delivery 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pipes</a:t>
            </a:r>
          </a:p>
          <a:p>
            <a:pPr lvl="1" indent="0"/>
            <a:r>
              <a:rPr lang="en-US" dirty="0">
                <a:latin typeface="Arial" charset="0"/>
                <a:ea typeface="Arial" charset="0"/>
                <a:cs typeface="Arial" charset="0"/>
              </a:rPr>
              <a:t>	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- Applications care about data</a:t>
            </a:r>
          </a:p>
          <a:p>
            <a:pPr marL="342900" indent="-342900">
              <a:spcBef>
                <a:spcPts val="44"/>
              </a:spcBef>
              <a:buFont typeface="Arial" charset="0"/>
              <a:buChar char="•"/>
            </a:pPr>
            <a:endParaRPr lang="en-US" dirty="0">
              <a:latin typeface="Arial" charset="0"/>
              <a:ea typeface="Arial" charset="0"/>
              <a:cs typeface="Arial" charset="0"/>
            </a:endParaRPr>
          </a:p>
          <a:p>
            <a:pPr marL="342900" indent="-342900">
              <a:spcBef>
                <a:spcPts val="44"/>
              </a:spcBef>
              <a:buFont typeface="Arial" charset="0"/>
              <a:buChar char="•"/>
            </a:pPr>
            <a:endParaRPr lang="en-US" dirty="0">
              <a:latin typeface="Arial" charset="0"/>
              <a:ea typeface="Arial" charset="0"/>
              <a:cs typeface="Arial" charset="0"/>
            </a:endParaRPr>
          </a:p>
          <a:p>
            <a:pPr marL="342900" indent="-342900">
              <a:spcBef>
                <a:spcPts val="44"/>
              </a:spcBef>
              <a:buFont typeface="Arial" charset="0"/>
              <a:buChar char="•"/>
            </a:pPr>
            <a:endParaRPr lang="en-US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801809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533400"/>
            <a:ext cx="7989514" cy="875918"/>
          </a:xfrm>
          <a:prstGeom prst="rect">
            <a:avLst/>
          </a:prstGeom>
        </p:spPr>
        <p:txBody>
          <a:bodyPr vert="horz" wrap="square" lIns="0" tIns="14007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110"/>
              </a:spcBef>
            </a:pPr>
            <a:r>
              <a:rPr lang="en-US" dirty="0" smtClean="0"/>
              <a:t>Data-Centric Networking</a:t>
            </a:r>
            <a:r>
              <a:rPr lang="en-US" dirty="0"/>
              <a:t/>
            </a:r>
            <a:br>
              <a:rPr lang="en-US" dirty="0"/>
            </a:b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60400" y="1650236"/>
            <a:ext cx="7848600" cy="433131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000" dirty="0" smtClean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</a:rPr>
              <a:t>Data-centric </a:t>
            </a:r>
            <a:r>
              <a:rPr lang="en-US" sz="2000" dirty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</a:rPr>
              <a:t>approach</a:t>
            </a:r>
            <a:r>
              <a:rPr lang="en-US" sz="2000" dirty="0">
                <a:latin typeface="Arial" charset="0"/>
                <a:ea typeface="Arial" charset="0"/>
                <a:cs typeface="Arial" charset="0"/>
              </a:rPr>
              <a:t> to system and network </a:t>
            </a:r>
            <a:r>
              <a:rPr lang="en-US" sz="2000" dirty="0" smtClean="0">
                <a:latin typeface="Arial" charset="0"/>
                <a:ea typeface="Arial" charset="0"/>
                <a:cs typeface="Arial" charset="0"/>
              </a:rPr>
              <a:t>design</a:t>
            </a:r>
          </a:p>
          <a:p>
            <a:endParaRPr lang="en-US" sz="2000" dirty="0">
              <a:latin typeface="Arial" charset="0"/>
              <a:ea typeface="Arial" charset="0"/>
              <a:cs typeface="Arial" charset="0"/>
            </a:endParaRPr>
          </a:p>
          <a:p>
            <a:pPr marL="285750" indent="-285750">
              <a:buFont typeface="Arial" charset="0"/>
              <a:buChar char="•"/>
            </a:pPr>
            <a:r>
              <a:rPr lang="en-US" sz="2000" dirty="0">
                <a:latin typeface="Arial" charset="0"/>
                <a:ea typeface="Arial" charset="0"/>
                <a:cs typeface="Arial" charset="0"/>
              </a:rPr>
              <a:t>Providing system support through the whole data </a:t>
            </a:r>
            <a:r>
              <a:rPr lang="en-US" sz="2000" dirty="0" smtClean="0">
                <a:latin typeface="Arial" charset="0"/>
                <a:ea typeface="Arial" charset="0"/>
                <a:cs typeface="Arial" charset="0"/>
              </a:rPr>
              <a:t>lifecycle:</a:t>
            </a:r>
          </a:p>
          <a:p>
            <a:pPr lvl="1" indent="0"/>
            <a:r>
              <a:rPr lang="en-US" sz="2000" dirty="0">
                <a:latin typeface="Arial" charset="0"/>
                <a:ea typeface="Arial" charset="0"/>
                <a:cs typeface="Arial" charset="0"/>
              </a:rPr>
              <a:t>	</a:t>
            </a:r>
            <a:r>
              <a:rPr lang="en-US" sz="2000" dirty="0" smtClean="0">
                <a:latin typeface="Arial" charset="0"/>
                <a:ea typeface="Arial" charset="0"/>
                <a:cs typeface="Arial" charset="0"/>
              </a:rPr>
              <a:t>- Data </a:t>
            </a:r>
            <a:r>
              <a:rPr lang="en-US" sz="2000" dirty="0">
                <a:latin typeface="Arial" charset="0"/>
                <a:ea typeface="Arial" charset="0"/>
                <a:cs typeface="Arial" charset="0"/>
              </a:rPr>
              <a:t>production: naming, securing data </a:t>
            </a:r>
            <a:r>
              <a:rPr lang="en-US" sz="2000" dirty="0" smtClean="0">
                <a:latin typeface="Arial" charset="0"/>
                <a:ea typeface="Arial" charset="0"/>
                <a:cs typeface="Arial" charset="0"/>
              </a:rPr>
              <a:t>directly</a:t>
            </a:r>
          </a:p>
          <a:p>
            <a:pPr lvl="1" indent="0"/>
            <a:r>
              <a:rPr lang="en-US" sz="2000" dirty="0">
                <a:latin typeface="Arial" charset="0"/>
                <a:ea typeface="Arial" charset="0"/>
                <a:cs typeface="Arial" charset="0"/>
              </a:rPr>
              <a:t>	</a:t>
            </a:r>
            <a:r>
              <a:rPr lang="en-US" sz="2000" dirty="0" smtClean="0">
                <a:latin typeface="Arial" charset="0"/>
                <a:ea typeface="Arial" charset="0"/>
                <a:cs typeface="Arial" charset="0"/>
              </a:rPr>
              <a:t>- Delivering </a:t>
            </a:r>
            <a:r>
              <a:rPr lang="en-US" sz="2000" dirty="0">
                <a:latin typeface="Arial" charset="0"/>
                <a:ea typeface="Arial" charset="0"/>
                <a:cs typeface="Arial" charset="0"/>
              </a:rPr>
              <a:t>data using names enables scalable data </a:t>
            </a:r>
            <a:r>
              <a:rPr lang="en-US" sz="2000" dirty="0" smtClean="0">
                <a:latin typeface="Arial" charset="0"/>
                <a:ea typeface="Arial" charset="0"/>
                <a:cs typeface="Arial" charset="0"/>
              </a:rPr>
              <a:t>retrieval</a:t>
            </a:r>
          </a:p>
          <a:p>
            <a:pPr lvl="2"/>
            <a:r>
              <a:rPr lang="en-US" sz="2000" dirty="0" smtClean="0">
                <a:latin typeface="Arial" charset="0"/>
                <a:ea typeface="Arial" charset="0"/>
                <a:cs typeface="Arial" charset="0"/>
              </a:rPr>
              <a:t>- in-network </a:t>
            </a:r>
            <a:r>
              <a:rPr lang="en-US" sz="2000" dirty="0">
                <a:latin typeface="Arial" charset="0"/>
                <a:ea typeface="Arial" charset="0"/>
                <a:cs typeface="Arial" charset="0"/>
              </a:rPr>
              <a:t>caching</a:t>
            </a:r>
          </a:p>
          <a:p>
            <a:pPr lvl="2"/>
            <a:r>
              <a:rPr lang="en-US" sz="2000" dirty="0" smtClean="0">
                <a:latin typeface="Arial" charset="0"/>
                <a:ea typeface="Arial" charset="0"/>
                <a:cs typeface="Arial" charset="0"/>
              </a:rPr>
              <a:t>- automated </a:t>
            </a:r>
            <a:r>
              <a:rPr lang="en-US" sz="2000" dirty="0">
                <a:latin typeface="Arial" charset="0"/>
                <a:ea typeface="Arial" charset="0"/>
                <a:cs typeface="Arial" charset="0"/>
              </a:rPr>
              <a:t>joint caching and </a:t>
            </a:r>
            <a:r>
              <a:rPr lang="en-US" sz="2000" dirty="0" smtClean="0">
                <a:latin typeface="Arial" charset="0"/>
                <a:ea typeface="Arial" charset="0"/>
                <a:cs typeface="Arial" charset="0"/>
              </a:rPr>
              <a:t>forwarding</a:t>
            </a:r>
            <a:endParaRPr lang="en-US" sz="2000" dirty="0">
              <a:latin typeface="Arial" charset="0"/>
              <a:ea typeface="Arial" charset="0"/>
              <a:cs typeface="Arial" charset="0"/>
            </a:endParaRPr>
          </a:p>
          <a:p>
            <a:pPr lvl="2"/>
            <a:r>
              <a:rPr lang="en-US" sz="2000" dirty="0" smtClean="0">
                <a:latin typeface="Arial" charset="0"/>
                <a:ea typeface="Arial" charset="0"/>
                <a:cs typeface="Arial" charset="0"/>
              </a:rPr>
              <a:t>- multicast </a:t>
            </a:r>
            <a:r>
              <a:rPr lang="en-US" sz="2000" dirty="0">
                <a:latin typeface="Arial" charset="0"/>
                <a:ea typeface="Arial" charset="0"/>
                <a:cs typeface="Arial" charset="0"/>
              </a:rPr>
              <a:t>delivery</a:t>
            </a:r>
          </a:p>
          <a:p>
            <a:endParaRPr lang="en-US" sz="2000" dirty="0" smtClean="0">
              <a:latin typeface="Arial" charset="0"/>
              <a:ea typeface="Arial" charset="0"/>
              <a:cs typeface="Arial" charset="0"/>
            </a:endParaRPr>
          </a:p>
          <a:p>
            <a:pPr marL="285750" indent="-285750">
              <a:buFont typeface="Arial" charset="0"/>
              <a:buChar char="•"/>
            </a:pPr>
            <a:r>
              <a:rPr lang="en-US" sz="2000" dirty="0" smtClean="0">
                <a:latin typeface="Arial" charset="0"/>
                <a:ea typeface="Arial" charset="0"/>
                <a:cs typeface="Arial" charset="0"/>
              </a:rPr>
              <a:t>Common </a:t>
            </a:r>
            <a:r>
              <a:rPr lang="en-US" sz="2000" dirty="0">
                <a:latin typeface="Arial" charset="0"/>
                <a:ea typeface="Arial" charset="0"/>
                <a:cs typeface="Arial" charset="0"/>
              </a:rPr>
              <a:t>framework to support different application domains</a:t>
            </a:r>
          </a:p>
          <a:p>
            <a:pPr>
              <a:spcBef>
                <a:spcPts val="44"/>
              </a:spcBef>
              <a:buFont typeface="Cambria"/>
              <a:buChar char="•"/>
            </a:pPr>
            <a:endParaRPr lang="en-US" sz="2000" dirty="0">
              <a:latin typeface="Arial" charset="0"/>
              <a:ea typeface="Arial" charset="0"/>
              <a:cs typeface="Arial" charset="0"/>
            </a:endParaRPr>
          </a:p>
          <a:p>
            <a:pPr marL="182880" indent="-171450">
              <a:spcBef>
                <a:spcPts val="100"/>
              </a:spcBef>
              <a:buClr>
                <a:srgbClr val="000000"/>
              </a:buClr>
              <a:buFont typeface="Cambria" panose="02040503050406030204"/>
              <a:buChar char="•"/>
              <a:tabLst>
                <a:tab pos="182880" algn="l"/>
              </a:tabLst>
            </a:pPr>
            <a:r>
              <a:rPr lang="en-US" sz="2000" dirty="0" smtClean="0">
                <a:latin typeface="Arial" charset="0"/>
                <a:ea typeface="Arial" charset="0"/>
                <a:cs typeface="Arial" charset="0"/>
              </a:rPr>
              <a:t>  Named Data Networking (NDN): </a:t>
            </a:r>
            <a:r>
              <a:rPr lang="en-US" sz="20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  <a:hlinkClick r:id="rId2"/>
              </a:rPr>
              <a:t>http://named-data.net</a:t>
            </a:r>
            <a:endParaRPr lang="en-US" sz="2000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  <a:p>
            <a:pPr>
              <a:spcBef>
                <a:spcPts val="44"/>
              </a:spcBef>
              <a:buFont typeface="Cambria"/>
              <a:buChar char="•"/>
            </a:pPr>
            <a:endParaRPr lang="en-US" sz="2000" dirty="0">
              <a:ea typeface="Arial" charset="0"/>
              <a:cs typeface="Arial" charset="0"/>
            </a:endParaRPr>
          </a:p>
          <a:p>
            <a:pPr>
              <a:spcBef>
                <a:spcPts val="44"/>
              </a:spcBef>
              <a:buFont typeface="Cambria"/>
              <a:buChar char="•"/>
            </a:pPr>
            <a:endParaRPr lang="en-US" sz="2000" dirty="0"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098907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67030" y="1290320"/>
            <a:ext cx="8294370" cy="5491435"/>
          </a:xfrm>
          <a:prstGeom prst="rect">
            <a:avLst/>
          </a:prstGeom>
        </p:spPr>
        <p:txBody>
          <a:bodyPr vert="horz" wrap="square" lIns="0" tIns="12886" rIns="0" bIns="0" rtlCol="0">
            <a:spAutoFit/>
          </a:bodyPr>
          <a:lstStyle/>
          <a:p>
            <a:pPr marL="285750" lvl="1" indent="-285750">
              <a:buFont typeface="Arial" charset="0"/>
              <a:buChar char="•"/>
            </a:pPr>
            <a:r>
              <a:rPr lang="en-US" dirty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rPr>
              <a:t>NSF </a:t>
            </a:r>
            <a:r>
              <a:rPr lang="en-US" dirty="0">
                <a:solidFill>
                  <a:srgbClr val="FF0000"/>
                </a:solidFill>
                <a:latin typeface="Helvetica" charset="0"/>
                <a:ea typeface="Helvetica" charset="0"/>
                <a:cs typeface="Helvetica" charset="0"/>
              </a:rPr>
              <a:t>CC* SANDIE: </a:t>
            </a:r>
            <a:r>
              <a:rPr lang="en-US" kern="1200" dirty="0">
                <a:solidFill>
                  <a:srgbClr val="FF0000"/>
                </a:solidFill>
                <a:latin typeface="Arial" charset="0"/>
                <a:ea typeface="ＭＳ Ｐゴシック" charset="-128"/>
              </a:rPr>
              <a:t>SDN Assisted NDN for Data Intensive </a:t>
            </a:r>
            <a:r>
              <a:rPr lang="en-US" kern="1200" dirty="0" smtClean="0">
                <a:solidFill>
                  <a:srgbClr val="FF0000"/>
                </a:solidFill>
                <a:latin typeface="Arial" charset="0"/>
                <a:ea typeface="ＭＳ Ｐゴシック" charset="-128"/>
              </a:rPr>
              <a:t>Experiments</a:t>
            </a:r>
            <a:r>
              <a:rPr lang="en-US" kern="1200" dirty="0" smtClean="0">
                <a:solidFill>
                  <a:schemeClr val="tx1"/>
                </a:solidFill>
                <a:latin typeface="Arial" charset="0"/>
                <a:ea typeface="ＭＳ Ｐゴシック" charset="-128"/>
              </a:rPr>
              <a:t> (started July 2017) </a:t>
            </a:r>
            <a:endParaRPr lang="en-US" kern="1200" dirty="0">
              <a:solidFill>
                <a:schemeClr val="tx1"/>
              </a:solidFill>
              <a:latin typeface="Arial" charset="0"/>
              <a:ea typeface="ＭＳ Ｐゴシック" charset="-128"/>
            </a:endParaRPr>
          </a:p>
          <a:p>
            <a:pPr marL="285750" lvl="1" indent="-285750">
              <a:buFont typeface="Arial" charset="0"/>
              <a:buChar char="•"/>
            </a:pPr>
            <a:endParaRPr lang="en-US" kern="1200" dirty="0">
              <a:solidFill>
                <a:schemeClr val="tx1"/>
              </a:solidFill>
              <a:latin typeface="Arial" charset="0"/>
              <a:ea typeface="ＭＳ Ｐゴシック" charset="-128"/>
              <a:cs typeface="Arial" charset="0"/>
            </a:endParaRPr>
          </a:p>
          <a:p>
            <a:pPr marL="285750" lvl="1" indent="-285750">
              <a:buFont typeface="Arial" charset="0"/>
              <a:buChar char="•"/>
            </a:pP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Team: 		</a:t>
            </a:r>
          </a:p>
          <a:p>
            <a:pPr lvl="1" indent="0"/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	- </a:t>
            </a:r>
            <a:r>
              <a:rPr lang="en-US" kern="1200" dirty="0" smtClean="0">
                <a:solidFill>
                  <a:schemeClr val="tx1"/>
                </a:solidFill>
                <a:latin typeface="Arial" charset="0"/>
                <a:ea typeface="ＭＳ Ｐゴシック" charset="-128"/>
              </a:rPr>
              <a:t>Northeastern </a:t>
            </a:r>
            <a:r>
              <a:rPr lang="en-US" kern="1200" dirty="0">
                <a:solidFill>
                  <a:schemeClr val="tx1"/>
                </a:solidFill>
                <a:latin typeface="Arial" charset="0"/>
                <a:ea typeface="ＭＳ Ｐゴシック" charset="-128"/>
              </a:rPr>
              <a:t>(PI: </a:t>
            </a:r>
            <a:r>
              <a:rPr lang="en-US" kern="1200" dirty="0" smtClean="0">
                <a:solidFill>
                  <a:schemeClr val="tx1"/>
                </a:solidFill>
                <a:latin typeface="Arial" charset="0"/>
                <a:ea typeface="ＭＳ Ｐゴシック" charset="-128"/>
              </a:rPr>
              <a:t>E. </a:t>
            </a:r>
            <a:r>
              <a:rPr lang="en-US" kern="1200" dirty="0" err="1" smtClean="0">
                <a:solidFill>
                  <a:schemeClr val="tx1"/>
                </a:solidFill>
                <a:latin typeface="Arial" charset="0"/>
                <a:ea typeface="ＭＳ Ｐゴシック" charset="-128"/>
              </a:rPr>
              <a:t>Yeh</a:t>
            </a:r>
            <a:r>
              <a:rPr lang="en-US" kern="1200" dirty="0">
                <a:solidFill>
                  <a:schemeClr val="tx1"/>
                </a:solidFill>
                <a:latin typeface="Arial" charset="0"/>
                <a:ea typeface="ＭＳ Ｐゴシック" charset="-128"/>
              </a:rPr>
              <a:t>), Caltech </a:t>
            </a:r>
            <a:r>
              <a:rPr lang="en-US" kern="1200" dirty="0" smtClean="0">
                <a:solidFill>
                  <a:schemeClr val="tx1"/>
                </a:solidFill>
                <a:latin typeface="Arial" charset="0"/>
                <a:ea typeface="ＭＳ Ｐゴシック" charset="-128"/>
              </a:rPr>
              <a:t>(Co-PI</a:t>
            </a:r>
            <a:r>
              <a:rPr lang="en-US" kern="1200" dirty="0">
                <a:solidFill>
                  <a:schemeClr val="tx1"/>
                </a:solidFill>
                <a:latin typeface="Arial" charset="0"/>
                <a:ea typeface="ＭＳ Ｐゴシック" charset="-128"/>
              </a:rPr>
              <a:t>: </a:t>
            </a:r>
            <a:r>
              <a:rPr lang="en-US" kern="1200" dirty="0" smtClean="0">
                <a:solidFill>
                  <a:schemeClr val="tx1"/>
                </a:solidFill>
                <a:latin typeface="Arial" charset="0"/>
                <a:ea typeface="ＭＳ Ｐゴシック" charset="-128"/>
              </a:rPr>
              <a:t>H. Newman</a:t>
            </a:r>
            <a:r>
              <a:rPr lang="en-US" kern="1200" dirty="0">
                <a:solidFill>
                  <a:schemeClr val="tx1"/>
                </a:solidFill>
                <a:latin typeface="Arial" charset="0"/>
                <a:ea typeface="ＭＳ Ｐゴシック" charset="-128"/>
              </a:rPr>
              <a:t>), Colorado State </a:t>
            </a:r>
            <a:endParaRPr lang="en-US" kern="1200" dirty="0" smtClean="0">
              <a:solidFill>
                <a:schemeClr val="tx1"/>
              </a:solidFill>
              <a:latin typeface="Arial" charset="0"/>
              <a:ea typeface="ＭＳ Ｐゴシック" charset="-128"/>
            </a:endParaRPr>
          </a:p>
          <a:p>
            <a:pPr lvl="1" indent="0"/>
            <a:r>
              <a:rPr lang="en-US" kern="1200" dirty="0" smtClean="0">
                <a:solidFill>
                  <a:schemeClr val="tx1"/>
                </a:solidFill>
                <a:latin typeface="Arial" charset="0"/>
                <a:ea typeface="ＭＳ Ｐゴシック" charset="-128"/>
              </a:rPr>
              <a:t>	  </a:t>
            </a:r>
            <a:r>
              <a:rPr lang="en-US" kern="1200" dirty="0" smtClean="0">
                <a:solidFill>
                  <a:schemeClr val="tx1"/>
                </a:solidFill>
                <a:latin typeface="Arial" charset="0"/>
                <a:ea typeface="ＭＳ Ｐゴシック" charset="-128"/>
              </a:rPr>
              <a:t>(Co-PI</a:t>
            </a:r>
            <a:r>
              <a:rPr lang="en-US" kern="1200" dirty="0">
                <a:solidFill>
                  <a:schemeClr val="tx1"/>
                </a:solidFill>
                <a:latin typeface="Arial" charset="0"/>
                <a:ea typeface="ＭＳ Ｐゴシック" charset="-128"/>
              </a:rPr>
              <a:t>: </a:t>
            </a:r>
            <a:r>
              <a:rPr lang="en-US" kern="1200" dirty="0" smtClean="0">
                <a:solidFill>
                  <a:schemeClr val="tx1"/>
                </a:solidFill>
                <a:latin typeface="Arial" charset="0"/>
                <a:ea typeface="ＭＳ Ｐゴシック" charset="-128"/>
              </a:rPr>
              <a:t>C. Papadopoulos/C. Partridge)</a:t>
            </a:r>
            <a:endParaRPr lang="en-US" kern="1200" dirty="0">
              <a:solidFill>
                <a:schemeClr val="tx1"/>
              </a:solidFill>
              <a:latin typeface="Arial" charset="0"/>
              <a:ea typeface="ＭＳ Ｐゴシック" charset="-128"/>
            </a:endParaRPr>
          </a:p>
          <a:p>
            <a:pPr lvl="1" indent="0"/>
            <a:r>
              <a:rPr lang="en-US" kern="120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rPr>
              <a:t>	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- </a:t>
            </a:r>
            <a:r>
              <a:rPr lang="en-US" kern="1200" dirty="0">
                <a:solidFill>
                  <a:schemeClr val="tx1"/>
                </a:solidFill>
                <a:latin typeface="Arial" charset="0"/>
                <a:ea typeface="ＭＳ Ｐゴシック" charset="-128"/>
              </a:rPr>
              <a:t>In partnership with other LHC sites and NDN project </a:t>
            </a:r>
            <a:r>
              <a:rPr lang="en-US" kern="1200" dirty="0" smtClean="0">
                <a:solidFill>
                  <a:schemeClr val="tx1"/>
                </a:solidFill>
                <a:latin typeface="Arial" charset="0"/>
                <a:ea typeface="ＭＳ Ｐゴシック" charset="-128"/>
              </a:rPr>
              <a:t>team</a:t>
            </a:r>
          </a:p>
          <a:p>
            <a:pPr lvl="1" indent="0"/>
            <a:endParaRPr lang="en-US" kern="1200" dirty="0">
              <a:solidFill>
                <a:schemeClr val="tx1"/>
              </a:solidFill>
              <a:latin typeface="Arial" charset="0"/>
              <a:ea typeface="ＭＳ Ｐゴシック" charset="-128"/>
            </a:endParaRPr>
          </a:p>
          <a:p>
            <a:pPr marL="285750" lvl="1" indent="-285750">
              <a:buFont typeface="Arial" charset="0"/>
              <a:buChar char="•"/>
            </a:pPr>
            <a:r>
              <a:rPr lang="en-US" kern="1200" dirty="0">
                <a:solidFill>
                  <a:schemeClr val="tx1"/>
                </a:solidFill>
                <a:latin typeface="Arial" charset="0"/>
                <a:ea typeface="ＭＳ Ｐゴシック" charset="-128"/>
              </a:rPr>
              <a:t>Approach:  </a:t>
            </a:r>
            <a:r>
              <a:rPr lang="en-US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Use SDN-assisted NDN to redesign LHC HEP network; optimize workflow</a:t>
            </a:r>
          </a:p>
          <a:p>
            <a:pPr marL="285750" lvl="1" indent="-285750">
              <a:buFont typeface="Arial" charset="0"/>
              <a:buChar char="•"/>
            </a:pPr>
            <a:endParaRPr lang="en-US" dirty="0" smtClean="0">
              <a:latin typeface="Arial" charset="0"/>
              <a:ea typeface="Arial" charset="0"/>
              <a:cs typeface="Arial" charset="0"/>
            </a:endParaRPr>
          </a:p>
          <a:p>
            <a:pPr marL="285750" indent="-285750">
              <a:buFont typeface="Arial" charset="0"/>
              <a:buChar char="•"/>
            </a:pP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Solutions:</a:t>
            </a:r>
            <a:endParaRPr lang="en-US" dirty="0">
              <a:latin typeface="Arial" charset="0"/>
              <a:ea typeface="Arial" charset="0"/>
              <a:cs typeface="Arial" charset="0"/>
            </a:endParaRPr>
          </a:p>
          <a:p>
            <a:pPr lvl="1" indent="0"/>
            <a:r>
              <a:rPr lang="en-US" dirty="0">
                <a:latin typeface="Arial" charset="0"/>
                <a:ea typeface="Arial" charset="0"/>
                <a:cs typeface="Arial" charset="0"/>
              </a:rPr>
              <a:t>	- </a:t>
            </a:r>
            <a:r>
              <a:rPr lang="en-US" kern="1200" dirty="0">
                <a:solidFill>
                  <a:schemeClr val="tx1"/>
                </a:solidFill>
                <a:latin typeface="Arial" charset="0"/>
                <a:ea typeface="ＭＳ Ｐゴシック" charset="-128"/>
              </a:rPr>
              <a:t>Development of </a:t>
            </a:r>
            <a:r>
              <a:rPr lang="en-US" kern="1200" dirty="0" smtClean="0">
                <a:solidFill>
                  <a:schemeClr val="tx1"/>
                </a:solidFill>
                <a:latin typeface="Arial" charset="0"/>
                <a:ea typeface="ＭＳ Ｐゴシック" charset="-128"/>
              </a:rPr>
              <a:t>NDN naming </a:t>
            </a:r>
            <a:r>
              <a:rPr lang="en-US" kern="1200" dirty="0">
                <a:solidFill>
                  <a:schemeClr val="tx1"/>
                </a:solidFill>
                <a:latin typeface="Arial" charset="0"/>
                <a:ea typeface="ＭＳ Ｐゴシック" charset="-128"/>
              </a:rPr>
              <a:t>scheme </a:t>
            </a:r>
            <a:r>
              <a:rPr lang="en-US" kern="1200" dirty="0" smtClean="0">
                <a:solidFill>
                  <a:schemeClr val="tx1"/>
                </a:solidFill>
                <a:latin typeface="Arial" charset="0"/>
                <a:ea typeface="ＭＳ Ｐゴシック" charset="-128"/>
              </a:rPr>
              <a:t>for fast </a:t>
            </a:r>
            <a:r>
              <a:rPr lang="en-US" kern="1200" dirty="0">
                <a:solidFill>
                  <a:schemeClr val="tx1"/>
                </a:solidFill>
                <a:latin typeface="Arial" charset="0"/>
                <a:ea typeface="ＭＳ Ｐゴシック" charset="-128"/>
              </a:rPr>
              <a:t>access </a:t>
            </a:r>
            <a:r>
              <a:rPr lang="en-US" kern="1200" dirty="0" smtClean="0">
                <a:solidFill>
                  <a:schemeClr val="tx1"/>
                </a:solidFill>
                <a:latin typeface="Arial" charset="0"/>
                <a:ea typeface="ＭＳ Ｐゴシック" charset="-128"/>
              </a:rPr>
              <a:t>and </a:t>
            </a:r>
            <a:r>
              <a:rPr lang="en-US" kern="1200" dirty="0">
                <a:solidFill>
                  <a:schemeClr val="tx1"/>
                </a:solidFill>
                <a:latin typeface="Arial" charset="0"/>
                <a:ea typeface="ＭＳ Ｐゴシック" charset="-128"/>
              </a:rPr>
              <a:t>efficient </a:t>
            </a:r>
            <a:r>
              <a:rPr lang="en-US" kern="1200" dirty="0" smtClean="0">
                <a:solidFill>
                  <a:schemeClr val="tx1"/>
                </a:solidFill>
                <a:latin typeface="Arial" charset="0"/>
                <a:ea typeface="ＭＳ Ｐゴシック" charset="-128"/>
              </a:rPr>
              <a:t>	  	  	  communication </a:t>
            </a:r>
            <a:r>
              <a:rPr lang="en-US" kern="1200" dirty="0">
                <a:solidFill>
                  <a:schemeClr val="tx1"/>
                </a:solidFill>
                <a:latin typeface="Arial" charset="0"/>
                <a:ea typeface="ＭＳ Ｐゴシック" charset="-128"/>
              </a:rPr>
              <a:t>in HEP and other </a:t>
            </a:r>
            <a:r>
              <a:rPr lang="en-US" kern="1200" dirty="0" smtClean="0">
                <a:solidFill>
                  <a:schemeClr val="tx1"/>
                </a:solidFill>
                <a:latin typeface="Arial" charset="0"/>
                <a:ea typeface="ＭＳ Ｐゴシック" charset="-128"/>
              </a:rPr>
              <a:t>fields 		  	 	 	  	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	- 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	- </a:t>
            </a:r>
            <a:r>
              <a:rPr lang="en-US" kern="1200" dirty="0" smtClean="0">
                <a:solidFill>
                  <a:schemeClr val="tx1"/>
                </a:solidFill>
                <a:latin typeface="Arial" charset="0"/>
                <a:ea typeface="ＭＳ Ｐゴシック" charset="-128"/>
              </a:rPr>
              <a:t>Deployment of </a:t>
            </a:r>
            <a:r>
              <a:rPr lang="en-US" kern="1200" dirty="0">
                <a:solidFill>
                  <a:schemeClr val="tx1"/>
                </a:solidFill>
                <a:latin typeface="Arial" charset="0"/>
                <a:ea typeface="ＭＳ Ｐゴシック" charset="-128"/>
              </a:rPr>
              <a:t>NDN edge caches with SSDs at multiple </a:t>
            </a:r>
            <a:r>
              <a:rPr lang="en-US" kern="1200" dirty="0" smtClean="0">
                <a:solidFill>
                  <a:schemeClr val="tx1"/>
                </a:solidFill>
                <a:latin typeface="Arial" charset="0"/>
                <a:ea typeface="ＭＳ Ｐゴシック" charset="-128"/>
              </a:rPr>
              <a:t>sites</a:t>
            </a:r>
          </a:p>
          <a:p>
            <a:pPr lvl="1" indent="0"/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	- </a:t>
            </a:r>
            <a:r>
              <a:rPr lang="en-US" kern="1200" dirty="0" smtClean="0">
                <a:solidFill>
                  <a:schemeClr val="tx1"/>
                </a:solidFill>
                <a:latin typeface="Arial" charset="0"/>
                <a:ea typeface="ＭＳ Ｐゴシック" charset="-128"/>
              </a:rPr>
              <a:t>Simultaneously optimization of </a:t>
            </a:r>
            <a:r>
              <a:rPr lang="en-US" kern="1200" dirty="0">
                <a:solidFill>
                  <a:schemeClr val="tx1"/>
                </a:solidFill>
                <a:latin typeface="Arial" charset="0"/>
                <a:ea typeface="ＭＳ Ｐゴシック" charset="-128"/>
              </a:rPr>
              <a:t>caching (“hot” datasets</a:t>
            </a:r>
            <a:r>
              <a:rPr lang="en-US" kern="1200" dirty="0" smtClean="0">
                <a:solidFill>
                  <a:schemeClr val="tx1"/>
                </a:solidFill>
                <a:latin typeface="Arial" charset="0"/>
                <a:ea typeface="ＭＳ Ｐゴシック" charset="-128"/>
              </a:rPr>
              <a:t>) and forwarding</a:t>
            </a:r>
            <a:endParaRPr lang="en-US" kern="1200" dirty="0">
              <a:solidFill>
                <a:schemeClr val="tx1"/>
              </a:solidFill>
              <a:latin typeface="Arial" charset="0"/>
              <a:ea typeface="ＭＳ Ｐゴシック" charset="-128"/>
            </a:endParaRPr>
          </a:p>
          <a:p>
            <a:pPr marL="457200" indent="-457200">
              <a:buFont typeface="Arial" charset="0"/>
              <a:buChar char="•"/>
            </a:pPr>
            <a:endParaRPr lang="en-US" sz="1600" dirty="0" smtClean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  <a:p>
            <a:pPr marL="457200" indent="-457200">
              <a:buFont typeface="Arial" charset="0"/>
              <a:buChar char="•"/>
            </a:pPr>
            <a:endParaRPr lang="en-US" sz="1600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  <a:p>
            <a:pPr marL="457200" indent="-457200">
              <a:buFont typeface="Arial" charset="0"/>
              <a:buChar char="•"/>
            </a:pPr>
            <a:endParaRPr lang="en-US" sz="1600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  <a:p>
            <a:pPr marL="800100" lvl="1" indent="-342900" eaLnBrk="0" fontAlgn="base">
              <a:spcBef>
                <a:spcPts val="44"/>
              </a:spcBef>
              <a:spcAft>
                <a:spcPct val="0"/>
              </a:spcAft>
              <a:buFont typeface="Arial" charset="0"/>
              <a:buChar char="•"/>
            </a:pPr>
            <a:endParaRPr lang="en-US" sz="2000" kern="120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101600" y="263852"/>
            <a:ext cx="7635523" cy="749299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NSF </a:t>
            </a:r>
            <a:r>
              <a:rPr lang="en-US" dirty="0" smtClean="0">
                <a:solidFill>
                  <a:schemeClr val="bg1"/>
                </a:solidFill>
                <a:latin typeface="+mn-ea"/>
                <a:cs typeface="Helvetica" charset="0"/>
              </a:rPr>
              <a:t>SANDIE</a:t>
            </a:r>
            <a:r>
              <a:rPr lang="en-US" dirty="0" smtClean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 Project</a:t>
            </a:r>
            <a:endParaRPr lang="en-US" dirty="0">
              <a:solidFill>
                <a:schemeClr val="bg1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384609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40A8F7D3-F059-1C45-903B-BC756B79AD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6183" y="1409701"/>
            <a:ext cx="8408811" cy="4521200"/>
          </a:xfrm>
        </p:spPr>
        <p:txBody>
          <a:bodyPr>
            <a:noAutofit/>
          </a:bodyPr>
          <a:lstStyle/>
          <a:p>
            <a:r>
              <a:rPr lang="en-US" sz="1800" dirty="0">
                <a:latin typeface="Arial" charset="0"/>
                <a:ea typeface="Arial" charset="0"/>
                <a:cs typeface="Arial" charset="0"/>
              </a:rPr>
              <a:t>Feasibility of NDN-based data distribution system for LHC first demonstrated at SC 18 (Dallas</a:t>
            </a:r>
            <a:r>
              <a:rPr lang="en-US" sz="1800" dirty="0" smtClean="0">
                <a:latin typeface="Arial" charset="0"/>
                <a:ea typeface="Arial" charset="0"/>
                <a:cs typeface="Arial" charset="0"/>
              </a:rPr>
              <a:t>)</a:t>
            </a:r>
            <a:endParaRPr lang="en-US" sz="1800" dirty="0">
              <a:latin typeface="Arial" charset="0"/>
              <a:ea typeface="Arial" charset="0"/>
              <a:cs typeface="Arial" charset="0"/>
            </a:endParaRPr>
          </a:p>
          <a:p>
            <a:r>
              <a:rPr lang="en-US" sz="1800" dirty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</a:rPr>
              <a:t>SANDIE demo at SC 19 </a:t>
            </a:r>
            <a:r>
              <a:rPr lang="en-US" sz="1800" dirty="0" smtClean="0">
                <a:latin typeface="Arial" charset="0"/>
                <a:ea typeface="Arial" charset="0"/>
                <a:cs typeface="Arial" charset="0"/>
              </a:rPr>
              <a:t>(Denver) showed greatly improved </a:t>
            </a:r>
            <a:r>
              <a:rPr lang="en-US" sz="1800" dirty="0">
                <a:latin typeface="Arial" charset="0"/>
                <a:ea typeface="Arial" charset="0"/>
                <a:cs typeface="Arial" charset="0"/>
              </a:rPr>
              <a:t>throughput and delay performance by </a:t>
            </a:r>
            <a:r>
              <a:rPr lang="en-US" sz="1800" dirty="0" smtClean="0">
                <a:latin typeface="Arial" charset="0"/>
                <a:ea typeface="Arial" charset="0"/>
                <a:cs typeface="Arial" charset="0"/>
              </a:rPr>
              <a:t>leveraging:</a:t>
            </a:r>
            <a:endParaRPr lang="en-US" sz="1800" dirty="0">
              <a:latin typeface="Arial" charset="0"/>
              <a:ea typeface="Arial" charset="0"/>
              <a:cs typeface="Arial" charset="0"/>
              <a:sym typeface="Calibri" panose="020F0502020204030204"/>
            </a:endParaRPr>
          </a:p>
          <a:p>
            <a:pPr marL="0" lvl="1" indent="0" hangingPunct="0">
              <a:spcBef>
                <a:spcPts val="0"/>
              </a:spcBef>
              <a:buSzTx/>
              <a:buNone/>
            </a:pPr>
            <a:r>
              <a:rPr lang="en-US" sz="1800" dirty="0">
                <a:latin typeface="Arial" charset="0"/>
                <a:ea typeface="Arial" charset="0"/>
                <a:cs typeface="Arial" charset="0"/>
                <a:sym typeface="Calibri" panose="020F0502020204030204"/>
              </a:rPr>
              <a:t>	- </a:t>
            </a:r>
            <a:r>
              <a:rPr lang="en-US" sz="1800" dirty="0" smtClean="0">
                <a:latin typeface="Arial" charset="0"/>
                <a:ea typeface="Arial" charset="0"/>
                <a:cs typeface="Arial" charset="0"/>
              </a:rPr>
              <a:t>VIP </a:t>
            </a:r>
            <a:r>
              <a:rPr lang="en-US" sz="1800" dirty="0">
                <a:latin typeface="Arial" charset="0"/>
                <a:ea typeface="Arial" charset="0"/>
                <a:cs typeface="Arial" charset="0"/>
              </a:rPr>
              <a:t>jointly optimized caching and forwarding algorithms developed by </a:t>
            </a:r>
            <a:r>
              <a:rPr lang="en-US" sz="1800" dirty="0" smtClean="0">
                <a:latin typeface="Arial" charset="0"/>
                <a:ea typeface="Arial" charset="0"/>
                <a:cs typeface="Arial" charset="0"/>
              </a:rPr>
              <a:t>		  </a:t>
            </a:r>
          </a:p>
          <a:p>
            <a:pPr marL="0" lvl="1" indent="0" hangingPunct="0">
              <a:spcBef>
                <a:spcPts val="0"/>
              </a:spcBef>
              <a:buSzTx/>
              <a:buNone/>
            </a:pPr>
            <a:r>
              <a:rPr lang="en-US" sz="1800" dirty="0">
                <a:latin typeface="Arial" charset="0"/>
                <a:ea typeface="Arial" charset="0"/>
                <a:cs typeface="Arial" charset="0"/>
              </a:rPr>
              <a:t>	</a:t>
            </a:r>
            <a:r>
              <a:rPr lang="en-US" sz="1800" dirty="0" smtClean="0">
                <a:latin typeface="Arial" charset="0"/>
                <a:ea typeface="Arial" charset="0"/>
                <a:cs typeface="Arial" charset="0"/>
              </a:rPr>
              <a:t>  Northeastern </a:t>
            </a:r>
            <a:r>
              <a:rPr lang="en-US" sz="1800" dirty="0">
                <a:latin typeface="Arial" charset="0"/>
                <a:ea typeface="Arial" charset="0"/>
                <a:cs typeface="Arial" charset="0"/>
              </a:rPr>
              <a:t>(</a:t>
            </a:r>
            <a:r>
              <a:rPr lang="en-US" sz="1800" dirty="0" err="1">
                <a:latin typeface="Arial" charset="0"/>
                <a:ea typeface="Arial" charset="0"/>
                <a:cs typeface="Arial" charset="0"/>
              </a:rPr>
              <a:t>Yeh</a:t>
            </a:r>
            <a:r>
              <a:rPr lang="en-US" sz="1800" dirty="0">
                <a:latin typeface="Arial" charset="0"/>
                <a:ea typeface="Arial" charset="0"/>
                <a:cs typeface="Arial" charset="0"/>
              </a:rPr>
              <a:t> et al. 2014</a:t>
            </a:r>
            <a:r>
              <a:rPr lang="en-US" sz="1800" dirty="0" smtClean="0">
                <a:latin typeface="Arial" charset="0"/>
                <a:ea typeface="Arial" charset="0"/>
                <a:cs typeface="Arial" charset="0"/>
              </a:rPr>
              <a:t>)</a:t>
            </a:r>
            <a:endParaRPr lang="en-US" sz="1800" kern="1200" dirty="0" smtClean="0">
              <a:latin typeface="Arial" charset="0"/>
              <a:ea typeface="ＭＳ Ｐゴシック" charset="-128"/>
              <a:cs typeface="Calibri"/>
              <a:sym typeface="Calibri" panose="020F0502020204030204"/>
            </a:endParaRPr>
          </a:p>
          <a:p>
            <a:pPr marL="0" lvl="1" indent="0" hangingPunct="0">
              <a:spcBef>
                <a:spcPts val="0"/>
              </a:spcBef>
              <a:buSzTx/>
              <a:buNone/>
            </a:pPr>
            <a:r>
              <a:rPr lang="en-US" sz="1800" dirty="0">
                <a:latin typeface="Arial" charset="0"/>
                <a:ea typeface="Arial" charset="0"/>
                <a:cs typeface="Arial" charset="0"/>
                <a:sym typeface="Calibri" panose="020F0502020204030204"/>
              </a:rPr>
              <a:t>	- </a:t>
            </a:r>
            <a:r>
              <a:rPr lang="en-US" sz="1800" dirty="0" smtClean="0">
                <a:latin typeface="Arial" charset="0"/>
                <a:ea typeface="Arial" charset="0"/>
                <a:cs typeface="Arial" charset="0"/>
              </a:rPr>
              <a:t>High-speed </a:t>
            </a:r>
            <a:r>
              <a:rPr lang="en-US" sz="1800" dirty="0">
                <a:latin typeface="Arial" charset="0"/>
                <a:ea typeface="Arial" charset="0"/>
                <a:cs typeface="Arial" charset="0"/>
              </a:rPr>
              <a:t>NDN-DPDK forwarder developed by NIST (Shi et al. 2019</a:t>
            </a:r>
            <a:r>
              <a:rPr lang="en-US" sz="1800" dirty="0" smtClean="0">
                <a:latin typeface="Arial" charset="0"/>
                <a:ea typeface="Arial" charset="0"/>
                <a:cs typeface="Arial" charset="0"/>
              </a:rPr>
              <a:t>)</a:t>
            </a:r>
            <a:endParaRPr lang="en-US" sz="1800" kern="1200" dirty="0" smtClean="0">
              <a:latin typeface="Arial" charset="0"/>
              <a:ea typeface="ＭＳ Ｐゴシック" charset="-128"/>
              <a:cs typeface="Calibri"/>
              <a:sym typeface="Calibri" panose="020F0502020204030204"/>
            </a:endParaRPr>
          </a:p>
          <a:p>
            <a:pPr marL="0" lvl="1" indent="0" hangingPunct="0">
              <a:spcBef>
                <a:spcPts val="0"/>
              </a:spcBef>
              <a:buSzTx/>
              <a:buNone/>
            </a:pPr>
            <a:r>
              <a:rPr lang="en-US" sz="1800" dirty="0">
                <a:latin typeface="Arial" charset="0"/>
                <a:ea typeface="Arial" charset="0"/>
                <a:cs typeface="Arial" charset="0"/>
                <a:sym typeface="Calibri" panose="020F0502020204030204"/>
              </a:rPr>
              <a:t>	</a:t>
            </a:r>
            <a:r>
              <a:rPr lang="en-US" sz="1800" dirty="0" smtClean="0">
                <a:latin typeface="Arial" charset="0"/>
                <a:ea typeface="Arial" charset="0"/>
                <a:cs typeface="Arial" charset="0"/>
                <a:sym typeface="Calibri" panose="020F0502020204030204"/>
              </a:rPr>
              <a:t>- </a:t>
            </a:r>
            <a:r>
              <a:rPr lang="en-US" sz="1800" dirty="0" smtClean="0">
                <a:latin typeface="Arial" charset="0"/>
                <a:ea typeface="Arial" charset="0"/>
                <a:cs typeface="Arial" charset="0"/>
              </a:rPr>
              <a:t>NDN-DPDK-based </a:t>
            </a:r>
            <a:r>
              <a:rPr lang="en-US" sz="1800" dirty="0">
                <a:latin typeface="Arial" charset="0"/>
                <a:ea typeface="Arial" charset="0"/>
                <a:cs typeface="Arial" charset="0"/>
              </a:rPr>
              <a:t>consumer and producer developed by Caltech </a:t>
            </a:r>
            <a:r>
              <a:rPr lang="en-US" sz="1800" dirty="0" smtClean="0">
                <a:latin typeface="Arial" charset="0"/>
                <a:ea typeface="Arial" charset="0"/>
                <a:cs typeface="Arial" charset="0"/>
              </a:rPr>
              <a:t>	  </a:t>
            </a:r>
          </a:p>
          <a:p>
            <a:pPr marL="0" lvl="1" indent="0" hangingPunct="0">
              <a:spcBef>
                <a:spcPts val="0"/>
              </a:spcBef>
              <a:buSzTx/>
              <a:buNone/>
            </a:pPr>
            <a:r>
              <a:rPr lang="en-US" sz="1800" dirty="0">
                <a:latin typeface="Arial" charset="0"/>
                <a:ea typeface="Arial" charset="0"/>
                <a:cs typeface="Arial" charset="0"/>
              </a:rPr>
              <a:t>	</a:t>
            </a:r>
            <a:r>
              <a:rPr lang="en-US" sz="1800" dirty="0" smtClean="0">
                <a:latin typeface="Arial" charset="0"/>
                <a:ea typeface="Arial" charset="0"/>
                <a:cs typeface="Arial" charset="0"/>
              </a:rPr>
              <a:t>  (</a:t>
            </a:r>
            <a:r>
              <a:rPr lang="en-US" sz="1800" dirty="0" err="1">
                <a:latin typeface="Arial" charset="0"/>
                <a:ea typeface="Arial" charset="0"/>
                <a:cs typeface="Arial" charset="0"/>
              </a:rPr>
              <a:t>Iordache</a:t>
            </a:r>
            <a:r>
              <a:rPr lang="en-US" sz="1800" dirty="0">
                <a:latin typeface="Arial" charset="0"/>
                <a:ea typeface="Arial" charset="0"/>
                <a:cs typeface="Arial" charset="0"/>
              </a:rPr>
              <a:t>, et al. 2019</a:t>
            </a:r>
            <a:r>
              <a:rPr lang="en-US" sz="1800" dirty="0" smtClean="0">
                <a:latin typeface="Arial" charset="0"/>
                <a:ea typeface="Arial" charset="0"/>
                <a:cs typeface="Arial" charset="0"/>
              </a:rPr>
              <a:t>)</a:t>
            </a:r>
            <a:endParaRPr lang="en-US" sz="1800" dirty="0">
              <a:latin typeface="Arial" charset="0"/>
              <a:ea typeface="Arial" charset="0"/>
              <a:cs typeface="Arial" charset="0"/>
            </a:endParaRPr>
          </a:p>
          <a:p>
            <a:r>
              <a:rPr lang="en-US" sz="1800" dirty="0" smtClean="0">
                <a:latin typeface="Arial" charset="0"/>
                <a:ea typeface="Arial" charset="0"/>
                <a:cs typeface="Arial" charset="0"/>
              </a:rPr>
              <a:t>Demo over SANDIE </a:t>
            </a:r>
            <a:r>
              <a:rPr lang="en-US" sz="1800" dirty="0">
                <a:latin typeface="Arial" charset="0"/>
                <a:ea typeface="Arial" charset="0"/>
                <a:cs typeface="Arial" charset="0"/>
              </a:rPr>
              <a:t>transcontinental layer-2 demo testbed </a:t>
            </a:r>
            <a:r>
              <a:rPr lang="en-US" sz="1800" dirty="0" smtClean="0">
                <a:latin typeface="Arial" charset="0"/>
                <a:ea typeface="Arial" charset="0"/>
                <a:cs typeface="Arial" charset="0"/>
              </a:rPr>
              <a:t>(SC19 </a:t>
            </a:r>
            <a:r>
              <a:rPr lang="mr-IN" sz="1800" dirty="0" smtClean="0">
                <a:latin typeface="Arial" charset="0"/>
                <a:ea typeface="Arial" charset="0"/>
                <a:cs typeface="Arial" charset="0"/>
              </a:rPr>
              <a:t>–</a:t>
            </a:r>
            <a:r>
              <a:rPr lang="en-US" sz="1800" dirty="0" smtClean="0">
                <a:latin typeface="Arial" charset="0"/>
                <a:ea typeface="Arial" charset="0"/>
                <a:cs typeface="Arial" charset="0"/>
              </a:rPr>
              <a:t> Caltech </a:t>
            </a:r>
            <a:r>
              <a:rPr lang="mr-IN" sz="1800" dirty="0" smtClean="0">
                <a:latin typeface="Arial" charset="0"/>
                <a:ea typeface="Arial" charset="0"/>
                <a:cs typeface="Arial" charset="0"/>
              </a:rPr>
              <a:t>–</a:t>
            </a:r>
            <a:r>
              <a:rPr lang="en-US" sz="1800" dirty="0" smtClean="0">
                <a:latin typeface="Arial" charset="0"/>
                <a:ea typeface="Arial" charset="0"/>
                <a:cs typeface="Arial" charset="0"/>
              </a:rPr>
              <a:t> Northeastern </a:t>
            </a:r>
            <a:r>
              <a:rPr lang="mr-IN" sz="1800" dirty="0" smtClean="0">
                <a:latin typeface="Arial" charset="0"/>
                <a:ea typeface="Arial" charset="0"/>
                <a:cs typeface="Arial" charset="0"/>
              </a:rPr>
              <a:t>–</a:t>
            </a:r>
            <a:r>
              <a:rPr lang="en-US" sz="1800" dirty="0" smtClean="0">
                <a:latin typeface="Arial" charset="0"/>
                <a:ea typeface="Arial" charset="0"/>
                <a:cs typeface="Arial" charset="0"/>
              </a:rPr>
              <a:t> Colorado State)</a:t>
            </a:r>
            <a:endParaRPr lang="en-US" sz="1800" dirty="0">
              <a:latin typeface="Arial" charset="0"/>
              <a:ea typeface="Arial" charset="0"/>
              <a:cs typeface="Arial" charset="0"/>
            </a:endParaRPr>
          </a:p>
          <a:p>
            <a:r>
              <a:rPr lang="en-US" sz="1800" dirty="0" smtClean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</a:rPr>
              <a:t>Achieved over 6.7 </a:t>
            </a:r>
            <a:r>
              <a:rPr lang="en-US" sz="1800" dirty="0" err="1" smtClean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</a:rPr>
              <a:t>Gbps</a:t>
            </a:r>
            <a:r>
              <a:rPr lang="en-US" sz="1800" dirty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1800" dirty="0" smtClean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</a:rPr>
              <a:t>throughput </a:t>
            </a:r>
            <a:r>
              <a:rPr lang="en-US" sz="1800" dirty="0" smtClean="0">
                <a:latin typeface="Arial" charset="0"/>
                <a:ea typeface="Arial" charset="0"/>
                <a:cs typeface="Arial" charset="0"/>
              </a:rPr>
              <a:t>(single </a:t>
            </a:r>
            <a:r>
              <a:rPr lang="en-US" sz="1800" dirty="0">
                <a:latin typeface="Arial" charset="0"/>
                <a:ea typeface="Arial" charset="0"/>
                <a:cs typeface="Arial" charset="0"/>
              </a:rPr>
              <a:t>thread) </a:t>
            </a:r>
            <a:r>
              <a:rPr lang="en-US" sz="1800" dirty="0" smtClean="0">
                <a:latin typeface="Arial" charset="0"/>
                <a:ea typeface="Arial" charset="0"/>
                <a:cs typeface="Arial" charset="0"/>
              </a:rPr>
              <a:t>between NDN-DPDK-based </a:t>
            </a:r>
            <a:r>
              <a:rPr lang="en-US" sz="1800" dirty="0">
                <a:latin typeface="Arial" charset="0"/>
                <a:ea typeface="Arial" charset="0"/>
                <a:cs typeface="Arial" charset="0"/>
              </a:rPr>
              <a:t>consumer and </a:t>
            </a:r>
            <a:r>
              <a:rPr lang="en-US" sz="1800" dirty="0" smtClean="0">
                <a:latin typeface="Arial" charset="0"/>
                <a:ea typeface="Arial" charset="0"/>
                <a:cs typeface="Arial" charset="0"/>
              </a:rPr>
              <a:t>producer </a:t>
            </a:r>
          </a:p>
          <a:p>
            <a:r>
              <a:rPr lang="en-US" sz="1800" dirty="0" smtClean="0"/>
              <a:t>Optimized caching </a:t>
            </a:r>
            <a:r>
              <a:rPr lang="en-US" sz="1800" dirty="0"/>
              <a:t>and forwarding algorithms </a:t>
            </a:r>
            <a:r>
              <a:rPr lang="en-US" sz="1800" dirty="0" smtClean="0">
                <a:solidFill>
                  <a:srgbClr val="FF0000"/>
                </a:solidFill>
              </a:rPr>
              <a:t>decreased </a:t>
            </a:r>
            <a:r>
              <a:rPr lang="en-US" sz="1800" dirty="0">
                <a:solidFill>
                  <a:srgbClr val="FF0000"/>
                </a:solidFill>
              </a:rPr>
              <a:t>download times by a factor of 10</a:t>
            </a:r>
            <a:r>
              <a:rPr lang="en-US" sz="1800" dirty="0"/>
              <a:t>.</a:t>
            </a:r>
            <a:endParaRPr lang="en-US" sz="1800" dirty="0">
              <a:latin typeface="Arial" charset="0"/>
              <a:ea typeface="Arial" charset="0"/>
              <a:cs typeface="Arial" charset="0"/>
            </a:endParaRPr>
          </a:p>
          <a:p>
            <a:endParaRPr lang="en-US" sz="1800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A21D32F7-6D5D-DD44-9030-A7FD9B75F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SANDIE Results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520495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="" xmlns:a16="http://schemas.microsoft.com/office/drawing/2014/main" id="{08A46CA9-B7BA-F542-BB8E-3EF0ED3A6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XRootD</a:t>
            </a:r>
            <a:r>
              <a:rPr lang="en-US" dirty="0" smtClean="0"/>
              <a:t> with NDN-DPDK: Throughput (1 Thread)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440067" y="1460500"/>
            <a:ext cx="8229600" cy="4525963"/>
          </a:xfrm>
        </p:spPr>
        <p:txBody>
          <a:bodyPr>
            <a:normAutofit/>
          </a:bodyPr>
          <a:lstStyle/>
          <a:p>
            <a:endParaRPr lang="en-US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67" y="1208881"/>
            <a:ext cx="89408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222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79730" y="1290320"/>
            <a:ext cx="8294370" cy="5891544"/>
          </a:xfrm>
          <a:prstGeom prst="rect">
            <a:avLst/>
          </a:prstGeom>
        </p:spPr>
        <p:txBody>
          <a:bodyPr vert="horz" wrap="square" lIns="0" tIns="12886" rIns="0" bIns="0" rtlCol="0">
            <a:spAutoFit/>
          </a:bodyPr>
          <a:lstStyle/>
          <a:p>
            <a:pPr marL="457200" indent="-457200">
              <a:buFont typeface="Arial" charset="0"/>
              <a:buChar char="•"/>
            </a:pPr>
            <a:r>
              <a:rPr lang="en-US" kern="120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rPr>
              <a:t>NSF </a:t>
            </a:r>
            <a:r>
              <a:rPr lang="en-US" kern="1200" dirty="0" smtClean="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rPr>
              <a:t>CC* N-DISE</a:t>
            </a:r>
            <a:r>
              <a:rPr lang="en-US" kern="1200" dirty="0" smtClean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</a:rPr>
              <a:t>: </a:t>
            </a:r>
            <a:r>
              <a:rPr lang="en-US" dirty="0" smtClean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</a:rPr>
              <a:t>NDN </a:t>
            </a:r>
            <a:r>
              <a:rPr lang="en-US" dirty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</a:rPr>
              <a:t>for Data Intensive Science </a:t>
            </a:r>
            <a:r>
              <a:rPr lang="en-US" dirty="0" smtClean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</a:rPr>
              <a:t>Experiments</a:t>
            </a:r>
            <a:r>
              <a:rPr lang="en-US" dirty="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 (Starting 2020)</a:t>
            </a:r>
            <a:endParaRPr lang="en-US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  <a:p>
            <a:pPr marL="457200" indent="-457200">
              <a:buFont typeface="Arial" charset="0"/>
              <a:buChar char="•"/>
            </a:pPr>
            <a:endParaRPr lang="en-US" kern="120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+mn-cs"/>
            </a:endParaRPr>
          </a:p>
          <a:p>
            <a:pPr marL="457200" indent="-457200">
              <a:buFont typeface="Arial" charset="0"/>
              <a:buChar char="•"/>
            </a:pPr>
            <a:r>
              <a:rPr lang="en-US" kern="1200" dirty="0" smtClean="0">
                <a:solidFill>
                  <a:schemeClr val="tx1"/>
                </a:solidFill>
                <a:latin typeface="Arial" charset="0"/>
                <a:ea typeface="ＭＳ Ｐゴシック" charset="-128"/>
              </a:rPr>
              <a:t>Team:</a:t>
            </a:r>
            <a:endParaRPr lang="en-US" kern="1200" dirty="0">
              <a:solidFill>
                <a:schemeClr val="tx1"/>
              </a:solidFill>
              <a:latin typeface="Arial" charset="0"/>
              <a:ea typeface="ＭＳ Ｐゴシック" charset="-128"/>
            </a:endParaRPr>
          </a:p>
          <a:p>
            <a:pPr marL="800100" lvl="1" indent="-342900" eaLnBrk="0" fontAlgn="base">
              <a:spcBef>
                <a:spcPts val="44"/>
              </a:spcBef>
              <a:spcAft>
                <a:spcPct val="0"/>
              </a:spcAft>
              <a:buFont typeface="Arial" charset="0"/>
              <a:buChar char="•"/>
            </a:pPr>
            <a:r>
              <a:rPr lang="en-US" kern="1200" dirty="0">
                <a:solidFill>
                  <a:schemeClr val="tx1"/>
                </a:solidFill>
                <a:latin typeface="Arial" charset="0"/>
                <a:ea typeface="ＭＳ Ｐゴシック" charset="-128"/>
              </a:rPr>
              <a:t>Northeastern (PI: </a:t>
            </a:r>
            <a:r>
              <a:rPr lang="en-US" kern="1200" dirty="0" smtClean="0">
                <a:solidFill>
                  <a:schemeClr val="tx1"/>
                </a:solidFill>
                <a:latin typeface="Arial" charset="0"/>
                <a:ea typeface="ＭＳ Ｐゴシック" charset="-128"/>
              </a:rPr>
              <a:t>E. </a:t>
            </a:r>
            <a:r>
              <a:rPr lang="en-US" kern="1200" dirty="0" err="1" smtClean="0">
                <a:solidFill>
                  <a:schemeClr val="tx1"/>
                </a:solidFill>
                <a:latin typeface="Arial" charset="0"/>
                <a:ea typeface="ＭＳ Ｐゴシック" charset="-128"/>
              </a:rPr>
              <a:t>Yeh</a:t>
            </a:r>
            <a:r>
              <a:rPr lang="en-US" kern="1200" dirty="0">
                <a:solidFill>
                  <a:schemeClr val="tx1"/>
                </a:solidFill>
                <a:latin typeface="Arial" charset="0"/>
                <a:ea typeface="ＭＳ Ｐゴシック" charset="-128"/>
              </a:rPr>
              <a:t>), Caltech </a:t>
            </a:r>
            <a:r>
              <a:rPr lang="en-US" kern="1200" dirty="0" smtClean="0">
                <a:solidFill>
                  <a:schemeClr val="tx1"/>
                </a:solidFill>
                <a:latin typeface="Arial" charset="0"/>
                <a:ea typeface="ＭＳ Ｐゴシック" charset="-128"/>
              </a:rPr>
              <a:t>(Co-PI</a:t>
            </a:r>
            <a:r>
              <a:rPr lang="en-US" kern="1200" dirty="0">
                <a:solidFill>
                  <a:schemeClr val="tx1"/>
                </a:solidFill>
                <a:latin typeface="Arial" charset="0"/>
                <a:ea typeface="ＭＳ Ｐゴシック" charset="-128"/>
              </a:rPr>
              <a:t>: </a:t>
            </a:r>
            <a:r>
              <a:rPr lang="en-US" kern="1200" dirty="0" smtClean="0">
                <a:solidFill>
                  <a:schemeClr val="tx1"/>
                </a:solidFill>
                <a:latin typeface="Arial" charset="0"/>
                <a:ea typeface="ＭＳ Ｐゴシック" charset="-128"/>
              </a:rPr>
              <a:t>H. Newman</a:t>
            </a:r>
            <a:r>
              <a:rPr lang="en-US" kern="1200" dirty="0">
                <a:solidFill>
                  <a:schemeClr val="tx1"/>
                </a:solidFill>
                <a:latin typeface="Arial" charset="0"/>
                <a:ea typeface="ＭＳ Ｐゴシック" charset="-128"/>
              </a:rPr>
              <a:t>), </a:t>
            </a:r>
            <a:r>
              <a:rPr lang="en-US" kern="1200" dirty="0" smtClean="0">
                <a:solidFill>
                  <a:schemeClr val="tx1"/>
                </a:solidFill>
                <a:latin typeface="Arial" charset="0"/>
                <a:ea typeface="ＭＳ Ｐゴシック" charset="-128"/>
              </a:rPr>
              <a:t>UCLA (Co-PIs:  L. Zhang and J. Cong), Tennessee Tech (Co-PI: S. </a:t>
            </a:r>
            <a:r>
              <a:rPr lang="en-US" kern="1200" dirty="0" err="1" smtClean="0">
                <a:solidFill>
                  <a:schemeClr val="tx1"/>
                </a:solidFill>
                <a:latin typeface="Arial" charset="0"/>
                <a:ea typeface="ＭＳ Ｐゴシック" charset="-128"/>
              </a:rPr>
              <a:t>Shannigrahi</a:t>
            </a:r>
            <a:r>
              <a:rPr lang="en-US" kern="1200" dirty="0" smtClean="0">
                <a:solidFill>
                  <a:schemeClr val="tx1"/>
                </a:solidFill>
                <a:latin typeface="Arial" charset="0"/>
                <a:ea typeface="ＭＳ Ｐゴシック" charset="-128"/>
              </a:rPr>
              <a:t>)</a:t>
            </a:r>
            <a:endParaRPr lang="en-US" kern="1200" dirty="0">
              <a:solidFill>
                <a:schemeClr val="tx1"/>
              </a:solidFill>
              <a:latin typeface="Arial" charset="0"/>
              <a:ea typeface="ＭＳ Ｐゴシック" charset="-128"/>
            </a:endParaRPr>
          </a:p>
          <a:p>
            <a:pPr marL="800100" lvl="1" indent="-342900" eaLnBrk="0" fontAlgn="base">
              <a:spcBef>
                <a:spcPts val="44"/>
              </a:spcBef>
              <a:spcAft>
                <a:spcPct val="0"/>
              </a:spcAft>
              <a:buFont typeface="Arial" charset="0"/>
              <a:buChar char="•"/>
            </a:pPr>
            <a:r>
              <a:rPr lang="en-US" kern="1200" dirty="0">
                <a:solidFill>
                  <a:schemeClr val="tx1"/>
                </a:solidFill>
                <a:latin typeface="Arial" charset="0"/>
                <a:ea typeface="ＭＳ Ｐゴシック" charset="-128"/>
              </a:rPr>
              <a:t>In </a:t>
            </a:r>
            <a:r>
              <a:rPr lang="en-US" kern="1200" dirty="0" smtClean="0">
                <a:solidFill>
                  <a:schemeClr val="tx1"/>
                </a:solidFill>
                <a:latin typeface="Arial" charset="0"/>
                <a:ea typeface="ＭＳ Ｐゴシック" charset="-128"/>
              </a:rPr>
              <a:t>partnership with LHC, genomics collaborators and </a:t>
            </a:r>
            <a:r>
              <a:rPr lang="en-US" kern="1200" dirty="0" smtClean="0">
                <a:solidFill>
                  <a:schemeClr val="tx1"/>
                </a:solidFill>
                <a:latin typeface="Arial" charset="0"/>
                <a:ea typeface="ＭＳ Ｐゴシック" charset="-128"/>
              </a:rPr>
              <a:t>NDN </a:t>
            </a:r>
            <a:r>
              <a:rPr lang="en-US" kern="1200" dirty="0">
                <a:solidFill>
                  <a:schemeClr val="tx1"/>
                </a:solidFill>
                <a:latin typeface="Arial" charset="0"/>
                <a:ea typeface="ＭＳ Ｐゴシック" charset="-128"/>
              </a:rPr>
              <a:t>project team</a:t>
            </a:r>
          </a:p>
          <a:p>
            <a:pPr marL="457200" indent="-457200">
              <a:buFont typeface="Arial" charset="0"/>
              <a:buChar char="•"/>
            </a:pPr>
            <a:endParaRPr lang="en-US" kern="1200" dirty="0">
              <a:solidFill>
                <a:schemeClr val="tx1"/>
              </a:solidFill>
              <a:latin typeface="Arial" charset="0"/>
              <a:ea typeface="ＭＳ Ｐゴシック" charset="-128"/>
              <a:cs typeface="+mn-cs"/>
            </a:endParaRPr>
          </a:p>
          <a:p>
            <a:pPr marL="457200" indent="-457200">
              <a:buFont typeface="Arial" charset="0"/>
              <a:buChar char="•"/>
            </a:pPr>
            <a:r>
              <a:rPr lang="en-US" kern="120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rPr>
              <a:t>Challenges:</a:t>
            </a:r>
            <a:endParaRPr lang="en-US" kern="1200" dirty="0">
              <a:solidFill>
                <a:schemeClr val="tx1"/>
              </a:solidFill>
              <a:latin typeface="Arial" charset="0"/>
              <a:ea typeface="ＭＳ Ｐゴシック" charset="-128"/>
              <a:cs typeface="+mn-cs"/>
            </a:endParaRPr>
          </a:p>
          <a:p>
            <a:pPr marL="800100" lvl="1" indent="-342900" eaLnBrk="0" fontAlgn="base">
              <a:spcBef>
                <a:spcPts val="44"/>
              </a:spcBef>
              <a:spcAft>
                <a:spcPct val="0"/>
              </a:spcAft>
              <a:buFont typeface="Arial" charset="0"/>
              <a:buChar char="•"/>
            </a:pPr>
            <a:r>
              <a:rPr lang="en-US" kern="1200" dirty="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rPr>
              <a:t>LHC </a:t>
            </a:r>
            <a:r>
              <a:rPr lang="en-US" kern="120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rPr>
              <a:t>data volume to grow 10x due to High Luminosity LHC (2027): increased data complexity</a:t>
            </a:r>
          </a:p>
          <a:p>
            <a:pPr marL="800100" lvl="1" indent="-342900" eaLnBrk="0" fontAlgn="base">
              <a:spcBef>
                <a:spcPts val="44"/>
              </a:spcBef>
              <a:spcAft>
                <a:spcPct val="0"/>
              </a:spcAft>
              <a:buFont typeface="Arial" charset="0"/>
              <a:buChar char="•"/>
            </a:pPr>
            <a:r>
              <a:rPr lang="en-US" kern="120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rPr>
              <a:t>Human genome data, Earth </a:t>
            </a:r>
            <a:r>
              <a:rPr lang="en-US" kern="1200" dirty="0" err="1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rPr>
              <a:t>Biogenome</a:t>
            </a:r>
            <a:r>
              <a:rPr lang="en-US" kern="120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rPr>
              <a:t> (~ </a:t>
            </a:r>
            <a:r>
              <a:rPr lang="en-US" kern="1200" dirty="0" err="1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rPr>
              <a:t>exabyte</a:t>
            </a:r>
            <a:r>
              <a:rPr lang="en-US" kern="120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rPr>
              <a:t> range)</a:t>
            </a:r>
          </a:p>
          <a:p>
            <a:pPr marL="800100" lvl="1" indent="-342900" eaLnBrk="0" fontAlgn="base">
              <a:spcBef>
                <a:spcPts val="44"/>
              </a:spcBef>
              <a:spcAft>
                <a:spcPct val="0"/>
              </a:spcAft>
              <a:buFont typeface="Arial" charset="0"/>
              <a:buChar char="•"/>
            </a:pPr>
            <a:r>
              <a:rPr lang="en-US" kern="1200" dirty="0" smtClean="0">
                <a:solidFill>
                  <a:schemeClr val="tx1"/>
                </a:solidFill>
                <a:latin typeface="Arial" charset="0"/>
                <a:ea typeface="ＭＳ Ｐゴシック" charset="-128"/>
              </a:rPr>
              <a:t>Need to use diverse </a:t>
            </a:r>
            <a:r>
              <a:rPr lang="en-US" kern="1200" dirty="0">
                <a:solidFill>
                  <a:schemeClr val="tx1"/>
                </a:solidFill>
                <a:latin typeface="Arial" charset="0"/>
                <a:ea typeface="ＭＳ Ｐゴシック" charset="-128"/>
              </a:rPr>
              <a:t>computation, storage, networking resources</a:t>
            </a:r>
          </a:p>
          <a:p>
            <a:pPr marL="800100" lvl="1" indent="-342900" eaLnBrk="0" fontAlgn="base">
              <a:spcBef>
                <a:spcPts val="44"/>
              </a:spcBef>
              <a:spcAft>
                <a:spcPct val="0"/>
              </a:spcAft>
              <a:buFont typeface="Arial" charset="0"/>
              <a:buChar char="•"/>
            </a:pPr>
            <a:endParaRPr lang="en-US" kern="1200" dirty="0">
              <a:solidFill>
                <a:schemeClr val="tx1"/>
              </a:solidFill>
              <a:latin typeface="Arial" charset="0"/>
              <a:ea typeface="ＭＳ Ｐゴシック" charset="-128"/>
              <a:cs typeface="+mn-cs"/>
            </a:endParaRPr>
          </a:p>
          <a:p>
            <a:pPr marL="457200" indent="-457200">
              <a:buFont typeface="Arial" charset="0"/>
              <a:buChar char="•"/>
            </a:pPr>
            <a:r>
              <a:rPr lang="en-US" kern="1200" dirty="0" smtClean="0">
                <a:solidFill>
                  <a:schemeClr val="tx1"/>
                </a:solidFill>
                <a:latin typeface="Arial" charset="0"/>
                <a:ea typeface="ＭＳ Ｐゴシック" charset="-128"/>
              </a:rPr>
              <a:t>Approach</a:t>
            </a:r>
            <a:r>
              <a:rPr lang="en-US" kern="1200" dirty="0" smtClean="0">
                <a:solidFill>
                  <a:schemeClr val="tx1"/>
                </a:solidFill>
                <a:latin typeface="Arial" charset="0"/>
                <a:ea typeface="ＭＳ Ｐゴシック" charset="-128"/>
              </a:rPr>
              <a:t>: build data-centric ecosystem to provide agile, integrated, interoperable, scalable, robust and trustworthy solutions for heterogeneous data-intensive domains</a:t>
            </a:r>
          </a:p>
          <a:p>
            <a:pPr marL="457200" indent="-457200">
              <a:buFont typeface="Arial" charset="0"/>
              <a:buChar char="•"/>
            </a:pPr>
            <a:endParaRPr lang="en-US" kern="1200" dirty="0" smtClean="0">
              <a:solidFill>
                <a:schemeClr val="tx1"/>
              </a:solidFill>
              <a:latin typeface="Arial" charset="0"/>
              <a:ea typeface="ＭＳ Ｐゴシック" charset="-128"/>
            </a:endParaRPr>
          </a:p>
          <a:p>
            <a:pPr marL="457200" lvl="3" indent="-457200">
              <a:buFont typeface="Arial" charset="0"/>
              <a:buChar char="•"/>
            </a:pPr>
            <a:endParaRPr lang="en-US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  <a:p>
            <a:pPr marL="457200" indent="-457200">
              <a:buFont typeface="Arial" charset="0"/>
              <a:buChar char="•"/>
            </a:pPr>
            <a:endParaRPr lang="en-US" sz="2000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  <a:p>
            <a:pPr marL="800100" lvl="1" indent="-342900" eaLnBrk="0" fontAlgn="base">
              <a:spcBef>
                <a:spcPts val="44"/>
              </a:spcBef>
              <a:spcAft>
                <a:spcPct val="0"/>
              </a:spcAft>
              <a:buFont typeface="Arial" charset="0"/>
              <a:buChar char="•"/>
            </a:pPr>
            <a:endParaRPr lang="en-US" sz="2000" kern="120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7991" y="225752"/>
            <a:ext cx="7635523" cy="749299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NSF N-DISE Project</a:t>
            </a:r>
            <a:endParaRPr lang="en-US" dirty="0"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846000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492422" y="1188721"/>
            <a:ext cx="8156333" cy="4373879"/>
          </a:xfrm>
        </p:spPr>
        <p:txBody>
          <a:bodyPr>
            <a:noAutofit/>
          </a:bodyPr>
          <a:lstStyle/>
          <a:p>
            <a:pPr marL="182880" indent="-171450">
              <a:spcBef>
                <a:spcPts val="100"/>
              </a:spcBef>
              <a:buFont typeface="Cambria" panose="02040503050406030204"/>
              <a:buChar char="•"/>
              <a:tabLst>
                <a:tab pos="182880" algn="l"/>
              </a:tabLst>
            </a:pPr>
            <a:r>
              <a:rPr lang="en-US" sz="1800" dirty="0" smtClean="0">
                <a:latin typeface="Arial" charset="0"/>
                <a:ea typeface="Arial" charset="0"/>
                <a:cs typeface="Arial" charset="0"/>
              </a:rPr>
              <a:t>Deploy, commission </a:t>
            </a:r>
            <a:r>
              <a:rPr lang="en-US" sz="1800" dirty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</a:rPr>
              <a:t>first prototype production-ready </a:t>
            </a:r>
            <a:r>
              <a:rPr lang="en-US" sz="1800" dirty="0" smtClean="0">
                <a:latin typeface="Arial" charset="0"/>
                <a:ea typeface="Arial" charset="0"/>
                <a:cs typeface="Arial" charset="0"/>
              </a:rPr>
              <a:t>NDN-based </a:t>
            </a:r>
            <a:r>
              <a:rPr lang="en-US" sz="1800" dirty="0" err="1">
                <a:latin typeface="Arial" charset="0"/>
                <a:ea typeface="Arial" charset="0"/>
                <a:cs typeface="Arial" charset="0"/>
              </a:rPr>
              <a:t>petascale</a:t>
            </a:r>
            <a:r>
              <a:rPr lang="en-US" sz="1800" dirty="0">
                <a:latin typeface="Arial" charset="0"/>
                <a:ea typeface="Arial" charset="0"/>
                <a:cs typeface="Arial" charset="0"/>
              </a:rPr>
              <a:t> data distribution, caching, </a:t>
            </a:r>
            <a:r>
              <a:rPr lang="en-US" sz="1800" dirty="0" smtClean="0">
                <a:latin typeface="Arial" charset="0"/>
                <a:ea typeface="Arial" charset="0"/>
                <a:cs typeface="Arial" charset="0"/>
              </a:rPr>
              <a:t>access, computation system serving major science programs</a:t>
            </a:r>
          </a:p>
          <a:p>
            <a:pPr marL="182880" indent="-171450">
              <a:spcBef>
                <a:spcPts val="100"/>
              </a:spcBef>
              <a:buFont typeface="Cambria" panose="02040503050406030204"/>
              <a:buChar char="•"/>
              <a:tabLst>
                <a:tab pos="182880" algn="l"/>
              </a:tabLst>
            </a:pPr>
            <a:endParaRPr lang="en-US" sz="1800" dirty="0" smtClean="0">
              <a:latin typeface="Arial" charset="0"/>
              <a:ea typeface="Arial" charset="0"/>
              <a:cs typeface="Arial" charset="0"/>
            </a:endParaRPr>
          </a:p>
          <a:p>
            <a:pPr marL="182880" indent="-171450">
              <a:spcBef>
                <a:spcPts val="100"/>
              </a:spcBef>
              <a:buFont typeface="Cambria" panose="02040503050406030204"/>
              <a:buChar char="•"/>
              <a:tabLst>
                <a:tab pos="182880" algn="l"/>
              </a:tabLst>
            </a:pPr>
            <a:r>
              <a:rPr lang="en-US" sz="1800" dirty="0" smtClean="0">
                <a:latin typeface="Arial" charset="0"/>
                <a:ea typeface="Arial" charset="0"/>
                <a:cs typeface="Arial" charset="0"/>
              </a:rPr>
              <a:t>LHC high </a:t>
            </a:r>
            <a:r>
              <a:rPr lang="en-US" sz="1800" dirty="0">
                <a:latin typeface="Arial" charset="0"/>
                <a:ea typeface="Arial" charset="0"/>
                <a:cs typeface="Arial" charset="0"/>
              </a:rPr>
              <a:t>energy physics program </a:t>
            </a:r>
            <a:r>
              <a:rPr lang="en-US" sz="1800" dirty="0" smtClean="0">
                <a:latin typeface="Arial" charset="0"/>
                <a:ea typeface="Arial" charset="0"/>
                <a:cs typeface="Arial" charset="0"/>
              </a:rPr>
              <a:t>as </a:t>
            </a:r>
            <a:r>
              <a:rPr lang="en-US" sz="1800" dirty="0">
                <a:latin typeface="Arial" charset="0"/>
                <a:ea typeface="Arial" charset="0"/>
                <a:cs typeface="Arial" charset="0"/>
              </a:rPr>
              <a:t>leading target use </a:t>
            </a:r>
            <a:r>
              <a:rPr lang="en-US" sz="1800" dirty="0" smtClean="0">
                <a:latin typeface="Arial" charset="0"/>
                <a:ea typeface="Arial" charset="0"/>
                <a:cs typeface="Arial" charset="0"/>
              </a:rPr>
              <a:t>case.  </a:t>
            </a:r>
            <a:r>
              <a:rPr lang="en-US" sz="1800" dirty="0" err="1" smtClean="0">
                <a:latin typeface="Arial" charset="0"/>
                <a:ea typeface="Arial" charset="0"/>
                <a:cs typeface="Arial" charset="0"/>
              </a:rPr>
              <a:t>BioGenome</a:t>
            </a:r>
            <a:r>
              <a:rPr lang="en-US" sz="1800" dirty="0" smtClean="0">
                <a:latin typeface="Arial" charset="0"/>
                <a:ea typeface="Arial" charset="0"/>
                <a:cs typeface="Arial" charset="0"/>
              </a:rPr>
              <a:t>, human </a:t>
            </a:r>
            <a:r>
              <a:rPr lang="en-US" sz="1800" dirty="0">
                <a:latin typeface="Arial" charset="0"/>
                <a:ea typeface="Arial" charset="0"/>
                <a:cs typeface="Arial" charset="0"/>
              </a:rPr>
              <a:t>genome </a:t>
            </a:r>
            <a:r>
              <a:rPr lang="en-US" sz="1800" dirty="0" smtClean="0">
                <a:latin typeface="Arial" charset="0"/>
                <a:ea typeface="Arial" charset="0"/>
                <a:cs typeface="Arial" charset="0"/>
              </a:rPr>
              <a:t>projects, ATLAS, LSST, SKA as future use cases</a:t>
            </a:r>
            <a:endParaRPr lang="en-US" sz="1800" dirty="0">
              <a:latin typeface="Arial" charset="0"/>
              <a:ea typeface="Arial" charset="0"/>
              <a:cs typeface="Arial" charset="0"/>
            </a:endParaRPr>
          </a:p>
          <a:p>
            <a:pPr marL="182880" indent="-171450">
              <a:spcBef>
                <a:spcPts val="100"/>
              </a:spcBef>
              <a:buFont typeface="Cambria" panose="02040503050406030204"/>
              <a:buChar char="•"/>
              <a:tabLst>
                <a:tab pos="182880" algn="l"/>
              </a:tabLst>
            </a:pPr>
            <a:endParaRPr lang="en-US" sz="1800" dirty="0">
              <a:latin typeface="Arial" charset="0"/>
              <a:ea typeface="Arial" charset="0"/>
              <a:cs typeface="Arial" charset="0"/>
            </a:endParaRPr>
          </a:p>
          <a:p>
            <a:pPr marL="182880" indent="-171450">
              <a:spcBef>
                <a:spcPts val="100"/>
              </a:spcBef>
              <a:buFont typeface="Cambria" panose="02040503050406030204"/>
              <a:buChar char="•"/>
              <a:tabLst>
                <a:tab pos="182880" algn="l"/>
              </a:tabLst>
            </a:pPr>
            <a:r>
              <a:rPr lang="en-US" sz="1800" dirty="0" smtClean="0">
                <a:latin typeface="Arial" charset="0"/>
                <a:ea typeface="Arial" charset="0"/>
                <a:cs typeface="Arial" charset="0"/>
              </a:rPr>
              <a:t>Leverage NDN </a:t>
            </a:r>
            <a:r>
              <a:rPr lang="en-US" sz="1800" dirty="0">
                <a:latin typeface="Arial" charset="0"/>
                <a:ea typeface="Arial" charset="0"/>
                <a:cs typeface="Arial" charset="0"/>
              </a:rPr>
              <a:t>protocols, high throughput </a:t>
            </a:r>
            <a:r>
              <a:rPr lang="en-US" sz="1800" dirty="0" smtClean="0">
                <a:latin typeface="Arial" charset="0"/>
                <a:ea typeface="Arial" charset="0"/>
                <a:cs typeface="Arial" charset="0"/>
              </a:rPr>
              <a:t>forwarding/caching </a:t>
            </a:r>
            <a:r>
              <a:rPr lang="en-US" sz="1800" dirty="0">
                <a:latin typeface="Arial" charset="0"/>
                <a:ea typeface="Arial" charset="0"/>
                <a:cs typeface="Arial" charset="0"/>
              </a:rPr>
              <a:t>methods, </a:t>
            </a:r>
            <a:r>
              <a:rPr lang="en-US" sz="1800" dirty="0" smtClean="0">
                <a:latin typeface="Arial" charset="0"/>
                <a:ea typeface="Arial" charset="0"/>
                <a:cs typeface="Arial" charset="0"/>
              </a:rPr>
              <a:t>containerization </a:t>
            </a:r>
            <a:r>
              <a:rPr lang="en-US" sz="1800" dirty="0" smtClean="0">
                <a:latin typeface="Arial" charset="0"/>
                <a:ea typeface="Arial" charset="0"/>
                <a:cs typeface="Arial" charset="0"/>
              </a:rPr>
              <a:t>techniques</a:t>
            </a:r>
          </a:p>
          <a:p>
            <a:pPr marL="182880" indent="-171450">
              <a:spcBef>
                <a:spcPts val="100"/>
              </a:spcBef>
              <a:buFont typeface="Cambria" panose="02040503050406030204"/>
              <a:buChar char="•"/>
              <a:tabLst>
                <a:tab pos="182880" algn="l"/>
              </a:tabLst>
            </a:pPr>
            <a:endParaRPr lang="en-US" sz="1800" dirty="0">
              <a:latin typeface="Arial" charset="0"/>
              <a:ea typeface="Arial" charset="0"/>
              <a:cs typeface="Arial" charset="0"/>
            </a:endParaRPr>
          </a:p>
          <a:p>
            <a:pPr marL="182880" indent="-171450">
              <a:spcBef>
                <a:spcPts val="100"/>
              </a:spcBef>
              <a:buFont typeface="Cambria" panose="02040503050406030204"/>
              <a:buChar char="•"/>
              <a:tabLst>
                <a:tab pos="182880" algn="l"/>
              </a:tabLst>
            </a:pPr>
            <a:r>
              <a:rPr lang="en-US" sz="1800" dirty="0" smtClean="0">
                <a:latin typeface="Arial" charset="0"/>
                <a:ea typeface="Arial" charset="0"/>
                <a:cs typeface="Arial" charset="0"/>
              </a:rPr>
              <a:t>Integrated </a:t>
            </a:r>
            <a:r>
              <a:rPr lang="en-US" sz="1800" dirty="0">
                <a:latin typeface="Arial" charset="0"/>
                <a:ea typeface="Arial" charset="0"/>
                <a:cs typeface="Arial" charset="0"/>
              </a:rPr>
              <a:t>with </a:t>
            </a:r>
            <a:r>
              <a:rPr lang="en-US" sz="1800" dirty="0" smtClean="0">
                <a:latin typeface="Arial" charset="0"/>
                <a:ea typeface="Arial" charset="0"/>
                <a:cs typeface="Arial" charset="0"/>
              </a:rPr>
              <a:t>SDN </a:t>
            </a:r>
            <a:r>
              <a:rPr lang="en-US" sz="1800" dirty="0">
                <a:latin typeface="Arial" charset="0"/>
                <a:ea typeface="Arial" charset="0"/>
                <a:cs typeface="Arial" charset="0"/>
              </a:rPr>
              <a:t>methods and FPGA acceleration </a:t>
            </a:r>
            <a:r>
              <a:rPr lang="en-US" sz="1800" dirty="0" smtClean="0">
                <a:latin typeface="Arial" charset="0"/>
                <a:ea typeface="Arial" charset="0"/>
                <a:cs typeface="Arial" charset="0"/>
              </a:rPr>
              <a:t>subsystems</a:t>
            </a:r>
          </a:p>
          <a:p>
            <a:pPr marL="182880" indent="-171450">
              <a:spcBef>
                <a:spcPts val="100"/>
              </a:spcBef>
              <a:buFont typeface="Cambria" panose="02040503050406030204"/>
              <a:buChar char="•"/>
              <a:tabLst>
                <a:tab pos="182880" algn="l"/>
              </a:tabLst>
            </a:pPr>
            <a:endParaRPr lang="en-US" sz="1800" dirty="0">
              <a:latin typeface="Arial" charset="0"/>
              <a:ea typeface="Arial" charset="0"/>
              <a:cs typeface="Arial" charset="0"/>
            </a:endParaRPr>
          </a:p>
          <a:p>
            <a:pPr marL="182880" indent="-171450">
              <a:spcBef>
                <a:spcPts val="100"/>
              </a:spcBef>
              <a:buFont typeface="Cambria" panose="02040503050406030204"/>
              <a:buChar char="•"/>
              <a:tabLst>
                <a:tab pos="182880" algn="l"/>
              </a:tabLst>
            </a:pPr>
            <a:r>
              <a:rPr lang="en-US" sz="1800" dirty="0">
                <a:latin typeface="Arial" charset="0"/>
                <a:ea typeface="Arial" charset="0"/>
                <a:cs typeface="Arial" charset="0"/>
              </a:rPr>
              <a:t>D</a:t>
            </a:r>
            <a:r>
              <a:rPr lang="en-US" sz="1800" dirty="0" smtClean="0">
                <a:latin typeface="Arial" charset="0"/>
                <a:ea typeface="Arial" charset="0"/>
                <a:cs typeface="Arial" charset="0"/>
              </a:rPr>
              <a:t>eliver </a:t>
            </a:r>
            <a:r>
              <a:rPr lang="en-US" sz="1800" dirty="0">
                <a:latin typeface="Arial" charset="0"/>
                <a:ea typeface="Arial" charset="0"/>
                <a:cs typeface="Arial" charset="0"/>
              </a:rPr>
              <a:t>LHC data over </a:t>
            </a:r>
            <a:r>
              <a:rPr lang="en-US" sz="1800" dirty="0" smtClean="0">
                <a:latin typeface="Arial" charset="0"/>
                <a:ea typeface="Arial" charset="0"/>
                <a:cs typeface="Arial" charset="0"/>
              </a:rPr>
              <a:t>wide </a:t>
            </a:r>
            <a:r>
              <a:rPr lang="en-US" sz="1800" dirty="0">
                <a:latin typeface="Arial" charset="0"/>
                <a:ea typeface="Arial" charset="0"/>
                <a:cs typeface="Arial" charset="0"/>
              </a:rPr>
              <a:t>area network at throughputs </a:t>
            </a:r>
            <a:r>
              <a:rPr lang="en-US" sz="1800" dirty="0" smtClean="0">
                <a:latin typeface="Arial" charset="0"/>
                <a:ea typeface="Arial" charset="0"/>
                <a:cs typeface="Arial" charset="0"/>
              </a:rPr>
              <a:t>~ </a:t>
            </a:r>
            <a:r>
              <a:rPr lang="en-US" sz="1800" dirty="0" smtClean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</a:rPr>
              <a:t>100 </a:t>
            </a:r>
            <a:r>
              <a:rPr lang="en-US" sz="1800" dirty="0" err="1" smtClean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</a:rPr>
              <a:t>Gbps</a:t>
            </a:r>
            <a:endParaRPr lang="en-US" sz="1800" dirty="0" smtClean="0">
              <a:latin typeface="Arial" charset="0"/>
              <a:ea typeface="Arial" charset="0"/>
              <a:cs typeface="Arial" charset="0"/>
            </a:endParaRPr>
          </a:p>
          <a:p>
            <a:pPr marL="182880" indent="-171450">
              <a:spcBef>
                <a:spcPts val="100"/>
              </a:spcBef>
              <a:buFont typeface="Cambria" panose="02040503050406030204"/>
              <a:buChar char="•"/>
              <a:tabLst>
                <a:tab pos="182880" algn="l"/>
              </a:tabLst>
            </a:pPr>
            <a:endParaRPr lang="en-US" sz="1800" dirty="0" smtClean="0">
              <a:latin typeface="Arial" charset="0"/>
              <a:ea typeface="Arial" charset="0"/>
              <a:cs typeface="Arial" charset="0"/>
            </a:endParaRPr>
          </a:p>
          <a:p>
            <a:pPr marL="182880" indent="-171450">
              <a:spcBef>
                <a:spcPts val="100"/>
              </a:spcBef>
              <a:buFont typeface="Cambria" panose="02040503050406030204"/>
              <a:buChar char="•"/>
              <a:tabLst>
                <a:tab pos="182880" algn="l"/>
              </a:tabLst>
            </a:pPr>
            <a:r>
              <a:rPr lang="en-US" sz="1800" dirty="0">
                <a:latin typeface="Arial" charset="0"/>
                <a:ea typeface="Arial" charset="0"/>
                <a:cs typeface="Arial" charset="0"/>
              </a:rPr>
              <a:t>D</a:t>
            </a:r>
            <a:r>
              <a:rPr lang="en-US" sz="1800" dirty="0" smtClean="0">
                <a:latin typeface="Arial" charset="0"/>
                <a:ea typeface="Arial" charset="0"/>
                <a:cs typeface="Arial" charset="0"/>
              </a:rPr>
              <a:t>ramatically </a:t>
            </a:r>
            <a:r>
              <a:rPr lang="en-US" sz="1800" dirty="0" smtClean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</a:rPr>
              <a:t>decrease </a:t>
            </a:r>
            <a:r>
              <a:rPr lang="en-US" sz="1800" dirty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</a:rPr>
              <a:t>download times</a:t>
            </a:r>
            <a:r>
              <a:rPr lang="en-US" sz="1800" dirty="0">
                <a:latin typeface="Arial" charset="0"/>
                <a:ea typeface="Arial" charset="0"/>
                <a:cs typeface="Arial" charset="0"/>
              </a:rPr>
              <a:t> by using optimizing </a:t>
            </a:r>
            <a:r>
              <a:rPr lang="en-US" sz="1800" dirty="0" smtClean="0">
                <a:latin typeface="Arial" charset="0"/>
                <a:ea typeface="Arial" charset="0"/>
                <a:cs typeface="Arial" charset="0"/>
              </a:rPr>
              <a:t>caching</a:t>
            </a:r>
          </a:p>
          <a:p>
            <a:pPr marL="182880" indent="-171450">
              <a:spcBef>
                <a:spcPts val="100"/>
              </a:spcBef>
              <a:buFont typeface="Cambria" panose="02040503050406030204"/>
              <a:buChar char="•"/>
              <a:tabLst>
                <a:tab pos="182880" algn="l"/>
              </a:tabLst>
            </a:pPr>
            <a:endParaRPr lang="en-US" sz="1800" dirty="0">
              <a:latin typeface="Arial" charset="0"/>
              <a:ea typeface="Arial" charset="0"/>
              <a:cs typeface="Arial" charset="0"/>
            </a:endParaRPr>
          </a:p>
          <a:p>
            <a:pPr marL="182880" indent="-171450">
              <a:spcBef>
                <a:spcPts val="100"/>
              </a:spcBef>
              <a:buFont typeface="Cambria" panose="02040503050406030204"/>
              <a:buChar char="•"/>
              <a:tabLst>
                <a:tab pos="182880" algn="l"/>
              </a:tabLst>
            </a:pPr>
            <a:r>
              <a:rPr lang="en-US" sz="1800" dirty="0" smtClean="0">
                <a:latin typeface="Arial" charset="0"/>
                <a:ea typeface="Arial" charset="0"/>
                <a:cs typeface="Arial" charset="0"/>
              </a:rPr>
              <a:t>Enhanced testbed with high performance NDN data cache servers </a:t>
            </a:r>
            <a:endParaRPr lang="en-US" sz="1800" dirty="0">
              <a:latin typeface="Arial" charset="0"/>
              <a:ea typeface="Arial" charset="0"/>
              <a:cs typeface="Arial" charset="0"/>
            </a:endParaRPr>
          </a:p>
          <a:p>
            <a:pPr marL="182880" indent="-171450">
              <a:spcBef>
                <a:spcPts val="100"/>
              </a:spcBef>
              <a:buFont typeface="Cambria" panose="02040503050406030204"/>
              <a:buChar char="•"/>
              <a:tabLst>
                <a:tab pos="182880" algn="l"/>
              </a:tabLst>
            </a:pPr>
            <a:endParaRPr lang="en-US" sz="1800" dirty="0">
              <a:latin typeface="Arial" charset="0"/>
              <a:ea typeface="Arial" charset="0"/>
              <a:cs typeface="Arial" charset="0"/>
            </a:endParaRPr>
          </a:p>
          <a:p>
            <a:pPr marL="182880" indent="-171450">
              <a:spcBef>
                <a:spcPts val="100"/>
              </a:spcBef>
              <a:buFont typeface="Cambria" panose="02040503050406030204"/>
              <a:buChar char="•"/>
              <a:tabLst>
                <a:tab pos="182880" algn="l"/>
              </a:tabLst>
            </a:pPr>
            <a:endParaRPr lang="en-US" sz="20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N-DISE Goals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740287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466967" y="1834159"/>
            <a:ext cx="8207243" cy="4206239"/>
          </a:xfrm>
        </p:spPr>
        <p:txBody>
          <a:bodyPr>
            <a:noAutofit/>
          </a:bodyPr>
          <a:lstStyle/>
          <a:p>
            <a:pPr marL="182880" indent="-171450">
              <a:spcBef>
                <a:spcPts val="100"/>
              </a:spcBef>
              <a:buFont typeface="Cambria" panose="02040503050406030204"/>
              <a:buChar char="•"/>
              <a:tabLst>
                <a:tab pos="182880" algn="l"/>
              </a:tabLst>
            </a:pPr>
            <a:r>
              <a:rPr lang="en-US" sz="1800" b="1" dirty="0" smtClean="0">
                <a:latin typeface="Arial" charset="0"/>
                <a:ea typeface="Arial" charset="0"/>
                <a:cs typeface="Arial" charset="0"/>
              </a:rPr>
              <a:t>NDN-DPDK Consumer and Producer</a:t>
            </a:r>
          </a:p>
          <a:p>
            <a:pPr marL="623570" lvl="1" indent="-171450">
              <a:spcBef>
                <a:spcPts val="100"/>
              </a:spcBef>
              <a:buFont typeface="Cambria" panose="02040503050406030204"/>
              <a:buChar char="•"/>
              <a:tabLst>
                <a:tab pos="182880" algn="l"/>
              </a:tabLst>
            </a:pPr>
            <a:r>
              <a:rPr lang="en-US" sz="1800" dirty="0" smtClean="0">
                <a:latin typeface="Arial" charset="0"/>
                <a:ea typeface="Arial" charset="0"/>
                <a:cs typeface="Arial" charset="0"/>
              </a:rPr>
              <a:t>Multi-threaded consumer and producer applications: linear throughput scaling</a:t>
            </a:r>
          </a:p>
          <a:p>
            <a:pPr marL="623570" lvl="1" indent="-171450">
              <a:spcBef>
                <a:spcPts val="100"/>
              </a:spcBef>
              <a:buFont typeface="Cambria" panose="02040503050406030204"/>
              <a:buChar char="•"/>
              <a:tabLst>
                <a:tab pos="182880" algn="l"/>
              </a:tabLst>
            </a:pPr>
            <a:r>
              <a:rPr lang="en-US" sz="1800" dirty="0" smtClean="0">
                <a:latin typeface="Arial" charset="0"/>
                <a:ea typeface="Arial" charset="0"/>
                <a:cs typeface="Arial" charset="0"/>
              </a:rPr>
              <a:t>Integrate with NDN-DPDK </a:t>
            </a:r>
            <a:r>
              <a:rPr lang="en-US" sz="1800" dirty="0" err="1" smtClean="0">
                <a:latin typeface="Arial" charset="0"/>
                <a:ea typeface="Arial" charset="0"/>
                <a:cs typeface="Arial" charset="0"/>
              </a:rPr>
              <a:t>XRootD</a:t>
            </a:r>
            <a:r>
              <a:rPr lang="en-US" sz="1800" dirty="0" smtClean="0">
                <a:latin typeface="Arial" charset="0"/>
                <a:ea typeface="Arial" charset="0"/>
                <a:cs typeface="Arial" charset="0"/>
              </a:rPr>
              <a:t> plugin</a:t>
            </a:r>
          </a:p>
          <a:p>
            <a:pPr marL="623570" lvl="1" indent="-171450">
              <a:spcBef>
                <a:spcPts val="100"/>
              </a:spcBef>
              <a:buFont typeface="Cambria" panose="02040503050406030204"/>
              <a:buChar char="•"/>
              <a:tabLst>
                <a:tab pos="182880" algn="l"/>
              </a:tabLst>
            </a:pPr>
            <a:endParaRPr lang="en-US" sz="1800" dirty="0" smtClean="0">
              <a:latin typeface="Arial" charset="0"/>
              <a:ea typeface="Arial" charset="0"/>
              <a:cs typeface="Arial" charset="0"/>
            </a:endParaRPr>
          </a:p>
          <a:p>
            <a:pPr marL="182880" indent="-171450">
              <a:spcBef>
                <a:spcPts val="100"/>
              </a:spcBef>
              <a:buFont typeface="Cambria" panose="02040503050406030204"/>
              <a:buChar char="•"/>
              <a:tabLst>
                <a:tab pos="182880" algn="l"/>
              </a:tabLst>
            </a:pPr>
            <a:r>
              <a:rPr lang="en-US" sz="1800" b="1" dirty="0" smtClean="0">
                <a:latin typeface="Arial" charset="0"/>
                <a:ea typeface="Arial" charset="0"/>
                <a:cs typeface="Arial" charset="0"/>
              </a:rPr>
              <a:t>Containers for NDN-DPDK and applications</a:t>
            </a:r>
          </a:p>
          <a:p>
            <a:pPr marL="623570" lvl="1" indent="-171450">
              <a:spcBef>
                <a:spcPts val="100"/>
              </a:spcBef>
              <a:buFont typeface="Cambria" panose="02040503050406030204"/>
              <a:buChar char="•"/>
              <a:tabLst>
                <a:tab pos="182880" algn="l"/>
              </a:tabLst>
            </a:pPr>
            <a:r>
              <a:rPr lang="en-US" sz="1800" dirty="0" smtClean="0">
                <a:latin typeface="Arial" charset="0"/>
                <a:ea typeface="Arial" charset="0"/>
                <a:cs typeface="Arial" charset="0"/>
              </a:rPr>
              <a:t>For diverse server equipment and interfaces</a:t>
            </a:r>
          </a:p>
          <a:p>
            <a:pPr marL="623570" lvl="1" indent="-171450">
              <a:spcBef>
                <a:spcPts val="100"/>
              </a:spcBef>
              <a:buFont typeface="Cambria" panose="02040503050406030204"/>
              <a:buChar char="•"/>
              <a:tabLst>
                <a:tab pos="182880" algn="l"/>
              </a:tabLst>
            </a:pPr>
            <a:r>
              <a:rPr lang="en-US" sz="1800" dirty="0" smtClean="0">
                <a:latin typeface="Arial" charset="0"/>
                <a:ea typeface="Arial" charset="0"/>
                <a:cs typeface="Arial" charset="0"/>
              </a:rPr>
              <a:t>Docker containers: host guest OS, state restoration, ease upgrading</a:t>
            </a:r>
          </a:p>
          <a:p>
            <a:pPr marL="623570" lvl="1" indent="-171450">
              <a:spcBef>
                <a:spcPts val="100"/>
              </a:spcBef>
              <a:buFont typeface="Cambria" panose="02040503050406030204"/>
              <a:buChar char="•"/>
              <a:tabLst>
                <a:tab pos="182880" algn="l"/>
              </a:tabLst>
            </a:pPr>
            <a:endParaRPr lang="en-US" sz="1800" dirty="0" smtClean="0">
              <a:latin typeface="Arial" charset="0"/>
              <a:ea typeface="Arial" charset="0"/>
              <a:cs typeface="Arial" charset="0"/>
            </a:endParaRPr>
          </a:p>
          <a:p>
            <a:pPr marL="182880" indent="-171450">
              <a:spcBef>
                <a:spcPts val="100"/>
              </a:spcBef>
              <a:buFont typeface="Cambria" panose="02040503050406030204"/>
              <a:buChar char="•"/>
              <a:tabLst>
                <a:tab pos="182880" algn="l"/>
              </a:tabLst>
            </a:pPr>
            <a:r>
              <a:rPr lang="en-US" sz="1800" b="1" dirty="0">
                <a:latin typeface="Arial" charset="0"/>
                <a:ea typeface="Arial" charset="0"/>
                <a:cs typeface="Arial" charset="0"/>
              </a:rPr>
              <a:t>Data integrity and provenance</a:t>
            </a:r>
          </a:p>
          <a:p>
            <a:pPr marL="623570" lvl="1" indent="-171450">
              <a:spcBef>
                <a:spcPts val="100"/>
              </a:spcBef>
              <a:buFont typeface="Cambria" panose="02040503050406030204"/>
              <a:buChar char="•"/>
              <a:tabLst>
                <a:tab pos="182880" algn="l"/>
              </a:tabLst>
            </a:pPr>
            <a:r>
              <a:rPr lang="en-US" sz="1800" dirty="0">
                <a:latin typeface="Arial" charset="0"/>
                <a:ea typeface="Arial" charset="0"/>
                <a:cs typeface="Arial" charset="0"/>
              </a:rPr>
              <a:t>Data origin authentication</a:t>
            </a:r>
          </a:p>
          <a:p>
            <a:pPr marL="623570" lvl="1" indent="-171450">
              <a:spcBef>
                <a:spcPts val="100"/>
              </a:spcBef>
              <a:buFont typeface="Cambria" panose="02040503050406030204"/>
              <a:buChar char="•"/>
              <a:tabLst>
                <a:tab pos="182880" algn="l"/>
              </a:tabLst>
            </a:pPr>
            <a:r>
              <a:rPr lang="en-US" sz="1800" dirty="0">
                <a:latin typeface="Arial" charset="0"/>
                <a:ea typeface="Arial" charset="0"/>
                <a:cs typeface="Arial" charset="0"/>
              </a:rPr>
              <a:t>Authenticated tracing as data goes through multiple processing steps</a:t>
            </a:r>
          </a:p>
          <a:p>
            <a:pPr marL="623570" lvl="1" indent="-171450">
              <a:spcBef>
                <a:spcPts val="100"/>
              </a:spcBef>
              <a:buFont typeface="Cambria" panose="02040503050406030204"/>
              <a:buChar char="•"/>
              <a:tabLst>
                <a:tab pos="182880" algn="l"/>
              </a:tabLst>
            </a:pPr>
            <a:r>
              <a:rPr lang="en-US" sz="1800" dirty="0">
                <a:latin typeface="Arial" charset="0"/>
                <a:ea typeface="Arial" charset="0"/>
                <a:cs typeface="Arial" charset="0"/>
              </a:rPr>
              <a:t>Data manifest: compute hashes of data segments, sign hashes</a:t>
            </a:r>
          </a:p>
          <a:p>
            <a:pPr marL="182880" indent="-171450">
              <a:spcBef>
                <a:spcPts val="100"/>
              </a:spcBef>
              <a:buFont typeface="Cambria" panose="02040503050406030204"/>
              <a:buChar char="•"/>
              <a:tabLst>
                <a:tab pos="182880" algn="l"/>
              </a:tabLst>
            </a:pPr>
            <a:endParaRPr lang="en-US" sz="1800" dirty="0">
              <a:latin typeface="Arial" charset="0"/>
              <a:ea typeface="Arial" charset="0"/>
              <a:cs typeface="Arial" charset="0"/>
            </a:endParaRPr>
          </a:p>
          <a:p>
            <a:pPr marL="182880" indent="-171450">
              <a:spcBef>
                <a:spcPts val="100"/>
              </a:spcBef>
              <a:buFont typeface="Cambria" panose="02040503050406030204"/>
              <a:buChar char="•"/>
              <a:tabLst>
                <a:tab pos="182880" algn="l"/>
              </a:tabLst>
            </a:pPr>
            <a:endParaRPr lang="en-US" sz="1800" dirty="0" smtClean="0">
              <a:latin typeface="Arial" charset="0"/>
              <a:ea typeface="Arial" charset="0"/>
              <a:cs typeface="Arial" charset="0"/>
            </a:endParaRPr>
          </a:p>
          <a:p>
            <a:pPr marL="182880" indent="-171450">
              <a:spcBef>
                <a:spcPts val="100"/>
              </a:spcBef>
              <a:buFont typeface="Cambria" panose="02040503050406030204"/>
              <a:buChar char="•"/>
              <a:tabLst>
                <a:tab pos="182880" algn="l"/>
              </a:tabLst>
            </a:pPr>
            <a:endParaRPr lang="en-US" sz="20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182880" indent="-171450">
              <a:spcBef>
                <a:spcPts val="100"/>
              </a:spcBef>
              <a:buFont typeface="Cambria" panose="02040503050406030204"/>
              <a:buChar char="•"/>
              <a:tabLst>
                <a:tab pos="182880" algn="l"/>
              </a:tabLst>
            </a:pPr>
            <a:endParaRPr lang="en-US" sz="20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N-DISE Research Agenda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70519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466967" y="1834159"/>
            <a:ext cx="8207243" cy="4206239"/>
          </a:xfrm>
        </p:spPr>
        <p:txBody>
          <a:bodyPr>
            <a:noAutofit/>
          </a:bodyPr>
          <a:lstStyle/>
          <a:p>
            <a:pPr marL="182880" indent="-171450">
              <a:spcBef>
                <a:spcPts val="100"/>
              </a:spcBef>
              <a:buFont typeface="Cambria" panose="02040503050406030204"/>
              <a:buChar char="•"/>
              <a:tabLst>
                <a:tab pos="182880" algn="l"/>
              </a:tabLst>
            </a:pPr>
            <a:r>
              <a:rPr lang="en-US" sz="2000" b="1" dirty="0" smtClean="0">
                <a:latin typeface="Arial" charset="0"/>
                <a:ea typeface="Arial" charset="0"/>
                <a:cs typeface="Arial" charset="0"/>
              </a:rPr>
              <a:t>Congestion control and retransmission</a:t>
            </a:r>
            <a:r>
              <a:rPr lang="en-US" sz="2000" dirty="0" smtClean="0">
                <a:latin typeface="Arial" charset="0"/>
                <a:ea typeface="Arial" charset="0"/>
                <a:cs typeface="Arial" charset="0"/>
              </a:rPr>
              <a:t>: NETBLT at network layer</a:t>
            </a:r>
          </a:p>
          <a:p>
            <a:pPr marL="182880" indent="-171450">
              <a:spcBef>
                <a:spcPts val="100"/>
              </a:spcBef>
              <a:buFont typeface="Cambria" panose="02040503050406030204"/>
              <a:buChar char="•"/>
              <a:tabLst>
                <a:tab pos="182880" algn="l"/>
              </a:tabLst>
            </a:pPr>
            <a:endParaRPr lang="en-US" sz="2000" dirty="0">
              <a:latin typeface="Arial" charset="0"/>
              <a:ea typeface="Arial" charset="0"/>
              <a:cs typeface="Arial" charset="0"/>
            </a:endParaRPr>
          </a:p>
          <a:p>
            <a:pPr marL="182880" lvl="0" indent="-171450">
              <a:spcBef>
                <a:spcPts val="100"/>
              </a:spcBef>
              <a:buFont typeface="Cambria" panose="02040503050406030204"/>
              <a:buChar char="•"/>
              <a:tabLst>
                <a:tab pos="182880" algn="l"/>
              </a:tabLst>
            </a:pPr>
            <a:r>
              <a:rPr lang="en-US" sz="2000" b="1" dirty="0" smtClean="0">
                <a:latin typeface="Arial" charset="0"/>
                <a:ea typeface="Arial" charset="0"/>
                <a:cs typeface="Arial" charset="0"/>
              </a:rPr>
              <a:t>Caching and Storage</a:t>
            </a:r>
            <a:endParaRPr lang="en" sz="2000" b="1" dirty="0">
              <a:latin typeface="Arial" charset="0"/>
              <a:ea typeface="Arial" charset="0"/>
              <a:cs typeface="Arial" charset="0"/>
            </a:endParaRPr>
          </a:p>
          <a:p>
            <a:pPr marL="623570" lvl="1" indent="-171450">
              <a:spcBef>
                <a:spcPts val="100"/>
              </a:spcBef>
              <a:buFont typeface="Cambria" panose="02040503050406030204"/>
              <a:buChar char="•"/>
              <a:tabLst>
                <a:tab pos="182880" algn="l"/>
              </a:tabLst>
            </a:pPr>
            <a:r>
              <a:rPr lang="en-US" sz="2000" dirty="0" smtClean="0">
                <a:latin typeface="Arial" charset="0"/>
                <a:ea typeface="Arial" charset="0"/>
                <a:cs typeface="Arial" charset="0"/>
              </a:rPr>
              <a:t>Multi-threaded VIP caching and forwarding</a:t>
            </a:r>
          </a:p>
          <a:p>
            <a:pPr marL="623570" lvl="1" indent="-171450">
              <a:spcBef>
                <a:spcPts val="100"/>
              </a:spcBef>
              <a:buFont typeface="Cambria" panose="02040503050406030204"/>
              <a:buChar char="•"/>
              <a:tabLst>
                <a:tab pos="182880" algn="l"/>
              </a:tabLst>
            </a:pPr>
            <a:r>
              <a:rPr lang="en-US" sz="2000" dirty="0" smtClean="0">
                <a:latin typeface="Arial" charset="0"/>
                <a:ea typeface="Arial" charset="0"/>
                <a:cs typeface="Arial" charset="0"/>
              </a:rPr>
              <a:t>Hierarchical cache system (SSDs, Intel </a:t>
            </a:r>
            <a:r>
              <a:rPr lang="en-US" sz="2000" dirty="0" err="1" smtClean="0">
                <a:latin typeface="Arial" charset="0"/>
                <a:ea typeface="Arial" charset="0"/>
                <a:cs typeface="Arial" charset="0"/>
              </a:rPr>
              <a:t>Optane</a:t>
            </a:r>
            <a:r>
              <a:rPr lang="en-US" sz="2000" dirty="0" smtClean="0">
                <a:latin typeface="Arial" charset="0"/>
                <a:ea typeface="Arial" charset="0"/>
                <a:cs typeface="Arial" charset="0"/>
              </a:rPr>
              <a:t>, etc.) for handling data volume</a:t>
            </a:r>
          </a:p>
          <a:p>
            <a:pPr marL="623570" lvl="1" indent="-171450">
              <a:spcBef>
                <a:spcPts val="100"/>
              </a:spcBef>
              <a:buFont typeface="Cambria" panose="02040503050406030204"/>
              <a:buChar char="•"/>
              <a:tabLst>
                <a:tab pos="182880" algn="l"/>
              </a:tabLst>
            </a:pPr>
            <a:endParaRPr lang="en-US" sz="2000" dirty="0">
              <a:latin typeface="Arial" charset="0"/>
              <a:ea typeface="Arial" charset="0"/>
              <a:cs typeface="Arial" charset="0"/>
            </a:endParaRPr>
          </a:p>
          <a:p>
            <a:pPr marL="182880" indent="-171450">
              <a:spcBef>
                <a:spcPts val="100"/>
              </a:spcBef>
              <a:buFont typeface="Cambria" panose="02040503050406030204"/>
              <a:buChar char="•"/>
              <a:tabLst>
                <a:tab pos="182880" algn="l"/>
              </a:tabLst>
            </a:pPr>
            <a:r>
              <a:rPr lang="en-US" sz="2000" b="1" dirty="0" smtClean="0">
                <a:latin typeface="Arial" charset="0"/>
                <a:ea typeface="Arial" charset="0"/>
                <a:cs typeface="Arial" charset="0"/>
              </a:rPr>
              <a:t>FPGA acceleratio</a:t>
            </a:r>
            <a:r>
              <a:rPr lang="en-US" sz="2000" b="1" dirty="0" smtClean="0">
                <a:latin typeface="Arial" charset="0"/>
                <a:ea typeface="Arial" charset="0"/>
                <a:cs typeface="Arial" charset="0"/>
              </a:rPr>
              <a:t>n</a:t>
            </a:r>
          </a:p>
          <a:p>
            <a:pPr marL="623570" lvl="1" indent="-171450">
              <a:spcBef>
                <a:spcPts val="100"/>
              </a:spcBef>
              <a:buFont typeface="Cambria" panose="02040503050406030204"/>
              <a:buChar char="•"/>
              <a:tabLst>
                <a:tab pos="182880" algn="l"/>
              </a:tabLst>
            </a:pPr>
            <a:r>
              <a:rPr lang="en-US" sz="2000" dirty="0" smtClean="0">
                <a:latin typeface="Arial" charset="0"/>
                <a:ea typeface="Arial" charset="0"/>
                <a:cs typeface="Arial" charset="0"/>
              </a:rPr>
              <a:t>Programming adaptive, high throughput, low latency, energy efficiency</a:t>
            </a:r>
          </a:p>
          <a:p>
            <a:pPr marL="623570" lvl="1" indent="-171450">
              <a:spcBef>
                <a:spcPts val="100"/>
              </a:spcBef>
              <a:buFont typeface="Cambria" panose="02040503050406030204"/>
              <a:buChar char="•"/>
              <a:tabLst>
                <a:tab pos="182880" algn="l"/>
              </a:tabLst>
            </a:pPr>
            <a:r>
              <a:rPr lang="en-US" sz="2000" dirty="0" smtClean="0">
                <a:latin typeface="Arial" charset="0"/>
                <a:ea typeface="Arial" charset="0"/>
                <a:cs typeface="Arial" charset="0"/>
              </a:rPr>
              <a:t>Accelerate hash functions and lookups in NDN-DPDK Name Dispatch Table (NDT), PIT-CS Composite Table (PCCT), and FIB </a:t>
            </a:r>
          </a:p>
          <a:p>
            <a:pPr marL="182880" indent="-171450">
              <a:spcBef>
                <a:spcPts val="100"/>
              </a:spcBef>
              <a:buFont typeface="Cambria" panose="02040503050406030204"/>
              <a:buChar char="•"/>
              <a:tabLst>
                <a:tab pos="182880" algn="l"/>
              </a:tabLst>
            </a:pPr>
            <a:endParaRPr lang="en-US" sz="2000" dirty="0">
              <a:latin typeface="Arial" charset="0"/>
              <a:ea typeface="Arial" charset="0"/>
              <a:cs typeface="Arial" charset="0"/>
            </a:endParaRPr>
          </a:p>
          <a:p>
            <a:pPr marL="182880" indent="-171450">
              <a:spcBef>
                <a:spcPts val="100"/>
              </a:spcBef>
              <a:buFont typeface="Cambria" panose="02040503050406030204"/>
              <a:buChar char="•"/>
              <a:tabLst>
                <a:tab pos="182880" algn="l"/>
              </a:tabLst>
            </a:pPr>
            <a:endParaRPr lang="en-US" sz="1800" dirty="0" smtClean="0">
              <a:latin typeface="Arial" charset="0"/>
              <a:ea typeface="Arial" charset="0"/>
              <a:cs typeface="Arial" charset="0"/>
            </a:endParaRPr>
          </a:p>
          <a:p>
            <a:pPr marL="182880" indent="-171450">
              <a:spcBef>
                <a:spcPts val="100"/>
              </a:spcBef>
              <a:buFont typeface="Cambria" panose="02040503050406030204"/>
              <a:buChar char="•"/>
              <a:tabLst>
                <a:tab pos="182880" algn="l"/>
              </a:tabLst>
            </a:pPr>
            <a:endParaRPr lang="en-US" sz="20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182880" indent="-171450">
              <a:spcBef>
                <a:spcPts val="100"/>
              </a:spcBef>
              <a:buFont typeface="Cambria" panose="02040503050406030204"/>
              <a:buChar char="•"/>
              <a:tabLst>
                <a:tab pos="182880" algn="l"/>
              </a:tabLst>
            </a:pPr>
            <a:endParaRPr lang="en-US" sz="20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N-DISE Research Agenda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671525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492422" y="1493521"/>
            <a:ext cx="8156333" cy="4373879"/>
          </a:xfrm>
        </p:spPr>
        <p:txBody>
          <a:bodyPr>
            <a:noAutofit/>
          </a:bodyPr>
          <a:lstStyle/>
          <a:p>
            <a:pPr marL="182880" indent="-171450">
              <a:spcBef>
                <a:spcPts val="100"/>
              </a:spcBef>
              <a:buFont typeface="Cambria" panose="02040503050406030204"/>
              <a:buChar char="•"/>
              <a:tabLst>
                <a:tab pos="182880" algn="l"/>
              </a:tabLst>
            </a:pPr>
            <a:r>
              <a:rPr lang="en-US" sz="1800" dirty="0" smtClean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Data-intensive science applications </a:t>
            </a:r>
            <a:r>
              <a:rPr lang="en-US" sz="1800" dirty="0" smtClean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require fundamental network/systems solutions to address common needs</a:t>
            </a:r>
          </a:p>
          <a:p>
            <a:pPr marL="182880" indent="-171450">
              <a:spcBef>
                <a:spcPts val="100"/>
              </a:spcBef>
              <a:buFont typeface="Cambria" panose="02040503050406030204"/>
              <a:buChar char="•"/>
              <a:tabLst>
                <a:tab pos="182880" algn="l"/>
              </a:tabLst>
            </a:pPr>
            <a:endParaRPr lang="en-US" sz="18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182880" indent="-171450">
              <a:spcBef>
                <a:spcPts val="100"/>
              </a:spcBef>
              <a:buFont typeface="Cambria" panose="02040503050406030204"/>
              <a:buChar char="•"/>
              <a:tabLst>
                <a:tab pos="182880" algn="l"/>
              </a:tabLst>
            </a:pPr>
            <a:r>
              <a:rPr lang="en-US" sz="1800" dirty="0" smtClean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NDN provides data-centric system support through whole data lifecycle	</a:t>
            </a:r>
            <a:r>
              <a:rPr lang="en-US" sz="1800" dirty="0" smtClean="0">
                <a:latin typeface="Arial" charset="0"/>
                <a:ea typeface="Arial" charset="0"/>
                <a:cs typeface="Arial" charset="0"/>
              </a:rPr>
              <a:t>- 	- </a:t>
            </a:r>
            <a:r>
              <a:rPr lang="en-US" sz="1800" dirty="0" smtClean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natural </a:t>
            </a:r>
            <a:r>
              <a:rPr lang="en-US" sz="180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fit for </a:t>
            </a:r>
            <a:r>
              <a:rPr lang="en-US" sz="1800" dirty="0" smtClean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LHC, genomics </a:t>
            </a:r>
            <a:r>
              <a:rPr lang="en-US" sz="180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1800" dirty="0" smtClean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other data-intensive applications</a:t>
            </a:r>
          </a:p>
          <a:p>
            <a:pPr marL="182880" indent="-171450">
              <a:spcBef>
                <a:spcPts val="100"/>
              </a:spcBef>
              <a:buFont typeface="Cambria" panose="02040503050406030204"/>
              <a:buChar char="•"/>
              <a:tabLst>
                <a:tab pos="182880" algn="l"/>
              </a:tabLst>
            </a:pPr>
            <a:endParaRPr lang="en-US" sz="1800" dirty="0" smtClean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182880" indent="-171450">
              <a:spcBef>
                <a:spcPts val="100"/>
              </a:spcBef>
              <a:buFont typeface="Cambria" panose="02040503050406030204"/>
              <a:buChar char="•"/>
              <a:tabLst>
                <a:tab pos="182880" algn="l"/>
              </a:tabLst>
            </a:pPr>
            <a:r>
              <a:rPr lang="en-US" sz="1800" dirty="0" smtClean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High performance NDN: SANDIE showed throughput at 6.7 </a:t>
            </a:r>
            <a:r>
              <a:rPr lang="en-US" sz="1800" dirty="0" err="1" smtClean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Gbps</a:t>
            </a:r>
            <a:r>
              <a:rPr lang="en-US" sz="1800" dirty="0" smtClean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over WAN</a:t>
            </a:r>
          </a:p>
          <a:p>
            <a:pPr marL="0" lvl="1" indent="0" hangingPunct="0">
              <a:spcBef>
                <a:spcPts val="0"/>
              </a:spcBef>
              <a:buSzTx/>
              <a:buNone/>
            </a:pPr>
            <a:r>
              <a:rPr lang="en-US" sz="1800" dirty="0" smtClean="0">
                <a:latin typeface="Arial" charset="0"/>
                <a:ea typeface="Arial" charset="0"/>
                <a:cs typeface="Arial" charset="0"/>
              </a:rPr>
              <a:t>	- NDN-DPDK forwarder</a:t>
            </a:r>
          </a:p>
          <a:p>
            <a:pPr marL="0" lvl="1" indent="0" hangingPunct="0">
              <a:spcBef>
                <a:spcPts val="0"/>
              </a:spcBef>
              <a:buSzTx/>
              <a:buNone/>
            </a:pPr>
            <a:r>
              <a:rPr lang="en-US" sz="1800" dirty="0" smtClean="0">
                <a:latin typeface="Arial" charset="0"/>
                <a:ea typeface="Arial" charset="0"/>
                <a:cs typeface="Arial" charset="0"/>
              </a:rPr>
              <a:t>	- VIP </a:t>
            </a:r>
            <a:r>
              <a:rPr lang="en-US" sz="1800" dirty="0">
                <a:latin typeface="Arial" charset="0"/>
                <a:ea typeface="Arial" charset="0"/>
                <a:cs typeface="Arial" charset="0"/>
              </a:rPr>
              <a:t>jointly optimized caching and forwarding algorithms 	</a:t>
            </a:r>
            <a:endParaRPr lang="en-US" sz="1800" dirty="0" smtClean="0">
              <a:latin typeface="Arial" charset="0"/>
              <a:ea typeface="Arial" charset="0"/>
              <a:cs typeface="Arial" charset="0"/>
            </a:endParaRPr>
          </a:p>
          <a:p>
            <a:pPr marL="0" lvl="1" indent="0" hangingPunct="0">
              <a:spcBef>
                <a:spcPts val="0"/>
              </a:spcBef>
              <a:buSzTx/>
              <a:buNone/>
            </a:pPr>
            <a:endParaRPr lang="en-US" sz="18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182880" indent="-171450">
              <a:spcBef>
                <a:spcPts val="100"/>
              </a:spcBef>
              <a:buFont typeface="Cambria" panose="02040503050406030204"/>
              <a:buChar char="•"/>
              <a:tabLst>
                <a:tab pos="182880" algn="l"/>
              </a:tabLst>
            </a:pPr>
            <a:r>
              <a:rPr lang="en-US" sz="1800" dirty="0" smtClean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N-DISE: toward </a:t>
            </a:r>
            <a:r>
              <a:rPr lang="en-US" sz="1800" dirty="0" smtClean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first prototype production-ready NDN </a:t>
            </a:r>
            <a:r>
              <a:rPr lang="en-US" sz="1800" dirty="0" smtClean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system</a:t>
            </a:r>
            <a:r>
              <a:rPr lang="en-US" sz="1800" dirty="0" smtClean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: integration with SDN, </a:t>
            </a:r>
            <a:r>
              <a:rPr lang="en-US" sz="1800" dirty="0" smtClean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FPGA, </a:t>
            </a:r>
            <a:r>
              <a:rPr lang="en-US" sz="1800" dirty="0" smtClean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containerization</a:t>
            </a:r>
          </a:p>
          <a:p>
            <a:pPr marL="182880" indent="-171450">
              <a:spcBef>
                <a:spcPts val="100"/>
              </a:spcBef>
              <a:buFont typeface="Cambria" panose="02040503050406030204"/>
              <a:buChar char="•"/>
              <a:tabLst>
                <a:tab pos="182880" algn="l"/>
              </a:tabLst>
            </a:pPr>
            <a:endParaRPr lang="en-US" sz="1800" dirty="0" smtClean="0">
              <a:latin typeface="Arial" charset="0"/>
              <a:ea typeface="Arial" charset="0"/>
              <a:cs typeface="Arial" charset="0"/>
            </a:endParaRPr>
          </a:p>
          <a:p>
            <a:pPr marL="182880" indent="-171450">
              <a:spcBef>
                <a:spcPts val="100"/>
              </a:spcBef>
              <a:buFont typeface="Cambria" panose="02040503050406030204"/>
              <a:buChar char="•"/>
              <a:tabLst>
                <a:tab pos="182880" algn="l"/>
              </a:tabLst>
            </a:pPr>
            <a:r>
              <a:rPr lang="en-US" sz="1800" dirty="0" smtClean="0">
                <a:latin typeface="Arial" charset="0"/>
                <a:ea typeface="Arial" charset="0"/>
                <a:cs typeface="Arial" charset="0"/>
              </a:rPr>
              <a:t>Seeking long-term collaboration with domain science, networking and computer systems communities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Discussion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986422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466967" y="1834159"/>
            <a:ext cx="8207243" cy="4206239"/>
          </a:xfrm>
        </p:spPr>
        <p:txBody>
          <a:bodyPr>
            <a:noAutofit/>
          </a:bodyPr>
          <a:lstStyle/>
          <a:p>
            <a:pPr marL="182880" lvl="0" indent="-171450">
              <a:spcBef>
                <a:spcPts val="100"/>
              </a:spcBef>
              <a:buFont typeface="Cambria" panose="02040503050406030204"/>
              <a:buChar char="•"/>
              <a:tabLst>
                <a:tab pos="182880" algn="l"/>
              </a:tabLst>
            </a:pPr>
            <a:r>
              <a:rPr lang="en" sz="1800" dirty="0" smtClean="0">
                <a:latin typeface="Arial" charset="0"/>
                <a:ea typeface="Arial" charset="0"/>
                <a:cs typeface="Arial" charset="0"/>
              </a:rPr>
              <a:t>Genomics </a:t>
            </a:r>
            <a:r>
              <a:rPr lang="en" sz="1800" dirty="0">
                <a:latin typeface="Arial" charset="0"/>
                <a:ea typeface="Arial" charset="0"/>
                <a:cs typeface="Arial" charset="0"/>
              </a:rPr>
              <a:t>use case complements </a:t>
            </a:r>
            <a:r>
              <a:rPr lang="en" sz="1800" dirty="0" smtClean="0">
                <a:latin typeface="Arial" charset="0"/>
                <a:ea typeface="Arial" charset="0"/>
                <a:cs typeface="Arial" charset="0"/>
              </a:rPr>
              <a:t>HEP </a:t>
            </a:r>
            <a:r>
              <a:rPr lang="en" sz="1800" dirty="0">
                <a:latin typeface="Arial" charset="0"/>
                <a:ea typeface="Arial" charset="0"/>
                <a:cs typeface="Arial" charset="0"/>
              </a:rPr>
              <a:t>use </a:t>
            </a:r>
            <a:r>
              <a:rPr lang="en" sz="1800" dirty="0" smtClean="0">
                <a:latin typeface="Arial" charset="0"/>
                <a:ea typeface="Arial" charset="0"/>
                <a:cs typeface="Arial" charset="0"/>
              </a:rPr>
              <a:t>case</a:t>
            </a:r>
            <a:endParaRPr lang="en" sz="1800" dirty="0">
              <a:latin typeface="Arial" charset="0"/>
              <a:ea typeface="Arial" charset="0"/>
              <a:cs typeface="Arial" charset="0"/>
            </a:endParaRPr>
          </a:p>
          <a:p>
            <a:pPr marL="623570" lvl="1" indent="-171450">
              <a:spcBef>
                <a:spcPts val="100"/>
              </a:spcBef>
              <a:buFont typeface="Cambria" panose="02040503050406030204"/>
              <a:buChar char="•"/>
              <a:tabLst>
                <a:tab pos="182880" algn="l"/>
              </a:tabLst>
            </a:pPr>
            <a:r>
              <a:rPr lang="en-US" sz="1800" dirty="0" smtClean="0">
                <a:latin typeface="Arial" charset="0"/>
                <a:ea typeface="Arial" charset="0"/>
                <a:cs typeface="Arial" charset="0"/>
              </a:rPr>
              <a:t>Both static and dynamic data sets</a:t>
            </a:r>
          </a:p>
          <a:p>
            <a:pPr marL="623570" lvl="1" indent="-171450">
              <a:spcBef>
                <a:spcPts val="100"/>
              </a:spcBef>
              <a:buFont typeface="Cambria" panose="02040503050406030204"/>
              <a:buChar char="•"/>
              <a:tabLst>
                <a:tab pos="182880" algn="l"/>
              </a:tabLst>
            </a:pPr>
            <a:r>
              <a:rPr lang="en-US" sz="1800" dirty="0" smtClean="0">
                <a:latin typeface="Arial" charset="0"/>
                <a:ea typeface="Arial" charset="0"/>
                <a:cs typeface="Arial" charset="0"/>
              </a:rPr>
              <a:t>Centralized (e.g. NCBI) and distributed data publishers</a:t>
            </a:r>
          </a:p>
          <a:p>
            <a:pPr marL="623570" lvl="1" indent="-171450">
              <a:spcBef>
                <a:spcPts val="100"/>
              </a:spcBef>
              <a:buFont typeface="Cambria" panose="02040503050406030204"/>
              <a:buChar char="•"/>
              <a:tabLst>
                <a:tab pos="182880" algn="l"/>
              </a:tabLst>
            </a:pPr>
            <a:endParaRPr lang="en-US" sz="1800" dirty="0">
              <a:latin typeface="Arial" charset="0"/>
              <a:ea typeface="Arial" charset="0"/>
              <a:cs typeface="Arial" charset="0"/>
            </a:endParaRPr>
          </a:p>
          <a:p>
            <a:pPr marL="182880" indent="-171450">
              <a:spcBef>
                <a:spcPts val="100"/>
              </a:spcBef>
              <a:buFont typeface="Cambria" panose="02040503050406030204"/>
              <a:buChar char="•"/>
              <a:tabLst>
                <a:tab pos="182880" algn="l"/>
              </a:tabLst>
            </a:pPr>
            <a:r>
              <a:rPr lang="en-US" sz="1800" dirty="0" smtClean="0">
                <a:latin typeface="Arial" charset="0"/>
                <a:ea typeface="Arial" charset="0"/>
                <a:cs typeface="Arial" charset="0"/>
              </a:rPr>
              <a:t>N-DISE genomics agenda:</a:t>
            </a:r>
          </a:p>
          <a:p>
            <a:pPr marL="623570" lvl="1" indent="-171450">
              <a:spcBef>
                <a:spcPts val="100"/>
              </a:spcBef>
              <a:buFont typeface="Cambria" panose="02040503050406030204"/>
              <a:buChar char="•"/>
              <a:tabLst>
                <a:tab pos="182880" algn="l"/>
              </a:tabLst>
            </a:pPr>
            <a:r>
              <a:rPr lang="en-US" sz="1800" dirty="0">
                <a:latin typeface="Arial" charset="0"/>
                <a:ea typeface="Arial" charset="0"/>
                <a:cs typeface="Arial" charset="0"/>
              </a:rPr>
              <a:t>High-speed data transfer between arbitrary entities (</a:t>
            </a:r>
            <a:r>
              <a:rPr lang="en-US" sz="1800" dirty="0" smtClean="0">
                <a:latin typeface="Arial" charset="0"/>
                <a:ea typeface="Arial" charset="0"/>
                <a:cs typeface="Arial" charset="0"/>
              </a:rPr>
              <a:t>e.g. institutional labs)</a:t>
            </a:r>
          </a:p>
          <a:p>
            <a:pPr marL="623570" lvl="1" indent="-171450">
              <a:spcBef>
                <a:spcPts val="100"/>
              </a:spcBef>
              <a:buFont typeface="Cambria" panose="02040503050406030204"/>
              <a:buChar char="•"/>
              <a:tabLst>
                <a:tab pos="182880" algn="l"/>
              </a:tabLst>
            </a:pPr>
            <a:r>
              <a:rPr lang="en-US" sz="1800" dirty="0" smtClean="0">
                <a:latin typeface="Arial" charset="0"/>
                <a:ea typeface="Arial" charset="0"/>
                <a:cs typeface="Arial" charset="0"/>
              </a:rPr>
              <a:t>Porting </a:t>
            </a:r>
            <a:r>
              <a:rPr lang="en-US" sz="1800" dirty="0">
                <a:latin typeface="Arial" charset="0"/>
                <a:ea typeface="Arial" charset="0"/>
                <a:cs typeface="Arial" charset="0"/>
              </a:rPr>
              <a:t>tools and protocols developed for HEP community into </a:t>
            </a:r>
            <a:r>
              <a:rPr lang="en-US" sz="1800" dirty="0" smtClean="0">
                <a:latin typeface="Arial" charset="0"/>
                <a:ea typeface="Arial" charset="0"/>
                <a:cs typeface="Arial" charset="0"/>
              </a:rPr>
              <a:t>genomics</a:t>
            </a:r>
          </a:p>
          <a:p>
            <a:pPr marL="1059180" lvl="2" indent="-171450">
              <a:spcBef>
                <a:spcPts val="100"/>
              </a:spcBef>
              <a:buFont typeface="Cambria" panose="02040503050406030204"/>
              <a:buChar char="•"/>
              <a:tabLst>
                <a:tab pos="182880" algn="l"/>
              </a:tabLst>
            </a:pPr>
            <a:r>
              <a:rPr lang="en-US" sz="1800" dirty="0" smtClean="0">
                <a:latin typeface="Arial" charset="0"/>
                <a:ea typeface="Arial" charset="0"/>
                <a:cs typeface="Arial" charset="0"/>
              </a:rPr>
              <a:t>e.g. </a:t>
            </a:r>
            <a:r>
              <a:rPr lang="en-US" sz="1800" dirty="0">
                <a:latin typeface="Arial" charset="0"/>
                <a:ea typeface="Arial" charset="0"/>
                <a:cs typeface="Arial" charset="0"/>
              </a:rPr>
              <a:t>data discovery, </a:t>
            </a:r>
            <a:r>
              <a:rPr lang="en-US" sz="1800" dirty="0" smtClean="0">
                <a:latin typeface="Arial" charset="0"/>
                <a:ea typeface="Arial" charset="0"/>
                <a:cs typeface="Arial" charset="0"/>
              </a:rPr>
              <a:t>optimized caching algorithm</a:t>
            </a:r>
            <a:endParaRPr lang="en-US" sz="1800" dirty="0">
              <a:latin typeface="Arial" charset="0"/>
              <a:ea typeface="Arial" charset="0"/>
              <a:cs typeface="Arial" charset="0"/>
            </a:endParaRPr>
          </a:p>
          <a:p>
            <a:pPr marL="623570" lvl="1" indent="-171450">
              <a:spcBef>
                <a:spcPts val="100"/>
              </a:spcBef>
              <a:buFont typeface="Cambria" panose="02040503050406030204"/>
              <a:buChar char="•"/>
              <a:tabLst>
                <a:tab pos="182880" algn="l"/>
              </a:tabLst>
            </a:pPr>
            <a:r>
              <a:rPr lang="en-US" sz="1800" dirty="0" smtClean="0">
                <a:latin typeface="Arial" charset="0"/>
                <a:ea typeface="Arial" charset="0"/>
                <a:cs typeface="Arial" charset="0"/>
              </a:rPr>
              <a:t>Containerize NDN-forwarder </a:t>
            </a:r>
            <a:r>
              <a:rPr lang="en-US" sz="1800" dirty="0">
                <a:latin typeface="Arial" charset="0"/>
                <a:ea typeface="Arial" charset="0"/>
                <a:cs typeface="Arial" charset="0"/>
              </a:rPr>
              <a:t>and applications </a:t>
            </a:r>
            <a:r>
              <a:rPr lang="en-US" sz="1800" dirty="0" smtClean="0">
                <a:latin typeface="Arial" charset="0"/>
                <a:ea typeface="Arial" charset="0"/>
                <a:cs typeface="Arial" charset="0"/>
              </a:rPr>
              <a:t>which benefit </a:t>
            </a:r>
            <a:r>
              <a:rPr lang="en-US" sz="1800" dirty="0">
                <a:latin typeface="Arial" charset="0"/>
                <a:ea typeface="Arial" charset="0"/>
                <a:cs typeface="Arial" charset="0"/>
              </a:rPr>
              <a:t>both HEP </a:t>
            </a:r>
            <a:r>
              <a:rPr lang="en-US" sz="1800" dirty="0" smtClean="0">
                <a:latin typeface="Arial" charset="0"/>
                <a:ea typeface="Arial" charset="0"/>
                <a:cs typeface="Arial" charset="0"/>
              </a:rPr>
              <a:t>and genomics</a:t>
            </a:r>
          </a:p>
          <a:p>
            <a:pPr marL="1059180" lvl="2" indent="-171450">
              <a:spcBef>
                <a:spcPts val="100"/>
              </a:spcBef>
              <a:buFont typeface="Cambria" panose="02040503050406030204"/>
              <a:buChar char="•"/>
              <a:tabLst>
                <a:tab pos="182880" algn="l"/>
              </a:tabLst>
            </a:pPr>
            <a:r>
              <a:rPr lang="en-US" sz="1800" dirty="0">
                <a:latin typeface="Arial" charset="0"/>
                <a:ea typeface="Arial" charset="0"/>
                <a:cs typeface="Arial" charset="0"/>
              </a:rPr>
              <a:t>e</a:t>
            </a:r>
            <a:r>
              <a:rPr lang="en-US" sz="1800" dirty="0" smtClean="0">
                <a:latin typeface="Arial" charset="0"/>
                <a:ea typeface="Arial" charset="0"/>
                <a:cs typeface="Arial" charset="0"/>
              </a:rPr>
              <a:t>.g. </a:t>
            </a:r>
            <a:r>
              <a:rPr lang="en-US" sz="1800" dirty="0">
                <a:latin typeface="Arial" charset="0"/>
                <a:ea typeface="Arial" charset="0"/>
                <a:cs typeface="Arial" charset="0"/>
              </a:rPr>
              <a:t>lessons from deploying </a:t>
            </a:r>
            <a:r>
              <a:rPr lang="en-US" sz="1800" dirty="0" err="1">
                <a:latin typeface="Arial" charset="0"/>
                <a:ea typeface="Arial" charset="0"/>
                <a:cs typeface="Arial" charset="0"/>
              </a:rPr>
              <a:t>kubernetes</a:t>
            </a:r>
            <a:r>
              <a:rPr lang="en-US" sz="1800" dirty="0">
                <a:latin typeface="Arial" charset="0"/>
                <a:ea typeface="Arial" charset="0"/>
                <a:cs typeface="Arial" charset="0"/>
              </a:rPr>
              <a:t> based genomics workflows can help HEP communities to deploy their workflows to the </a:t>
            </a:r>
            <a:r>
              <a:rPr lang="en-US" sz="1800" dirty="0" smtClean="0">
                <a:latin typeface="Arial" charset="0"/>
                <a:ea typeface="Arial" charset="0"/>
                <a:cs typeface="Arial" charset="0"/>
              </a:rPr>
              <a:t>cloud</a:t>
            </a:r>
            <a:endParaRPr lang="en-US" sz="1800" dirty="0" smtClean="0">
              <a:latin typeface="Arial" charset="0"/>
              <a:ea typeface="Arial" charset="0"/>
              <a:cs typeface="Arial" charset="0"/>
            </a:endParaRPr>
          </a:p>
          <a:p>
            <a:pPr marL="182880" indent="-171450">
              <a:spcBef>
                <a:spcPts val="100"/>
              </a:spcBef>
              <a:buFont typeface="Cambria" panose="02040503050406030204"/>
              <a:buChar char="•"/>
              <a:tabLst>
                <a:tab pos="182880" algn="l"/>
              </a:tabLst>
            </a:pPr>
            <a:endParaRPr lang="en-US" sz="1800" dirty="0" smtClean="0">
              <a:latin typeface="Arial" charset="0"/>
              <a:ea typeface="Arial" charset="0"/>
              <a:cs typeface="Arial" charset="0"/>
            </a:endParaRPr>
          </a:p>
          <a:p>
            <a:pPr marL="182880" indent="-171450">
              <a:spcBef>
                <a:spcPts val="100"/>
              </a:spcBef>
              <a:buFont typeface="Cambria" panose="02040503050406030204"/>
              <a:buChar char="•"/>
              <a:tabLst>
                <a:tab pos="182880" algn="l"/>
              </a:tabLst>
            </a:pPr>
            <a:endParaRPr lang="en-US" sz="20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182880" indent="-171450">
              <a:spcBef>
                <a:spcPts val="100"/>
              </a:spcBef>
              <a:buFont typeface="Cambria" panose="02040503050406030204"/>
              <a:buChar char="•"/>
              <a:tabLst>
                <a:tab pos="182880" algn="l"/>
              </a:tabLst>
            </a:pPr>
            <a:endParaRPr lang="en-US" sz="20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N-DISE Genomics Pilot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05163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owerpoint_newNEU">
  <a:themeElements>
    <a:clrScheme name="powerpoint_newNEU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powerpoint_newNEU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powerpoint_newNE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owerpoint_newNEU">
  <a:themeElements>
    <a:clrScheme name="powerpoint_newNEU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powerpoint_newNEU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powerpoint_newNE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6383</TotalTime>
  <Words>630</Words>
  <Application>Microsoft Macintosh PowerPoint</Application>
  <PresentationFormat>On-screen Show (4:3)</PresentationFormat>
  <Paragraphs>154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Calibri</vt:lpstr>
      <vt:lpstr>Cambria</vt:lpstr>
      <vt:lpstr>Helvetica</vt:lpstr>
      <vt:lpstr>Helvetica CE</vt:lpstr>
      <vt:lpstr>ITC New Baskerville Roman</vt:lpstr>
      <vt:lpstr>Montserrat</vt:lpstr>
      <vt:lpstr>ＭＳ Ｐゴシック</vt:lpstr>
      <vt:lpstr>Arial</vt:lpstr>
      <vt:lpstr>powerpoint_newNEU</vt:lpstr>
      <vt:lpstr>PowerPoint Presentation</vt:lpstr>
      <vt:lpstr>Data-Intensive Science</vt:lpstr>
      <vt:lpstr>Challenges of Data-Intensive Science </vt:lpstr>
      <vt:lpstr>Data-Centric Networking </vt:lpstr>
      <vt:lpstr>NSF SANDIE Project</vt:lpstr>
      <vt:lpstr>SANDIE Results</vt:lpstr>
      <vt:lpstr>XRootD with NDN-DPDK: Throughput (1 Thread)</vt:lpstr>
      <vt:lpstr>NSF N-DISE Project</vt:lpstr>
      <vt:lpstr>N-DISE Goals</vt:lpstr>
      <vt:lpstr>N-DISE Research Agenda</vt:lpstr>
      <vt:lpstr>N-DISE Research Agenda</vt:lpstr>
      <vt:lpstr>Discussion</vt:lpstr>
      <vt:lpstr>N-DISE Genomics Pilot</vt:lpstr>
    </vt:vector>
  </TitlesOfParts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Microsoft Office User</cp:lastModifiedBy>
  <cp:revision>458</cp:revision>
  <dcterms:created xsi:type="dcterms:W3CDTF">2018-11-13T01:19:50Z</dcterms:created>
  <dcterms:modified xsi:type="dcterms:W3CDTF">2020-09-10T13:57:57Z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2052-10.1.0.7469</vt:lpwstr>
  </property>
</Properties>
</file>