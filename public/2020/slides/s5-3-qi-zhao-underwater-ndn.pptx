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3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14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60"/>
    <p:restoredTop sz="85082" autoAdjust="0"/>
  </p:normalViewPr>
  <p:slideViewPr>
    <p:cSldViewPr snapToGrid="0" snapToObjects="1" showGuides="1">
      <p:cViewPr varScale="1">
        <p:scale>
          <a:sx n="104" d="100"/>
          <a:sy n="104" d="100"/>
        </p:scale>
        <p:origin x="480" y="108"/>
      </p:cViewPr>
      <p:guideLst>
        <p:guide orient="horz" pos="816"/>
        <p:guide pos="14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18912E-C389-4B54-895C-E87BA5967399}" type="doc">
      <dgm:prSet loTypeId="urn:microsoft.com/office/officeart/2005/8/layout/chevron1" loCatId="process" qsTypeId="urn:microsoft.com/office/officeart/2005/8/quickstyle/simple2" qsCatId="simple" csTypeId="urn:microsoft.com/office/officeart/2005/8/colors/colorful2" csCatId="colorful" phldr="1"/>
      <dgm:spPr/>
    </dgm:pt>
    <dgm:pt modelId="{A7B431A8-EC49-4FB3-939E-4AFC2344C48D}">
      <dgm:prSet phldrT="[文本]" custT="1"/>
      <dgm:spPr>
        <a:xfrm>
          <a:off x="1345" y="2259556"/>
          <a:ext cx="2548210" cy="814886"/>
        </a:xfrm>
        <a:prstGeom prst="chevron">
          <a:avLst/>
        </a:prstGeom>
        <a:solidFill>
          <a:srgbClr val="FE9118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US" altLang="zh-CN" sz="1150" b="1" dirty="0">
              <a:solidFill>
                <a:srgbClr val="536895">
                  <a:lumMod val="50000"/>
                </a:srgbClr>
              </a:solidFill>
              <a:latin typeface="Verdana"/>
              <a:ea typeface="+mn-ea"/>
              <a:cs typeface="+mn-cs"/>
            </a:rPr>
            <a:t>Underwater sensors, positioning systems, underwater vehicles, etc.</a:t>
          </a:r>
          <a:endParaRPr lang="zh-CN" altLang="en-US" sz="1150" b="1" dirty="0">
            <a:solidFill>
              <a:srgbClr val="536895">
                <a:lumMod val="50000"/>
              </a:srgbClr>
            </a:solidFill>
            <a:latin typeface="Verdana"/>
            <a:ea typeface="+mn-ea"/>
            <a:cs typeface="+mn-cs"/>
          </a:endParaRPr>
        </a:p>
      </dgm:t>
    </dgm:pt>
    <dgm:pt modelId="{02CBC1F8-2B2B-4BC9-AD7C-9603ADBE0442}" type="parTrans" cxnId="{1427A32A-1E43-4E74-9B5A-E9F6DDE98003}">
      <dgm:prSet/>
      <dgm:spPr/>
      <dgm:t>
        <a:bodyPr/>
        <a:lstStyle/>
        <a:p>
          <a:endParaRPr lang="zh-CN" altLang="en-US"/>
        </a:p>
      </dgm:t>
    </dgm:pt>
    <dgm:pt modelId="{AA4B442A-B0F9-414C-9404-8D54412DE95F}" type="sibTrans" cxnId="{1427A32A-1E43-4E74-9B5A-E9F6DDE98003}">
      <dgm:prSet/>
      <dgm:spPr/>
      <dgm:t>
        <a:bodyPr/>
        <a:lstStyle/>
        <a:p>
          <a:endParaRPr lang="zh-CN" altLang="en-US"/>
        </a:p>
      </dgm:t>
    </dgm:pt>
    <dgm:pt modelId="{9E40409B-B701-4D16-BAAD-88A6D2658296}">
      <dgm:prSet phldrT="[文本]" custT="1"/>
      <dgm:spPr>
        <a:xfrm>
          <a:off x="2345834" y="2259556"/>
          <a:ext cx="2229874" cy="814886"/>
        </a:xfrm>
        <a:prstGeom prst="chevron">
          <a:avLst/>
        </a:prstGeom>
        <a:solidFill>
          <a:srgbClr val="FE9118">
            <a:hueOff val="3825847"/>
            <a:satOff val="-27703"/>
            <a:lumOff val="6602"/>
            <a:alphaOff val="0"/>
          </a:srgbClr>
        </a:solidFill>
        <a:ln w="381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US" altLang="zh-CN" sz="1150" b="1" dirty="0">
              <a:solidFill>
                <a:srgbClr val="536895">
                  <a:lumMod val="50000"/>
                </a:srgbClr>
              </a:solidFill>
              <a:latin typeface="Verdana"/>
              <a:ea typeface="+mn-ea"/>
              <a:cs typeface="+mn-cs"/>
            </a:rPr>
            <a:t>Communication links, including acoustics, RF, cellular or satellite, etc.</a:t>
          </a:r>
          <a:endParaRPr lang="zh-CN" altLang="en-US" sz="1150" b="1" dirty="0">
            <a:solidFill>
              <a:srgbClr val="536895">
                <a:lumMod val="50000"/>
              </a:srgbClr>
            </a:solidFill>
            <a:latin typeface="Verdana"/>
            <a:ea typeface="+mn-ea"/>
            <a:cs typeface="+mn-cs"/>
          </a:endParaRPr>
        </a:p>
      </dgm:t>
    </dgm:pt>
    <dgm:pt modelId="{4F5EC466-EBA7-4296-B4CF-FE9205136956}" type="parTrans" cxnId="{6D98EA02-BDAB-4E5E-8205-14086BE18179}">
      <dgm:prSet/>
      <dgm:spPr/>
      <dgm:t>
        <a:bodyPr/>
        <a:lstStyle/>
        <a:p>
          <a:endParaRPr lang="zh-CN" altLang="en-US"/>
        </a:p>
      </dgm:t>
    </dgm:pt>
    <dgm:pt modelId="{4004126E-C961-4EF2-94BB-1E1FFCB61AB1}" type="sibTrans" cxnId="{6D98EA02-BDAB-4E5E-8205-14086BE18179}">
      <dgm:prSet/>
      <dgm:spPr/>
      <dgm:t>
        <a:bodyPr/>
        <a:lstStyle/>
        <a:p>
          <a:endParaRPr lang="zh-CN" altLang="en-US"/>
        </a:p>
      </dgm:t>
    </dgm:pt>
    <dgm:pt modelId="{5655902E-3554-431F-8C9D-B39F76F7801D}">
      <dgm:prSet phldrT="[文本]" custT="1"/>
      <dgm:spPr>
        <a:xfrm>
          <a:off x="4371987" y="2259556"/>
          <a:ext cx="2232849" cy="814886"/>
        </a:xfrm>
        <a:prstGeom prst="chevron">
          <a:avLst/>
        </a:prstGeom>
        <a:solidFill>
          <a:srgbClr val="FE9118">
            <a:hueOff val="7651695"/>
            <a:satOff val="-55405"/>
            <a:lumOff val="13204"/>
            <a:alphaOff val="0"/>
          </a:srgbClr>
        </a:solidFill>
        <a:ln w="381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US" altLang="zh-CN" sz="1300" b="1" dirty="0">
              <a:solidFill>
                <a:srgbClr val="536895">
                  <a:lumMod val="50000"/>
                </a:srgbClr>
              </a:solidFill>
              <a:latin typeface="Verdana"/>
              <a:ea typeface="+mn-ea"/>
              <a:cs typeface="+mn-cs"/>
            </a:rPr>
            <a:t>Network topology (single hop or multiple hops)</a:t>
          </a:r>
          <a:endParaRPr lang="zh-CN" altLang="en-US" sz="1300" b="1" dirty="0">
            <a:solidFill>
              <a:srgbClr val="536895">
                <a:lumMod val="50000"/>
              </a:srgbClr>
            </a:solidFill>
            <a:latin typeface="Verdana"/>
            <a:ea typeface="+mn-ea"/>
            <a:cs typeface="+mn-cs"/>
          </a:endParaRPr>
        </a:p>
      </dgm:t>
    </dgm:pt>
    <dgm:pt modelId="{A2D76FC8-37B0-4B25-A354-6A717931B08C}" type="parTrans" cxnId="{79987082-FB09-4EDF-9500-244A47322680}">
      <dgm:prSet/>
      <dgm:spPr/>
      <dgm:t>
        <a:bodyPr/>
        <a:lstStyle/>
        <a:p>
          <a:endParaRPr lang="zh-CN" altLang="en-US"/>
        </a:p>
      </dgm:t>
    </dgm:pt>
    <dgm:pt modelId="{3431AE48-4725-4BAE-BA1B-4369787F6954}" type="sibTrans" cxnId="{79987082-FB09-4EDF-9500-244A47322680}">
      <dgm:prSet/>
      <dgm:spPr/>
      <dgm:t>
        <a:bodyPr/>
        <a:lstStyle/>
        <a:p>
          <a:endParaRPr lang="zh-CN" altLang="en-US"/>
        </a:p>
      </dgm:t>
    </dgm:pt>
    <dgm:pt modelId="{CF7BDF55-7393-47F5-8B3E-BBA3AAB68A25}">
      <dgm:prSet phldrT="[文本]"/>
      <dgm:spPr>
        <a:xfrm>
          <a:off x="6401115" y="2259556"/>
          <a:ext cx="2344325" cy="814886"/>
        </a:xfrm>
        <a:prstGeom prst="chevron">
          <a:avLst/>
        </a:prstGeom>
        <a:solidFill>
          <a:srgbClr val="FE9118">
            <a:hueOff val="11477542"/>
            <a:satOff val="-83108"/>
            <a:lumOff val="19806"/>
            <a:alphaOff val="0"/>
          </a:srgbClr>
        </a:solidFill>
        <a:ln w="381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US" altLang="zh-CN" b="1" dirty="0">
              <a:solidFill>
                <a:srgbClr val="536895">
                  <a:lumMod val="50000"/>
                </a:srgbClr>
              </a:solidFill>
              <a:latin typeface="Verdana"/>
              <a:ea typeface="+mn-ea"/>
              <a:cs typeface="+mn-cs"/>
            </a:rPr>
            <a:t>Users can be nearby sensors, AUVs or surface ships, etc.</a:t>
          </a:r>
          <a:endParaRPr lang="zh-CN" altLang="en-US" b="1" dirty="0">
            <a:solidFill>
              <a:srgbClr val="536895">
                <a:lumMod val="50000"/>
              </a:srgbClr>
            </a:solidFill>
            <a:latin typeface="Verdana"/>
            <a:ea typeface="+mn-ea"/>
            <a:cs typeface="+mn-cs"/>
          </a:endParaRPr>
        </a:p>
      </dgm:t>
    </dgm:pt>
    <dgm:pt modelId="{0C6659F1-50C6-4435-9209-9AFCC7EF800F}" type="parTrans" cxnId="{1F7D36CD-82DA-4B3A-B3C5-196F12A33709}">
      <dgm:prSet/>
      <dgm:spPr/>
      <dgm:t>
        <a:bodyPr/>
        <a:lstStyle/>
        <a:p>
          <a:endParaRPr lang="zh-CN" altLang="en-US"/>
        </a:p>
      </dgm:t>
    </dgm:pt>
    <dgm:pt modelId="{06C2EC20-40B7-488C-887B-84EFF0C0506A}" type="sibTrans" cxnId="{1F7D36CD-82DA-4B3A-B3C5-196F12A33709}">
      <dgm:prSet/>
      <dgm:spPr/>
      <dgm:t>
        <a:bodyPr/>
        <a:lstStyle/>
        <a:p>
          <a:endParaRPr lang="zh-CN" altLang="en-US"/>
        </a:p>
      </dgm:t>
    </dgm:pt>
    <dgm:pt modelId="{B83D967B-3529-4FBF-AC5D-96C605685CA7}" type="pres">
      <dgm:prSet presAssocID="{6718912E-C389-4B54-895C-E87BA5967399}" presName="Name0" presStyleCnt="0">
        <dgm:presLayoutVars>
          <dgm:dir/>
          <dgm:animLvl val="lvl"/>
          <dgm:resizeHandles val="exact"/>
        </dgm:presLayoutVars>
      </dgm:prSet>
      <dgm:spPr/>
    </dgm:pt>
    <dgm:pt modelId="{B9960AF8-C2A3-40D1-96CE-D3A0E370F35E}" type="pres">
      <dgm:prSet presAssocID="{A7B431A8-EC49-4FB3-939E-4AFC2344C48D}" presName="parTxOnly" presStyleLbl="node1" presStyleIdx="0" presStyleCnt="4" custScaleX="12508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2E11B38-3762-4514-9EE5-AD703BB2AA8B}" type="pres">
      <dgm:prSet presAssocID="{AA4B442A-B0F9-414C-9404-8D54412DE95F}" presName="parTxOnlySpace" presStyleCnt="0"/>
      <dgm:spPr/>
    </dgm:pt>
    <dgm:pt modelId="{4E06BF01-48C3-483E-955E-5B51835DF8A6}" type="pres">
      <dgm:prSet presAssocID="{9E40409B-B701-4D16-BAAD-88A6D2658296}" presName="parTxOnly" presStyleLbl="node1" presStyleIdx="1" presStyleCnt="4" custScaleX="10945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552351F-ECB4-48D9-84F9-B31EDF60E3F5}" type="pres">
      <dgm:prSet presAssocID="{4004126E-C961-4EF2-94BB-1E1FFCB61AB1}" presName="parTxOnlySpace" presStyleCnt="0"/>
      <dgm:spPr/>
    </dgm:pt>
    <dgm:pt modelId="{2FB559FF-4950-432D-BA1B-763CD2370BE6}" type="pres">
      <dgm:prSet presAssocID="{5655902E-3554-431F-8C9D-B39F76F7801D}" presName="parTxOnly" presStyleLbl="node1" presStyleIdx="2" presStyleCnt="4" custScaleX="10960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B197E8E-9887-476D-AEBC-148995E883F5}" type="pres">
      <dgm:prSet presAssocID="{3431AE48-4725-4BAE-BA1B-4369787F6954}" presName="parTxOnlySpace" presStyleCnt="0"/>
      <dgm:spPr/>
    </dgm:pt>
    <dgm:pt modelId="{160F6775-1FD3-41EA-8E58-2CAB78B44652}" type="pres">
      <dgm:prSet presAssocID="{CF7BDF55-7393-47F5-8B3E-BBA3AAB68A25}" presName="parTxOnly" presStyleLbl="node1" presStyleIdx="3" presStyleCnt="4" custScaleX="11507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D98EA02-BDAB-4E5E-8205-14086BE18179}" srcId="{6718912E-C389-4B54-895C-E87BA5967399}" destId="{9E40409B-B701-4D16-BAAD-88A6D2658296}" srcOrd="1" destOrd="0" parTransId="{4F5EC466-EBA7-4296-B4CF-FE9205136956}" sibTransId="{4004126E-C961-4EF2-94BB-1E1FFCB61AB1}"/>
    <dgm:cxn modelId="{8A4A5A5A-335E-4788-BF26-08ACD81DE6E7}" type="presOf" srcId="{5655902E-3554-431F-8C9D-B39F76F7801D}" destId="{2FB559FF-4950-432D-BA1B-763CD2370BE6}" srcOrd="0" destOrd="0" presId="urn:microsoft.com/office/officeart/2005/8/layout/chevron1"/>
    <dgm:cxn modelId="{1F7D36CD-82DA-4B3A-B3C5-196F12A33709}" srcId="{6718912E-C389-4B54-895C-E87BA5967399}" destId="{CF7BDF55-7393-47F5-8B3E-BBA3AAB68A25}" srcOrd="3" destOrd="0" parTransId="{0C6659F1-50C6-4435-9209-9AFCC7EF800F}" sibTransId="{06C2EC20-40B7-488C-887B-84EFF0C0506A}"/>
    <dgm:cxn modelId="{1427A32A-1E43-4E74-9B5A-E9F6DDE98003}" srcId="{6718912E-C389-4B54-895C-E87BA5967399}" destId="{A7B431A8-EC49-4FB3-939E-4AFC2344C48D}" srcOrd="0" destOrd="0" parTransId="{02CBC1F8-2B2B-4BC9-AD7C-9603ADBE0442}" sibTransId="{AA4B442A-B0F9-414C-9404-8D54412DE95F}"/>
    <dgm:cxn modelId="{79987082-FB09-4EDF-9500-244A47322680}" srcId="{6718912E-C389-4B54-895C-E87BA5967399}" destId="{5655902E-3554-431F-8C9D-B39F76F7801D}" srcOrd="2" destOrd="0" parTransId="{A2D76FC8-37B0-4B25-A354-6A717931B08C}" sibTransId="{3431AE48-4725-4BAE-BA1B-4369787F6954}"/>
    <dgm:cxn modelId="{B4D24014-46F6-48C8-98AE-1BCDD313802A}" type="presOf" srcId="{6718912E-C389-4B54-895C-E87BA5967399}" destId="{B83D967B-3529-4FBF-AC5D-96C605685CA7}" srcOrd="0" destOrd="0" presId="urn:microsoft.com/office/officeart/2005/8/layout/chevron1"/>
    <dgm:cxn modelId="{BD7BBD5D-DA45-4E98-AEBC-21275656E229}" type="presOf" srcId="{A7B431A8-EC49-4FB3-939E-4AFC2344C48D}" destId="{B9960AF8-C2A3-40D1-96CE-D3A0E370F35E}" srcOrd="0" destOrd="0" presId="urn:microsoft.com/office/officeart/2005/8/layout/chevron1"/>
    <dgm:cxn modelId="{1E7FA964-7FB0-48E3-8CA6-29DC09C47144}" type="presOf" srcId="{9E40409B-B701-4D16-BAAD-88A6D2658296}" destId="{4E06BF01-48C3-483E-955E-5B51835DF8A6}" srcOrd="0" destOrd="0" presId="urn:microsoft.com/office/officeart/2005/8/layout/chevron1"/>
    <dgm:cxn modelId="{CE1873DF-EAD4-4F8F-AD32-34B99C46005F}" type="presOf" srcId="{CF7BDF55-7393-47F5-8B3E-BBA3AAB68A25}" destId="{160F6775-1FD3-41EA-8E58-2CAB78B44652}" srcOrd="0" destOrd="0" presId="urn:microsoft.com/office/officeart/2005/8/layout/chevron1"/>
    <dgm:cxn modelId="{5DB17116-C446-45E5-8511-E9AA12681515}" type="presParOf" srcId="{B83D967B-3529-4FBF-AC5D-96C605685CA7}" destId="{B9960AF8-C2A3-40D1-96CE-D3A0E370F35E}" srcOrd="0" destOrd="0" presId="urn:microsoft.com/office/officeart/2005/8/layout/chevron1"/>
    <dgm:cxn modelId="{77FAD8A7-2569-46F1-A9C4-A00864AA86B8}" type="presParOf" srcId="{B83D967B-3529-4FBF-AC5D-96C605685CA7}" destId="{F2E11B38-3762-4514-9EE5-AD703BB2AA8B}" srcOrd="1" destOrd="0" presId="urn:microsoft.com/office/officeart/2005/8/layout/chevron1"/>
    <dgm:cxn modelId="{5317AE70-3AB3-4FA2-A098-92321FA99AC2}" type="presParOf" srcId="{B83D967B-3529-4FBF-AC5D-96C605685CA7}" destId="{4E06BF01-48C3-483E-955E-5B51835DF8A6}" srcOrd="2" destOrd="0" presId="urn:microsoft.com/office/officeart/2005/8/layout/chevron1"/>
    <dgm:cxn modelId="{9F36E6A2-60E3-4AE8-8F59-5F119750E6E2}" type="presParOf" srcId="{B83D967B-3529-4FBF-AC5D-96C605685CA7}" destId="{D552351F-ECB4-48D9-84F9-B31EDF60E3F5}" srcOrd="3" destOrd="0" presId="urn:microsoft.com/office/officeart/2005/8/layout/chevron1"/>
    <dgm:cxn modelId="{F8D2A0DA-106E-49A9-8B40-00280F21575F}" type="presParOf" srcId="{B83D967B-3529-4FBF-AC5D-96C605685CA7}" destId="{2FB559FF-4950-432D-BA1B-763CD2370BE6}" srcOrd="4" destOrd="0" presId="urn:microsoft.com/office/officeart/2005/8/layout/chevron1"/>
    <dgm:cxn modelId="{83401EA6-AC97-4D09-9C3C-1395E20C49E1}" type="presParOf" srcId="{B83D967B-3529-4FBF-AC5D-96C605685CA7}" destId="{CB197E8E-9887-476D-AEBC-148995E883F5}" srcOrd="5" destOrd="0" presId="urn:microsoft.com/office/officeart/2005/8/layout/chevron1"/>
    <dgm:cxn modelId="{691CBD30-1281-4E7E-982C-639EF501FFC3}" type="presParOf" srcId="{B83D967B-3529-4FBF-AC5D-96C605685CA7}" destId="{160F6775-1FD3-41EA-8E58-2CAB78B44652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60AF8-C2A3-40D1-96CE-D3A0E370F35E}">
      <dsp:nvSpPr>
        <dsp:cNvPr id="0" name=""/>
        <dsp:cNvSpPr/>
      </dsp:nvSpPr>
      <dsp:spPr>
        <a:xfrm>
          <a:off x="1345" y="2259556"/>
          <a:ext cx="2548210" cy="814886"/>
        </a:xfrm>
        <a:prstGeom prst="chevron">
          <a:avLst/>
        </a:prstGeom>
        <a:solidFill>
          <a:srgbClr val="FE9118">
            <a:hueOff val="0"/>
            <a:satOff val="0"/>
            <a:lumOff val="0"/>
            <a:alphaOff val="0"/>
          </a:srgbClr>
        </a:solidFill>
        <a:ln w="381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150" b="1" kern="1200" dirty="0">
              <a:solidFill>
                <a:srgbClr val="536895">
                  <a:lumMod val="50000"/>
                </a:srgbClr>
              </a:solidFill>
              <a:latin typeface="Verdana"/>
              <a:ea typeface="+mn-ea"/>
              <a:cs typeface="+mn-cs"/>
            </a:rPr>
            <a:t>Underwater sensors, positioning systems, underwater vehicles, etc.</a:t>
          </a:r>
          <a:endParaRPr lang="zh-CN" altLang="en-US" sz="1150" b="1" kern="1200" dirty="0">
            <a:solidFill>
              <a:srgbClr val="536895">
                <a:lumMod val="50000"/>
              </a:srgbClr>
            </a:solidFill>
            <a:latin typeface="Verdana"/>
            <a:ea typeface="+mn-ea"/>
            <a:cs typeface="+mn-cs"/>
          </a:endParaRPr>
        </a:p>
      </dsp:txBody>
      <dsp:txXfrm>
        <a:off x="408788" y="2259556"/>
        <a:ext cx="1733324" cy="814886"/>
      </dsp:txXfrm>
    </dsp:sp>
    <dsp:sp modelId="{4E06BF01-48C3-483E-955E-5B51835DF8A6}">
      <dsp:nvSpPr>
        <dsp:cNvPr id="0" name=""/>
        <dsp:cNvSpPr/>
      </dsp:nvSpPr>
      <dsp:spPr>
        <a:xfrm>
          <a:off x="2345834" y="2259556"/>
          <a:ext cx="2229874" cy="814886"/>
        </a:xfrm>
        <a:prstGeom prst="chevron">
          <a:avLst/>
        </a:prstGeom>
        <a:solidFill>
          <a:srgbClr val="FE9118">
            <a:hueOff val="3825847"/>
            <a:satOff val="-27703"/>
            <a:lumOff val="6602"/>
            <a:alphaOff val="0"/>
          </a:srgbClr>
        </a:solidFill>
        <a:ln w="381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150" b="1" kern="1200" dirty="0">
              <a:solidFill>
                <a:srgbClr val="536895">
                  <a:lumMod val="50000"/>
                </a:srgbClr>
              </a:solidFill>
              <a:latin typeface="Verdana"/>
              <a:ea typeface="+mn-ea"/>
              <a:cs typeface="+mn-cs"/>
            </a:rPr>
            <a:t>Communication links, including acoustics, RF, cellular or satellite, etc.</a:t>
          </a:r>
          <a:endParaRPr lang="zh-CN" altLang="en-US" sz="1150" b="1" kern="1200" dirty="0">
            <a:solidFill>
              <a:srgbClr val="536895">
                <a:lumMod val="50000"/>
              </a:srgbClr>
            </a:solidFill>
            <a:latin typeface="Verdana"/>
            <a:ea typeface="+mn-ea"/>
            <a:cs typeface="+mn-cs"/>
          </a:endParaRPr>
        </a:p>
      </dsp:txBody>
      <dsp:txXfrm>
        <a:off x="2753277" y="2259556"/>
        <a:ext cx="1414988" cy="814886"/>
      </dsp:txXfrm>
    </dsp:sp>
    <dsp:sp modelId="{2FB559FF-4950-432D-BA1B-763CD2370BE6}">
      <dsp:nvSpPr>
        <dsp:cNvPr id="0" name=""/>
        <dsp:cNvSpPr/>
      </dsp:nvSpPr>
      <dsp:spPr>
        <a:xfrm>
          <a:off x="4371987" y="2259556"/>
          <a:ext cx="2232849" cy="814886"/>
        </a:xfrm>
        <a:prstGeom prst="chevron">
          <a:avLst/>
        </a:prstGeom>
        <a:solidFill>
          <a:srgbClr val="FE9118">
            <a:hueOff val="7651695"/>
            <a:satOff val="-55405"/>
            <a:lumOff val="13204"/>
            <a:alphaOff val="0"/>
          </a:srgbClr>
        </a:solidFill>
        <a:ln w="381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b="1" kern="1200" dirty="0">
              <a:solidFill>
                <a:srgbClr val="536895">
                  <a:lumMod val="50000"/>
                </a:srgbClr>
              </a:solidFill>
              <a:latin typeface="Verdana"/>
              <a:ea typeface="+mn-ea"/>
              <a:cs typeface="+mn-cs"/>
            </a:rPr>
            <a:t>Network topology (single hop or multiple hops)</a:t>
          </a:r>
          <a:endParaRPr lang="zh-CN" altLang="en-US" sz="1300" b="1" kern="1200" dirty="0">
            <a:solidFill>
              <a:srgbClr val="536895">
                <a:lumMod val="50000"/>
              </a:srgbClr>
            </a:solidFill>
            <a:latin typeface="Verdana"/>
            <a:ea typeface="+mn-ea"/>
            <a:cs typeface="+mn-cs"/>
          </a:endParaRPr>
        </a:p>
      </dsp:txBody>
      <dsp:txXfrm>
        <a:off x="4779430" y="2259556"/>
        <a:ext cx="1417963" cy="814886"/>
      </dsp:txXfrm>
    </dsp:sp>
    <dsp:sp modelId="{160F6775-1FD3-41EA-8E58-2CAB78B44652}">
      <dsp:nvSpPr>
        <dsp:cNvPr id="0" name=""/>
        <dsp:cNvSpPr/>
      </dsp:nvSpPr>
      <dsp:spPr>
        <a:xfrm>
          <a:off x="6401115" y="2259556"/>
          <a:ext cx="2344325" cy="814886"/>
        </a:xfrm>
        <a:prstGeom prst="chevron">
          <a:avLst/>
        </a:prstGeom>
        <a:solidFill>
          <a:srgbClr val="FE9118">
            <a:hueOff val="11477542"/>
            <a:satOff val="-83108"/>
            <a:lumOff val="19806"/>
            <a:alphaOff val="0"/>
          </a:srgbClr>
        </a:solidFill>
        <a:ln w="381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>
              <a:solidFill>
                <a:srgbClr val="536895">
                  <a:lumMod val="50000"/>
                </a:srgbClr>
              </a:solidFill>
              <a:latin typeface="Verdana"/>
              <a:ea typeface="+mn-ea"/>
              <a:cs typeface="+mn-cs"/>
            </a:rPr>
            <a:t>Users can be nearby sensors, AUVs or surface ships, etc.</a:t>
          </a:r>
          <a:endParaRPr lang="zh-CN" altLang="en-US" sz="1200" b="1" kern="1200" dirty="0">
            <a:solidFill>
              <a:srgbClr val="536895">
                <a:lumMod val="50000"/>
              </a:srgbClr>
            </a:solidFill>
            <a:latin typeface="Verdana"/>
            <a:ea typeface="+mn-ea"/>
            <a:cs typeface="+mn-cs"/>
          </a:endParaRPr>
        </a:p>
      </dsp:txBody>
      <dsp:txXfrm>
        <a:off x="6808558" y="2259556"/>
        <a:ext cx="1529439" cy="814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BF33-071F-48FB-82D7-D295998D4CCA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1371A-397C-4B78-A4B2-C4E9DFC4E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0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00ABC-8812-41FF-9A13-A7C46E0B23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61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00ABC-8812-41FF-9A13-A7C46E0B23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18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00ABC-8812-41FF-9A13-A7C46E0B23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4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0ABC-8812-41FF-9A13-A7C46E0B23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13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ndn</a:t>
            </a:r>
            <a:r>
              <a:rPr lang="en-US" sz="1200" dirty="0"/>
              <a:t> standardized interfaces ease the diversity of the complex communication solution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Domain scientists handle the naming/users handle the application development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00ABC-8812-41FF-9A13-A7C46E0B23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85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In-network cache can reduce the amount of data/less energy for retransmission</a:t>
            </a:r>
          </a:p>
          <a:p>
            <a:r>
              <a:rPr lang="en-US" dirty="0"/>
              <a:t>Communication capacity is limited -&gt; in-network storage/communication source used only for the data of interest</a:t>
            </a:r>
          </a:p>
          <a:p>
            <a:r>
              <a:rPr lang="en-US" dirty="0"/>
              <a:t>Hop-by-hop -&gt; reduce lots of retransmission for the whole session or multi-hops</a:t>
            </a:r>
          </a:p>
          <a:p>
            <a:r>
              <a:rPr lang="en-US" dirty="0"/>
              <a:t>Data-centric built-in security simplifies the security implementation in diverse </a:t>
            </a:r>
            <a:r>
              <a:rPr lang="en-US" dirty="0" err="1"/>
              <a:t>IoUT</a:t>
            </a:r>
            <a:r>
              <a:rPr lang="en-US" dirty="0"/>
              <a:t> network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00ABC-8812-41FF-9A13-A7C46E0B23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11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00ABC-8812-41FF-9A13-A7C46E0B23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517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>
                <a:solidFill>
                  <a:schemeClr val="accent1"/>
                </a:solidFill>
              </a:rPr>
              <a:t>Identify each other by verifying the possession of shared secret.</a:t>
            </a:r>
          </a:p>
          <a:p>
            <a:r>
              <a:rPr lang="en-US" sz="1200" dirty="0" smtClean="0">
                <a:solidFill>
                  <a:schemeClr val="accent1"/>
                </a:solidFill>
              </a:rPr>
              <a:t>Negotiate a symmetric key for better performance</a:t>
            </a:r>
          </a:p>
          <a:p>
            <a:r>
              <a:rPr lang="en-US" sz="1200" dirty="0" smtClean="0">
                <a:solidFill>
                  <a:schemeClr val="accent1"/>
                </a:solidFill>
              </a:rPr>
              <a:t>Utilize uniqueness to prevent replay attack</a:t>
            </a:r>
          </a:p>
          <a:p>
            <a:r>
              <a:rPr lang="en-US" sz="1200" dirty="0" smtClean="0">
                <a:solidFill>
                  <a:schemeClr val="accent1"/>
                </a:solidFill>
              </a:rPr>
              <a:t>Use Interest parameter to save bandwidth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1371A-397C-4B78-A4B2-C4E9DFC4E48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10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8A405-6B8D-2C4B-AFBB-2E8F772FE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18A37-BEE0-6C41-94E7-28223DA96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BFBF3-6751-AD40-805E-F198088A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84F2A-F7C7-2B4D-A646-2C7F2641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625AB-FE61-294C-BCAC-ABE38A4E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5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4D56-E9B6-384C-A133-8F9D14F9B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C317F-02A8-4841-B5AD-89006A574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0410C-7BD1-714B-95C9-E2B5485AE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8D285-D27D-F848-AFE7-D9DA65D9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A8EDE-B4BA-E442-9A8C-8419A077A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10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5EA3-5964-F348-96E2-B8E54312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10688-92D6-DC4D-AFEB-AAE72D4C8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1799D-30C8-A64A-8A22-F64E9D614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5A2A5-5399-BE4D-B8A1-9C0EC23DB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60595-48AC-0B42-8A88-757F8624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A28B-4AD9-7740-B5BB-0DE41EAE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CA09F-DBD7-BA4B-BDB8-ECD7B1BE6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C9674-C542-5D4C-A096-64F55D2F0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874BC-2E16-974F-8272-A1D6F2D18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BEF8F-0C4B-BD4D-A604-CB85A3C9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634B7-0EB2-9145-A2CD-51AFB61F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1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B345-56F8-884C-B0C9-196F75A3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2A11D-1F5B-484B-BAA4-2A44C130D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26286-E5C3-4C48-B384-005D8E52A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A50F9-068B-C14C-908D-B45B68C6C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706A7B-85F0-1B41-B562-C29C362AA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6CA284-1DB3-1C44-A826-16C7607E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47DC8F-4741-8043-9685-5168D5E6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D92E23-9755-EC4B-8C3A-A192B6E7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58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5C68-A6B3-FA40-B33B-973E27E2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8D4C4-29EB-F24D-9408-89220D7C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5BB507-9210-C840-B7E5-FD9A987EF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20D82-D7F8-9449-9239-68D53F6B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93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7D9C0-03E6-E74F-A1E0-D5A0CD8A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09F146-9451-664E-82CB-8F231854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4FDE5-11C8-AA4C-9C84-6F2AF06F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2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FEFE7-CD02-1944-BCCE-391BBA536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7AA1E-6881-094E-A3A6-1AC9EE4E0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8CA46-7A64-0F48-92AE-BFD200155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7C606-2FB3-A545-99B8-888C4A5B2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79337-540A-EC4C-8DB5-9DEE8C40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69EA6-C5AF-0F41-A5CF-8B0810A8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93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8889-9F3A-6B47-A7A1-7BB6C0AB8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679DC-D2EF-1542-8A68-B7298A9D6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82484-7C87-4A47-9594-71BE85B54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E57BA-5668-E14B-B9C0-73DAD5BDC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BF053-90B5-3D4A-80EE-EEF8CF1F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95389-BA8C-FF49-A680-6FCE20122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46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E183-3CD0-EA42-A32E-27F31518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EC1CE-E8D0-E049-8F42-307E8560D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1087A-F22A-6141-9005-5FC08136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240F8-019A-F749-BCEF-ECB8B60D8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64E65-D108-1442-A717-8F665220C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57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705CC-A9DA-1145-B7C1-A3738448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BC4D0-923A-EA44-AB62-8DED95051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AC96F-3550-2343-8863-62C04858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09326-99FD-6147-A129-43CC4850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36F72-B231-BC47-A137-BC82BEBD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0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7A802-DDE6-484D-8B10-44C6B2D4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EBFE1-20E7-EE47-8C62-310BE21E8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7C257-70D5-DA48-87EA-303B9EDA4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53D03-B851-0F4E-A301-ACE6F0F93796}" type="datetimeFigureOut">
              <a:rPr lang="en-US" smtClean="0"/>
              <a:t>9/10/2020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E1AEA-27DC-D74C-BF12-9B9C58801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08AF5-BD69-6740-ABAA-400EDE797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5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24000"/>
            <a:ext cx="9144000" cy="1676400"/>
          </a:xfrm>
        </p:spPr>
        <p:txBody>
          <a:bodyPr/>
          <a:lstStyle/>
          <a:p>
            <a:r>
              <a:rPr lang="en-US" sz="3200" dirty="0"/>
              <a:t>A Named Data Networking Architecture Design to Internet of Underwater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5158" y="3067257"/>
            <a:ext cx="2861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10/24/2019 @ WUWNET 19’</a:t>
            </a:r>
          </a:p>
        </p:txBody>
      </p:sp>
      <p:sp>
        <p:nvSpPr>
          <p:cNvPr id="17" name="Subtitle 2"/>
          <p:cNvSpPr txBox="1">
            <a:spLocks/>
          </p:cNvSpPr>
          <p:nvPr/>
        </p:nvSpPr>
        <p:spPr bwMode="auto">
          <a:xfrm>
            <a:off x="2370038" y="4206893"/>
            <a:ext cx="2590800" cy="113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189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4377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371566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828754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  <a:lvl6pPr marL="2285943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6pPr>
            <a:lvl7pPr marL="2743131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7pPr>
            <a:lvl8pPr marL="320032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8pPr>
            <a:lvl9pPr marL="3657509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1" u="sng" strike="noStrike" kern="0" cap="none" spc="0" normalizeH="0" baseline="0" noProof="0" smtClean="0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charset="0"/>
                <a:cs typeface="Calibri Light" charset="0"/>
              </a:rPr>
              <a:t>Qi Zhao</a:t>
            </a:r>
            <a:endParaRPr kumimoji="0" lang="en-US" sz="2000" b="0" i="0" u="none" strike="noStrike" kern="0" cap="none" spc="0" normalizeH="0" baseline="0" noProof="0" smtClean="0">
              <a:ln>
                <a:noFill/>
              </a:ln>
              <a:solidFill>
                <a:srgbClr val="536895"/>
              </a:solidFill>
              <a:effectLst/>
              <a:uLnTx/>
              <a:uFillTx/>
              <a:latin typeface="Calibri Light" charset="0"/>
              <a:cs typeface="Calibri Light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smtClean="0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charset="0"/>
                <a:ea typeface="宋体" pitchFamily="2" charset="-122"/>
                <a:cs typeface="Times New Roman" pitchFamily="18" charset="0"/>
              </a:rPr>
              <a:t>University of California, Los Angeles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536895"/>
              </a:solidFill>
              <a:effectLst/>
              <a:uLnTx/>
              <a:uFillTx/>
              <a:latin typeface="Calibri Light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8" name="Subtitle 2"/>
          <p:cNvSpPr txBox="1">
            <a:spLocks/>
          </p:cNvSpPr>
          <p:nvPr/>
        </p:nvSpPr>
        <p:spPr bwMode="auto">
          <a:xfrm>
            <a:off x="5006196" y="4206893"/>
            <a:ext cx="2362200" cy="113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189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4377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371566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828754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  <a:lvl6pPr marL="2285943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6pPr>
            <a:lvl7pPr marL="2743131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7pPr>
            <a:lvl8pPr marL="320032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8pPr>
            <a:lvl9pPr marL="3657509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charset="0"/>
                <a:cs typeface="Calibri Light" charset="0"/>
              </a:rPr>
              <a:t>Zheng Peng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536895"/>
              </a:solidFill>
              <a:effectLst/>
              <a:uLnTx/>
              <a:uFillTx/>
              <a:latin typeface="Calibri Light" charset="0"/>
              <a:ea typeface="宋体" pitchFamily="2" charset="-122"/>
              <a:cs typeface="Calibri Light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charset="0"/>
                <a:ea typeface="宋体" pitchFamily="2" charset="-122"/>
                <a:cs typeface="Calibri Light" charset="0"/>
              </a:rPr>
              <a:t>The City College of New York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536895"/>
              </a:solidFill>
              <a:effectLst/>
              <a:uLnTx/>
              <a:uFillTx/>
              <a:latin typeface="Calibri Light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19" name="Subtitle 2"/>
          <p:cNvSpPr txBox="1">
            <a:spLocks/>
          </p:cNvSpPr>
          <p:nvPr/>
        </p:nvSpPr>
        <p:spPr bwMode="auto">
          <a:xfrm>
            <a:off x="7413754" y="4206893"/>
            <a:ext cx="2362200" cy="113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189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914377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371566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1828754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  <a:lvl6pPr marL="2285943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6pPr>
            <a:lvl7pPr marL="2743131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7pPr>
            <a:lvl8pPr marL="320032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8pPr>
            <a:lvl9pPr marL="3657509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None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charset="0"/>
                <a:cs typeface="Calibri Light" charset="0"/>
              </a:rPr>
              <a:t>Xiaoyan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charset="0"/>
                <a:cs typeface="Calibri Light" charset="0"/>
              </a:rPr>
              <a:t> Hong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536895"/>
              </a:solidFill>
              <a:effectLst/>
              <a:uLnTx/>
              <a:uFillTx/>
              <a:latin typeface="Calibri Light" charset="0"/>
              <a:ea typeface="宋体" pitchFamily="2" charset="-122"/>
              <a:cs typeface="Calibri Light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charset="0"/>
                <a:ea typeface="宋体" pitchFamily="2" charset="-122"/>
                <a:cs typeface="Calibri Light" charset="0"/>
              </a:rPr>
              <a:t>The University of Alabama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536895"/>
              </a:solidFill>
              <a:effectLst/>
              <a:uLnTx/>
              <a:uFillTx/>
              <a:latin typeface="Calibri Light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20" name="Picture 2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596" y="5426439"/>
            <a:ext cx="1600481" cy="63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Related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414" y="5401660"/>
            <a:ext cx="1655763" cy="662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Image result for the university of alabama 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926" y="5514656"/>
            <a:ext cx="1722070" cy="43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3"/>
          <p:cNvSpPr txBox="1"/>
          <p:nvPr/>
        </p:nvSpPr>
        <p:spPr>
          <a:xfrm>
            <a:off x="4665157" y="3251462"/>
            <a:ext cx="2985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536895"/>
                </a:solidFill>
                <a:latin typeface="Calibri Light" charset="0"/>
                <a:ea typeface="Calibri Light" charset="0"/>
                <a:cs typeface="Calibri Light" charset="0"/>
              </a:rPr>
              <a:t>09/11/2020 </a:t>
            </a:r>
            <a:r>
              <a:rPr lang="en-US" dirty="0">
                <a:solidFill>
                  <a:srgbClr val="536895"/>
                </a:solidFill>
                <a:latin typeface="Calibri Light" charset="0"/>
                <a:ea typeface="Calibri Light" charset="0"/>
                <a:cs typeface="Calibri Light" charset="0"/>
              </a:rPr>
              <a:t>@ </a:t>
            </a:r>
            <a:r>
              <a:rPr lang="en-US" dirty="0" err="1" smtClean="0">
                <a:solidFill>
                  <a:srgbClr val="536895"/>
                </a:solidFill>
                <a:latin typeface="Calibri Light" charset="0"/>
                <a:ea typeface="Calibri Light" charset="0"/>
                <a:cs typeface="Calibri Light" charset="0"/>
              </a:rPr>
              <a:t>NDNComm</a:t>
            </a:r>
            <a:r>
              <a:rPr lang="en-US" dirty="0" smtClean="0">
                <a:solidFill>
                  <a:srgbClr val="536895"/>
                </a:solidFill>
                <a:latin typeface="Calibri Light" charset="0"/>
                <a:ea typeface="Calibri Light" charset="0"/>
                <a:cs typeface="Calibri Light" charset="0"/>
              </a:rPr>
              <a:t> 20’</a:t>
            </a:r>
            <a:endParaRPr lang="en-US" dirty="0">
              <a:solidFill>
                <a:srgbClr val="536895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00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41A7-AF74-5049-8554-75F37D9E9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6DD2D-87E2-B64D-BCF5-71AC5C2D0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IoUT</a:t>
            </a:r>
            <a:r>
              <a:rPr lang="en-US" dirty="0">
                <a:solidFill>
                  <a:schemeClr val="accent1"/>
                </a:solidFill>
              </a:rPr>
              <a:t> Communication</a:t>
            </a:r>
          </a:p>
          <a:p>
            <a:r>
              <a:rPr lang="en-US" dirty="0">
                <a:solidFill>
                  <a:schemeClr val="accent1"/>
                </a:solidFill>
              </a:rPr>
              <a:t>Named Data Networking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IoUT</a:t>
            </a:r>
            <a:r>
              <a:rPr lang="en-US" dirty="0">
                <a:solidFill>
                  <a:schemeClr val="accent1"/>
                </a:solidFill>
              </a:rPr>
              <a:t> Challenges</a:t>
            </a:r>
          </a:p>
          <a:p>
            <a:r>
              <a:rPr lang="en-US" dirty="0">
                <a:solidFill>
                  <a:schemeClr val="accent1"/>
                </a:solidFill>
              </a:rPr>
              <a:t>NDN Architecture Implementation to </a:t>
            </a:r>
            <a:r>
              <a:rPr lang="en-US" dirty="0" err="1">
                <a:solidFill>
                  <a:schemeClr val="accent1"/>
                </a:solidFill>
              </a:rPr>
              <a:t>IoUT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 smtClean="0">
                <a:solidFill>
                  <a:schemeClr val="accent1"/>
                </a:solidFill>
              </a:rPr>
              <a:t>Conclusion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C73E1-FBB5-6141-8A12-102A4A150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2</a:t>
            </a:fld>
            <a:r>
              <a:rPr lang="en-US" dirty="0"/>
              <a:t> of 21</a:t>
            </a:r>
          </a:p>
        </p:txBody>
      </p:sp>
    </p:spTree>
    <p:extLst>
      <p:ext uri="{BB962C8B-B14F-4D97-AF65-F5344CB8AC3E}">
        <p14:creationId xmlns:p14="http://schemas.microsoft.com/office/powerpoint/2010/main" val="10070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A0249FAF-F9BD-4B15-B108-1E6879AAE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2640272"/>
            <a:ext cx="7086600" cy="3980502"/>
          </a:xfrm>
          <a:prstGeom prst="rect">
            <a:avLst/>
          </a:prstGeom>
        </p:spPr>
      </p:pic>
      <p:graphicFrame>
        <p:nvGraphicFramePr>
          <p:cNvPr id="12" name="图示 11"/>
          <p:cNvGraphicFramePr/>
          <p:nvPr>
            <p:extLst>
              <p:ext uri="{D42A27DB-BD31-4B8C-83A1-F6EECF244321}">
                <p14:modId xmlns:p14="http://schemas.microsoft.com/office/powerpoint/2010/main" val="844004365"/>
              </p:ext>
            </p:extLst>
          </p:nvPr>
        </p:nvGraphicFramePr>
        <p:xfrm>
          <a:off x="1557068" y="-703477"/>
          <a:ext cx="8746787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498641A7-AF74-5049-8554-75F37D9E9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 err="1" smtClean="0"/>
              <a:t>IoUT</a:t>
            </a:r>
            <a:r>
              <a:rPr lang="en-US" dirty="0" smtClean="0"/>
              <a:t>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80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/>
              <a:t>N</a:t>
            </a:r>
            <a:r>
              <a:rPr lang="en-US" altLang="zh-CN" dirty="0"/>
              <a:t>amed Data Networking</a:t>
            </a:r>
            <a:endParaRPr lang="en-US" dirty="0"/>
          </a:p>
        </p:txBody>
      </p:sp>
      <p:pic>
        <p:nvPicPr>
          <p:cNvPr id="18" name="内容占位符 17">
            <a:extLst>
              <a:ext uri="{FF2B5EF4-FFF2-40B4-BE49-F238E27FC236}">
                <a16:creationId xmlns:a16="http://schemas.microsoft.com/office/drawing/2014/main" id="{6347F69E-1B0B-43D2-AAB7-0DEFF36932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389" y="4569270"/>
            <a:ext cx="4038600" cy="1693419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4</a:t>
            </a:fld>
            <a:r>
              <a:rPr lang="en-US" dirty="0"/>
              <a:t> of 21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B11AF31-1787-4320-B9A1-C67E74343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790" y="1385888"/>
            <a:ext cx="4567243" cy="274751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773B4B-F6C3-7F47-B5C5-EED94BC3F94D}"/>
              </a:ext>
            </a:extLst>
          </p:cNvPr>
          <p:cNvSpPr txBox="1">
            <a:spLocks/>
          </p:cNvSpPr>
          <p:nvPr/>
        </p:nvSpPr>
        <p:spPr bwMode="auto">
          <a:xfrm>
            <a:off x="1531189" y="1690688"/>
            <a:ext cx="4267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 sz="2400" kern="0" dirty="0">
                <a:solidFill>
                  <a:schemeClr val="accent1"/>
                </a:solidFill>
              </a:rPr>
              <a:t>The Narrow waist: common interface, the network layer</a:t>
            </a:r>
          </a:p>
          <a:p>
            <a:pPr lvl="1"/>
            <a:r>
              <a:rPr lang="en-US" sz="2000" kern="0" dirty="0">
                <a:solidFill>
                  <a:schemeClr val="accent1"/>
                </a:solidFill>
              </a:rPr>
              <a:t>IP -- address format, IP packet forwarding</a:t>
            </a:r>
          </a:p>
          <a:p>
            <a:pPr lvl="1"/>
            <a:r>
              <a:rPr lang="en-US" sz="2000" kern="0" dirty="0">
                <a:solidFill>
                  <a:schemeClr val="accent1"/>
                </a:solidFill>
              </a:rPr>
              <a:t>NDN – data name format, NDN Interest/Data forwarding</a:t>
            </a:r>
          </a:p>
          <a:p>
            <a:pPr lvl="1"/>
            <a:endParaRPr lang="en-US" sz="2000" kern="0" dirty="0">
              <a:solidFill>
                <a:schemeClr val="accent1"/>
              </a:solidFill>
            </a:endParaRPr>
          </a:p>
          <a:p>
            <a:r>
              <a:rPr lang="en-US" sz="2400" kern="0" dirty="0">
                <a:solidFill>
                  <a:schemeClr val="accent1"/>
                </a:solidFill>
              </a:rPr>
              <a:t>Name data, not the container</a:t>
            </a:r>
          </a:p>
          <a:p>
            <a:pPr lvl="1"/>
            <a:r>
              <a:rPr lang="en-US" sz="2000" kern="0" dirty="0">
                <a:solidFill>
                  <a:schemeClr val="accent1"/>
                </a:solidFill>
              </a:rPr>
              <a:t>tell the network what you want..</a:t>
            </a:r>
          </a:p>
          <a:p>
            <a:pPr lvl="2"/>
            <a:r>
              <a:rPr lang="en-US" sz="1600" kern="0" dirty="0">
                <a:solidFill>
                  <a:schemeClr val="accent1"/>
                </a:solidFill>
              </a:rPr>
              <a:t>Consumers: send </a:t>
            </a:r>
            <a:r>
              <a:rPr lang="en-US" sz="1600" b="1" i="1" kern="0" dirty="0">
                <a:solidFill>
                  <a:schemeClr val="accent1"/>
                </a:solidFill>
              </a:rPr>
              <a:t>Interest</a:t>
            </a:r>
            <a:r>
              <a:rPr lang="en-US" sz="1600" kern="0" dirty="0">
                <a:solidFill>
                  <a:schemeClr val="accent1"/>
                </a:solidFill>
              </a:rPr>
              <a:t> packets</a:t>
            </a:r>
          </a:p>
          <a:p>
            <a:pPr lvl="1"/>
            <a:r>
              <a:rPr lang="en-US" sz="2000" kern="0" dirty="0">
                <a:solidFill>
                  <a:schemeClr val="accent1"/>
                </a:solidFill>
              </a:rPr>
              <a:t>let the network find it for you</a:t>
            </a:r>
          </a:p>
          <a:p>
            <a:pPr lvl="2"/>
            <a:r>
              <a:rPr lang="en-US" sz="1600" kern="0" dirty="0">
                <a:solidFill>
                  <a:schemeClr val="accent1"/>
                </a:solidFill>
              </a:rPr>
              <a:t>Producers: return “pulled” content </a:t>
            </a:r>
            <a:r>
              <a:rPr lang="en-US" sz="1600" b="1" i="1" kern="0" dirty="0">
                <a:solidFill>
                  <a:schemeClr val="accent1"/>
                </a:solidFill>
              </a:rPr>
              <a:t>Data</a:t>
            </a:r>
            <a:r>
              <a:rPr lang="en-US" sz="1600" kern="0" dirty="0">
                <a:solidFill>
                  <a:schemeClr val="accent1"/>
                </a:solidFill>
              </a:rPr>
              <a:t> packets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914DC-83DD-1A4A-9F13-33AC3792D263}"/>
              </a:ext>
            </a:extLst>
          </p:cNvPr>
          <p:cNvSpPr txBox="1"/>
          <p:nvPr/>
        </p:nvSpPr>
        <p:spPr>
          <a:xfrm>
            <a:off x="8312990" y="4001506"/>
            <a:ext cx="19463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From https://named-</a:t>
            </a:r>
            <a:r>
              <a:rPr lang="en-US" sz="1100" dirty="0" err="1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data.net</a:t>
            </a:r>
            <a:r>
              <a:rPr lang="en-US" sz="1100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845B87-EBD7-884D-A094-37450688EAFC}"/>
              </a:ext>
            </a:extLst>
          </p:cNvPr>
          <p:cNvSpPr txBox="1"/>
          <p:nvPr/>
        </p:nvSpPr>
        <p:spPr>
          <a:xfrm>
            <a:off x="8300451" y="6186488"/>
            <a:ext cx="19463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From https://named-</a:t>
            </a:r>
            <a:r>
              <a:rPr lang="en-US" sz="1100" dirty="0" err="1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data.net</a:t>
            </a:r>
            <a:r>
              <a:rPr lang="en-US" sz="1100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</a:t>
            </a:r>
          </a:p>
        </p:txBody>
      </p:sp>
    </p:spTree>
    <p:extLst>
      <p:ext uri="{BB962C8B-B14F-4D97-AF65-F5344CB8AC3E}">
        <p14:creationId xmlns:p14="http://schemas.microsoft.com/office/powerpoint/2010/main" val="270798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/>
              <a:t>NDN Brings in New Capabilities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6750" y="1873250"/>
            <a:ext cx="10896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Interest/Data exchange retrieves named data from anywhere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Naming</a:t>
            </a:r>
            <a:r>
              <a:rPr lang="en-US" sz="2400" dirty="0">
                <a:solidFill>
                  <a:schemeClr val="accent1"/>
                </a:solidFill>
              </a:rPr>
              <a:t>: names facilitate key management and trust derivation.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End-to-end security</a:t>
            </a:r>
            <a:r>
              <a:rPr lang="en-US" sz="2400" dirty="0">
                <a:solidFill>
                  <a:schemeClr val="accent1"/>
                </a:solidFill>
              </a:rPr>
              <a:t>: data is signed by producer and verified by consumers.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Sync</a:t>
            </a:r>
            <a:r>
              <a:rPr lang="en-US" sz="2400" dirty="0">
                <a:solidFill>
                  <a:schemeClr val="accent1"/>
                </a:solidFill>
              </a:rPr>
              <a:t>: enable multiple parties of a distributed application to keep synchronized state.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</a:t>
            </a:r>
            <a:r>
              <a:rPr lang="en-US" sz="2400" dirty="0">
                <a:solidFill>
                  <a:schemeClr val="accent1"/>
                </a:solidFill>
              </a:rPr>
              <a:t>: persistent storage helps producers store and publish data.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5</a:t>
            </a:fld>
            <a:r>
              <a:rPr lang="en-US" dirty="0"/>
              <a:t> of 21</a:t>
            </a:r>
          </a:p>
        </p:txBody>
      </p:sp>
    </p:spTree>
    <p:extLst>
      <p:ext uri="{BB962C8B-B14F-4D97-AF65-F5344CB8AC3E}">
        <p14:creationId xmlns:p14="http://schemas.microsoft.com/office/powerpoint/2010/main" val="232033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4844A-291B-104E-9D92-38C460A26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 err="1"/>
              <a:t>IoUT</a:t>
            </a:r>
            <a:r>
              <a:rPr lang="en-US" dirty="0"/>
              <a:t>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73B4B-F6C3-7F47-B5C5-EED94BC3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812925"/>
            <a:ext cx="10877550" cy="4351338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Complex Communication Solution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Various communication technologies (acoustic, optical, magneto-inductive, etc.) bring in various radios, interfaces, links, addressing schemes, IP subnets, etc.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Identification and tracking technologies are quite different</a:t>
            </a:r>
          </a:p>
          <a:p>
            <a:pPr lvl="2"/>
            <a:r>
              <a:rPr lang="en-US" sz="2400" dirty="0">
                <a:solidFill>
                  <a:schemeClr val="accent1"/>
                </a:solidFill>
              </a:rPr>
              <a:t>Leads to complicated addressing of the “thing”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Middleware/remote cloud, which is required to manage the data flow, is hard to be built on top of host-to-host communication model</a:t>
            </a:r>
          </a:p>
          <a:p>
            <a:pPr lvl="2"/>
            <a:r>
              <a:rPr lang="en-US" sz="2400" dirty="0">
                <a:solidFill>
                  <a:schemeClr val="accent1"/>
                </a:solidFill>
              </a:rPr>
              <a:t>Ever harder in a dynamic mobile scenario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In terms of “dynamic mobile scenario”</a:t>
            </a:r>
          </a:p>
          <a:p>
            <a:pPr lvl="2"/>
            <a:r>
              <a:rPr lang="en-US" sz="2400" dirty="0">
                <a:solidFill>
                  <a:schemeClr val="accent1"/>
                </a:solidFill>
              </a:rPr>
              <a:t>Requires intensive resources and operations</a:t>
            </a:r>
          </a:p>
          <a:p>
            <a:pPr lvl="2"/>
            <a:r>
              <a:rPr lang="en-US" sz="2400" dirty="0">
                <a:solidFill>
                  <a:schemeClr val="accent1"/>
                </a:solidFill>
              </a:rPr>
              <a:t>Extremely hard for users who are not networking experts</a:t>
            </a:r>
          </a:p>
          <a:p>
            <a:pPr lvl="1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09822-AE05-DE4A-8396-D22652327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6</a:t>
            </a:fld>
            <a:r>
              <a:rPr lang="en-US" dirty="0"/>
              <a:t> of 21</a:t>
            </a:r>
          </a:p>
        </p:txBody>
      </p:sp>
    </p:spTree>
    <p:extLst>
      <p:ext uri="{BB962C8B-B14F-4D97-AF65-F5344CB8AC3E}">
        <p14:creationId xmlns:p14="http://schemas.microsoft.com/office/powerpoint/2010/main" val="412044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 err="1"/>
              <a:t>IoUT</a:t>
            </a:r>
            <a:r>
              <a:rPr lang="en-US" dirty="0"/>
              <a:t> Challenges – cont’d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57300" y="1390905"/>
            <a:ext cx="9086850" cy="5302609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Energy Efficiency</a:t>
            </a:r>
          </a:p>
          <a:p>
            <a:pPr lvl="1"/>
            <a:r>
              <a:rPr lang="en-US" sz="2000" dirty="0" err="1">
                <a:solidFill>
                  <a:schemeClr val="accent1"/>
                </a:solidFill>
              </a:rPr>
              <a:t>IoUT</a:t>
            </a:r>
            <a:r>
              <a:rPr lang="en-US" sz="2000" dirty="0">
                <a:solidFill>
                  <a:schemeClr val="accent1"/>
                </a:solidFill>
              </a:rPr>
              <a:t> devices have limited operation life time due to space limit for batteries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Acoustic communications are power hungry (35-150</a:t>
            </a:r>
            <a:r>
              <a:rPr lang="en-US" sz="2000" b="1" i="1" u="sng" dirty="0">
                <a:solidFill>
                  <a:schemeClr val="accent1"/>
                </a:solidFill>
              </a:rPr>
              <a:t>W</a:t>
            </a:r>
            <a:r>
              <a:rPr lang="en-US" sz="2000" dirty="0">
                <a:solidFill>
                  <a:schemeClr val="accent1"/>
                </a:solidFill>
              </a:rPr>
              <a:t>  </a:t>
            </a:r>
            <a:r>
              <a:rPr lang="en-US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accent1"/>
                </a:solidFill>
              </a:rPr>
              <a:t>WiFi</a:t>
            </a:r>
            <a:r>
              <a:rPr lang="en-US" sz="2000" dirty="0">
                <a:solidFill>
                  <a:schemeClr val="accent1"/>
                </a:solidFill>
              </a:rPr>
              <a:t>: 100</a:t>
            </a:r>
            <a:r>
              <a:rPr lang="en-US" sz="2000" b="1" i="1" u="sng" dirty="0">
                <a:solidFill>
                  <a:schemeClr val="accent1"/>
                </a:solidFill>
              </a:rPr>
              <a:t>mW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Unlike </a:t>
            </a:r>
            <a:r>
              <a:rPr lang="en-US" sz="2000" dirty="0" err="1">
                <a:solidFill>
                  <a:schemeClr val="accent1"/>
                </a:solidFill>
              </a:rPr>
              <a:t>IoT</a:t>
            </a:r>
            <a:r>
              <a:rPr lang="en-US" sz="2000" dirty="0">
                <a:solidFill>
                  <a:schemeClr val="accent1"/>
                </a:solidFill>
              </a:rPr>
              <a:t>, replacing batteries could be a logistic nightmare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Bandwidth and Mobility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Big Data era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Reliability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Acoustic communication suffers from very high bit error rate (10</a:t>
            </a:r>
            <a:r>
              <a:rPr lang="en-US" sz="2000" baseline="30000" dirty="0">
                <a:solidFill>
                  <a:schemeClr val="accent1"/>
                </a:solidFill>
              </a:rPr>
              <a:t>-1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</a:t>
            </a:r>
            <a:r>
              <a:rPr lang="en-US" sz="2000" dirty="0">
                <a:solidFill>
                  <a:schemeClr val="accent1"/>
                </a:solidFill>
              </a:rPr>
              <a:t> 10</a:t>
            </a:r>
            <a:r>
              <a:rPr lang="en-US" sz="2000" baseline="30000" dirty="0">
                <a:solidFill>
                  <a:schemeClr val="accent1"/>
                </a:solidFill>
              </a:rPr>
              <a:t>-5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Data is required to be received in sequence without loss (TCP is ineffective)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Security</a:t>
            </a:r>
          </a:p>
          <a:p>
            <a:pPr lvl="1"/>
            <a:r>
              <a:rPr lang="en-US" sz="1800" dirty="0">
                <a:solidFill>
                  <a:schemeClr val="accent1"/>
                </a:solidFill>
              </a:rPr>
              <a:t>Data is private to some applications (Data breach)</a:t>
            </a:r>
          </a:p>
          <a:p>
            <a:pPr lvl="1"/>
            <a:r>
              <a:rPr lang="en-US" sz="1800" dirty="0">
                <a:solidFill>
                  <a:schemeClr val="accent1"/>
                </a:solidFill>
              </a:rPr>
              <a:t>Devices are normally costly (Device tampering)</a:t>
            </a:r>
          </a:p>
          <a:p>
            <a:pPr lvl="1"/>
            <a:r>
              <a:rPr lang="en-US" sz="1800" dirty="0">
                <a:solidFill>
                  <a:schemeClr val="accent1"/>
                </a:solidFill>
              </a:rPr>
              <a:t>Current solutions do not fit for </a:t>
            </a:r>
            <a:r>
              <a:rPr lang="en-US" sz="1800" dirty="0" err="1">
                <a:solidFill>
                  <a:schemeClr val="accent1"/>
                </a:solidFill>
              </a:rPr>
              <a:t>IoUT</a:t>
            </a:r>
            <a:endParaRPr lang="en-US" sz="1800" dirty="0">
              <a:solidFill>
                <a:schemeClr val="accent1"/>
              </a:solidFill>
            </a:endParaRPr>
          </a:p>
          <a:p>
            <a:pPr lvl="2"/>
            <a:r>
              <a:rPr lang="en-US" sz="1600" dirty="0">
                <a:solidFill>
                  <a:schemeClr val="accent1"/>
                </a:solidFill>
              </a:rPr>
              <a:t>TCP/IP’s session-end security is brittle in </a:t>
            </a:r>
            <a:r>
              <a:rPr lang="en-US" sz="1600" dirty="0" err="1">
                <a:solidFill>
                  <a:schemeClr val="accent1"/>
                </a:solidFill>
              </a:rPr>
              <a:t>IoUT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</a:p>
          <a:p>
            <a:pPr lvl="2"/>
            <a:r>
              <a:rPr lang="en-US" sz="1600" dirty="0">
                <a:solidFill>
                  <a:schemeClr val="accent1"/>
                </a:solidFill>
              </a:rPr>
              <a:t>Cloud-based security violates the trend of edge computing in </a:t>
            </a:r>
            <a:r>
              <a:rPr lang="en-US" sz="1600" dirty="0" err="1">
                <a:solidFill>
                  <a:schemeClr val="accent1"/>
                </a:solidFill>
              </a:rPr>
              <a:t>IoUT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7</a:t>
            </a:fld>
            <a:r>
              <a:rPr lang="en-US" dirty="0"/>
              <a:t> of 21</a:t>
            </a:r>
          </a:p>
        </p:txBody>
      </p:sp>
    </p:spTree>
    <p:extLst>
      <p:ext uri="{BB962C8B-B14F-4D97-AF65-F5344CB8AC3E}">
        <p14:creationId xmlns:p14="http://schemas.microsoft.com/office/powerpoint/2010/main" val="177325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/>
              <a:t>NDN fits </a:t>
            </a:r>
            <a:r>
              <a:rPr lang="en-US" dirty="0" err="1"/>
              <a:t>IoUT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accent1"/>
                </a:solidFill>
              </a:rPr>
              <a:t>Naming Convention -&gt; An open environment for applications and services to cooperate and function together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By naming data instead of IP address, NDN enables host </a:t>
            </a:r>
            <a:r>
              <a:rPr lang="en-US" sz="2400" dirty="0" err="1">
                <a:solidFill>
                  <a:schemeClr val="accent1"/>
                </a:solidFill>
              </a:rPr>
              <a:t>multihoming</a:t>
            </a:r>
            <a:r>
              <a:rPr lang="en-US" sz="2400" dirty="0">
                <a:solidFill>
                  <a:schemeClr val="accent1"/>
                </a:solidFill>
              </a:rPr>
              <a:t> and seamlessly utilizes all communication interfaces</a:t>
            </a:r>
          </a:p>
          <a:p>
            <a:r>
              <a:rPr lang="en-US" sz="2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 multicast </a:t>
            </a:r>
            <a:r>
              <a:rPr lang="en-US" sz="2400" dirty="0">
                <a:solidFill>
                  <a:schemeClr val="accent1"/>
                </a:solidFill>
              </a:rPr>
              <a:t>and </a:t>
            </a:r>
            <a:r>
              <a:rPr lang="en-US" sz="2400">
                <a:solidFill>
                  <a:schemeClr val="accent1"/>
                </a:solidFill>
              </a:rPr>
              <a:t>in-network </a:t>
            </a:r>
            <a:r>
              <a:rPr lang="en-US" sz="2400" b="1" i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caching</a:t>
            </a:r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Securing data directly </a:t>
            </a:r>
            <a:r>
              <a:rPr lang="en-US" sz="2400" dirty="0">
                <a:solidFill>
                  <a:schemeClr val="accent1"/>
                </a:solidFill>
              </a:rPr>
              <a:t>instead of relying on secured sessions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Secure </a:t>
            </a:r>
            <a:r>
              <a:rPr lang="en-US" sz="2400" dirty="0" err="1">
                <a:solidFill>
                  <a:schemeClr val="accent1"/>
                </a:solidFill>
              </a:rPr>
              <a:t>IoUT</a:t>
            </a:r>
            <a:r>
              <a:rPr lang="en-US" sz="2400" dirty="0">
                <a:solidFill>
                  <a:schemeClr val="accent1"/>
                </a:solidFill>
              </a:rPr>
              <a:t> system with </a:t>
            </a:r>
            <a:r>
              <a:rPr lang="en-US" sz="2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local trust anchors </a:t>
            </a:r>
            <a:r>
              <a:rPr lang="en-US" sz="2400" dirty="0">
                <a:solidFill>
                  <a:schemeClr val="accent1"/>
                </a:solidFill>
              </a:rPr>
              <a:t>instead of remote cloud servers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Simpler application development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</a:endParaRPr>
          </a:p>
          <a:p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8</a:t>
            </a:fld>
            <a:r>
              <a:rPr lang="en-US" dirty="0"/>
              <a:t> of 21</a:t>
            </a:r>
          </a:p>
        </p:txBody>
      </p:sp>
    </p:spTree>
    <p:extLst>
      <p:ext uri="{BB962C8B-B14F-4D97-AF65-F5344CB8AC3E}">
        <p14:creationId xmlns:p14="http://schemas.microsoft.com/office/powerpoint/2010/main" val="147791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A6541-C80A-F54B-8619-ACE4291CA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7486" y="6235621"/>
            <a:ext cx="10515600" cy="4351338"/>
          </a:xfrm>
        </p:spPr>
        <p:txBody>
          <a:bodyPr/>
          <a:lstStyle/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9CC8B-407D-A941-8145-29E7522DE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9</a:t>
            </a:fld>
            <a:r>
              <a:rPr lang="en-US" dirty="0"/>
              <a:t> of 21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A5A6541-C80A-F54B-8619-ACE4291CA516}"/>
              </a:ext>
            </a:extLst>
          </p:cNvPr>
          <p:cNvSpPr txBox="1">
            <a:spLocks/>
          </p:cNvSpPr>
          <p:nvPr/>
        </p:nvSpPr>
        <p:spPr bwMode="auto">
          <a:xfrm>
            <a:off x="2159977" y="1862878"/>
            <a:ext cx="8001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742932" marR="0" lvl="1" indent="-285744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200" b="0" i="0" u="none" strike="noStrike" kern="0" cap="none" spc="0" normalizeH="0" baseline="0" noProof="0" smtClean="0">
              <a:ln>
                <a:noFill/>
              </a:ln>
              <a:solidFill>
                <a:srgbClr val="536895"/>
              </a:solidFill>
              <a:effectLst/>
              <a:uLnTx/>
              <a:uFillTx/>
              <a:latin typeface="Calibri Light" charset="0"/>
              <a:cs typeface="Calibri Light" charset="0"/>
            </a:endParaRPr>
          </a:p>
          <a:p>
            <a:pPr marL="742932" marR="0" lvl="1" indent="-285744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200" b="0" i="0" u="none" strike="noStrike" kern="0" cap="none" spc="0" normalizeH="0" baseline="0" noProof="0" smtClean="0">
              <a:ln>
                <a:noFill/>
              </a:ln>
              <a:solidFill>
                <a:srgbClr val="536895"/>
              </a:solidFill>
              <a:effectLst/>
              <a:uLnTx/>
              <a:uFillTx/>
              <a:latin typeface="Calibri Light" charset="0"/>
              <a:cs typeface="Calibri Light" charset="0"/>
            </a:endParaRPr>
          </a:p>
          <a:p>
            <a:pPr marL="742932" marR="0" lvl="1" indent="-285744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200" b="0" i="0" u="none" strike="noStrike" kern="0" cap="none" spc="0" normalizeH="0" baseline="0" noProof="0" smtClean="0">
              <a:ln>
                <a:noFill/>
              </a:ln>
              <a:solidFill>
                <a:srgbClr val="536895"/>
              </a:solidFill>
              <a:effectLst/>
              <a:uLnTx/>
              <a:uFillTx/>
              <a:latin typeface="Calibri Light" charset="0"/>
              <a:cs typeface="Calibri Light" charset="0"/>
            </a:endParaRPr>
          </a:p>
          <a:p>
            <a:pPr marL="342891" marR="0" lvl="0" indent="-342891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536895"/>
              </a:solidFill>
              <a:effectLst/>
              <a:uLnTx/>
              <a:uFillTx/>
              <a:latin typeface="Calibri Light" charset="0"/>
              <a:cs typeface="Calibri Light" charset="0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007577" y="1981750"/>
            <a:ext cx="8305800" cy="4605528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2304271" y="2243878"/>
            <a:ext cx="1600200" cy="381000"/>
          </a:xfrm>
          <a:prstGeom prst="roundRect">
            <a:avLst/>
          </a:prstGeom>
          <a:solidFill>
            <a:srgbClr val="FF0000"/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Application</a:t>
            </a:r>
          </a:p>
        </p:txBody>
      </p:sp>
      <p:sp>
        <p:nvSpPr>
          <p:cNvPr id="30" name="圆角矩形 29"/>
          <p:cNvSpPr/>
          <p:nvPr/>
        </p:nvSpPr>
        <p:spPr>
          <a:xfrm>
            <a:off x="4056871" y="2243878"/>
            <a:ext cx="1600200" cy="381000"/>
          </a:xfrm>
          <a:prstGeom prst="roundRect">
            <a:avLst/>
          </a:prstGeom>
          <a:solidFill>
            <a:srgbClr val="FF0000"/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Application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5817577" y="2243878"/>
            <a:ext cx="1600200" cy="381000"/>
          </a:xfrm>
          <a:prstGeom prst="roundRect">
            <a:avLst/>
          </a:prstGeom>
          <a:solidFill>
            <a:srgbClr val="FF0000"/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Application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7570177" y="2243878"/>
            <a:ext cx="1600200" cy="381000"/>
          </a:xfrm>
          <a:prstGeom prst="roundRect">
            <a:avLst/>
          </a:prstGeom>
          <a:solidFill>
            <a:srgbClr val="FF0000"/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Application</a:t>
            </a:r>
          </a:p>
        </p:txBody>
      </p:sp>
      <p:sp>
        <p:nvSpPr>
          <p:cNvPr id="33" name="圆角矩形 32"/>
          <p:cNvSpPr/>
          <p:nvPr/>
        </p:nvSpPr>
        <p:spPr>
          <a:xfrm>
            <a:off x="2304271" y="3064764"/>
            <a:ext cx="7342762" cy="381000"/>
          </a:xfrm>
          <a:prstGeom prst="roundRect">
            <a:avLst/>
          </a:prstGeom>
          <a:solidFill>
            <a:srgbClr val="536895">
              <a:lumMod val="60000"/>
              <a:lumOff val="40000"/>
            </a:srgbClr>
          </a:solidFill>
          <a:ln w="25400" cap="flat" cmpd="sng" algn="ctr">
            <a:solidFill>
              <a:srgbClr val="536895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Adaptation Layer</a:t>
            </a:r>
          </a:p>
        </p:txBody>
      </p:sp>
      <p:sp>
        <p:nvSpPr>
          <p:cNvPr id="34" name="圆角矩形 33"/>
          <p:cNvSpPr/>
          <p:nvPr/>
        </p:nvSpPr>
        <p:spPr>
          <a:xfrm>
            <a:off x="2304271" y="5291878"/>
            <a:ext cx="7342762" cy="381000"/>
          </a:xfrm>
          <a:prstGeom prst="roundRect">
            <a:avLst/>
          </a:prstGeom>
          <a:solidFill>
            <a:srgbClr val="536895">
              <a:lumMod val="60000"/>
              <a:lumOff val="40000"/>
            </a:srgbClr>
          </a:solidFill>
          <a:ln w="25400" cap="flat" cmpd="sng" algn="ctr">
            <a:solidFill>
              <a:srgbClr val="536895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Adaptation Layer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2304271" y="3653578"/>
            <a:ext cx="1600200" cy="381000"/>
          </a:xfrm>
          <a:prstGeom prst="roundRect">
            <a:avLst/>
          </a:prstGeom>
          <a:solidFill>
            <a:srgbClr val="00B050"/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Bootstrapping</a:t>
            </a:r>
          </a:p>
        </p:txBody>
      </p:sp>
      <p:sp>
        <p:nvSpPr>
          <p:cNvPr id="36" name="圆角矩形 35"/>
          <p:cNvSpPr/>
          <p:nvPr/>
        </p:nvSpPr>
        <p:spPr>
          <a:xfrm>
            <a:off x="4071462" y="3653578"/>
            <a:ext cx="1600200" cy="381000"/>
          </a:xfrm>
          <a:prstGeom prst="roundRect">
            <a:avLst/>
          </a:prstGeom>
          <a:solidFill>
            <a:srgbClr val="00B050"/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Access Control</a:t>
            </a:r>
          </a:p>
        </p:txBody>
      </p:sp>
      <p:sp>
        <p:nvSpPr>
          <p:cNvPr id="37" name="圆角矩形 36"/>
          <p:cNvSpPr/>
          <p:nvPr/>
        </p:nvSpPr>
        <p:spPr>
          <a:xfrm>
            <a:off x="5838653" y="3658442"/>
            <a:ext cx="1600200" cy="381000"/>
          </a:xfrm>
          <a:prstGeom prst="roundRect">
            <a:avLst/>
          </a:prstGeom>
          <a:solidFill>
            <a:srgbClr val="00B050"/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Service Discovery</a:t>
            </a:r>
          </a:p>
        </p:txBody>
      </p:sp>
      <p:sp>
        <p:nvSpPr>
          <p:cNvPr id="38" name="圆角矩形 37"/>
          <p:cNvSpPr/>
          <p:nvPr/>
        </p:nvSpPr>
        <p:spPr>
          <a:xfrm>
            <a:off x="7605844" y="3658442"/>
            <a:ext cx="1600200" cy="381000"/>
          </a:xfrm>
          <a:prstGeom prst="roundRect">
            <a:avLst/>
          </a:prstGeom>
          <a:solidFill>
            <a:srgbClr val="00B050"/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Synchronization</a:t>
            </a:r>
          </a:p>
        </p:txBody>
      </p:sp>
      <p:sp>
        <p:nvSpPr>
          <p:cNvPr id="39" name="圆角矩形 38"/>
          <p:cNvSpPr/>
          <p:nvPr/>
        </p:nvSpPr>
        <p:spPr>
          <a:xfrm>
            <a:off x="2304271" y="4222874"/>
            <a:ext cx="7342762" cy="916603"/>
          </a:xfrm>
          <a:prstGeom prst="roundRect">
            <a:avLst/>
          </a:prstGeom>
          <a:solidFill>
            <a:srgbClr val="FE9118"/>
          </a:solidFill>
          <a:ln w="25400" cap="flat" cmpd="sng" algn="ctr">
            <a:solidFill>
              <a:srgbClr val="536895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1" u="none" strike="noStrike" kern="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536895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NDN</a:t>
            </a:r>
          </a:p>
        </p:txBody>
      </p:sp>
      <p:sp>
        <p:nvSpPr>
          <p:cNvPr id="40" name="圆角矩形 39"/>
          <p:cNvSpPr/>
          <p:nvPr/>
        </p:nvSpPr>
        <p:spPr>
          <a:xfrm>
            <a:off x="2540977" y="4318592"/>
            <a:ext cx="6789906" cy="363686"/>
          </a:xfrm>
          <a:prstGeom prst="roundRect">
            <a:avLst/>
          </a:prstGeom>
          <a:solidFill>
            <a:srgbClr val="FE9118">
              <a:lumMod val="40000"/>
              <a:lumOff val="60000"/>
            </a:srgbClr>
          </a:solidFill>
          <a:ln w="25400" cap="flat" cmpd="sng" algn="ctr">
            <a:solidFill>
              <a:srgbClr val="536895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536895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Security Support</a:t>
            </a:r>
          </a:p>
        </p:txBody>
      </p:sp>
      <p:cxnSp>
        <p:nvCxnSpPr>
          <p:cNvPr id="41" name="直接连接符 40"/>
          <p:cNvCxnSpPr/>
          <p:nvPr/>
        </p:nvCxnSpPr>
        <p:spPr>
          <a:xfrm>
            <a:off x="2007577" y="2853478"/>
            <a:ext cx="8305800" cy="0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sysDash"/>
          </a:ln>
          <a:effectLst/>
        </p:spPr>
      </p:cxnSp>
      <p:sp>
        <p:nvSpPr>
          <p:cNvPr id="42" name="文本框 41"/>
          <p:cNvSpPr txBox="1"/>
          <p:nvPr/>
        </p:nvSpPr>
        <p:spPr>
          <a:xfrm>
            <a:off x="9400811" y="1998283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b="1" i="1" dirty="0">
                <a:solidFill>
                  <a:srgbClr val="536895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…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9400810" y="3371483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b="1" i="1" dirty="0">
                <a:solidFill>
                  <a:srgbClr val="536895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…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8255977" y="5678300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b="1" i="1" dirty="0">
                <a:solidFill>
                  <a:srgbClr val="536895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…</a:t>
            </a:r>
          </a:p>
        </p:txBody>
      </p:sp>
      <p:sp>
        <p:nvSpPr>
          <p:cNvPr id="45" name="圆角矩形 44"/>
          <p:cNvSpPr/>
          <p:nvPr/>
        </p:nvSpPr>
        <p:spPr>
          <a:xfrm>
            <a:off x="2312164" y="5920803"/>
            <a:ext cx="1600200" cy="381000"/>
          </a:xfrm>
          <a:prstGeom prst="roundRect">
            <a:avLst/>
          </a:prstGeom>
          <a:solidFill>
            <a:srgbClr val="FFFFFF">
              <a:lumMod val="95000"/>
            </a:srgbClr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srgbClr val="536895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Acoustic</a:t>
            </a: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536895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46" name="圆角矩形 45"/>
          <p:cNvSpPr/>
          <p:nvPr/>
        </p:nvSpPr>
        <p:spPr>
          <a:xfrm>
            <a:off x="4071462" y="5920803"/>
            <a:ext cx="1600200" cy="381000"/>
          </a:xfrm>
          <a:prstGeom prst="roundRect">
            <a:avLst/>
          </a:prstGeom>
          <a:solidFill>
            <a:srgbClr val="FFFFFF">
              <a:lumMod val="95000"/>
            </a:srgbClr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srgbClr val="536895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Optical</a:t>
            </a: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47" name="圆角矩形 46"/>
          <p:cNvSpPr/>
          <p:nvPr/>
        </p:nvSpPr>
        <p:spPr>
          <a:xfrm>
            <a:off x="5838653" y="5914835"/>
            <a:ext cx="2188724" cy="381000"/>
          </a:xfrm>
          <a:prstGeom prst="roundRect">
            <a:avLst/>
          </a:prstGeom>
          <a:solidFill>
            <a:srgbClr val="FFFFFF">
              <a:lumMod val="95000"/>
            </a:srgbClr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srgbClr val="536895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Magneto-inductive </a:t>
            </a:r>
          </a:p>
        </p:txBody>
      </p:sp>
      <p:sp>
        <p:nvSpPr>
          <p:cNvPr id="49" name="标题 1"/>
          <p:cNvSpPr>
            <a:spLocks noGrp="1"/>
          </p:cNvSpPr>
          <p:nvPr>
            <p:ph type="title"/>
          </p:nvPr>
        </p:nvSpPr>
        <p:spPr>
          <a:xfrm>
            <a:off x="2324099" y="365125"/>
            <a:ext cx="9703777" cy="1325563"/>
          </a:xfrm>
        </p:spPr>
        <p:txBody>
          <a:bodyPr/>
          <a:lstStyle/>
          <a:p>
            <a:r>
              <a:rPr lang="en-US" dirty="0"/>
              <a:t>NDN Architecture Implementation to </a:t>
            </a:r>
            <a:r>
              <a:rPr lang="en-US" dirty="0" err="1"/>
              <a:t>IoUT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583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3DE9F-A6D3-C44A-ADCC-3663DED6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 err="1"/>
              <a:t>IoUT</a:t>
            </a:r>
            <a:r>
              <a:rPr lang="en-US" dirty="0"/>
              <a:t> Data and Naming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9CC8B-407D-A941-8145-29E7522DE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10</a:t>
            </a:fld>
            <a:r>
              <a:rPr lang="en-US" dirty="0"/>
              <a:t> of 21</a:t>
            </a:r>
          </a:p>
        </p:txBody>
      </p:sp>
      <p:sp>
        <p:nvSpPr>
          <p:cNvPr id="17" name="矩形 16"/>
          <p:cNvSpPr/>
          <p:nvPr/>
        </p:nvSpPr>
        <p:spPr>
          <a:xfrm>
            <a:off x="9365686" y="1256810"/>
            <a:ext cx="615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User</a:t>
            </a:r>
          </a:p>
        </p:txBody>
      </p:sp>
      <p:sp>
        <p:nvSpPr>
          <p:cNvPr id="38" name="内容占位符 2"/>
          <p:cNvSpPr txBox="1">
            <a:spLocks/>
          </p:cNvSpPr>
          <p:nvPr/>
        </p:nvSpPr>
        <p:spPr bwMode="auto">
          <a:xfrm>
            <a:off x="8284901" y="2948794"/>
            <a:ext cx="3020753" cy="3530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342891" marR="0" lvl="0" indent="-342891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charset="0"/>
                <a:cs typeface="Calibri Light" charset="0"/>
              </a:rPr>
              <a:t>Unique, meaningful, hierarchical </a:t>
            </a: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charset="0"/>
                <a:cs typeface="Calibri Light" charset="0"/>
              </a:rPr>
              <a:t>Name</a:t>
            </a:r>
          </a:p>
          <a:p>
            <a:pPr marL="342891" marR="0" lvl="0" indent="-342891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charset="0"/>
              <a:cs typeface="Calibri Light" charset="0"/>
            </a:endParaRPr>
          </a:p>
          <a:p>
            <a:pPr marL="342891" marR="0" lvl="0" indent="-342891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charset="0"/>
                <a:cs typeface="Calibri Light" charset="0"/>
              </a:rPr>
              <a:t>Name prefix matching for fetching the data</a:t>
            </a:r>
          </a:p>
          <a:p>
            <a:pPr marL="342891" marR="0" lvl="0" indent="-342891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1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Light" charset="0"/>
              <a:cs typeface="Calibri Light" charset="0"/>
            </a:endParaRPr>
          </a:p>
          <a:p>
            <a:pPr marL="342891" marR="0" lvl="0" indent="-342891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charset="0"/>
                <a:cs typeface="Calibri Light" charset="0"/>
              </a:rPr>
              <a:t>Interest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charset="0"/>
                <a:cs typeface="Calibri Light" charset="0"/>
              </a:rPr>
              <a:t> packets can be used to express the control commands</a:t>
            </a:r>
          </a:p>
          <a:p>
            <a:pPr marL="742932" marR="0" lvl="1" indent="-285744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charset="0"/>
                <a:cs typeface="Calibri Light" charset="0"/>
              </a:rPr>
              <a:t>/Surface/move-left/50m</a:t>
            </a:r>
          </a:p>
          <a:p>
            <a:pPr marL="342891" marR="0" lvl="0" indent="-342891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charset="0"/>
              <a:cs typeface="Calibri Light" charset="0"/>
            </a:endParaRPr>
          </a:p>
        </p:txBody>
      </p:sp>
      <p:pic>
        <p:nvPicPr>
          <p:cNvPr id="39" name="Picture 6" descr="Image result for water wave pn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103" y="2858216"/>
            <a:ext cx="4038600" cy="285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8A5A6541-C80A-F54B-8619-ACE4291CA516}"/>
              </a:ext>
            </a:extLst>
          </p:cNvPr>
          <p:cNvSpPr txBox="1">
            <a:spLocks/>
          </p:cNvSpPr>
          <p:nvPr/>
        </p:nvSpPr>
        <p:spPr bwMode="auto">
          <a:xfrm>
            <a:off x="1518021" y="1605060"/>
            <a:ext cx="8001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bg1"/>
                </a:solidFill>
                <a:latin typeface="+mn-lt"/>
              </a:defRPr>
            </a:lvl9pPr>
          </a:lstStyle>
          <a:p>
            <a:pPr marL="742932" marR="0" lvl="1" indent="-285744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200" b="0" i="0" u="none" strike="noStrike" kern="0" cap="none" spc="0" normalizeH="0" baseline="0" noProof="0" smtClean="0">
              <a:ln>
                <a:noFill/>
              </a:ln>
              <a:solidFill>
                <a:srgbClr val="536895"/>
              </a:solidFill>
              <a:effectLst/>
              <a:uLnTx/>
              <a:uFillTx/>
              <a:latin typeface="Calibri Light" charset="0"/>
              <a:cs typeface="Calibri Light" charset="0"/>
            </a:endParaRPr>
          </a:p>
          <a:p>
            <a:pPr marL="742932" marR="0" lvl="1" indent="-285744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200" b="0" i="0" u="none" strike="noStrike" kern="0" cap="none" spc="0" normalizeH="0" baseline="0" noProof="0" smtClean="0">
              <a:ln>
                <a:noFill/>
              </a:ln>
              <a:solidFill>
                <a:srgbClr val="536895"/>
              </a:solidFill>
              <a:effectLst/>
              <a:uLnTx/>
              <a:uFillTx/>
              <a:latin typeface="Calibri Light" charset="0"/>
              <a:cs typeface="Calibri Light" charset="0"/>
            </a:endParaRPr>
          </a:p>
          <a:p>
            <a:pPr marL="742932" marR="0" lvl="1" indent="-285744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200" b="0" i="0" u="none" strike="noStrike" kern="0" cap="none" spc="0" normalizeH="0" baseline="0" noProof="0" smtClean="0">
              <a:ln>
                <a:noFill/>
              </a:ln>
              <a:solidFill>
                <a:srgbClr val="536895"/>
              </a:solidFill>
              <a:effectLst/>
              <a:uLnTx/>
              <a:uFillTx/>
              <a:latin typeface="Calibri Light" charset="0"/>
              <a:cs typeface="Calibri Light" charset="0"/>
            </a:endParaRPr>
          </a:p>
          <a:p>
            <a:pPr marL="342891" marR="0" lvl="0" indent="-342891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AA1C8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536895"/>
              </a:solidFill>
              <a:effectLst/>
              <a:uLnTx/>
              <a:uFillTx/>
              <a:latin typeface="Calibri Light" charset="0"/>
              <a:cs typeface="Calibri Light" charset="0"/>
            </a:endParaRPr>
          </a:p>
        </p:txBody>
      </p:sp>
      <p:pic>
        <p:nvPicPr>
          <p:cNvPr id="42" name="Picture 2" descr="Image result for sensor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140113" y="5554120"/>
            <a:ext cx="871623" cy="87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" descr="Related imag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487" y="1355599"/>
            <a:ext cx="964142" cy="96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12" descr="Related imag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205" y="3271299"/>
            <a:ext cx="785665" cy="57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矩形 51"/>
          <p:cNvSpPr/>
          <p:nvPr/>
        </p:nvSpPr>
        <p:spPr>
          <a:xfrm>
            <a:off x="1958607" y="6358845"/>
            <a:ext cx="1234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Sensor-397</a:t>
            </a:r>
          </a:p>
        </p:txBody>
      </p:sp>
      <p:sp>
        <p:nvSpPr>
          <p:cNvPr id="53" name="矩形 52"/>
          <p:cNvSpPr/>
          <p:nvPr/>
        </p:nvSpPr>
        <p:spPr>
          <a:xfrm>
            <a:off x="9109755" y="1137342"/>
            <a:ext cx="615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User</a:t>
            </a:r>
          </a:p>
        </p:txBody>
      </p:sp>
      <p:cxnSp>
        <p:nvCxnSpPr>
          <p:cNvPr id="54" name="直接连接符 53"/>
          <p:cNvCxnSpPr/>
          <p:nvPr/>
        </p:nvCxnSpPr>
        <p:spPr>
          <a:xfrm flipV="1">
            <a:off x="2547258" y="3736868"/>
            <a:ext cx="4205422" cy="1839459"/>
          </a:xfrm>
          <a:prstGeom prst="line">
            <a:avLst/>
          </a:prstGeom>
          <a:noFill/>
          <a:ln w="57150" cap="flat" cmpd="sng" algn="ctr">
            <a:solidFill>
              <a:srgbClr val="00B0F0"/>
            </a:solidFill>
            <a:prstDash val="solid"/>
            <a:headEnd type="none" w="med" len="med"/>
            <a:tailEnd type="arrow" w="med" len="med"/>
          </a:ln>
          <a:effectLst/>
        </p:spPr>
      </p:cxnSp>
      <p:cxnSp>
        <p:nvCxnSpPr>
          <p:cNvPr id="56" name="直接连接符 55"/>
          <p:cNvCxnSpPr>
            <a:stCxn id="51" idx="0"/>
            <a:endCxn id="43" idx="2"/>
          </p:cNvCxnSpPr>
          <p:nvPr/>
        </p:nvCxnSpPr>
        <p:spPr>
          <a:xfrm flipV="1">
            <a:off x="7070038" y="2319741"/>
            <a:ext cx="2173520" cy="951558"/>
          </a:xfrm>
          <a:prstGeom prst="line">
            <a:avLst/>
          </a:prstGeom>
          <a:noFill/>
          <a:ln w="57150" cap="flat" cmpd="sng" algn="ctr">
            <a:solidFill>
              <a:srgbClr val="00B0F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57" name="流程图: 文档 56"/>
          <p:cNvSpPr/>
          <p:nvPr/>
        </p:nvSpPr>
        <p:spPr>
          <a:xfrm>
            <a:off x="1752592" y="1954570"/>
            <a:ext cx="3803498" cy="528599"/>
          </a:xfrm>
          <a:prstGeom prst="flowChartDocument">
            <a:avLst/>
          </a:prstGeom>
          <a:solidFill>
            <a:srgbClr val="536895">
              <a:lumMod val="20000"/>
              <a:lumOff val="80000"/>
            </a:srgbClr>
          </a:solidFill>
          <a:ln w="25400" cap="flat" cmpd="sng" algn="ctr">
            <a:solidFill>
              <a:srgbClr val="00000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844818" y="1954570"/>
            <a:ext cx="37112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53689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/Surface/Sensor-397/Temperature</a:t>
            </a:r>
          </a:p>
        </p:txBody>
      </p:sp>
      <p:sp>
        <p:nvSpPr>
          <p:cNvPr id="59" name="左大括号 58"/>
          <p:cNvSpPr/>
          <p:nvPr/>
        </p:nvSpPr>
        <p:spPr>
          <a:xfrm rot="16200000">
            <a:off x="2073041" y="2187781"/>
            <a:ext cx="204403" cy="971557"/>
          </a:xfrm>
          <a:prstGeom prst="leftBrace">
            <a:avLst/>
          </a:prstGeom>
          <a:noFill/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545396" y="2840922"/>
            <a:ext cx="1084078" cy="584775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E9118"/>
            </a:solidFill>
            <a:prstDash val="solid"/>
          </a:ln>
          <a:effectLst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Root prefix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The scope</a:t>
            </a:r>
          </a:p>
        </p:txBody>
      </p:sp>
      <p:sp>
        <p:nvSpPr>
          <p:cNvPr id="61" name="左大括号 60"/>
          <p:cNvSpPr/>
          <p:nvPr/>
        </p:nvSpPr>
        <p:spPr>
          <a:xfrm rot="16200000">
            <a:off x="3293994" y="2103596"/>
            <a:ext cx="257314" cy="1193164"/>
          </a:xfrm>
          <a:prstGeom prst="leftBrace">
            <a:avLst/>
          </a:prstGeom>
          <a:noFill/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2757767" y="2850110"/>
            <a:ext cx="1839799" cy="584775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E9118"/>
            </a:solidFill>
            <a:prstDash val="solid"/>
          </a:ln>
          <a:effectLst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Middle components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The </a:t>
            </a:r>
            <a:r>
              <a:rPr kumimoji="0" 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IoUT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 devices</a:t>
            </a:r>
          </a:p>
        </p:txBody>
      </p:sp>
      <p:sp>
        <p:nvSpPr>
          <p:cNvPr id="63" name="左大括号 62"/>
          <p:cNvSpPr/>
          <p:nvPr/>
        </p:nvSpPr>
        <p:spPr>
          <a:xfrm rot="16200000">
            <a:off x="5516710" y="1160374"/>
            <a:ext cx="292592" cy="3091774"/>
          </a:xfrm>
          <a:prstGeom prst="leftBrace">
            <a:avLst/>
          </a:prstGeom>
          <a:noFill/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4954222" y="2864326"/>
            <a:ext cx="1559851" cy="584775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E9118"/>
            </a:solidFill>
            <a:prstDash val="solid"/>
          </a:ln>
          <a:effectLst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Tail components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536895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The specific data</a:t>
            </a:r>
          </a:p>
        </p:txBody>
      </p:sp>
      <p:sp>
        <p:nvSpPr>
          <p:cNvPr id="65" name="左弧形箭头 64"/>
          <p:cNvSpPr/>
          <p:nvPr/>
        </p:nvSpPr>
        <p:spPr>
          <a:xfrm rot="4628128">
            <a:off x="7558286" y="259275"/>
            <a:ext cx="301438" cy="2548592"/>
          </a:xfrm>
          <a:prstGeom prst="curvedRightArrow">
            <a:avLst>
              <a:gd name="adj1" fmla="val 31394"/>
              <a:gd name="adj2" fmla="val 119043"/>
              <a:gd name="adj3" fmla="val 25000"/>
            </a:avLst>
          </a:prstGeom>
          <a:solidFill>
            <a:srgbClr val="FE9118"/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7348934" y="1403023"/>
            <a:ext cx="898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53689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Interest</a:t>
            </a:r>
          </a:p>
        </p:txBody>
      </p:sp>
      <p:sp>
        <p:nvSpPr>
          <p:cNvPr id="67" name="流程图: 文档 66"/>
          <p:cNvSpPr/>
          <p:nvPr/>
        </p:nvSpPr>
        <p:spPr>
          <a:xfrm>
            <a:off x="5667489" y="1956561"/>
            <a:ext cx="1467258" cy="528599"/>
          </a:xfrm>
          <a:prstGeom prst="flowChartDocument">
            <a:avLst/>
          </a:prstGeom>
          <a:solidFill>
            <a:srgbClr val="536895">
              <a:lumMod val="20000"/>
              <a:lumOff val="80000"/>
            </a:srgbClr>
          </a:solidFill>
          <a:ln w="25400" cap="flat" cmpd="sng" algn="ctr">
            <a:solidFill>
              <a:srgbClr val="00000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5632821" y="1963156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53689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/1907250202</a:t>
            </a:r>
          </a:p>
        </p:txBody>
      </p:sp>
      <p:sp>
        <p:nvSpPr>
          <p:cNvPr id="69" name="左弧形箭头 68"/>
          <p:cNvSpPr/>
          <p:nvPr/>
        </p:nvSpPr>
        <p:spPr>
          <a:xfrm rot="21082777">
            <a:off x="1543343" y="3502051"/>
            <a:ext cx="642902" cy="2817207"/>
          </a:xfrm>
          <a:prstGeom prst="curvedRightArrow">
            <a:avLst>
              <a:gd name="adj1" fmla="val 31394"/>
              <a:gd name="adj2" fmla="val 57371"/>
              <a:gd name="adj3" fmla="val 20782"/>
            </a:avLst>
          </a:prstGeom>
          <a:solidFill>
            <a:srgbClr val="FE9118"/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3267903" y="5333460"/>
            <a:ext cx="4738375" cy="1372612"/>
            <a:chOff x="3116565" y="5372285"/>
            <a:chExt cx="4738375" cy="1372612"/>
          </a:xfrm>
        </p:grpSpPr>
        <p:grpSp>
          <p:nvGrpSpPr>
            <p:cNvPr id="71" name="组合 70"/>
            <p:cNvGrpSpPr/>
            <p:nvPr/>
          </p:nvGrpSpPr>
          <p:grpSpPr>
            <a:xfrm>
              <a:off x="3126292" y="5372285"/>
              <a:ext cx="4728648" cy="1372612"/>
              <a:chOff x="-1101445" y="5776864"/>
              <a:chExt cx="4728648" cy="489929"/>
            </a:xfrm>
          </p:grpSpPr>
          <p:sp>
            <p:nvSpPr>
              <p:cNvPr id="75" name="流程图: 文档 74"/>
              <p:cNvSpPr/>
              <p:nvPr/>
            </p:nvSpPr>
            <p:spPr>
              <a:xfrm>
                <a:off x="-1101445" y="5776864"/>
                <a:ext cx="4686485" cy="489929"/>
              </a:xfrm>
              <a:prstGeom prst="flowChartDocument">
                <a:avLst/>
              </a:prstGeom>
              <a:solidFill>
                <a:srgbClr val="FE9118">
                  <a:lumMod val="40000"/>
                  <a:lumOff val="60000"/>
                </a:srgbClr>
              </a:solidFill>
              <a:ln w="25400" cap="flat" cmpd="sng" algn="ctr">
                <a:solidFill>
                  <a:srgbClr val="000000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-990600" y="5786492"/>
                <a:ext cx="4617803" cy="428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536895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 Light" panose="020F0302020204030204" pitchFamily="34" charset="0"/>
                    <a:cs typeface="Calibri Light" panose="020F0302020204030204" pitchFamily="34" charset="0"/>
                  </a:rPr>
                  <a:t>/Surface/Sensor-397/Temperature/1907250202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rgbClr val="536895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 Light" panose="020F0302020204030204" pitchFamily="34" charset="0"/>
                    <a:cs typeface="Calibri Light" panose="020F0302020204030204" pitchFamily="34" charset="0"/>
                  </a:rPr>
                  <a:t>MetaInfo</a:t>
                </a:r>
                <a:endParaRPr kumimoji="0" 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53689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536895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Data Content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536895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Signature</a:t>
                </a:r>
              </a:p>
            </p:txBody>
          </p:sp>
        </p:grpSp>
        <p:cxnSp>
          <p:nvCxnSpPr>
            <p:cNvPr id="72" name="直接连接符 71"/>
            <p:cNvCxnSpPr/>
            <p:nvPr/>
          </p:nvCxnSpPr>
          <p:spPr>
            <a:xfrm>
              <a:off x="3129942" y="5735381"/>
              <a:ext cx="4673108" cy="0"/>
            </a:xfrm>
            <a:prstGeom prst="line">
              <a:avLst/>
            </a:prstGeom>
            <a:noFill/>
            <a:ln w="1905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ysDash"/>
            </a:ln>
            <a:effectLst/>
          </p:spPr>
        </p:cxnSp>
        <p:cxnSp>
          <p:nvCxnSpPr>
            <p:cNvPr id="73" name="直接连接符 72"/>
            <p:cNvCxnSpPr/>
            <p:nvPr/>
          </p:nvCxnSpPr>
          <p:spPr>
            <a:xfrm>
              <a:off x="3116565" y="6012077"/>
              <a:ext cx="4673108" cy="0"/>
            </a:xfrm>
            <a:prstGeom prst="line">
              <a:avLst/>
            </a:prstGeom>
            <a:noFill/>
            <a:ln w="1905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ysDash"/>
            </a:ln>
            <a:effectLst/>
          </p:spPr>
        </p:cxnSp>
        <p:cxnSp>
          <p:nvCxnSpPr>
            <p:cNvPr id="74" name="直接连接符 73"/>
            <p:cNvCxnSpPr/>
            <p:nvPr/>
          </p:nvCxnSpPr>
          <p:spPr>
            <a:xfrm>
              <a:off x="3134927" y="6307150"/>
              <a:ext cx="4648666" cy="0"/>
            </a:xfrm>
            <a:prstGeom prst="line">
              <a:avLst/>
            </a:prstGeom>
            <a:noFill/>
            <a:ln w="1905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ysDash"/>
            </a:ln>
            <a:effectLst/>
          </p:spPr>
        </p:cxnSp>
      </p:grpSp>
      <p:sp>
        <p:nvSpPr>
          <p:cNvPr id="77" name="矩形 76"/>
          <p:cNvSpPr/>
          <p:nvPr/>
        </p:nvSpPr>
        <p:spPr>
          <a:xfrm>
            <a:off x="1518021" y="4476893"/>
            <a:ext cx="898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53689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Interest</a:t>
            </a:r>
          </a:p>
        </p:txBody>
      </p:sp>
      <p:sp>
        <p:nvSpPr>
          <p:cNvPr id="78" name="矩形 77"/>
          <p:cNvSpPr/>
          <p:nvPr/>
        </p:nvSpPr>
        <p:spPr>
          <a:xfrm>
            <a:off x="7690712" y="2459505"/>
            <a:ext cx="605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53689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Data</a:t>
            </a:r>
          </a:p>
        </p:txBody>
      </p:sp>
      <p:sp>
        <p:nvSpPr>
          <p:cNvPr id="79" name="矩形 78"/>
          <p:cNvSpPr/>
          <p:nvPr/>
        </p:nvSpPr>
        <p:spPr>
          <a:xfrm>
            <a:off x="4123794" y="4885535"/>
            <a:ext cx="605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53689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85990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/>
              <a:t>Named-based Routing and Forwarding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32758" y="1759839"/>
            <a:ext cx="3894940" cy="44958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Data </a:t>
            </a:r>
            <a:r>
              <a:rPr lang="en-US" sz="2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producers</a:t>
            </a:r>
            <a:r>
              <a:rPr lang="en-US" sz="2400" dirty="0">
                <a:solidFill>
                  <a:schemeClr val="accent1"/>
                </a:solidFill>
              </a:rPr>
              <a:t> advertise hierarchical </a:t>
            </a:r>
            <a:r>
              <a:rPr lang="en-US" sz="2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 prefixes</a:t>
            </a:r>
          </a:p>
          <a:p>
            <a:endParaRPr lang="en-US" sz="2400" b="1" i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Users</a:t>
            </a:r>
            <a:r>
              <a:rPr lang="en-US" sz="2400" dirty="0">
                <a:solidFill>
                  <a:schemeClr val="accent1"/>
                </a:solidFill>
              </a:rPr>
              <a:t> send </a:t>
            </a:r>
            <a:r>
              <a:rPr lang="en-US" sz="2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Interests</a:t>
            </a:r>
            <a:r>
              <a:rPr lang="en-US" sz="2400" dirty="0">
                <a:solidFill>
                  <a:schemeClr val="accent1"/>
                </a:solidFill>
              </a:rPr>
              <a:t> to published prefix</a:t>
            </a:r>
          </a:p>
          <a:p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dirty="0">
                <a:solidFill>
                  <a:schemeClr val="accent1"/>
                </a:solidFill>
              </a:rPr>
              <a:t>Name prefix matching will direct data back to the user</a:t>
            </a:r>
          </a:p>
          <a:p>
            <a:endParaRPr lang="en-US" sz="2400" dirty="0">
              <a:solidFill>
                <a:schemeClr val="accent1"/>
              </a:solidFill>
            </a:endParaRPr>
          </a:p>
          <a:p>
            <a:r>
              <a:rPr lang="en-US" sz="2400" dirty="0">
                <a:solidFill>
                  <a:schemeClr val="accent1"/>
                </a:solidFill>
              </a:rPr>
              <a:t>Data is cached into the network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11</a:t>
            </a:fld>
            <a:r>
              <a:rPr lang="en-US" dirty="0"/>
              <a:t> of 21</a:t>
            </a:r>
          </a:p>
        </p:txBody>
      </p:sp>
      <p:pic>
        <p:nvPicPr>
          <p:cNvPr id="5" name="Picture 6" descr="Image result for water wave 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825" y="3514800"/>
            <a:ext cx="2913428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sensor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877845" y="5825772"/>
            <a:ext cx="871623" cy="87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sensor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9598370" y="5633340"/>
            <a:ext cx="871623" cy="87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lated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6570" y="2803990"/>
            <a:ext cx="1457854" cy="770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Related imag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470" y="2474981"/>
            <a:ext cx="742545" cy="74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Related imag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257" y="4031775"/>
            <a:ext cx="576453" cy="423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Related imag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4465877"/>
            <a:ext cx="576453" cy="423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接连接符 8"/>
          <p:cNvCxnSpPr>
            <a:stCxn id="10" idx="2"/>
            <a:endCxn id="11" idx="0"/>
          </p:cNvCxnSpPr>
          <p:nvPr/>
        </p:nvCxnSpPr>
        <p:spPr>
          <a:xfrm>
            <a:off x="6208743" y="3217526"/>
            <a:ext cx="465741" cy="81424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2052" idx="2"/>
            <a:endCxn id="11" idx="3"/>
          </p:cNvCxnSpPr>
          <p:nvPr/>
        </p:nvCxnSpPr>
        <p:spPr>
          <a:xfrm flipH="1">
            <a:off x="6962709" y="3574204"/>
            <a:ext cx="2932788" cy="66946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6" idx="3"/>
            <a:endCxn id="11" idx="2"/>
          </p:cNvCxnSpPr>
          <p:nvPr/>
        </p:nvCxnSpPr>
        <p:spPr>
          <a:xfrm flipV="1">
            <a:off x="6313657" y="4455557"/>
            <a:ext cx="360827" cy="137021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endCxn id="11" idx="3"/>
          </p:cNvCxnSpPr>
          <p:nvPr/>
        </p:nvCxnSpPr>
        <p:spPr>
          <a:xfrm flipH="1" flipV="1">
            <a:off x="6962710" y="4243666"/>
            <a:ext cx="704761" cy="36682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12" idx="2"/>
            <a:endCxn id="7" idx="3"/>
          </p:cNvCxnSpPr>
          <p:nvPr/>
        </p:nvCxnSpPr>
        <p:spPr>
          <a:xfrm>
            <a:off x="7755827" y="4889659"/>
            <a:ext cx="2278355" cy="74368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12" idx="3"/>
            <a:endCxn id="2052" idx="2"/>
          </p:cNvCxnSpPr>
          <p:nvPr/>
        </p:nvCxnSpPr>
        <p:spPr>
          <a:xfrm flipV="1">
            <a:off x="8044053" y="3574204"/>
            <a:ext cx="1851445" cy="110356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Image result for satellite ship 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59430" y="1548653"/>
            <a:ext cx="807141" cy="807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直接连接符 41"/>
          <p:cNvCxnSpPr>
            <a:endCxn id="11" idx="0"/>
          </p:cNvCxnSpPr>
          <p:nvPr/>
        </p:nvCxnSpPr>
        <p:spPr>
          <a:xfrm flipH="1">
            <a:off x="6674484" y="2389938"/>
            <a:ext cx="1828821" cy="1641837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endCxn id="12" idx="0"/>
          </p:cNvCxnSpPr>
          <p:nvPr/>
        </p:nvCxnSpPr>
        <p:spPr>
          <a:xfrm flipH="1">
            <a:off x="7755826" y="2389938"/>
            <a:ext cx="747478" cy="207593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 rot="20841873">
            <a:off x="7012730" y="3522682"/>
            <a:ext cx="230956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/Surface/Sensor-397/Temperature</a:t>
            </a:r>
          </a:p>
        </p:txBody>
      </p:sp>
      <p:cxnSp>
        <p:nvCxnSpPr>
          <p:cNvPr id="49" name="直接箭头连接符 48"/>
          <p:cNvCxnSpPr/>
          <p:nvPr/>
        </p:nvCxnSpPr>
        <p:spPr>
          <a:xfrm flipH="1">
            <a:off x="7239001" y="3579510"/>
            <a:ext cx="2009507" cy="45909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 rot="17130809">
            <a:off x="5061720" y="4964680"/>
            <a:ext cx="225633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/Surface/Sensor-397/Temperature</a:t>
            </a:r>
          </a:p>
        </p:txBody>
      </p:sp>
      <p:cxnSp>
        <p:nvCxnSpPr>
          <p:cNvPr id="58" name="直接箭头连接符 57"/>
          <p:cNvCxnSpPr/>
          <p:nvPr/>
        </p:nvCxnSpPr>
        <p:spPr>
          <a:xfrm flipH="1">
            <a:off x="6141271" y="4518372"/>
            <a:ext cx="352799" cy="12853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 rot="1128686">
            <a:off x="7671021" y="5430295"/>
            <a:ext cx="225633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/Surface/Sensor-397/Temperature</a:t>
            </a: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7737715" y="5051013"/>
            <a:ext cx="2084171" cy="7197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6" name="Picture 8" descr="Image result for wrong 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9498949" y="5763514"/>
            <a:ext cx="454025" cy="45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0" name="直接箭头连接符 69"/>
          <p:cNvCxnSpPr/>
          <p:nvPr/>
        </p:nvCxnSpPr>
        <p:spPr>
          <a:xfrm flipV="1">
            <a:off x="6478770" y="4575240"/>
            <a:ext cx="319309" cy="122845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flipV="1">
            <a:off x="7325921" y="3781489"/>
            <a:ext cx="2017051" cy="46217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6384853" y="6117140"/>
            <a:ext cx="94667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Sensor-397</a:t>
            </a:r>
          </a:p>
        </p:txBody>
      </p:sp>
      <p:sp>
        <p:nvSpPr>
          <p:cNvPr id="77" name="矩形 76"/>
          <p:cNvSpPr/>
          <p:nvPr/>
        </p:nvSpPr>
        <p:spPr>
          <a:xfrm>
            <a:off x="9125030" y="6136758"/>
            <a:ext cx="94667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Sensor-398</a:t>
            </a:r>
          </a:p>
        </p:txBody>
      </p:sp>
      <p:cxnSp>
        <p:nvCxnSpPr>
          <p:cNvPr id="79" name="直接箭头连接符 78"/>
          <p:cNvCxnSpPr/>
          <p:nvPr/>
        </p:nvCxnSpPr>
        <p:spPr>
          <a:xfrm>
            <a:off x="6996843" y="4447274"/>
            <a:ext cx="439207" cy="2507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3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Image result for water wave pn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152" y="2973285"/>
            <a:ext cx="4038600" cy="285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/>
              <a:t>In-network Storage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44842" y="1779846"/>
            <a:ext cx="4345168" cy="44958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Application in-memory storage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Allocated in memory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Managed by applications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Forwarder content store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Managed by routers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Opportunistic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Repository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Managed by application users or third party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Long-term persistent storage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12</a:t>
            </a:fld>
            <a:r>
              <a:rPr lang="en-US" dirty="0"/>
              <a:t> of 21</a:t>
            </a:r>
          </a:p>
        </p:txBody>
      </p:sp>
      <p:pic>
        <p:nvPicPr>
          <p:cNvPr id="1026" name="Picture 2" descr="Image result for sensor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9343962" y="5432387"/>
            <a:ext cx="871623" cy="87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l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421" y="1428424"/>
            <a:ext cx="964142" cy="96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Image result for sensor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000722" y="5779048"/>
            <a:ext cx="871623" cy="87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Image result for sensor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718477" y="5432387"/>
            <a:ext cx="871623" cy="87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lated imag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4118" y="3352214"/>
            <a:ext cx="576453" cy="423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8642841" y="6183868"/>
            <a:ext cx="11128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lang="en-US" altLang="zh-CN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roducers</a:t>
            </a:r>
            <a:endParaRPr lang="en-US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220222" y="3241194"/>
            <a:ext cx="14223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Forwarder</a:t>
            </a:r>
          </a:p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content store</a:t>
            </a:r>
          </a:p>
        </p:txBody>
      </p:sp>
      <p:sp>
        <p:nvSpPr>
          <p:cNvPr id="18" name="矩形 17"/>
          <p:cNvSpPr/>
          <p:nvPr/>
        </p:nvSpPr>
        <p:spPr>
          <a:xfrm>
            <a:off x="5701182" y="5838091"/>
            <a:ext cx="12133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In-memory</a:t>
            </a:r>
          </a:p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Storage</a:t>
            </a:r>
          </a:p>
        </p:txBody>
      </p:sp>
      <p:pic>
        <p:nvPicPr>
          <p:cNvPr id="1040" name="Picture 16" descr="Related imag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469" y="2138616"/>
            <a:ext cx="657872" cy="80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矩形 20"/>
          <p:cNvSpPr/>
          <p:nvPr/>
        </p:nvSpPr>
        <p:spPr>
          <a:xfrm>
            <a:off x="9344575" y="1146288"/>
            <a:ext cx="1135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Consumer</a:t>
            </a:r>
          </a:p>
        </p:txBody>
      </p:sp>
      <p:sp>
        <p:nvSpPr>
          <p:cNvPr id="22" name="矩形 21"/>
          <p:cNvSpPr/>
          <p:nvPr/>
        </p:nvSpPr>
        <p:spPr>
          <a:xfrm>
            <a:off x="6766233" y="1769956"/>
            <a:ext cx="657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Repo</a:t>
            </a: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7166235" y="3775997"/>
            <a:ext cx="1706109" cy="1656389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2" idx="3"/>
          </p:cNvCxnSpPr>
          <p:nvPr/>
        </p:nvCxnSpPr>
        <p:spPr>
          <a:xfrm flipV="1">
            <a:off x="8436533" y="3775997"/>
            <a:ext cx="435810" cy="2003051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stCxn id="1026" idx="3"/>
            <a:endCxn id="1036" idx="2"/>
          </p:cNvCxnSpPr>
          <p:nvPr/>
        </p:nvCxnSpPr>
        <p:spPr>
          <a:xfrm flipH="1" flipV="1">
            <a:off x="8872345" y="3775996"/>
            <a:ext cx="907429" cy="165639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1036" idx="0"/>
            <a:endCxn id="1032" idx="2"/>
          </p:cNvCxnSpPr>
          <p:nvPr/>
        </p:nvCxnSpPr>
        <p:spPr>
          <a:xfrm flipV="1">
            <a:off x="8872344" y="2392567"/>
            <a:ext cx="1033148" cy="959647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1036" idx="1"/>
            <a:endCxn id="1040" idx="2"/>
          </p:cNvCxnSpPr>
          <p:nvPr/>
        </p:nvCxnSpPr>
        <p:spPr>
          <a:xfrm flipH="1" flipV="1">
            <a:off x="7142405" y="2947575"/>
            <a:ext cx="1441712" cy="616531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13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/>
              <a:t>Bootstrapping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38530"/>
            <a:ext cx="10515600" cy="254505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Goal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The </a:t>
            </a:r>
            <a:r>
              <a:rPr lang="en-US" sz="2000" dirty="0" err="1">
                <a:solidFill>
                  <a:schemeClr val="accent1"/>
                </a:solidFill>
              </a:rPr>
              <a:t>IoUT</a:t>
            </a:r>
            <a:r>
              <a:rPr lang="en-US" sz="2000" dirty="0">
                <a:solidFill>
                  <a:schemeClr val="accent1"/>
                </a:solidFill>
              </a:rPr>
              <a:t> device (e.g., Temperature Sensor) learns the trust anchor of the system and obtain an identity certificate issued by the system controller (e.g., Operator’s server)</a:t>
            </a:r>
          </a:p>
          <a:p>
            <a:r>
              <a:rPr lang="en-US" dirty="0">
                <a:solidFill>
                  <a:schemeClr val="accent1"/>
                </a:solidFill>
              </a:rPr>
              <a:t>Assumptions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The </a:t>
            </a:r>
            <a:r>
              <a:rPr lang="en-US" sz="2000" dirty="0" err="1">
                <a:solidFill>
                  <a:schemeClr val="accent1"/>
                </a:solidFill>
              </a:rPr>
              <a:t>IoUT</a:t>
            </a:r>
            <a:r>
              <a:rPr lang="en-US" sz="2000" dirty="0">
                <a:solidFill>
                  <a:schemeClr val="accent1"/>
                </a:solidFill>
              </a:rPr>
              <a:t> device and the controller have shared secret through out-of-band means, e.g., The user can pre-share the secret on the sensor device before the deployment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The pre-shared secret is a crypto public key (BK), e.g., ECC/RSA public key, etc.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13</a:t>
            </a:fld>
            <a:r>
              <a:rPr lang="en-US" dirty="0"/>
              <a:t> of 21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2053715" y="3721197"/>
            <a:ext cx="7772400" cy="2971800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536895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pic>
        <p:nvPicPr>
          <p:cNvPr id="7" name="Picture 2" descr="Image result for sensor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367686" y="4259273"/>
            <a:ext cx="871623" cy="87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2073170" y="3802418"/>
            <a:ext cx="14606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 err="1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IoUT</a:t>
            </a:r>
            <a:r>
              <a:rPr lang="en-US" sz="2000" b="1" dirty="0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Sensor</a:t>
            </a:r>
          </a:p>
        </p:txBody>
      </p:sp>
      <p:pic>
        <p:nvPicPr>
          <p:cNvPr id="9" name="Picture 16" descr="Related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443" y="4290604"/>
            <a:ext cx="657872" cy="80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8484140" y="3693274"/>
            <a:ext cx="11998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Controller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3481831" y="3721197"/>
            <a:ext cx="0" cy="2971800"/>
          </a:xfrm>
          <a:prstGeom prst="line">
            <a:avLst/>
          </a:prstGeom>
          <a:noFill/>
          <a:ln w="38100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2" name="直接连接符 11"/>
          <p:cNvCxnSpPr/>
          <p:nvPr/>
        </p:nvCxnSpPr>
        <p:spPr>
          <a:xfrm>
            <a:off x="8454515" y="3721197"/>
            <a:ext cx="0" cy="2971800"/>
          </a:xfrm>
          <a:prstGeom prst="line">
            <a:avLst/>
          </a:prstGeom>
          <a:noFill/>
          <a:ln w="38100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3" name="矩形 12"/>
          <p:cNvSpPr/>
          <p:nvPr/>
        </p:nvSpPr>
        <p:spPr>
          <a:xfrm>
            <a:off x="3507886" y="3721197"/>
            <a:ext cx="3571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/Underwater/sign-on/&lt;</a:t>
            </a:r>
            <a:r>
              <a:rPr lang="en-US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ParamDigest</a:t>
            </a:r>
            <a:r>
              <a:rPr lang="en-US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</a:t>
            </a:r>
          </a:p>
        </p:txBody>
      </p:sp>
      <p:sp>
        <p:nvSpPr>
          <p:cNvPr id="14" name="矩形 13"/>
          <p:cNvSpPr/>
          <p:nvPr/>
        </p:nvSpPr>
        <p:spPr>
          <a:xfrm>
            <a:off x="3504201" y="3969650"/>
            <a:ext cx="4077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US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SecretDigest</a:t>
            </a:r>
            <a:r>
              <a:rPr lang="en-US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&gt;; &lt;Token-1&gt;; &lt;Signature-BK&gt;</a:t>
            </a:r>
          </a:p>
        </p:txBody>
      </p:sp>
      <p:sp>
        <p:nvSpPr>
          <p:cNvPr id="15" name="矩形 14"/>
          <p:cNvSpPr/>
          <p:nvPr/>
        </p:nvSpPr>
        <p:spPr>
          <a:xfrm>
            <a:off x="5414303" y="4380158"/>
            <a:ext cx="3429000" cy="338554"/>
          </a:xfrm>
          <a:prstGeom prst="rect">
            <a:avLst/>
          </a:prstGeom>
          <a:solidFill>
            <a:srgbClr val="DADADA"/>
          </a:solidFill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536895">
                    <a:lumMod val="50000"/>
                  </a:srgb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Generate Symmetric Key (TSK) with DH</a:t>
            </a:r>
          </a:p>
        </p:txBody>
      </p:sp>
      <p:pic>
        <p:nvPicPr>
          <p:cNvPr id="16" name="Picture 2" descr="Related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316" y="3932292"/>
            <a:ext cx="549680" cy="54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Related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429" y="4404089"/>
            <a:ext cx="549680" cy="54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接箭头连接符 17"/>
          <p:cNvCxnSpPr/>
          <p:nvPr/>
        </p:nvCxnSpPr>
        <p:spPr>
          <a:xfrm flipH="1" flipV="1">
            <a:off x="3621232" y="4739909"/>
            <a:ext cx="4698632" cy="1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tailEnd type="triangle" w="lg" len="lg"/>
          </a:ln>
          <a:effectLst/>
        </p:spPr>
      </p:cxnSp>
      <p:sp>
        <p:nvSpPr>
          <p:cNvPr id="19" name="矩形 18"/>
          <p:cNvSpPr/>
          <p:nvPr/>
        </p:nvSpPr>
        <p:spPr>
          <a:xfrm>
            <a:off x="3523482" y="6353141"/>
            <a:ext cx="45378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DeviceCertificate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&gt;,&lt; HMAC-TSK &gt;,&lt;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AvailableService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</a:t>
            </a:r>
          </a:p>
        </p:txBody>
      </p:sp>
      <p:sp>
        <p:nvSpPr>
          <p:cNvPr id="20" name="矩形 19"/>
          <p:cNvSpPr/>
          <p:nvPr/>
        </p:nvSpPr>
        <p:spPr>
          <a:xfrm>
            <a:off x="2311132" y="5054989"/>
            <a:ext cx="3018039" cy="338554"/>
          </a:xfrm>
          <a:prstGeom prst="rect">
            <a:avLst/>
          </a:prstGeom>
          <a:solidFill>
            <a:srgbClr val="DADADA"/>
          </a:solidFill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536895">
                    <a:lumMod val="50000"/>
                  </a:srgb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Generate Communication Key (CK)</a:t>
            </a:r>
          </a:p>
        </p:txBody>
      </p:sp>
      <p:sp>
        <p:nvSpPr>
          <p:cNvPr id="21" name="矩形 20"/>
          <p:cNvSpPr/>
          <p:nvPr/>
        </p:nvSpPr>
        <p:spPr>
          <a:xfrm>
            <a:off x="3523482" y="5334433"/>
            <a:ext cx="31564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HomePrefix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&gt;/cert/&lt; 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ParamDigest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 &gt;</a:t>
            </a:r>
          </a:p>
        </p:txBody>
      </p:sp>
      <p:sp>
        <p:nvSpPr>
          <p:cNvPr id="22" name="矩形 21"/>
          <p:cNvSpPr/>
          <p:nvPr/>
        </p:nvSpPr>
        <p:spPr>
          <a:xfrm>
            <a:off x="3533826" y="5564787"/>
            <a:ext cx="37289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SecretDigest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&gt;; 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CKPubKey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&gt;; &lt; HMAC-TSK&gt;</a:t>
            </a:r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3610025" y="4338982"/>
            <a:ext cx="4768291" cy="15946"/>
          </a:xfrm>
          <a:prstGeom prst="straightConnector1">
            <a:avLst/>
          </a:prstGeom>
          <a:noFill/>
          <a:ln w="28575" cap="flat" cmpd="sng" algn="ctr">
            <a:solidFill>
              <a:srgbClr val="00B050"/>
            </a:solidFill>
            <a:prstDash val="sysDash"/>
            <a:headEnd type="none" w="med" len="med"/>
            <a:tailEnd type="triangle" w="lg" len="lg"/>
          </a:ln>
          <a:effectLst/>
        </p:spPr>
      </p:cxnSp>
      <p:cxnSp>
        <p:nvCxnSpPr>
          <p:cNvPr id="24" name="直接箭头连接符 23"/>
          <p:cNvCxnSpPr/>
          <p:nvPr/>
        </p:nvCxnSpPr>
        <p:spPr>
          <a:xfrm flipV="1">
            <a:off x="3558031" y="5895368"/>
            <a:ext cx="4768291" cy="15946"/>
          </a:xfrm>
          <a:prstGeom prst="straightConnector1">
            <a:avLst/>
          </a:prstGeom>
          <a:noFill/>
          <a:ln w="28575" cap="flat" cmpd="sng" algn="ctr">
            <a:solidFill>
              <a:srgbClr val="00B050"/>
            </a:solidFill>
            <a:prstDash val="sysDash"/>
            <a:headEnd type="none" w="med" len="med"/>
            <a:tailEnd type="triangle" w="lg" len="lg"/>
          </a:ln>
          <a:effectLst/>
        </p:spPr>
      </p:cxnSp>
      <p:pic>
        <p:nvPicPr>
          <p:cNvPr id="25" name="Picture 2" descr="Related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3814" y="5504982"/>
            <a:ext cx="549680" cy="54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/>
          <p:cNvSpPr/>
          <p:nvPr/>
        </p:nvSpPr>
        <p:spPr>
          <a:xfrm>
            <a:off x="6631934" y="5966067"/>
            <a:ext cx="3018039" cy="338554"/>
          </a:xfrm>
          <a:prstGeom prst="rect">
            <a:avLst/>
          </a:prstGeom>
          <a:solidFill>
            <a:srgbClr val="DADADA"/>
          </a:solidFill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536895">
                    <a:lumMod val="50000"/>
                  </a:srgb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Sign device’s CK and generate cert</a:t>
            </a:r>
          </a:p>
        </p:txBody>
      </p:sp>
      <p:sp>
        <p:nvSpPr>
          <p:cNvPr id="27" name="矩形 26"/>
          <p:cNvSpPr/>
          <p:nvPr/>
        </p:nvSpPr>
        <p:spPr>
          <a:xfrm>
            <a:off x="3699748" y="4772251"/>
            <a:ext cx="47759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AnchorCert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&gt;,&lt;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KeyedHashMac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&gt;,&lt;Token-2&gt;,&lt;HMAC-TSK&gt;</a:t>
            </a:r>
          </a:p>
        </p:txBody>
      </p:sp>
      <p:cxnSp>
        <p:nvCxnSpPr>
          <p:cNvPr id="28" name="直接箭头连接符 27"/>
          <p:cNvCxnSpPr/>
          <p:nvPr/>
        </p:nvCxnSpPr>
        <p:spPr>
          <a:xfrm flipH="1" flipV="1">
            <a:off x="3547899" y="6359374"/>
            <a:ext cx="4698632" cy="1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tailEnd type="triangle" w="lg" len="lg"/>
          </a:ln>
          <a:effectLst/>
        </p:spPr>
      </p:cxnSp>
      <p:pic>
        <p:nvPicPr>
          <p:cNvPr id="29" name="Picture 2" descr="Related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2883" y="5948966"/>
            <a:ext cx="549680" cy="54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/>
              <a:t>Service Discovery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4648" y="157795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Learning existing services from the controller in the last step of bootstrapping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Advertising services by broadcasting advertisements after bootstrapping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Broadcasting again when services change or restart (soft state)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Query meta data before using a service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14</a:t>
            </a:fld>
            <a:r>
              <a:rPr lang="en-US" dirty="0"/>
              <a:t> of 21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2072996" y="3484961"/>
            <a:ext cx="7772400" cy="2971800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536895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pic>
        <p:nvPicPr>
          <p:cNvPr id="28" name="Picture 2" descr="Image result for sensor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386967" y="4023037"/>
            <a:ext cx="871623" cy="87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矩形 28"/>
          <p:cNvSpPr/>
          <p:nvPr/>
        </p:nvSpPr>
        <p:spPr>
          <a:xfrm>
            <a:off x="2092451" y="3566182"/>
            <a:ext cx="14606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 err="1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IoUT</a:t>
            </a:r>
            <a:r>
              <a:rPr lang="en-US" sz="2000" b="1" dirty="0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 Sensor</a:t>
            </a:r>
          </a:p>
        </p:txBody>
      </p:sp>
      <p:sp>
        <p:nvSpPr>
          <p:cNvPr id="30" name="矩形 29"/>
          <p:cNvSpPr/>
          <p:nvPr/>
        </p:nvSpPr>
        <p:spPr>
          <a:xfrm>
            <a:off x="8440765" y="5076747"/>
            <a:ext cx="1475084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Another </a:t>
            </a:r>
            <a:r>
              <a:rPr lang="en-US" sz="1900" b="1" dirty="0" err="1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IoUT</a:t>
            </a:r>
            <a:endParaRPr lang="en-US" sz="1900" b="1" dirty="0">
              <a:solidFill>
                <a:srgbClr val="536895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Sensor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3501112" y="3484961"/>
            <a:ext cx="0" cy="2971800"/>
          </a:xfrm>
          <a:prstGeom prst="line">
            <a:avLst/>
          </a:prstGeom>
          <a:noFill/>
          <a:ln w="38100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32" name="直接连接符 31"/>
          <p:cNvCxnSpPr/>
          <p:nvPr/>
        </p:nvCxnSpPr>
        <p:spPr>
          <a:xfrm>
            <a:off x="8473796" y="5076747"/>
            <a:ext cx="0" cy="1380014"/>
          </a:xfrm>
          <a:prstGeom prst="line">
            <a:avLst/>
          </a:prstGeom>
          <a:noFill/>
          <a:ln w="38100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3" name="矩形 32"/>
          <p:cNvSpPr/>
          <p:nvPr/>
        </p:nvSpPr>
        <p:spPr>
          <a:xfrm>
            <a:off x="3529957" y="3540889"/>
            <a:ext cx="4468366" cy="584775"/>
          </a:xfrm>
          <a:prstGeom prst="rect">
            <a:avLst/>
          </a:prstGeom>
          <a:solidFill>
            <a:srgbClr val="DADADA"/>
          </a:solidFill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536895">
                    <a:lumMod val="50000"/>
                  </a:srgb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Periodically broadcast advertisement for some time after the bootstrapping</a:t>
            </a:r>
          </a:p>
        </p:txBody>
      </p:sp>
      <p:pic>
        <p:nvPicPr>
          <p:cNvPr id="34" name="Picture 2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065" y="5954666"/>
            <a:ext cx="549680" cy="54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矩形 34"/>
          <p:cNvSpPr/>
          <p:nvPr/>
        </p:nvSpPr>
        <p:spPr>
          <a:xfrm>
            <a:off x="3542763" y="5987570"/>
            <a:ext cx="34567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MetaInfooftheService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&gt;,&lt; Signature-CK&gt;</a:t>
            </a:r>
          </a:p>
        </p:txBody>
      </p:sp>
      <p:sp>
        <p:nvSpPr>
          <p:cNvPr id="36" name="矩形 35"/>
          <p:cNvSpPr/>
          <p:nvPr/>
        </p:nvSpPr>
        <p:spPr>
          <a:xfrm>
            <a:off x="3542763" y="5098197"/>
            <a:ext cx="47328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HomePrefix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&gt;/&lt; 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DeviceIdentity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&gt;/&lt;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ServiceName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&gt;/QUERY</a:t>
            </a:r>
          </a:p>
        </p:txBody>
      </p:sp>
      <p:sp>
        <p:nvSpPr>
          <p:cNvPr id="37" name="矩形 36"/>
          <p:cNvSpPr/>
          <p:nvPr/>
        </p:nvSpPr>
        <p:spPr>
          <a:xfrm>
            <a:off x="3553107" y="5328551"/>
            <a:ext cx="37289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SecretDigest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&gt;; 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CKPubKey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&gt;; &lt; HMAC-TSK&gt;</a:t>
            </a:r>
          </a:p>
        </p:txBody>
      </p:sp>
      <p:cxnSp>
        <p:nvCxnSpPr>
          <p:cNvPr id="38" name="直接箭头连接符 37"/>
          <p:cNvCxnSpPr/>
          <p:nvPr/>
        </p:nvCxnSpPr>
        <p:spPr>
          <a:xfrm flipV="1">
            <a:off x="3650630" y="4559518"/>
            <a:ext cx="4768291" cy="15946"/>
          </a:xfrm>
          <a:prstGeom prst="straightConnector1">
            <a:avLst/>
          </a:prstGeom>
          <a:noFill/>
          <a:ln w="28575" cap="flat" cmpd="sng" algn="ctr">
            <a:solidFill>
              <a:srgbClr val="00B050"/>
            </a:solidFill>
            <a:prstDash val="sysDash"/>
            <a:headEnd type="none" w="med" len="med"/>
            <a:tailEnd type="triangle" w="lg" len="lg"/>
          </a:ln>
          <a:effectLst/>
        </p:spPr>
      </p:cxnSp>
      <p:cxnSp>
        <p:nvCxnSpPr>
          <p:cNvPr id="39" name="直接箭头连接符 38"/>
          <p:cNvCxnSpPr/>
          <p:nvPr/>
        </p:nvCxnSpPr>
        <p:spPr>
          <a:xfrm flipV="1">
            <a:off x="3644774" y="6361085"/>
            <a:ext cx="4768291" cy="15946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headEnd type="none" w="med" len="med"/>
            <a:tailEnd type="triangle" w="lg" len="lg"/>
          </a:ln>
          <a:effectLst/>
        </p:spPr>
      </p:cxnSp>
      <p:sp>
        <p:nvSpPr>
          <p:cNvPr id="40" name="矩形 39"/>
          <p:cNvSpPr/>
          <p:nvPr/>
        </p:nvSpPr>
        <p:spPr>
          <a:xfrm>
            <a:off x="3534592" y="4176149"/>
            <a:ext cx="48060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HomePrefix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&gt;/SD/&lt;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DeviceIdentity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&gt;/LIST/&lt;</a:t>
            </a:r>
            <a:r>
              <a:rPr lang="en-US" sz="16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ServiceName</a:t>
            </a:r>
            <a:r>
              <a:rPr lang="en-US" sz="16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</a:t>
            </a:r>
          </a:p>
        </p:txBody>
      </p:sp>
      <p:cxnSp>
        <p:nvCxnSpPr>
          <p:cNvPr id="41" name="直接箭头连接符 40"/>
          <p:cNvCxnSpPr/>
          <p:nvPr/>
        </p:nvCxnSpPr>
        <p:spPr>
          <a:xfrm flipH="1" flipV="1">
            <a:off x="3635473" y="5704936"/>
            <a:ext cx="4698632" cy="1"/>
          </a:xfrm>
          <a:prstGeom prst="straightConnector1">
            <a:avLst/>
          </a:prstGeom>
          <a:noFill/>
          <a:ln w="28575" cap="flat" cmpd="sng" algn="ctr">
            <a:solidFill>
              <a:srgbClr val="00B050"/>
            </a:solidFill>
            <a:prstDash val="sysDash"/>
            <a:tailEnd type="triangle" w="lg" len="lg"/>
          </a:ln>
          <a:effectLst/>
        </p:spPr>
      </p:cxnSp>
      <p:pic>
        <p:nvPicPr>
          <p:cNvPr id="42" name="Picture 6" descr="Related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245" y="5701008"/>
            <a:ext cx="700651" cy="70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60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/>
              <a:t>Access Control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62935"/>
            <a:ext cx="10515600" cy="141425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Existing NDN access control systems don’t fit constrained devices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All symmetric key encryption/decryption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Use Interest parameter to save bandwidth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15</a:t>
            </a:fld>
            <a:r>
              <a:rPr lang="en-US" dirty="0"/>
              <a:t> of 21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1504950" y="3422650"/>
            <a:ext cx="8991600" cy="2971800"/>
          </a:xfrm>
          <a:prstGeom prst="roundRect">
            <a:avLst/>
          </a:prstGeom>
          <a:solidFill>
            <a:srgbClr val="DADADA"/>
          </a:solidFill>
          <a:ln w="25400" cap="flat" cmpd="sng" algn="ctr">
            <a:solidFill>
              <a:srgbClr val="DADAD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536895">
                  <a:lumMod val="50000"/>
                </a:srgb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pic>
        <p:nvPicPr>
          <p:cNvPr id="62" name="Picture 2" descr="Image result for sensor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84598" y="3939962"/>
            <a:ext cx="871623" cy="871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矩形 62"/>
          <p:cNvSpPr/>
          <p:nvPr/>
        </p:nvSpPr>
        <p:spPr>
          <a:xfrm>
            <a:off x="1561467" y="3454558"/>
            <a:ext cx="7328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IoUT</a:t>
            </a:r>
            <a:r>
              <a:rPr lang="en-US" sz="1600" b="1" dirty="0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Sensor</a:t>
            </a:r>
          </a:p>
        </p:txBody>
      </p:sp>
      <p:pic>
        <p:nvPicPr>
          <p:cNvPr id="64" name="Picture 16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0" y="4083694"/>
            <a:ext cx="586027" cy="720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矩形 64"/>
          <p:cNvSpPr/>
          <p:nvPr/>
        </p:nvSpPr>
        <p:spPr>
          <a:xfrm>
            <a:off x="6153150" y="3436883"/>
            <a:ext cx="9945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lang="en-US" altLang="zh-CN" sz="1600" b="1" dirty="0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ccess</a:t>
            </a:r>
            <a:endParaRPr lang="en-US" sz="1600" b="1" dirty="0">
              <a:solidFill>
                <a:srgbClr val="536895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Controller</a:t>
            </a:r>
          </a:p>
        </p:txBody>
      </p:sp>
      <p:cxnSp>
        <p:nvCxnSpPr>
          <p:cNvPr id="66" name="直接连接符 65"/>
          <p:cNvCxnSpPr/>
          <p:nvPr/>
        </p:nvCxnSpPr>
        <p:spPr>
          <a:xfrm>
            <a:off x="2300717" y="3431085"/>
            <a:ext cx="0" cy="2971800"/>
          </a:xfrm>
          <a:prstGeom prst="line">
            <a:avLst/>
          </a:prstGeom>
          <a:noFill/>
          <a:ln w="38100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67" name="直接连接符 66"/>
          <p:cNvCxnSpPr/>
          <p:nvPr/>
        </p:nvCxnSpPr>
        <p:spPr>
          <a:xfrm>
            <a:off x="6000750" y="3431085"/>
            <a:ext cx="0" cy="2971800"/>
          </a:xfrm>
          <a:prstGeom prst="line">
            <a:avLst/>
          </a:prstGeom>
          <a:noFill/>
          <a:ln w="38100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pic>
        <p:nvPicPr>
          <p:cNvPr id="68" name="Picture 2" descr="Related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041" y="3748345"/>
            <a:ext cx="473252" cy="47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9" name="直接箭头连接符 68"/>
          <p:cNvCxnSpPr/>
          <p:nvPr/>
        </p:nvCxnSpPr>
        <p:spPr>
          <a:xfrm flipH="1">
            <a:off x="2430596" y="4665090"/>
            <a:ext cx="3463445" cy="1533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tailEnd type="triangle" w="lg" len="lg"/>
          </a:ln>
          <a:effectLst/>
        </p:spPr>
      </p:cxnSp>
      <p:sp>
        <p:nvSpPr>
          <p:cNvPr id="70" name="矩形 69"/>
          <p:cNvSpPr/>
          <p:nvPr/>
        </p:nvSpPr>
        <p:spPr>
          <a:xfrm>
            <a:off x="6063424" y="6009950"/>
            <a:ext cx="33011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EncypContentKey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&gt;; &lt; 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DHPubKey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 &gt;; 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AKSig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</a:t>
            </a:r>
          </a:p>
        </p:txBody>
      </p:sp>
      <p:sp>
        <p:nvSpPr>
          <p:cNvPr id="71" name="矩形 70"/>
          <p:cNvSpPr/>
          <p:nvPr/>
        </p:nvSpPr>
        <p:spPr>
          <a:xfrm>
            <a:off x="2495550" y="4052259"/>
            <a:ext cx="3018039" cy="584775"/>
          </a:xfrm>
          <a:prstGeom prst="rect">
            <a:avLst/>
          </a:prstGeom>
          <a:solidFill>
            <a:srgbClr val="DADADA"/>
          </a:solidFill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536895">
                    <a:lumMod val="50000"/>
                  </a:srgb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Negotiate Content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536895">
                    <a:lumMod val="50000"/>
                  </a:srgb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Encryption Key with DH</a:t>
            </a:r>
          </a:p>
        </p:txBody>
      </p:sp>
      <p:sp>
        <p:nvSpPr>
          <p:cNvPr id="72" name="矩形 71"/>
          <p:cNvSpPr/>
          <p:nvPr/>
        </p:nvSpPr>
        <p:spPr>
          <a:xfrm>
            <a:off x="4082596" y="4683404"/>
            <a:ext cx="174406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DHPubKey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&gt;; 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AKSig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</a:t>
            </a:r>
          </a:p>
        </p:txBody>
      </p:sp>
      <p:cxnSp>
        <p:nvCxnSpPr>
          <p:cNvPr id="73" name="直接箭头连接符 72"/>
          <p:cNvCxnSpPr/>
          <p:nvPr/>
        </p:nvCxnSpPr>
        <p:spPr>
          <a:xfrm>
            <a:off x="2463021" y="4028526"/>
            <a:ext cx="3459816" cy="3431"/>
          </a:xfrm>
          <a:prstGeom prst="straightConnector1">
            <a:avLst/>
          </a:prstGeom>
          <a:noFill/>
          <a:ln w="28575" cap="flat" cmpd="sng" algn="ctr">
            <a:solidFill>
              <a:srgbClr val="00B050"/>
            </a:solidFill>
            <a:prstDash val="sysDash"/>
            <a:headEnd type="none" w="med" len="med"/>
            <a:tailEnd type="triangle" w="lg" len="lg"/>
          </a:ln>
          <a:effectLst/>
        </p:spPr>
      </p:cxnSp>
      <p:cxnSp>
        <p:nvCxnSpPr>
          <p:cNvPr id="74" name="直接箭头连接符 73"/>
          <p:cNvCxnSpPr/>
          <p:nvPr/>
        </p:nvCxnSpPr>
        <p:spPr>
          <a:xfrm flipH="1">
            <a:off x="6119414" y="5574696"/>
            <a:ext cx="3528640" cy="0"/>
          </a:xfrm>
          <a:prstGeom prst="straightConnector1">
            <a:avLst/>
          </a:prstGeom>
          <a:noFill/>
          <a:ln w="28575" cap="flat" cmpd="sng" algn="ctr">
            <a:solidFill>
              <a:srgbClr val="00B050"/>
            </a:solidFill>
            <a:prstDash val="sysDash"/>
            <a:headEnd type="none" w="med" len="med"/>
            <a:tailEnd type="triangle" w="lg" len="lg"/>
          </a:ln>
          <a:effectLst/>
        </p:spPr>
      </p:cxnSp>
      <p:sp>
        <p:nvSpPr>
          <p:cNvPr id="75" name="矩形 74"/>
          <p:cNvSpPr/>
          <p:nvPr/>
        </p:nvSpPr>
        <p:spPr>
          <a:xfrm>
            <a:off x="6278836" y="5608112"/>
            <a:ext cx="3369218" cy="338554"/>
          </a:xfrm>
          <a:prstGeom prst="rect">
            <a:avLst/>
          </a:prstGeom>
          <a:solidFill>
            <a:srgbClr val="DADADA"/>
          </a:solidFill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536895">
                    <a:lumMod val="50000"/>
                  </a:srgb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Negotiate Key Encryption Key with DH</a:t>
            </a:r>
          </a:p>
        </p:txBody>
      </p:sp>
      <p:sp>
        <p:nvSpPr>
          <p:cNvPr id="76" name="矩形 75"/>
          <p:cNvSpPr/>
          <p:nvPr/>
        </p:nvSpPr>
        <p:spPr>
          <a:xfrm>
            <a:off x="2261482" y="3453316"/>
            <a:ext cx="3815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HomePrefix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&gt;/AC/&lt;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SensorIdentity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&gt;/&lt;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ParamDigest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&lt;Type&gt;; 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KeyID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&gt;; 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DHPubKey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&gt;; 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CKSig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</a:t>
            </a:r>
          </a:p>
        </p:txBody>
      </p:sp>
      <p:cxnSp>
        <p:nvCxnSpPr>
          <p:cNvPr id="77" name="直接箭头连接符 76"/>
          <p:cNvCxnSpPr/>
          <p:nvPr/>
        </p:nvCxnSpPr>
        <p:spPr>
          <a:xfrm>
            <a:off x="6113805" y="5940006"/>
            <a:ext cx="3534249" cy="11752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tailEnd type="triangle" w="lg" len="lg"/>
          </a:ln>
          <a:effectLst/>
        </p:spPr>
      </p:cxnSp>
      <p:pic>
        <p:nvPicPr>
          <p:cNvPr id="78" name="Picture 2" descr="Related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029" y="4320019"/>
            <a:ext cx="473252" cy="47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8" descr="Rel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9103" y="3890453"/>
            <a:ext cx="774637" cy="774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矩形 79"/>
          <p:cNvSpPr/>
          <p:nvPr/>
        </p:nvSpPr>
        <p:spPr>
          <a:xfrm>
            <a:off x="9798313" y="3606876"/>
            <a:ext cx="55976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536895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User</a:t>
            </a:r>
          </a:p>
        </p:txBody>
      </p:sp>
      <p:sp>
        <p:nvSpPr>
          <p:cNvPr id="81" name="矩形 80"/>
          <p:cNvSpPr/>
          <p:nvPr/>
        </p:nvSpPr>
        <p:spPr>
          <a:xfrm>
            <a:off x="6000750" y="4975688"/>
            <a:ext cx="36695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HomePrefix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&gt;/AC/&lt;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UserIdentity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&gt;/&lt;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ParamDigest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&lt;Type&gt;; 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NameSpace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&gt;; 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DHPubKey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&gt;; &lt;</a:t>
            </a:r>
            <a:r>
              <a:rPr lang="en-US" sz="1400" b="1" i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CKSig</a:t>
            </a:r>
            <a:r>
              <a:rPr lang="en-US" sz="14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  <a:cs typeface="Calibri Light" panose="020F0302020204030204" pitchFamily="34" charset="0"/>
              </a:rPr>
              <a:t>&gt;</a:t>
            </a:r>
          </a:p>
        </p:txBody>
      </p:sp>
      <p:pic>
        <p:nvPicPr>
          <p:cNvPr id="82" name="Picture 2" descr="Related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668" y="5317193"/>
            <a:ext cx="473252" cy="47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直接连接符 82"/>
          <p:cNvCxnSpPr/>
          <p:nvPr/>
        </p:nvCxnSpPr>
        <p:spPr>
          <a:xfrm>
            <a:off x="9707565" y="3431085"/>
            <a:ext cx="0" cy="2971800"/>
          </a:xfrm>
          <a:prstGeom prst="line">
            <a:avLst/>
          </a:prstGeom>
          <a:noFill/>
          <a:ln w="38100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pic>
        <p:nvPicPr>
          <p:cNvPr id="84" name="Picture 2" descr="Related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2669" y="5644571"/>
            <a:ext cx="473252" cy="47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94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/>
              <a:t>Adaptation Layers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420" y="1609724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The adaptation layers are placed at two places</a:t>
            </a:r>
          </a:p>
          <a:p>
            <a:pPr lvl="1"/>
            <a:r>
              <a:rPr lang="en-US" sz="1800" dirty="0">
                <a:solidFill>
                  <a:schemeClr val="accent1"/>
                </a:solidFill>
              </a:rPr>
              <a:t>Lower layer: Abstract different link-layer protocols and wraps the NDN Interest and Data packets into link-layer frames</a:t>
            </a:r>
          </a:p>
          <a:p>
            <a:pPr lvl="2"/>
            <a:r>
              <a:rPr lang="en-US" sz="1800" dirty="0">
                <a:solidFill>
                  <a:schemeClr val="accent1"/>
                </a:solidFill>
              </a:rPr>
              <a:t>Name Prefix &lt;-&gt; Interface mapping</a:t>
            </a:r>
          </a:p>
          <a:p>
            <a:pPr lvl="2"/>
            <a:r>
              <a:rPr lang="en-US" sz="1800" dirty="0">
                <a:solidFill>
                  <a:schemeClr val="accent1"/>
                </a:solidFill>
              </a:rPr>
              <a:t>A separate process and communicates with NDN applications using Inter-Process Communication (IPC) or other equivalent mechanism</a:t>
            </a:r>
            <a:endParaRPr lang="en-US" sz="1400" dirty="0">
              <a:solidFill>
                <a:schemeClr val="accent1"/>
              </a:solidFill>
            </a:endParaRPr>
          </a:p>
          <a:p>
            <a:pPr lvl="1"/>
            <a:r>
              <a:rPr lang="en-US" sz="1800" dirty="0">
                <a:solidFill>
                  <a:schemeClr val="accent1"/>
                </a:solidFill>
              </a:rPr>
              <a:t>Upper layer: Translate the application-level information to more meaningful data names for NDN</a:t>
            </a:r>
          </a:p>
          <a:p>
            <a:pPr lvl="2"/>
            <a:r>
              <a:rPr lang="en-US" sz="1800" dirty="0">
                <a:solidFill>
                  <a:schemeClr val="accent1"/>
                </a:solidFill>
              </a:rPr>
              <a:t>Name Prefix &lt;-&gt; Data mapping</a:t>
            </a:r>
          </a:p>
          <a:p>
            <a:pPr lvl="2"/>
            <a:r>
              <a:rPr lang="en-US" sz="1800" dirty="0">
                <a:solidFill>
                  <a:schemeClr val="accent1"/>
                </a:solidFill>
              </a:rPr>
              <a:t>Translation layer between transportation/network layer protocols and NDN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16</a:t>
            </a:fld>
            <a:r>
              <a:rPr lang="en-US" dirty="0"/>
              <a:t> of 21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1879220" y="4683933"/>
            <a:ext cx="1143000" cy="457200"/>
          </a:xfrm>
          <a:prstGeom prst="roundRect">
            <a:avLst/>
          </a:prstGeom>
          <a:solidFill>
            <a:srgbClr val="FE9118"/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NDN App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1879220" y="5287859"/>
            <a:ext cx="1143000" cy="457200"/>
          </a:xfrm>
          <a:prstGeom prst="roundRect">
            <a:avLst/>
          </a:prstGeom>
          <a:solidFill>
            <a:srgbClr val="FE9118"/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NDN App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1879220" y="5891785"/>
            <a:ext cx="1143000" cy="457200"/>
          </a:xfrm>
          <a:prstGeom prst="roundRect">
            <a:avLst/>
          </a:prstGeom>
          <a:solidFill>
            <a:srgbClr val="FE9118"/>
          </a:solidFill>
          <a:ln w="25400" cap="flat" cmpd="sng" algn="ctr">
            <a:solidFill>
              <a:srgbClr val="FE911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NDN App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7899020" y="5214496"/>
            <a:ext cx="1828800" cy="603926"/>
          </a:xfrm>
          <a:prstGeom prst="roundRect">
            <a:avLst/>
          </a:prstGeom>
          <a:solidFill>
            <a:srgbClr val="B3B9C8"/>
          </a:solidFill>
          <a:ln w="25400" cap="flat" cmpd="sng" algn="ctr">
            <a:solidFill>
              <a:srgbClr val="B3B9C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NDN Forwarding Process</a:t>
            </a:r>
          </a:p>
        </p:txBody>
      </p:sp>
      <p:sp>
        <p:nvSpPr>
          <p:cNvPr id="25" name="圆角矩形 24"/>
          <p:cNvSpPr/>
          <p:nvPr/>
        </p:nvSpPr>
        <p:spPr>
          <a:xfrm>
            <a:off x="5155820" y="5214496"/>
            <a:ext cx="1828800" cy="603926"/>
          </a:xfrm>
          <a:prstGeom prst="roundRect">
            <a:avLst/>
          </a:prstGeom>
          <a:solidFill>
            <a:srgbClr val="B3B9C8"/>
          </a:solidFill>
          <a:ln w="25400" cap="flat" cmpd="sng" algn="ctr">
            <a:solidFill>
              <a:srgbClr val="B3B9C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NDN Forwarding Process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7441820" y="4912533"/>
            <a:ext cx="0" cy="1207852"/>
          </a:xfrm>
          <a:prstGeom prst="line">
            <a:avLst/>
          </a:prstGeom>
          <a:noFill/>
          <a:ln w="28575" cap="flat" cmpd="sng" algn="ctr">
            <a:solidFill>
              <a:srgbClr val="536895">
                <a:lumMod val="60000"/>
                <a:lumOff val="40000"/>
              </a:srgbClr>
            </a:solidFill>
            <a:prstDash val="sysDash"/>
          </a:ln>
          <a:effectLst/>
        </p:spPr>
      </p:cxnSp>
      <p:cxnSp>
        <p:nvCxnSpPr>
          <p:cNvPr id="27" name="直接箭头连接符 26"/>
          <p:cNvCxnSpPr/>
          <p:nvPr/>
        </p:nvCxnSpPr>
        <p:spPr>
          <a:xfrm>
            <a:off x="7060820" y="5516459"/>
            <a:ext cx="762000" cy="0"/>
          </a:xfrm>
          <a:prstGeom prst="straightConnector1">
            <a:avLst/>
          </a:prstGeom>
          <a:noFill/>
          <a:ln w="28575" cap="flat" cmpd="sng" algn="ctr">
            <a:solidFill>
              <a:srgbClr val="536895">
                <a:lumMod val="60000"/>
                <a:lumOff val="40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28" name="直接箭头连接符 27"/>
          <p:cNvCxnSpPr/>
          <p:nvPr/>
        </p:nvCxnSpPr>
        <p:spPr>
          <a:xfrm>
            <a:off x="3098420" y="4903616"/>
            <a:ext cx="1981200" cy="612843"/>
          </a:xfrm>
          <a:prstGeom prst="straightConnector1">
            <a:avLst/>
          </a:prstGeom>
          <a:noFill/>
          <a:ln w="28575" cap="flat" cmpd="sng" algn="ctr">
            <a:solidFill>
              <a:srgbClr val="FE9118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29" name="直接箭头连接符 28"/>
          <p:cNvCxnSpPr/>
          <p:nvPr/>
        </p:nvCxnSpPr>
        <p:spPr>
          <a:xfrm flipV="1">
            <a:off x="3098420" y="5516459"/>
            <a:ext cx="1981200" cy="629866"/>
          </a:xfrm>
          <a:prstGeom prst="straightConnector1">
            <a:avLst/>
          </a:prstGeom>
          <a:noFill/>
          <a:ln w="28575" cap="flat" cmpd="sng" algn="ctr">
            <a:solidFill>
              <a:srgbClr val="FE9118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30" name="直接箭头连接符 29"/>
          <p:cNvCxnSpPr/>
          <p:nvPr/>
        </p:nvCxnSpPr>
        <p:spPr>
          <a:xfrm>
            <a:off x="3098419" y="5516459"/>
            <a:ext cx="1981201" cy="8511"/>
          </a:xfrm>
          <a:prstGeom prst="straightConnector1">
            <a:avLst/>
          </a:prstGeom>
          <a:noFill/>
          <a:ln w="28575" cap="flat" cmpd="sng" algn="ctr">
            <a:solidFill>
              <a:srgbClr val="FE9118">
                <a:shade val="95000"/>
                <a:satMod val="105000"/>
              </a:srgbClr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1" name="矩形 30"/>
          <p:cNvSpPr/>
          <p:nvPr/>
        </p:nvSpPr>
        <p:spPr>
          <a:xfrm>
            <a:off x="6781799" y="4759522"/>
            <a:ext cx="13200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Adaptation</a:t>
            </a:r>
          </a:p>
        </p:txBody>
      </p:sp>
      <p:sp>
        <p:nvSpPr>
          <p:cNvPr id="32" name="矩形 31"/>
          <p:cNvSpPr/>
          <p:nvPr/>
        </p:nvSpPr>
        <p:spPr>
          <a:xfrm>
            <a:off x="4131599" y="4679610"/>
            <a:ext cx="364202" cy="1460094"/>
          </a:xfrm>
          <a:prstGeom prst="rect">
            <a:avLst/>
          </a:prstGeom>
        </p:spPr>
        <p:txBody>
          <a:bodyPr vert="vert270" wrap="square">
            <a:spAutoFit/>
          </a:bodyPr>
          <a:lstStyle/>
          <a:p>
            <a:pPr fontAlgn="base">
              <a:lnSpc>
                <a:spcPts val="14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kern="100" spc="-20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Adaptation</a:t>
            </a:r>
          </a:p>
        </p:txBody>
      </p:sp>
    </p:spTree>
    <p:extLst>
      <p:ext uri="{BB962C8B-B14F-4D97-AF65-F5344CB8AC3E}">
        <p14:creationId xmlns:p14="http://schemas.microsoft.com/office/powerpoint/2010/main" val="293377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132556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solidFill>
                  <a:schemeClr val="accent1"/>
                </a:solidFill>
              </a:rPr>
              <a:t>Existing challenges of </a:t>
            </a:r>
            <a:r>
              <a:rPr lang="en-US" altLang="zh-CN" sz="2400" dirty="0" err="1">
                <a:solidFill>
                  <a:schemeClr val="accent1"/>
                </a:solidFill>
              </a:rPr>
              <a:t>IoUT</a:t>
            </a:r>
            <a:r>
              <a:rPr lang="en-US" altLang="zh-CN" sz="2400" dirty="0">
                <a:solidFill>
                  <a:schemeClr val="accent1"/>
                </a:solidFill>
              </a:rPr>
              <a:t> based on the state-of-the-art underwater communication research are introduced and addressed by NDN </a:t>
            </a:r>
            <a:r>
              <a:rPr lang="en-US" altLang="zh-CN" sz="2400" dirty="0" smtClean="0">
                <a:solidFill>
                  <a:schemeClr val="accent1"/>
                </a:solidFill>
              </a:rPr>
              <a:t>architecture.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r>
              <a:rPr lang="en-US" altLang="zh-CN" sz="2400" dirty="0">
                <a:solidFill>
                  <a:schemeClr val="accent1"/>
                </a:solidFill>
              </a:rPr>
              <a:t>Illustration of how to achieve the </a:t>
            </a:r>
            <a:r>
              <a:rPr lang="en-US" altLang="zh-CN" sz="2400" dirty="0" err="1">
                <a:solidFill>
                  <a:schemeClr val="accent1"/>
                </a:solidFill>
              </a:rPr>
              <a:t>IoUT</a:t>
            </a:r>
            <a:r>
              <a:rPr lang="en-US" altLang="zh-CN" sz="2400" dirty="0">
                <a:solidFill>
                  <a:schemeClr val="accent1"/>
                </a:solidFill>
              </a:rPr>
              <a:t> functionalities with NDN architecture, protocols and related </a:t>
            </a:r>
            <a:r>
              <a:rPr lang="en-US" altLang="zh-CN" sz="2400" dirty="0" smtClean="0">
                <a:solidFill>
                  <a:schemeClr val="accent1"/>
                </a:solidFill>
              </a:rPr>
              <a:t>mechanisms.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endParaRPr lang="en-US" altLang="zh-CN" sz="2400" dirty="0">
              <a:solidFill>
                <a:schemeClr val="accent1"/>
              </a:solidFill>
            </a:endParaRPr>
          </a:p>
          <a:p>
            <a:r>
              <a:rPr lang="en-US" altLang="zh-CN" sz="2400" dirty="0" smtClean="0">
                <a:solidFill>
                  <a:schemeClr val="accent1"/>
                </a:solidFill>
              </a:rPr>
              <a:t>Simulation implementation based on the </a:t>
            </a:r>
            <a:r>
              <a:rPr lang="en-US" altLang="zh-CN" sz="2400" dirty="0" err="1" smtClean="0">
                <a:solidFill>
                  <a:schemeClr val="accent1"/>
                </a:solidFill>
              </a:rPr>
              <a:t>ndnSIM</a:t>
            </a:r>
            <a:r>
              <a:rPr lang="en-US" altLang="zh-CN" sz="2400" dirty="0" smtClean="0">
                <a:solidFill>
                  <a:schemeClr val="accent1"/>
                </a:solidFill>
              </a:rPr>
              <a:t> and underwater lower layer simulator is still on-going. Supports from NDN team are needed and much appreciated.</a:t>
            </a:r>
            <a:endParaRPr lang="en-US" altLang="zh-CN" sz="2400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17</a:t>
            </a:fld>
            <a:r>
              <a:rPr lang="en-US" dirty="0"/>
              <a:t> of 21</a:t>
            </a:r>
          </a:p>
        </p:txBody>
      </p:sp>
    </p:spTree>
    <p:extLst>
      <p:ext uri="{BB962C8B-B14F-4D97-AF65-F5344CB8AC3E}">
        <p14:creationId xmlns:p14="http://schemas.microsoft.com/office/powerpoint/2010/main" val="311858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5860-7ECE-4C6A-85B2-E3C5654BD93F}" type="slidenum">
              <a:rPr lang="en-US" smtClean="0"/>
              <a:pPr/>
              <a:t>18</a:t>
            </a:fld>
            <a:r>
              <a:rPr lang="en-US" dirty="0"/>
              <a:t> of 21</a:t>
            </a:r>
          </a:p>
        </p:txBody>
      </p:sp>
      <p:sp>
        <p:nvSpPr>
          <p:cNvPr id="7" name="矩形 3"/>
          <p:cNvSpPr/>
          <p:nvPr/>
        </p:nvSpPr>
        <p:spPr>
          <a:xfrm>
            <a:off x="4204076" y="2681377"/>
            <a:ext cx="363432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 spc="300" dirty="0">
                <a:ln w="11430" cmpd="sng">
                  <a:solidFill>
                    <a:srgbClr val="000000">
                      <a:tint val="10000"/>
                    </a:srgbClr>
                  </a:solidFill>
                  <a:prstDash val="solid"/>
                  <a:miter lim="800000"/>
                </a:ln>
                <a:solidFill>
                  <a:srgbClr val="536895"/>
                </a:solidFill>
                <a:effectLst>
                  <a:glow rad="45500">
                    <a:srgbClr val="000000">
                      <a:satMod val="220000"/>
                      <a:alpha val="35000"/>
                    </a:srgbClr>
                  </a:glow>
                </a:effectLst>
                <a:latin typeface="Times New Roman" pitchFamily="18" charset="0"/>
              </a:rPr>
              <a:t>Thank you!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 spc="300" dirty="0">
                <a:ln w="11430" cmpd="sng">
                  <a:solidFill>
                    <a:srgbClr val="000000">
                      <a:tint val="10000"/>
                    </a:srgbClr>
                  </a:solidFill>
                  <a:prstDash val="solid"/>
                  <a:miter lim="800000"/>
                </a:ln>
                <a:solidFill>
                  <a:srgbClr val="536895"/>
                </a:solidFill>
                <a:effectLst>
                  <a:glow rad="45500">
                    <a:srgbClr val="000000">
                      <a:satMod val="220000"/>
                      <a:alpha val="35000"/>
                    </a:srgbClr>
                  </a:glow>
                </a:effectLst>
                <a:latin typeface="Times New Roman" pitchFamily="18" charset="0"/>
              </a:rPr>
              <a:t>Q&amp;A</a:t>
            </a:r>
            <a:endParaRPr lang="zh-CN" altLang="en-US" sz="4800" b="1" spc="300" dirty="0">
              <a:ln w="11430" cmpd="sng">
                <a:solidFill>
                  <a:srgbClr val="000000">
                    <a:tint val="10000"/>
                  </a:srgbClr>
                </a:solidFill>
                <a:prstDash val="solid"/>
                <a:miter lim="800000"/>
              </a:ln>
              <a:solidFill>
                <a:srgbClr val="536895"/>
              </a:solidFill>
              <a:effectLst>
                <a:glow rad="45500">
                  <a:srgbClr val="000000">
                    <a:satMod val="220000"/>
                    <a:alpha val="35000"/>
                  </a:srgbClr>
                </a:glow>
              </a:effectLst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740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1337</Words>
  <Application>Microsoft Office PowerPoint</Application>
  <PresentationFormat>宽屏</PresentationFormat>
  <Paragraphs>258</Paragraphs>
  <Slides>18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宋体</vt:lpstr>
      <vt:lpstr>等线</vt:lpstr>
      <vt:lpstr>等线 Light</vt:lpstr>
      <vt:lpstr>Arial</vt:lpstr>
      <vt:lpstr>Calibri</vt:lpstr>
      <vt:lpstr>Calibri Light</vt:lpstr>
      <vt:lpstr>Times New Roman</vt:lpstr>
      <vt:lpstr>Verdana</vt:lpstr>
      <vt:lpstr>Wingdings</vt:lpstr>
      <vt:lpstr>Office Theme</vt:lpstr>
      <vt:lpstr>A Named Data Networking Architecture Design to Internet of Underwater Things</vt:lpstr>
      <vt:lpstr>Outline</vt:lpstr>
      <vt:lpstr>IoUT Communication</vt:lpstr>
      <vt:lpstr>Named Data Networking</vt:lpstr>
      <vt:lpstr>NDN Brings in New Capabilities</vt:lpstr>
      <vt:lpstr>IoUT Challenges</vt:lpstr>
      <vt:lpstr>IoUT Challenges – cont’d</vt:lpstr>
      <vt:lpstr>NDN fits IoUT</vt:lpstr>
      <vt:lpstr>NDN Architecture Implementation to IoUT</vt:lpstr>
      <vt:lpstr>IoUT Data and Naming</vt:lpstr>
      <vt:lpstr>Named-based Routing and Forwarding</vt:lpstr>
      <vt:lpstr>In-network Storage</vt:lpstr>
      <vt:lpstr>Bootstrapping</vt:lpstr>
      <vt:lpstr>Service Discovery</vt:lpstr>
      <vt:lpstr>Access Control</vt:lpstr>
      <vt:lpstr>Adaptation Layers</vt:lpstr>
      <vt:lpstr>Conclusion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Pillitteri, Victoria Yan (Fed)</dc:creator>
  <cp:lastModifiedBy>Qi</cp:lastModifiedBy>
  <cp:revision>16</cp:revision>
  <dcterms:created xsi:type="dcterms:W3CDTF">2020-04-22T14:06:19Z</dcterms:created>
  <dcterms:modified xsi:type="dcterms:W3CDTF">2020-09-10T06:11:52Z</dcterms:modified>
</cp:coreProperties>
</file>